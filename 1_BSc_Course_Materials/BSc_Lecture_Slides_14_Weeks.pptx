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12192000"/>
  <p:defaultTextStyle>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50"/>
    <p:restoredTop sz="88950"/>
  </p:normalViewPr>
  <p:slideViewPr>
    <p:cSldViewPr snapToGrid="0" snapToObjects="1">
      <p:cViewPr varScale="1">
        <p:scale>
          <a:sx n="106" d="100"/>
          <a:sy n="106" d="100"/>
        </p:scale>
        <p:origin x="732" y="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 Zangl" userId="4c91a1fb-ff51-4cfa-a95f-e95ad3dc32fc" providerId="ADAL" clId="{9B914917-F57E-42D1-9537-639B9F3C7B00}"/>
    <pc:docChg chg="modSld">
      <pc:chgData name="Georg Zangl" userId="4c91a1fb-ff51-4cfa-a95f-e95ad3dc32fc" providerId="ADAL" clId="{9B914917-F57E-42D1-9537-639B9F3C7B00}" dt="2026-08-28T14:35:06.791" v="17" actId="20577"/>
      <pc:docMkLst>
        <pc:docMk/>
      </pc:docMkLst>
      <pc:sldChg chg="modSp mod">
        <pc:chgData name="Georg Zangl" userId="4c91a1fb-ff51-4cfa-a95f-e95ad3dc32fc" providerId="ADAL" clId="{9B914917-F57E-42D1-9537-639B9F3C7B00}" dt="2026-08-28T14:35:06.791" v="17" actId="20577"/>
        <pc:sldMkLst>
          <pc:docMk/>
          <pc:sldMk cId="0" sldId="269"/>
        </pc:sldMkLst>
        <pc:spChg chg="mod">
          <ac:chgData name="Georg Zangl" userId="4c91a1fb-ff51-4cfa-a95f-e95ad3dc32fc" providerId="ADAL" clId="{9B914917-F57E-42D1-9537-639B9F3C7B00}" dt="2026-08-28T14:35:06.791" v="17" actId="20577"/>
          <ac:spMkLst>
            <pc:docMk/>
            <pc:sldMk cId="0" sldId="269"/>
            <ac:spMk id="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7874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opener. Introduce the throughline: an enterprise is a set of properties that must survive movement, and agentic AI is what forces us to build that custody into structure.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divider.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opener: What an enterprise actually is (and isn’t)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diagram on the board. Ask: what is NOT on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shared-services move is the experiment enterprises ran for years without seeing what it tested.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discussion; capture answers to revisit in Week 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opener: The diagram is missing its most important component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opener: Five generations of partial custody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Retell the history of enterprise software by what each generation preserved in structure, not what it enabled.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Chapter 2’s own diagnostic — the people-count is a measure of architectural dependency.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opener: The subsidy is withdrawn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divider.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5 opener: The law and the crossing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dynamic form governs, because an enterprise is never at rest.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opener: The six properties, part 1 — context &amp; authority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conserved properties. Each is defined by its characteristic failure — you recognise a missing property by the damage it leaves.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400 crosses; the not-to-exceed condition does not.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opener: The six properties, part 2 — accountability, coordination, coherence, memory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opener: The four axioms of the agentic era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divider.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9 opener: Structure holds, content moves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decision is, at bottom, a decision to place something in one set or the other.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Knight lost ~70% of its value in two days and its independence within the year.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enterprise isn’t more diligent — the failure is structurally unable to occur.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opener: From tools to participants; identity as data</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opener: Keeping the rule out of the model; trust at the seams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divider.</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opener: Meaning and memory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13 opener: Why it matters to leaders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divider.</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14 opener: Judging the real thing</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15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65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33302B"/>
          </a:solidFill>
          <a:ln/>
        </p:spPr>
        <p:txBody>
          <a:bodyPr/>
          <a:lstStyle/>
          <a:p>
            <a:endParaRPr lang="LID4096"/>
          </a:p>
        </p:txBody>
      </p:sp>
      <p:sp>
        <p:nvSpPr>
          <p:cNvPr id="3" name="Shape 1"/>
          <p:cNvSpPr/>
          <p:nvPr/>
        </p:nvSpPr>
        <p:spPr>
          <a:xfrm>
            <a:off x="10241280" y="4023360"/>
            <a:ext cx="3108960" cy="3108960"/>
          </a:xfrm>
          <a:prstGeom prst="ellipse">
            <a:avLst/>
          </a:prstGeom>
          <a:solidFill>
            <a:srgbClr val="3A3630"/>
          </a:solidFill>
          <a:ln/>
        </p:spPr>
        <p:txBody>
          <a:bodyPr/>
          <a:lstStyle/>
          <a:p>
            <a:endParaRPr lang="LID4096"/>
          </a:p>
        </p:txBody>
      </p:sp>
      <p:sp>
        <p:nvSpPr>
          <p:cNvPr id="4" name="Shape 2"/>
          <p:cNvSpPr/>
          <p:nvPr/>
        </p:nvSpPr>
        <p:spPr>
          <a:xfrm>
            <a:off x="566928" y="1051560"/>
            <a:ext cx="3200400" cy="310896"/>
          </a:xfrm>
          <a:prstGeom prst="roundRect">
            <a:avLst>
              <a:gd name="adj" fmla="val 50000"/>
            </a:avLst>
          </a:prstGeom>
          <a:solidFill>
            <a:srgbClr val="8A8378"/>
          </a:solidFill>
          <a:ln/>
        </p:spPr>
        <p:txBody>
          <a:bodyPr/>
          <a:lstStyle/>
          <a:p>
            <a:endParaRPr lang="LID4096"/>
          </a:p>
        </p:txBody>
      </p:sp>
      <p:sp>
        <p:nvSpPr>
          <p:cNvPr id="5" name="Text 3"/>
          <p:cNvSpPr/>
          <p:nvPr/>
        </p:nvSpPr>
        <p:spPr>
          <a:xfrm>
            <a:off x="566928" y="1051560"/>
            <a:ext cx="32004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BACHELOR OF SCIENCE  ·  LECTURES</a:t>
            </a:r>
            <a:endParaRPr lang="en-US" sz="1050" dirty="0"/>
          </a:p>
        </p:txBody>
      </p:sp>
      <p:sp>
        <p:nvSpPr>
          <p:cNvPr id="6" name="Text 4"/>
          <p:cNvSpPr/>
          <p:nvPr/>
        </p:nvSpPr>
        <p:spPr>
          <a:xfrm>
            <a:off x="566928" y="1600200"/>
            <a:ext cx="8778240" cy="1920240"/>
          </a:xfrm>
          <a:prstGeom prst="rect">
            <a:avLst/>
          </a:prstGeom>
          <a:noFill/>
          <a:ln/>
        </p:spPr>
        <p:txBody>
          <a:bodyPr wrap="square" rtlCol="0" anchor="ctr"/>
          <a:lstStyle/>
          <a:p>
            <a:pPr marL="0" indent="0">
              <a:lnSpc>
                <a:spcPct val="100000"/>
              </a:lnSpc>
              <a:buNone/>
            </a:pPr>
            <a:r>
              <a:rPr lang="en-US" sz="4300" b="1" dirty="0">
                <a:solidFill>
                  <a:srgbClr val="FFFFFF"/>
                </a:solidFill>
                <a:latin typeface="Georgia" pitchFamily="34" charset="0"/>
                <a:ea typeface="Georgia" pitchFamily="34" charset="-122"/>
                <a:cs typeface="Georgia" pitchFamily="34" charset="-120"/>
              </a:rPr>
              <a:t>Foundations of the</a:t>
            </a:r>
            <a:endParaRPr lang="en-US" sz="4300" dirty="0"/>
          </a:p>
          <a:p>
            <a:pPr marL="0" indent="0">
              <a:lnSpc>
                <a:spcPct val="100000"/>
              </a:lnSpc>
              <a:buNone/>
            </a:pPr>
            <a:r>
              <a:rPr lang="en-US" sz="4300" b="1" dirty="0">
                <a:solidFill>
                  <a:srgbClr val="FFFFFF"/>
                </a:solidFill>
                <a:latin typeface="Georgia" pitchFamily="34" charset="0"/>
                <a:ea typeface="Georgia" pitchFamily="34" charset="-122"/>
                <a:cs typeface="Georgia" pitchFamily="34" charset="-120"/>
              </a:rPr>
              <a:t>Agentic Enterprise</a:t>
            </a:r>
            <a:endParaRPr lang="en-US" sz="4300" dirty="0"/>
          </a:p>
        </p:txBody>
      </p:sp>
      <p:sp>
        <p:nvSpPr>
          <p:cNvPr id="7" name="Text 5"/>
          <p:cNvSpPr/>
          <p:nvPr/>
        </p:nvSpPr>
        <p:spPr>
          <a:xfrm>
            <a:off x="566928" y="3611880"/>
            <a:ext cx="8778240" cy="548640"/>
          </a:xfrm>
          <a:prstGeom prst="rect">
            <a:avLst/>
          </a:prstGeom>
          <a:noFill/>
          <a:ln/>
        </p:spPr>
        <p:txBody>
          <a:bodyPr wrap="square" rtlCol="0" anchor="ctr"/>
          <a:lstStyle/>
          <a:p>
            <a:pPr marL="0" indent="0">
              <a:buNone/>
            </a:pPr>
            <a:r>
              <a:rPr lang="en-US" sz="2050" i="1" dirty="0">
                <a:solidFill>
                  <a:srgbClr val="E4DFD5"/>
                </a:solidFill>
                <a:latin typeface="Georgia" pitchFamily="34" charset="0"/>
                <a:ea typeface="Georgia" pitchFamily="34" charset="-122"/>
                <a:cs typeface="Georgia" pitchFamily="34" charset="-120"/>
              </a:rPr>
              <a:t>Architecture as the Custody of What Matters</a:t>
            </a:r>
            <a:endParaRPr lang="en-US" sz="2050" dirty="0"/>
          </a:p>
        </p:txBody>
      </p:sp>
      <p:sp>
        <p:nvSpPr>
          <p:cNvPr id="8" name="Text 6"/>
          <p:cNvSpPr/>
          <p:nvPr/>
        </p:nvSpPr>
        <p:spPr>
          <a:xfrm>
            <a:off x="566928" y="5029200"/>
            <a:ext cx="10058400" cy="822960"/>
          </a:xfrm>
          <a:prstGeom prst="rect">
            <a:avLst/>
          </a:prstGeom>
          <a:noFill/>
          <a:ln/>
        </p:spPr>
        <p:txBody>
          <a:bodyPr wrap="square" rtlCol="0" anchor="ctr"/>
          <a:lstStyle/>
          <a:p>
            <a:pPr marL="0" indent="0">
              <a:lnSpc>
                <a:spcPct val="120000"/>
              </a:lnSpc>
              <a:buNone/>
            </a:pPr>
            <a:r>
              <a:rPr lang="en-US" sz="1300" dirty="0">
                <a:solidFill>
                  <a:srgbClr val="D6D2C9"/>
                </a:solidFill>
                <a:latin typeface="Georgia" pitchFamily="34" charset="0"/>
                <a:ea typeface="Georgia" pitchFamily="34" charset="-122"/>
                <a:cs typeface="Georgia" pitchFamily="34" charset="-120"/>
              </a:rPr>
              <a:t>A 14-week lecture course built on the book
</a:t>
            </a:r>
            <a:r>
              <a:rPr lang="en-US" sz="1400" b="1" i="1" dirty="0">
                <a:solidFill>
                  <a:srgbClr val="FFFFFF"/>
                </a:solidFill>
                <a:latin typeface="Georgia" pitchFamily="34" charset="0"/>
                <a:ea typeface="Georgia" pitchFamily="34" charset="-122"/>
                <a:cs typeface="Georgia" pitchFamily="34" charset="-120"/>
              </a:rPr>
              <a:t>What the Structure Does Not Carry</a:t>
            </a:r>
            <a:r>
              <a:rPr lang="en-US" sz="1200" dirty="0">
                <a:solidFill>
                  <a:srgbClr val="D6D2C9"/>
                </a:solidFill>
                <a:latin typeface="Georgia" pitchFamily="34" charset="0"/>
                <a:ea typeface="Georgia" pitchFamily="34" charset="-122"/>
                <a:cs typeface="Georgia" pitchFamily="34" charset="-120"/>
              </a:rPr>
              <a:t>  ·  Georg Zangl  ·  Foreword by Egbert U. Imomoh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2148840"/>
            <a:ext cx="1371600" cy="310896"/>
          </a:xfrm>
          <a:prstGeom prst="rect">
            <a:avLst/>
          </a:prstGeom>
          <a:noFill/>
          <a:ln/>
        </p:spPr>
        <p:txBody>
          <a:bodyPr wrap="square" rtlCol="0" anchor="ctr"/>
          <a:lstStyle/>
          <a:p>
            <a:pPr marL="0" indent="0" algn="ctr">
              <a:buNone/>
            </a:pPr>
            <a:r>
              <a:rPr lang="en-US" sz="1050" b="1" kern="0" spc="50" dirty="0">
                <a:solidFill>
                  <a:srgbClr val="1B1A18"/>
                </a:solidFill>
                <a:latin typeface="Georgia" pitchFamily="34" charset="0"/>
                <a:ea typeface="Georgia" pitchFamily="34" charset="-122"/>
                <a:cs typeface="Georgia" pitchFamily="34" charset="-120"/>
              </a:rPr>
              <a:t>PART 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marL="0" indent="0">
              <a:buNone/>
            </a:pPr>
            <a:r>
              <a:rPr lang="en-US" sz="3550" b="1" dirty="0">
                <a:solidFill>
                  <a:srgbClr val="FFFFFF"/>
                </a:solidFill>
                <a:latin typeface="Georgia" pitchFamily="34" charset="0"/>
                <a:ea typeface="Georgia" pitchFamily="34" charset="-122"/>
                <a:cs typeface="Georgia" pitchFamily="34" charset="-120"/>
              </a:rPr>
              <a:t>The Invisible Layer</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marL="0" indent="0">
              <a:lnSpc>
                <a:spcPct val="125000"/>
              </a:lnSpc>
              <a:buNone/>
            </a:pPr>
            <a:r>
              <a:rPr lang="en-US" sz="1500" dirty="0">
                <a:solidFill>
                  <a:srgbClr val="E4DFD5"/>
                </a:solidFill>
                <a:latin typeface="Georgia" pitchFamily="34" charset="0"/>
                <a:ea typeface="Georgia" pitchFamily="34" charset="-122"/>
                <a:cs typeface="Georgia" pitchFamily="34" charset="-120"/>
              </a:rPr>
              <a:t>The diagnosis: the human layer that quietly carries meaning, authority, and memory across every boundary in the architecture diagram — and why agentic AI withdraws that hidden subsidy.</a:t>
            </a:r>
            <a:endParaRPr lang="en-US" sz="15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1</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What an enterprise actually is (and isn’t)</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We start with a deceptively simple question: what is an enterprise? Not its buildings, not its software — those get replaced. This week we introduce the idea that an organisation is really a small set of properties that must stay true as work moves around, and we run a thought experiment about what would break if all the experienced people left overnight.</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Say why an enterprise is more than its systems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Describe the ‘invisible layer’ of people between systems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what a thought experiment reveals about hidden work</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FOUNDING ARTEFACT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diagram everyone knows — and what it leaves out</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Boxes for systems.   </a:t>
            </a:r>
            <a:r>
              <a:rPr lang="en-US" sz="1300" dirty="0">
                <a:solidFill>
                  <a:srgbClr val="6E6A62"/>
                </a:solidFill>
                <a:latin typeface="Georgia" pitchFamily="34" charset="0"/>
                <a:ea typeface="Georgia" pitchFamily="34" charset="-122"/>
                <a:cs typeface="Georgia" pitchFamily="34" charset="-120"/>
              </a:rPr>
              <a:t>ERP, CRM, planning, the data platform, AI services around the edge.</a:t>
            </a:r>
            <a:endParaRPr lang="en-US" sz="1500" dirty="0"/>
          </a:p>
        </p:txBody>
      </p:sp>
      <p:sp>
        <p:nvSpPr>
          <p:cNvPr id="7" name="Shape 5"/>
          <p:cNvSpPr/>
          <p:nvPr/>
        </p:nvSpPr>
        <p:spPr>
          <a:xfrm>
            <a:off x="566928" y="2857500"/>
            <a:ext cx="457200" cy="457200"/>
          </a:xfrm>
          <a:prstGeom prst="ellipse">
            <a:avLst/>
          </a:prstGeom>
          <a:solidFill>
            <a:srgbClr val="1B1A18"/>
          </a:solidFill>
          <a:ln/>
        </p:spPr>
        <p:txBody>
          <a:bodyPr/>
          <a:lstStyle/>
          <a:p>
            <a:endParaRPr lang="LID4096"/>
          </a:p>
        </p:txBody>
      </p:sp>
      <p:sp>
        <p:nvSpPr>
          <p:cNvPr id="8" name="Text 6"/>
          <p:cNvSpPr/>
          <p:nvPr/>
        </p:nvSpPr>
        <p:spPr>
          <a:xfrm>
            <a:off x="566928" y="28575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Arrows for integrations.   </a:t>
            </a:r>
            <a:r>
              <a:rPr lang="en-US" sz="1300" dirty="0">
                <a:solidFill>
                  <a:srgbClr val="6E6A62"/>
                </a:solidFill>
                <a:latin typeface="Georgia" pitchFamily="34" charset="0"/>
                <a:ea typeface="Georgia" pitchFamily="34" charset="-122"/>
                <a:cs typeface="Georgia" pitchFamily="34" charset="-120"/>
              </a:rPr>
              <a:t>Dozens, sometimes hundreds, recording which system sends what to which.</a:t>
            </a:r>
            <a:endParaRPr lang="en-US" sz="1500" dirty="0"/>
          </a:p>
        </p:txBody>
      </p:sp>
      <p:sp>
        <p:nvSpPr>
          <p:cNvPr id="10" name="Shape 8"/>
          <p:cNvSpPr/>
          <p:nvPr/>
        </p:nvSpPr>
        <p:spPr>
          <a:xfrm>
            <a:off x="566928" y="4023360"/>
            <a:ext cx="457200" cy="457200"/>
          </a:xfrm>
          <a:prstGeom prst="ellipse">
            <a:avLst/>
          </a:prstGeom>
          <a:solidFill>
            <a:srgbClr val="1B1A18"/>
          </a:solidFill>
          <a:ln/>
        </p:spPr>
        <p:txBody>
          <a:bodyPr/>
          <a:lstStyle/>
          <a:p>
            <a:endParaRPr lang="LID4096"/>
          </a:p>
        </p:txBody>
      </p:sp>
      <p:sp>
        <p:nvSpPr>
          <p:cNvPr id="11" name="Text 9"/>
          <p:cNvSpPr/>
          <p:nvPr/>
        </p:nvSpPr>
        <p:spPr>
          <a:xfrm>
            <a:off x="566928" y="402336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It hangs in every IT department.   </a:t>
            </a:r>
            <a:r>
              <a:rPr lang="en-US" sz="1300" dirty="0">
                <a:solidFill>
                  <a:srgbClr val="6E6A62"/>
                </a:solidFill>
                <a:latin typeface="Georgia" pitchFamily="34" charset="0"/>
                <a:ea typeface="Georgia" pitchFamily="34" charset="-122"/>
                <a:cs typeface="Georgia" pitchFamily="34" charset="-120"/>
              </a:rPr>
              <a:t>It is the discipline’s founding artefact — precise, familiar, and trusted.</a:t>
            </a:r>
            <a:endParaRPr lang="en-US" sz="1500" dirty="0"/>
          </a:p>
        </p:txBody>
      </p:sp>
      <p:sp>
        <p:nvSpPr>
          <p:cNvPr id="13" name="Shape 11"/>
          <p:cNvSpPr/>
          <p:nvPr/>
        </p:nvSpPr>
        <p:spPr>
          <a:xfrm>
            <a:off x="566928" y="5189220"/>
            <a:ext cx="457200" cy="457200"/>
          </a:xfrm>
          <a:prstGeom prst="ellipse">
            <a:avLst/>
          </a:prstGeom>
          <a:solidFill>
            <a:srgbClr val="1B1A18"/>
          </a:solidFill>
          <a:ln/>
        </p:spPr>
        <p:txBody>
          <a:bodyPr/>
          <a:lstStyle/>
          <a:p>
            <a:endParaRPr lang="LID4096"/>
          </a:p>
        </p:txBody>
      </p:sp>
      <p:sp>
        <p:nvSpPr>
          <p:cNvPr id="14" name="Text 12"/>
          <p:cNvSpPr/>
          <p:nvPr/>
        </p:nvSpPr>
        <p:spPr>
          <a:xfrm>
            <a:off x="566928" y="51892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And it is missing its most important component.   </a:t>
            </a:r>
            <a:r>
              <a:rPr lang="en-US" sz="1300" dirty="0">
                <a:solidFill>
                  <a:srgbClr val="6E6A62"/>
                </a:solidFill>
                <a:latin typeface="Georgia" pitchFamily="34" charset="0"/>
                <a:ea typeface="Georgia" pitchFamily="34" charset="-122"/>
                <a:cs typeface="Georgia" pitchFamily="34" charset="-120"/>
              </a:rPr>
              <a:t>Between the boxes, invisible, stands a layer of human beings.</a:t>
            </a:r>
            <a:endParaRPr lang="en-US" sz="15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EXPERIMENT ALREADY RUN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A thought experiment: the flawless transformation</a:t>
            </a:r>
            <a:endParaRPr lang="en-US" sz="2550" dirty="0"/>
          </a:p>
        </p:txBody>
      </p:sp>
      <p:sp>
        <p:nvSpPr>
          <p:cNvPr id="4" name="Shape 2"/>
          <p:cNvSpPr/>
          <p:nvPr/>
        </p:nvSpPr>
        <p:spPr>
          <a:xfrm>
            <a:off x="566928" y="1737360"/>
            <a:ext cx="5368900" cy="4480560"/>
          </a:xfrm>
          <a:prstGeom prst="roundRect">
            <a:avLst>
              <a:gd name="adj" fmla="val 1633"/>
            </a:avLst>
          </a:prstGeom>
          <a:solidFill>
            <a:srgbClr val="F4F2EE"/>
          </a:solidFill>
          <a:ln/>
        </p:spPr>
        <p:txBody>
          <a:bodyPr/>
          <a:lstStyle/>
          <a:p>
            <a:endParaRPr lang="LID4096"/>
          </a:p>
        </p:txBody>
      </p:sp>
      <p:sp>
        <p:nvSpPr>
          <p:cNvPr id="5" name="Shape 3"/>
          <p:cNvSpPr/>
          <p:nvPr/>
        </p:nvSpPr>
        <p:spPr>
          <a:xfrm>
            <a:off x="566928" y="1737360"/>
            <a:ext cx="5368900" cy="548640"/>
          </a:xfrm>
          <a:prstGeom prst="roundRect">
            <a:avLst>
              <a:gd name="adj" fmla="val 13333"/>
            </a:avLst>
          </a:prstGeom>
          <a:solidFill>
            <a:srgbClr val="8A8378"/>
          </a:solidFill>
          <a:ln/>
        </p:spPr>
        <p:txBody>
          <a:bodyPr/>
          <a:lstStyle/>
          <a:p>
            <a:endParaRPr lang="LID4096"/>
          </a:p>
        </p:txBody>
      </p:sp>
      <p:sp>
        <p:nvSpPr>
          <p:cNvPr id="6" name="Text 4"/>
          <p:cNvSpPr/>
          <p:nvPr/>
        </p:nvSpPr>
        <p:spPr>
          <a:xfrm>
            <a:off x="79552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What the plan captured</a:t>
            </a:r>
            <a:endParaRPr lang="en-US" sz="150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Every process documented and signed off</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Every system left exactly where it is</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Every interface test passes</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Savings booked; steering committee dissolves with congratulations</a:t>
            </a:r>
            <a:endParaRPr lang="en-US" sz="1250" dirty="0"/>
          </a:p>
        </p:txBody>
      </p:sp>
      <p:sp>
        <p:nvSpPr>
          <p:cNvPr id="8" name="Shape 6"/>
          <p:cNvSpPr/>
          <p:nvPr/>
        </p:nvSpPr>
        <p:spPr>
          <a:xfrm>
            <a:off x="6255868" y="1737360"/>
            <a:ext cx="5368900" cy="4480560"/>
          </a:xfrm>
          <a:prstGeom prst="roundRect">
            <a:avLst>
              <a:gd name="adj" fmla="val 1633"/>
            </a:avLst>
          </a:prstGeom>
          <a:solidFill>
            <a:srgbClr val="EBE7DF"/>
          </a:solidFill>
          <a:ln/>
        </p:spPr>
        <p:txBody>
          <a:bodyPr/>
          <a:lstStyle/>
          <a:p>
            <a:endParaRPr lang="LID4096"/>
          </a:p>
        </p:txBody>
      </p:sp>
      <p:sp>
        <p:nvSpPr>
          <p:cNvPr id="9" name="Shape 7"/>
          <p:cNvSpPr/>
          <p:nvPr/>
        </p:nvSpPr>
        <p:spPr>
          <a:xfrm>
            <a:off x="6255868" y="1737360"/>
            <a:ext cx="5368900" cy="548640"/>
          </a:xfrm>
          <a:prstGeom prst="roundRect">
            <a:avLst>
              <a:gd name="adj" fmla="val 13333"/>
            </a:avLst>
          </a:prstGeom>
          <a:solidFill>
            <a:srgbClr val="33302B"/>
          </a:solidFill>
          <a:ln/>
        </p:spPr>
        <p:txBody>
          <a:bodyPr/>
          <a:lstStyle/>
          <a:p>
            <a:endParaRPr lang="LID4096"/>
          </a:p>
        </p:txBody>
      </p:sp>
      <p:sp>
        <p:nvSpPr>
          <p:cNvPr id="10" name="Text 8"/>
          <p:cNvSpPr/>
          <p:nvPr/>
        </p:nvSpPr>
        <p:spPr>
          <a:xfrm>
            <a:off x="648446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What actually happened</a:t>
            </a:r>
            <a:endParaRPr lang="en-US" sz="150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Exception queues grow within two quarters</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Then the error rates climb</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 payment run released to a frozen counterparty reaches the board</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tasks moved — the carriers who held the meaning did not</a:t>
            </a:r>
            <a:endParaRPr lang="en-US" sz="1250" dirty="0"/>
          </a:p>
        </p:txBody>
      </p:sp>
      <p:sp>
        <p:nvSpPr>
          <p:cNvPr id="12" name="Text 10"/>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CORE CLAIM</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An enterprise is a small set of properties — what things mean, who may decide, who answers, how actions align, and what the organisation knows — that must remain true while work moves.</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The book’s argument, in one sentence</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Seeing the invisible layer</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Pick an organisation you know. What would break in the first week if every experienced person left, even though every system kept running perfectly?</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Name one thing you personally ‘carry’ between two apps that neither app stores — a meaning, a reason, a permission.</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2</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The diagram is missing its most important component</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This week we name the invisible layer precisely and study its strangest feature: it fails silently. Systems fail loudly — alarms, dashboards, pagers. Crossings between systems fail quietly, weeks later, and the blame lands on a person rather than the boundary where the loss actually happened.</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Define a ‘crossing’ and why it has no owner</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Contrast loud system failure with silent crossing failure</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State the ‘load-bearing fact’ about architecture</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AT EVERY ARROW, EVERY DAY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What the invisible layer actually does</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Reads the export   </a:t>
            </a:r>
            <a:r>
              <a:rPr lang="en-US" sz="1300" dirty="0">
                <a:solidFill>
                  <a:srgbClr val="6E6A62"/>
                </a:solidFill>
                <a:latin typeface="Georgia" pitchFamily="34" charset="0"/>
                <a:ea typeface="Georgia" pitchFamily="34" charset="-122"/>
                <a:cs typeface="Georgia" pitchFamily="34" charset="-120"/>
              </a:rPr>
              <a:t>and understands what the numbers mean.</a:t>
            </a:r>
            <a:endParaRPr lang="en-US" sz="1500" dirty="0"/>
          </a:p>
        </p:txBody>
      </p:sp>
      <p:sp>
        <p:nvSpPr>
          <p:cNvPr id="7" name="Shape 5"/>
          <p:cNvSpPr/>
          <p:nvPr/>
        </p:nvSpPr>
        <p:spPr>
          <a:xfrm>
            <a:off x="566928" y="2857500"/>
            <a:ext cx="457200" cy="457200"/>
          </a:xfrm>
          <a:prstGeom prst="ellipse">
            <a:avLst/>
          </a:prstGeom>
          <a:solidFill>
            <a:srgbClr val="1B1A18"/>
          </a:solidFill>
          <a:ln/>
        </p:spPr>
        <p:txBody>
          <a:bodyPr/>
          <a:lstStyle/>
          <a:p>
            <a:endParaRPr lang="LID4096"/>
          </a:p>
        </p:txBody>
      </p:sp>
      <p:sp>
        <p:nvSpPr>
          <p:cNvPr id="8" name="Text 6"/>
          <p:cNvSpPr/>
          <p:nvPr/>
        </p:nvSpPr>
        <p:spPr>
          <a:xfrm>
            <a:off x="566928" y="28575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Remembers   </a:t>
            </a:r>
            <a:r>
              <a:rPr lang="en-US" sz="1300" dirty="0">
                <a:solidFill>
                  <a:srgbClr val="6E6A62"/>
                </a:solidFill>
                <a:latin typeface="Georgia" pitchFamily="34" charset="0"/>
                <a:ea typeface="Georgia" pitchFamily="34" charset="-122"/>
                <a:cs typeface="Georgia" pitchFamily="34" charset="-120"/>
              </a:rPr>
              <a:t>why a figure was approved, and by whom, when the record has forgotten.</a:t>
            </a:r>
            <a:endParaRPr lang="en-US" sz="1500" dirty="0"/>
          </a:p>
        </p:txBody>
      </p:sp>
      <p:sp>
        <p:nvSpPr>
          <p:cNvPr id="10" name="Shape 8"/>
          <p:cNvSpPr/>
          <p:nvPr/>
        </p:nvSpPr>
        <p:spPr>
          <a:xfrm>
            <a:off x="566928" y="4023360"/>
            <a:ext cx="457200" cy="457200"/>
          </a:xfrm>
          <a:prstGeom prst="ellipse">
            <a:avLst/>
          </a:prstGeom>
          <a:solidFill>
            <a:srgbClr val="1B1A18"/>
          </a:solidFill>
          <a:ln/>
        </p:spPr>
        <p:txBody>
          <a:bodyPr/>
          <a:lstStyle/>
          <a:p>
            <a:endParaRPr lang="LID4096"/>
          </a:p>
        </p:txBody>
      </p:sp>
      <p:sp>
        <p:nvSpPr>
          <p:cNvPr id="11" name="Text 9"/>
          <p:cNvSpPr/>
          <p:nvPr/>
        </p:nvSpPr>
        <p:spPr>
          <a:xfrm>
            <a:off x="566928" y="402336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Applies judgement   </a:t>
            </a:r>
            <a:r>
              <a:rPr lang="en-US" sz="1300" dirty="0">
                <a:solidFill>
                  <a:srgbClr val="6E6A62"/>
                </a:solidFill>
                <a:latin typeface="Georgia" pitchFamily="34" charset="0"/>
                <a:ea typeface="Georgia" pitchFamily="34" charset="-122"/>
                <a:cs typeface="Georgia" pitchFamily="34" charset="-120"/>
              </a:rPr>
              <a:t>about what the receiving system actually needs.</a:t>
            </a:r>
            <a:endParaRPr lang="en-US" sz="1500" dirty="0"/>
          </a:p>
        </p:txBody>
      </p:sp>
      <p:sp>
        <p:nvSpPr>
          <p:cNvPr id="13" name="Shape 11"/>
          <p:cNvSpPr/>
          <p:nvPr/>
        </p:nvSpPr>
        <p:spPr>
          <a:xfrm>
            <a:off x="566928" y="5189220"/>
            <a:ext cx="457200" cy="457200"/>
          </a:xfrm>
          <a:prstGeom prst="ellipse">
            <a:avLst/>
          </a:prstGeom>
          <a:solidFill>
            <a:srgbClr val="1B1A18"/>
          </a:solidFill>
          <a:ln/>
        </p:spPr>
        <p:txBody>
          <a:bodyPr/>
          <a:lstStyle/>
          <a:p>
            <a:endParaRPr lang="LID4096"/>
          </a:p>
        </p:txBody>
      </p:sp>
      <p:sp>
        <p:nvSpPr>
          <p:cNvPr id="14" name="Text 12"/>
          <p:cNvSpPr/>
          <p:nvPr/>
        </p:nvSpPr>
        <p:spPr>
          <a:xfrm>
            <a:off x="566928" y="51892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Re-enters the result   </a:t>
            </a:r>
            <a:r>
              <a:rPr lang="en-US" sz="1300" dirty="0">
                <a:solidFill>
                  <a:srgbClr val="6E6A62"/>
                </a:solidFill>
                <a:latin typeface="Georgia" pitchFamily="34" charset="0"/>
                <a:ea typeface="Georgia" pitchFamily="34" charset="-122"/>
                <a:cs typeface="Georgia" pitchFamily="34" charset="-120"/>
              </a:rPr>
              <a:t>with the context restored — meaning, authority and memory moving inside people’s heads.</a:t>
            </a:r>
            <a:endParaRPr lang="en-US" sz="15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WHY THE LOSS IS INVISIBLE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Two kinds of failure</a:t>
            </a:r>
            <a:endParaRPr lang="en-US" sz="2550" dirty="0"/>
          </a:p>
        </p:txBody>
      </p:sp>
      <p:sp>
        <p:nvSpPr>
          <p:cNvPr id="4" name="Shape 2"/>
          <p:cNvSpPr/>
          <p:nvPr/>
        </p:nvSpPr>
        <p:spPr>
          <a:xfrm>
            <a:off x="566928" y="1737360"/>
            <a:ext cx="5368900" cy="4480560"/>
          </a:xfrm>
          <a:prstGeom prst="roundRect">
            <a:avLst>
              <a:gd name="adj" fmla="val 1633"/>
            </a:avLst>
          </a:prstGeom>
          <a:solidFill>
            <a:srgbClr val="F4F2EE"/>
          </a:solidFill>
          <a:ln/>
        </p:spPr>
        <p:txBody>
          <a:bodyPr/>
          <a:lstStyle/>
          <a:p>
            <a:endParaRPr lang="LID4096"/>
          </a:p>
        </p:txBody>
      </p:sp>
      <p:sp>
        <p:nvSpPr>
          <p:cNvPr id="5" name="Shape 3"/>
          <p:cNvSpPr/>
          <p:nvPr/>
        </p:nvSpPr>
        <p:spPr>
          <a:xfrm>
            <a:off x="566928" y="1737360"/>
            <a:ext cx="5368900" cy="548640"/>
          </a:xfrm>
          <a:prstGeom prst="roundRect">
            <a:avLst>
              <a:gd name="adj" fmla="val 13333"/>
            </a:avLst>
          </a:prstGeom>
          <a:solidFill>
            <a:srgbClr val="8A8378"/>
          </a:solidFill>
          <a:ln/>
        </p:spPr>
        <p:txBody>
          <a:bodyPr/>
          <a:lstStyle/>
          <a:p>
            <a:endParaRPr lang="LID4096"/>
          </a:p>
        </p:txBody>
      </p:sp>
      <p:sp>
        <p:nvSpPr>
          <p:cNvPr id="6" name="Text 4"/>
          <p:cNvSpPr/>
          <p:nvPr/>
        </p:nvSpPr>
        <p:spPr>
          <a:xfrm>
            <a:off x="79552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Systems fail loudly</a:t>
            </a:r>
            <a:endParaRPr lang="en-US" sz="150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 system goes down — alarms fire, dashboards redden</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People are paged; the failure is fixed</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It is visible, attributable, and owned</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Every system has a name, a budget, an owner</a:t>
            </a:r>
            <a:endParaRPr lang="en-US" sz="1250" dirty="0"/>
          </a:p>
        </p:txBody>
      </p:sp>
      <p:sp>
        <p:nvSpPr>
          <p:cNvPr id="8" name="Shape 6"/>
          <p:cNvSpPr/>
          <p:nvPr/>
        </p:nvSpPr>
        <p:spPr>
          <a:xfrm>
            <a:off x="6255868" y="1737360"/>
            <a:ext cx="5368900" cy="4480560"/>
          </a:xfrm>
          <a:prstGeom prst="roundRect">
            <a:avLst>
              <a:gd name="adj" fmla="val 1633"/>
            </a:avLst>
          </a:prstGeom>
          <a:solidFill>
            <a:srgbClr val="EBE7DF"/>
          </a:solidFill>
          <a:ln/>
        </p:spPr>
        <p:txBody>
          <a:bodyPr/>
          <a:lstStyle/>
          <a:p>
            <a:endParaRPr lang="LID4096"/>
          </a:p>
        </p:txBody>
      </p:sp>
      <p:sp>
        <p:nvSpPr>
          <p:cNvPr id="9" name="Shape 7"/>
          <p:cNvSpPr/>
          <p:nvPr/>
        </p:nvSpPr>
        <p:spPr>
          <a:xfrm>
            <a:off x="6255868" y="1737360"/>
            <a:ext cx="5368900" cy="548640"/>
          </a:xfrm>
          <a:prstGeom prst="roundRect">
            <a:avLst>
              <a:gd name="adj" fmla="val 13333"/>
            </a:avLst>
          </a:prstGeom>
          <a:solidFill>
            <a:srgbClr val="33302B"/>
          </a:solidFill>
          <a:ln/>
        </p:spPr>
        <p:txBody>
          <a:bodyPr/>
          <a:lstStyle/>
          <a:p>
            <a:endParaRPr lang="LID4096"/>
          </a:p>
        </p:txBody>
      </p:sp>
      <p:sp>
        <p:nvSpPr>
          <p:cNvPr id="10" name="Text 8"/>
          <p:cNvSpPr/>
          <p:nvPr/>
        </p:nvSpPr>
        <p:spPr>
          <a:xfrm>
            <a:off x="648446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Crossings fail silently</a:t>
            </a:r>
            <a:endParaRPr lang="en-US" sz="150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Context is stripped — no alarm, because no component owns it</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data validates; the process continues</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loss surfaces weeks later as a ‘human error’</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Crossings have no name, no budget, no owner</a:t>
            </a:r>
            <a:endParaRPr lang="en-US" sz="1250" dirty="0"/>
          </a:p>
        </p:txBody>
      </p:sp>
      <p:sp>
        <p:nvSpPr>
          <p:cNvPr id="12" name="Text 10"/>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CHAPTER 1</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For four decades the discipline appeared adequate because every omission in its design was silently compensated, by hand, at the boundaries it drew as arrows.</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The load-bearing fact</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Spot the crossing</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Describe a real mistake you’ve seen (school, job, an app) where ‘the data was right but it meant the wrong thing.’ Where was the crossing?</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Why is it easier to blame a person than to blame a boundary? What does that cost an organisation over time?</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3</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Five generations of partial custody</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Enterprise software tells its history as pure progress: ledgers → ERP → CRM → planning → analytics → AI. This week we retell that history under a different question — not what each generation enabled, but which property it first put into structure, and which it left at the boundary for people to carry.</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List the five generations and the property each preserved</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why each left a market for the next</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Say why the fifth generation ‘ends the song’</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WHAT DID EACH PRESERVE?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Retelling forty years under one question</a:t>
            </a:r>
            <a:endParaRPr lang="en-US" sz="2550" dirty="0"/>
          </a:p>
        </p:txBody>
      </p:sp>
      <p:sp>
        <p:nvSpPr>
          <p:cNvPr id="4" name="Shape 2"/>
          <p:cNvSpPr/>
          <p:nvPr/>
        </p:nvSpPr>
        <p:spPr>
          <a:xfrm>
            <a:off x="566928" y="2011680"/>
            <a:ext cx="2006742" cy="3108960"/>
          </a:xfrm>
          <a:prstGeom prst="roundRect">
            <a:avLst>
              <a:gd name="adj" fmla="val 3645"/>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1314267" y="1755648"/>
            <a:ext cx="512064" cy="512064"/>
          </a:xfrm>
          <a:prstGeom prst="ellipse">
            <a:avLst/>
          </a:prstGeom>
          <a:solidFill>
            <a:srgbClr val="8A8378"/>
          </a:solidFill>
          <a:ln w="25400">
            <a:solidFill>
              <a:srgbClr val="FFFFFF"/>
            </a:solidFill>
            <a:prstDash val="solid"/>
          </a:ln>
        </p:spPr>
        <p:txBody>
          <a:bodyPr/>
          <a:lstStyle/>
          <a:p>
            <a:endParaRPr lang="LID4096"/>
          </a:p>
        </p:txBody>
      </p:sp>
      <p:sp>
        <p:nvSpPr>
          <p:cNvPr id="6" name="Text 4"/>
          <p:cNvSpPr/>
          <p:nvPr/>
        </p:nvSpPr>
        <p:spPr>
          <a:xfrm>
            <a:off x="1314267" y="1755648"/>
            <a:ext cx="512064" cy="512064"/>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658368" y="2423160"/>
            <a:ext cx="1823862" cy="457200"/>
          </a:xfrm>
          <a:prstGeom prst="rect">
            <a:avLst/>
          </a:prstGeom>
          <a:noFill/>
          <a:ln/>
        </p:spPr>
        <p:txBody>
          <a:bodyPr wrap="square" rtlCol="0" anchor="ctr"/>
          <a:lstStyle/>
          <a:p>
            <a:pPr marL="0" indent="0" algn="ctr">
              <a:buNone/>
            </a:pPr>
            <a:r>
              <a:rPr lang="en-US" sz="1800" b="1" dirty="0">
                <a:solidFill>
                  <a:srgbClr val="1B1A18"/>
                </a:solidFill>
                <a:latin typeface="Georgia" pitchFamily="34" charset="0"/>
                <a:ea typeface="Georgia" pitchFamily="34" charset="-122"/>
                <a:cs typeface="Georgia" pitchFamily="34" charset="-120"/>
              </a:rPr>
              <a:t>ERP</a:t>
            </a:r>
            <a:endParaRPr lang="en-US" sz="1800" dirty="0"/>
          </a:p>
        </p:txBody>
      </p:sp>
      <p:sp>
        <p:nvSpPr>
          <p:cNvPr id="8" name="Text 6"/>
          <p:cNvSpPr/>
          <p:nvPr/>
        </p:nvSpPr>
        <p:spPr>
          <a:xfrm>
            <a:off x="658368" y="2971800"/>
            <a:ext cx="1823862" cy="274320"/>
          </a:xfrm>
          <a:prstGeom prst="rect">
            <a:avLst/>
          </a:prstGeom>
          <a:noFill/>
          <a:ln/>
        </p:spPr>
        <p:txBody>
          <a:bodyPr wrap="square" rtlCol="0" anchor="ctr"/>
          <a:lstStyle/>
          <a:p>
            <a:pPr marL="0" indent="0" algn="ctr">
              <a:buNone/>
            </a:pPr>
            <a:r>
              <a:rPr lang="en-US" sz="950" i="1" dirty="0">
                <a:solidFill>
                  <a:srgbClr val="6E6A62"/>
                </a:solidFill>
                <a:latin typeface="Georgia" pitchFamily="34" charset="0"/>
                <a:ea typeface="Georgia" pitchFamily="34" charset="-122"/>
                <a:cs typeface="Georgia" pitchFamily="34" charset="-120"/>
              </a:rPr>
              <a:t>preserved</a:t>
            </a:r>
            <a:endParaRPr lang="en-US" sz="950" dirty="0"/>
          </a:p>
        </p:txBody>
      </p:sp>
      <p:sp>
        <p:nvSpPr>
          <p:cNvPr id="9" name="Text 7"/>
          <p:cNvSpPr/>
          <p:nvPr/>
        </p:nvSpPr>
        <p:spPr>
          <a:xfrm>
            <a:off x="676656" y="3246120"/>
            <a:ext cx="1787286" cy="1645920"/>
          </a:xfrm>
          <a:prstGeom prst="rect">
            <a:avLst/>
          </a:prstGeom>
          <a:noFill/>
          <a:ln/>
        </p:spPr>
        <p:txBody>
          <a:bodyPr wrap="square" rtlCol="0" anchor="t"/>
          <a:lstStyle/>
          <a:p>
            <a:pPr marL="0" indent="0" algn="ctr">
              <a:lnSpc>
                <a:spcPct val="110000"/>
              </a:lnSpc>
              <a:buNone/>
            </a:pPr>
            <a:r>
              <a:rPr lang="en-US" sz="1200" dirty="0">
                <a:solidFill>
                  <a:srgbClr val="33302B"/>
                </a:solidFill>
                <a:latin typeface="Georgia" pitchFamily="34" charset="0"/>
                <a:ea typeface="Georgia" pitchFamily="34" charset="-122"/>
                <a:cs typeface="Georgia" pitchFamily="34" charset="-120"/>
              </a:rPr>
              <a:t>transactional truth</a:t>
            </a:r>
            <a:endParaRPr lang="en-US" sz="1200" dirty="0"/>
          </a:p>
        </p:txBody>
      </p:sp>
      <p:sp>
        <p:nvSpPr>
          <p:cNvPr id="10" name="Shape 8"/>
          <p:cNvSpPr/>
          <p:nvPr/>
        </p:nvSpPr>
        <p:spPr>
          <a:xfrm>
            <a:off x="2829702" y="2011680"/>
            <a:ext cx="2006742" cy="3108960"/>
          </a:xfrm>
          <a:prstGeom prst="roundRect">
            <a:avLst>
              <a:gd name="adj" fmla="val 3645"/>
            </a:avLst>
          </a:prstGeom>
          <a:solidFill>
            <a:srgbClr val="F4F2EE"/>
          </a:solidFill>
          <a:ln w="12700">
            <a:solidFill>
              <a:srgbClr val="EBE7DF"/>
            </a:solidFill>
            <a:prstDash val="solid"/>
          </a:ln>
        </p:spPr>
        <p:txBody>
          <a:bodyPr/>
          <a:lstStyle/>
          <a:p>
            <a:endParaRPr lang="LID4096"/>
          </a:p>
        </p:txBody>
      </p:sp>
      <p:sp>
        <p:nvSpPr>
          <p:cNvPr id="11" name="Shape 9"/>
          <p:cNvSpPr/>
          <p:nvPr/>
        </p:nvSpPr>
        <p:spPr>
          <a:xfrm>
            <a:off x="3577041" y="1755648"/>
            <a:ext cx="512064" cy="512064"/>
          </a:xfrm>
          <a:prstGeom prst="ellipse">
            <a:avLst/>
          </a:prstGeom>
          <a:solidFill>
            <a:srgbClr val="8A8378"/>
          </a:solidFill>
          <a:ln w="25400">
            <a:solidFill>
              <a:srgbClr val="FFFFFF"/>
            </a:solidFill>
            <a:prstDash val="solid"/>
          </a:ln>
        </p:spPr>
        <p:txBody>
          <a:bodyPr/>
          <a:lstStyle/>
          <a:p>
            <a:endParaRPr lang="LID4096"/>
          </a:p>
        </p:txBody>
      </p:sp>
      <p:sp>
        <p:nvSpPr>
          <p:cNvPr id="12" name="Text 10"/>
          <p:cNvSpPr/>
          <p:nvPr/>
        </p:nvSpPr>
        <p:spPr>
          <a:xfrm>
            <a:off x="3577041" y="1755648"/>
            <a:ext cx="512064" cy="512064"/>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3" name="Text 11"/>
          <p:cNvSpPr/>
          <p:nvPr/>
        </p:nvSpPr>
        <p:spPr>
          <a:xfrm>
            <a:off x="2921142" y="2423160"/>
            <a:ext cx="1823862" cy="457200"/>
          </a:xfrm>
          <a:prstGeom prst="rect">
            <a:avLst/>
          </a:prstGeom>
          <a:noFill/>
          <a:ln/>
        </p:spPr>
        <p:txBody>
          <a:bodyPr wrap="square" rtlCol="0" anchor="ctr"/>
          <a:lstStyle/>
          <a:p>
            <a:pPr marL="0" indent="0" algn="ctr">
              <a:buNone/>
            </a:pPr>
            <a:r>
              <a:rPr lang="en-US" sz="1800" b="1" dirty="0">
                <a:solidFill>
                  <a:srgbClr val="1B1A18"/>
                </a:solidFill>
                <a:latin typeface="Georgia" pitchFamily="34" charset="0"/>
                <a:ea typeface="Georgia" pitchFamily="34" charset="-122"/>
                <a:cs typeface="Georgia" pitchFamily="34" charset="-120"/>
              </a:rPr>
              <a:t>CRM</a:t>
            </a:r>
            <a:endParaRPr lang="en-US" sz="1800" dirty="0"/>
          </a:p>
        </p:txBody>
      </p:sp>
      <p:sp>
        <p:nvSpPr>
          <p:cNvPr id="14" name="Text 12"/>
          <p:cNvSpPr/>
          <p:nvPr/>
        </p:nvSpPr>
        <p:spPr>
          <a:xfrm>
            <a:off x="2921142" y="2971800"/>
            <a:ext cx="1823862" cy="274320"/>
          </a:xfrm>
          <a:prstGeom prst="rect">
            <a:avLst/>
          </a:prstGeom>
          <a:noFill/>
          <a:ln/>
        </p:spPr>
        <p:txBody>
          <a:bodyPr wrap="square" rtlCol="0" anchor="ctr"/>
          <a:lstStyle/>
          <a:p>
            <a:pPr marL="0" indent="0" algn="ctr">
              <a:buNone/>
            </a:pPr>
            <a:r>
              <a:rPr lang="en-US" sz="950" i="1" dirty="0">
                <a:solidFill>
                  <a:srgbClr val="6E6A62"/>
                </a:solidFill>
                <a:latin typeface="Georgia" pitchFamily="34" charset="0"/>
                <a:ea typeface="Georgia" pitchFamily="34" charset="-122"/>
                <a:cs typeface="Georgia" pitchFamily="34" charset="-120"/>
              </a:rPr>
              <a:t>preserved</a:t>
            </a:r>
            <a:endParaRPr lang="en-US" sz="950" dirty="0"/>
          </a:p>
        </p:txBody>
      </p:sp>
      <p:sp>
        <p:nvSpPr>
          <p:cNvPr id="15" name="Text 13"/>
          <p:cNvSpPr/>
          <p:nvPr/>
        </p:nvSpPr>
        <p:spPr>
          <a:xfrm>
            <a:off x="2939430" y="3246120"/>
            <a:ext cx="1787286" cy="1645920"/>
          </a:xfrm>
          <a:prstGeom prst="rect">
            <a:avLst/>
          </a:prstGeom>
          <a:noFill/>
          <a:ln/>
        </p:spPr>
        <p:txBody>
          <a:bodyPr wrap="square" rtlCol="0" anchor="t"/>
          <a:lstStyle/>
          <a:p>
            <a:pPr marL="0" indent="0" algn="ctr">
              <a:lnSpc>
                <a:spcPct val="110000"/>
              </a:lnSpc>
              <a:buNone/>
            </a:pPr>
            <a:r>
              <a:rPr lang="en-US" sz="1200" dirty="0">
                <a:solidFill>
                  <a:srgbClr val="33302B"/>
                </a:solidFill>
                <a:latin typeface="Georgia" pitchFamily="34" charset="0"/>
                <a:ea typeface="Georgia" pitchFamily="34" charset="-122"/>
                <a:cs typeface="Georgia" pitchFamily="34" charset="-120"/>
              </a:rPr>
              <a:t>customer context</a:t>
            </a:r>
            <a:endParaRPr lang="en-US" sz="1200" dirty="0"/>
          </a:p>
        </p:txBody>
      </p:sp>
      <p:sp>
        <p:nvSpPr>
          <p:cNvPr id="16" name="Shape 14"/>
          <p:cNvSpPr/>
          <p:nvPr/>
        </p:nvSpPr>
        <p:spPr>
          <a:xfrm>
            <a:off x="5092476" y="2011680"/>
            <a:ext cx="2006742" cy="3108960"/>
          </a:xfrm>
          <a:prstGeom prst="roundRect">
            <a:avLst>
              <a:gd name="adj" fmla="val 3645"/>
            </a:avLst>
          </a:prstGeom>
          <a:solidFill>
            <a:srgbClr val="F4F2EE"/>
          </a:solidFill>
          <a:ln w="12700">
            <a:solidFill>
              <a:srgbClr val="EBE7DF"/>
            </a:solidFill>
            <a:prstDash val="solid"/>
          </a:ln>
        </p:spPr>
        <p:txBody>
          <a:bodyPr/>
          <a:lstStyle/>
          <a:p>
            <a:endParaRPr lang="LID4096"/>
          </a:p>
        </p:txBody>
      </p:sp>
      <p:sp>
        <p:nvSpPr>
          <p:cNvPr id="17" name="Shape 15"/>
          <p:cNvSpPr/>
          <p:nvPr/>
        </p:nvSpPr>
        <p:spPr>
          <a:xfrm>
            <a:off x="5839816" y="1755648"/>
            <a:ext cx="512064" cy="512064"/>
          </a:xfrm>
          <a:prstGeom prst="ellipse">
            <a:avLst/>
          </a:prstGeom>
          <a:solidFill>
            <a:srgbClr val="8A8378"/>
          </a:solidFill>
          <a:ln w="25400">
            <a:solidFill>
              <a:srgbClr val="FFFFFF"/>
            </a:solidFill>
            <a:prstDash val="solid"/>
          </a:ln>
        </p:spPr>
        <p:txBody>
          <a:bodyPr/>
          <a:lstStyle/>
          <a:p>
            <a:endParaRPr lang="LID4096"/>
          </a:p>
        </p:txBody>
      </p:sp>
      <p:sp>
        <p:nvSpPr>
          <p:cNvPr id="18" name="Text 16"/>
          <p:cNvSpPr/>
          <p:nvPr/>
        </p:nvSpPr>
        <p:spPr>
          <a:xfrm>
            <a:off x="5839816" y="1755648"/>
            <a:ext cx="512064" cy="512064"/>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9" name="Text 17"/>
          <p:cNvSpPr/>
          <p:nvPr/>
        </p:nvSpPr>
        <p:spPr>
          <a:xfrm>
            <a:off x="5183916" y="2423160"/>
            <a:ext cx="1823862" cy="457200"/>
          </a:xfrm>
          <a:prstGeom prst="rect">
            <a:avLst/>
          </a:prstGeom>
          <a:noFill/>
          <a:ln/>
        </p:spPr>
        <p:txBody>
          <a:bodyPr wrap="square" rtlCol="0" anchor="ctr"/>
          <a:lstStyle/>
          <a:p>
            <a:pPr marL="0" indent="0" algn="ctr">
              <a:buNone/>
            </a:pPr>
            <a:r>
              <a:rPr lang="en-US" sz="1800" b="1" dirty="0">
                <a:solidFill>
                  <a:srgbClr val="1B1A18"/>
                </a:solidFill>
                <a:latin typeface="Georgia" pitchFamily="34" charset="0"/>
                <a:ea typeface="Georgia" pitchFamily="34" charset="-122"/>
                <a:cs typeface="Georgia" pitchFamily="34" charset="-120"/>
              </a:rPr>
              <a:t>Planning</a:t>
            </a:r>
            <a:endParaRPr lang="en-US" sz="1800" dirty="0"/>
          </a:p>
        </p:txBody>
      </p:sp>
      <p:sp>
        <p:nvSpPr>
          <p:cNvPr id="20" name="Text 18"/>
          <p:cNvSpPr/>
          <p:nvPr/>
        </p:nvSpPr>
        <p:spPr>
          <a:xfrm>
            <a:off x="5183916" y="2971800"/>
            <a:ext cx="1823862" cy="274320"/>
          </a:xfrm>
          <a:prstGeom prst="rect">
            <a:avLst/>
          </a:prstGeom>
          <a:noFill/>
          <a:ln/>
        </p:spPr>
        <p:txBody>
          <a:bodyPr wrap="square" rtlCol="0" anchor="ctr"/>
          <a:lstStyle/>
          <a:p>
            <a:pPr marL="0" indent="0" algn="ctr">
              <a:buNone/>
            </a:pPr>
            <a:r>
              <a:rPr lang="en-US" sz="950" i="1" dirty="0">
                <a:solidFill>
                  <a:srgbClr val="6E6A62"/>
                </a:solidFill>
                <a:latin typeface="Georgia" pitchFamily="34" charset="0"/>
                <a:ea typeface="Georgia" pitchFamily="34" charset="-122"/>
                <a:cs typeface="Georgia" pitchFamily="34" charset="-120"/>
              </a:rPr>
              <a:t>preserved</a:t>
            </a:r>
            <a:endParaRPr lang="en-US" sz="950" dirty="0"/>
          </a:p>
        </p:txBody>
      </p:sp>
      <p:sp>
        <p:nvSpPr>
          <p:cNvPr id="21" name="Text 19"/>
          <p:cNvSpPr/>
          <p:nvPr/>
        </p:nvSpPr>
        <p:spPr>
          <a:xfrm>
            <a:off x="5202204" y="3246120"/>
            <a:ext cx="1787286" cy="1645920"/>
          </a:xfrm>
          <a:prstGeom prst="rect">
            <a:avLst/>
          </a:prstGeom>
          <a:noFill/>
          <a:ln/>
        </p:spPr>
        <p:txBody>
          <a:bodyPr wrap="square" rtlCol="0" anchor="t"/>
          <a:lstStyle/>
          <a:p>
            <a:pPr marL="0" indent="0" algn="ctr">
              <a:lnSpc>
                <a:spcPct val="110000"/>
              </a:lnSpc>
              <a:buNone/>
            </a:pPr>
            <a:r>
              <a:rPr lang="en-US" sz="1200" dirty="0">
                <a:solidFill>
                  <a:srgbClr val="33302B"/>
                </a:solidFill>
                <a:latin typeface="Georgia" pitchFamily="34" charset="0"/>
                <a:ea typeface="Georgia" pitchFamily="34" charset="-122"/>
                <a:cs typeface="Georgia" pitchFamily="34" charset="-120"/>
              </a:rPr>
              <a:t>the forward view</a:t>
            </a:r>
            <a:endParaRPr lang="en-US" sz="1200" dirty="0"/>
          </a:p>
        </p:txBody>
      </p:sp>
      <p:sp>
        <p:nvSpPr>
          <p:cNvPr id="22" name="Shape 20"/>
          <p:cNvSpPr/>
          <p:nvPr/>
        </p:nvSpPr>
        <p:spPr>
          <a:xfrm>
            <a:off x="7355251" y="2011680"/>
            <a:ext cx="2006742" cy="3108960"/>
          </a:xfrm>
          <a:prstGeom prst="roundRect">
            <a:avLst>
              <a:gd name="adj" fmla="val 3645"/>
            </a:avLst>
          </a:prstGeom>
          <a:solidFill>
            <a:srgbClr val="F4F2EE"/>
          </a:solidFill>
          <a:ln w="12700">
            <a:solidFill>
              <a:srgbClr val="EBE7DF"/>
            </a:solidFill>
            <a:prstDash val="solid"/>
          </a:ln>
        </p:spPr>
        <p:txBody>
          <a:bodyPr/>
          <a:lstStyle/>
          <a:p>
            <a:endParaRPr lang="LID4096"/>
          </a:p>
        </p:txBody>
      </p:sp>
      <p:sp>
        <p:nvSpPr>
          <p:cNvPr id="23" name="Shape 21"/>
          <p:cNvSpPr/>
          <p:nvPr/>
        </p:nvSpPr>
        <p:spPr>
          <a:xfrm>
            <a:off x="8102590" y="1755648"/>
            <a:ext cx="512064" cy="512064"/>
          </a:xfrm>
          <a:prstGeom prst="ellipse">
            <a:avLst/>
          </a:prstGeom>
          <a:solidFill>
            <a:srgbClr val="8A8378"/>
          </a:solidFill>
          <a:ln w="25400">
            <a:solidFill>
              <a:srgbClr val="FFFFFF"/>
            </a:solidFill>
            <a:prstDash val="solid"/>
          </a:ln>
        </p:spPr>
        <p:txBody>
          <a:bodyPr/>
          <a:lstStyle/>
          <a:p>
            <a:endParaRPr lang="LID4096"/>
          </a:p>
        </p:txBody>
      </p:sp>
      <p:sp>
        <p:nvSpPr>
          <p:cNvPr id="24" name="Text 22"/>
          <p:cNvSpPr/>
          <p:nvPr/>
        </p:nvSpPr>
        <p:spPr>
          <a:xfrm>
            <a:off x="8102590" y="1755648"/>
            <a:ext cx="512064" cy="512064"/>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5" name="Text 23"/>
          <p:cNvSpPr/>
          <p:nvPr/>
        </p:nvSpPr>
        <p:spPr>
          <a:xfrm>
            <a:off x="7446691" y="2423160"/>
            <a:ext cx="1823862" cy="457200"/>
          </a:xfrm>
          <a:prstGeom prst="rect">
            <a:avLst/>
          </a:prstGeom>
          <a:noFill/>
          <a:ln/>
        </p:spPr>
        <p:txBody>
          <a:bodyPr wrap="square" rtlCol="0" anchor="ctr"/>
          <a:lstStyle/>
          <a:p>
            <a:pPr marL="0" indent="0" algn="ctr">
              <a:buNone/>
            </a:pPr>
            <a:r>
              <a:rPr lang="en-US" sz="1800" b="1" dirty="0">
                <a:solidFill>
                  <a:srgbClr val="1B1A18"/>
                </a:solidFill>
                <a:latin typeface="Georgia" pitchFamily="34" charset="0"/>
                <a:ea typeface="Georgia" pitchFamily="34" charset="-122"/>
                <a:cs typeface="Georgia" pitchFamily="34" charset="-120"/>
              </a:rPr>
              <a:t>Analytics</a:t>
            </a:r>
            <a:endParaRPr lang="en-US" sz="1800" dirty="0"/>
          </a:p>
        </p:txBody>
      </p:sp>
      <p:sp>
        <p:nvSpPr>
          <p:cNvPr id="26" name="Text 24"/>
          <p:cNvSpPr/>
          <p:nvPr/>
        </p:nvSpPr>
        <p:spPr>
          <a:xfrm>
            <a:off x="7446691" y="2971800"/>
            <a:ext cx="1823862" cy="274320"/>
          </a:xfrm>
          <a:prstGeom prst="rect">
            <a:avLst/>
          </a:prstGeom>
          <a:noFill/>
          <a:ln/>
        </p:spPr>
        <p:txBody>
          <a:bodyPr wrap="square" rtlCol="0" anchor="ctr"/>
          <a:lstStyle/>
          <a:p>
            <a:pPr marL="0" indent="0" algn="ctr">
              <a:buNone/>
            </a:pPr>
            <a:r>
              <a:rPr lang="en-US" sz="950" i="1" dirty="0">
                <a:solidFill>
                  <a:srgbClr val="6E6A62"/>
                </a:solidFill>
                <a:latin typeface="Georgia" pitchFamily="34" charset="0"/>
                <a:ea typeface="Georgia" pitchFamily="34" charset="-122"/>
                <a:cs typeface="Georgia" pitchFamily="34" charset="-120"/>
              </a:rPr>
              <a:t>preserved</a:t>
            </a:r>
            <a:endParaRPr lang="en-US" sz="950" dirty="0"/>
          </a:p>
        </p:txBody>
      </p:sp>
      <p:sp>
        <p:nvSpPr>
          <p:cNvPr id="27" name="Text 25"/>
          <p:cNvSpPr/>
          <p:nvPr/>
        </p:nvSpPr>
        <p:spPr>
          <a:xfrm>
            <a:off x="7464979" y="3246120"/>
            <a:ext cx="1787286" cy="1645920"/>
          </a:xfrm>
          <a:prstGeom prst="rect">
            <a:avLst/>
          </a:prstGeom>
          <a:noFill/>
          <a:ln/>
        </p:spPr>
        <p:txBody>
          <a:bodyPr wrap="square" rtlCol="0" anchor="t"/>
          <a:lstStyle/>
          <a:p>
            <a:pPr marL="0" indent="0" algn="ctr">
              <a:lnSpc>
                <a:spcPct val="110000"/>
              </a:lnSpc>
              <a:buNone/>
            </a:pPr>
            <a:r>
              <a:rPr lang="en-US" sz="1200" dirty="0">
                <a:solidFill>
                  <a:srgbClr val="33302B"/>
                </a:solidFill>
                <a:latin typeface="Georgia" pitchFamily="34" charset="0"/>
                <a:ea typeface="Georgia" pitchFamily="34" charset="-122"/>
                <a:cs typeface="Georgia" pitchFamily="34" charset="-120"/>
              </a:rPr>
              <a:t>institutional memory</a:t>
            </a:r>
            <a:endParaRPr lang="en-US" sz="1200" dirty="0"/>
          </a:p>
        </p:txBody>
      </p:sp>
      <p:sp>
        <p:nvSpPr>
          <p:cNvPr id="28" name="Shape 26"/>
          <p:cNvSpPr/>
          <p:nvPr/>
        </p:nvSpPr>
        <p:spPr>
          <a:xfrm>
            <a:off x="9618025" y="2011680"/>
            <a:ext cx="2006742" cy="3108960"/>
          </a:xfrm>
          <a:prstGeom prst="roundRect">
            <a:avLst>
              <a:gd name="adj" fmla="val 3645"/>
            </a:avLst>
          </a:prstGeom>
          <a:solidFill>
            <a:srgbClr val="1B1A18"/>
          </a:solidFill>
          <a:ln w="12700">
            <a:solidFill>
              <a:srgbClr val="1B1A18"/>
            </a:solidFill>
            <a:prstDash val="solid"/>
          </a:ln>
        </p:spPr>
        <p:txBody>
          <a:bodyPr/>
          <a:lstStyle/>
          <a:p>
            <a:endParaRPr lang="LID4096"/>
          </a:p>
        </p:txBody>
      </p:sp>
      <p:sp>
        <p:nvSpPr>
          <p:cNvPr id="29" name="Shape 27"/>
          <p:cNvSpPr/>
          <p:nvPr/>
        </p:nvSpPr>
        <p:spPr>
          <a:xfrm>
            <a:off x="10365364" y="1755648"/>
            <a:ext cx="512064" cy="512064"/>
          </a:xfrm>
          <a:prstGeom prst="ellipse">
            <a:avLst/>
          </a:prstGeom>
          <a:solidFill>
            <a:srgbClr val="8A8378"/>
          </a:solidFill>
          <a:ln w="25400">
            <a:solidFill>
              <a:srgbClr val="FFFFFF"/>
            </a:solidFill>
            <a:prstDash val="solid"/>
          </a:ln>
        </p:spPr>
        <p:txBody>
          <a:bodyPr/>
          <a:lstStyle/>
          <a:p>
            <a:endParaRPr lang="LID4096"/>
          </a:p>
        </p:txBody>
      </p:sp>
      <p:sp>
        <p:nvSpPr>
          <p:cNvPr id="30" name="Text 28"/>
          <p:cNvSpPr/>
          <p:nvPr/>
        </p:nvSpPr>
        <p:spPr>
          <a:xfrm>
            <a:off x="10365364" y="1755648"/>
            <a:ext cx="512064" cy="512064"/>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9709465" y="2423160"/>
            <a:ext cx="1823862"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AI</a:t>
            </a:r>
            <a:endParaRPr lang="en-US" sz="1800" dirty="0"/>
          </a:p>
        </p:txBody>
      </p:sp>
      <p:sp>
        <p:nvSpPr>
          <p:cNvPr id="32" name="Text 30"/>
          <p:cNvSpPr/>
          <p:nvPr/>
        </p:nvSpPr>
        <p:spPr>
          <a:xfrm>
            <a:off x="9709465" y="2971800"/>
            <a:ext cx="1823862" cy="274320"/>
          </a:xfrm>
          <a:prstGeom prst="rect">
            <a:avLst/>
          </a:prstGeom>
          <a:noFill/>
          <a:ln/>
        </p:spPr>
        <p:txBody>
          <a:bodyPr wrap="square" rtlCol="0" anchor="ctr"/>
          <a:lstStyle/>
          <a:p>
            <a:pPr marL="0" indent="0" algn="ctr">
              <a:buNone/>
            </a:pPr>
            <a:r>
              <a:rPr lang="en-US" sz="950" i="1" dirty="0">
                <a:solidFill>
                  <a:srgbClr val="E4DFD5"/>
                </a:solidFill>
                <a:latin typeface="Georgia" pitchFamily="34" charset="0"/>
                <a:ea typeface="Georgia" pitchFamily="34" charset="-122"/>
                <a:cs typeface="Georgia" pitchFamily="34" charset="-120"/>
              </a:rPr>
              <a:t>preserved</a:t>
            </a:r>
            <a:endParaRPr lang="en-US" sz="950" dirty="0"/>
          </a:p>
        </p:txBody>
      </p:sp>
      <p:sp>
        <p:nvSpPr>
          <p:cNvPr id="33" name="Text 31"/>
          <p:cNvSpPr/>
          <p:nvPr/>
        </p:nvSpPr>
        <p:spPr>
          <a:xfrm>
            <a:off x="9727753" y="3246120"/>
            <a:ext cx="1787286" cy="1645920"/>
          </a:xfrm>
          <a:prstGeom prst="rect">
            <a:avLst/>
          </a:prstGeom>
          <a:noFill/>
          <a:ln/>
        </p:spPr>
        <p:txBody>
          <a:bodyPr wrap="square" rtlCol="0" anchor="t"/>
          <a:lstStyle/>
          <a:p>
            <a:pPr marL="0" indent="0" algn="ctr">
              <a:lnSpc>
                <a:spcPct val="110000"/>
              </a:lnSpc>
              <a:buNone/>
            </a:pPr>
            <a:r>
              <a:rPr lang="en-US" sz="1200" dirty="0">
                <a:solidFill>
                  <a:srgbClr val="FFFFFF"/>
                </a:solidFill>
                <a:latin typeface="Georgia" pitchFamily="34" charset="0"/>
                <a:ea typeface="Georgia" pitchFamily="34" charset="-122"/>
                <a:cs typeface="Georgia" pitchFamily="34" charset="-120"/>
              </a:rPr>
              <a:t>…nothing</a:t>
            </a:r>
            <a:endParaRPr lang="en-US" sz="1200" dirty="0"/>
          </a:p>
        </p:txBody>
      </p:sp>
      <p:sp>
        <p:nvSpPr>
          <p:cNvPr id="34" name="Text 32"/>
          <p:cNvSpPr/>
          <p:nvPr/>
        </p:nvSpPr>
        <p:spPr>
          <a:xfrm>
            <a:off x="566928" y="5440680"/>
            <a:ext cx="11057839" cy="640080"/>
          </a:xfrm>
          <a:prstGeom prst="rect">
            <a:avLst/>
          </a:prstGeom>
          <a:noFill/>
          <a:ln/>
        </p:spPr>
        <p:txBody>
          <a:bodyPr wrap="square" rtlCol="0" anchor="ctr"/>
          <a:lstStyle/>
          <a:p>
            <a:pPr marL="0" indent="0" algn="ctr">
              <a:buNone/>
            </a:pPr>
            <a:r>
              <a:rPr lang="en-US" sz="1250" i="1" dirty="0">
                <a:solidFill>
                  <a:srgbClr val="6E6A62"/>
                </a:solidFill>
                <a:latin typeface="Georgia" pitchFamily="34" charset="0"/>
                <a:ea typeface="Georgia" pitchFamily="34" charset="-122"/>
                <a:cs typeface="Georgia" pitchFamily="34" charset="-120"/>
              </a:rPr>
              <a:t>Each generation put ONE property into structure and left the others at the boundary — for people to carry. The fifth preserves none, and its volume ends the arrangement.</a:t>
            </a:r>
            <a:endParaRPr lang="en-US" sz="1250" dirty="0"/>
          </a:p>
        </p:txBody>
      </p:sp>
      <p:sp>
        <p:nvSpPr>
          <p:cNvPr id="35" name="Text 33"/>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36" name="Text 34"/>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AN ECONOMIC MECHANISM, NOT A TECHNICAL ONE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pattern, named</a:t>
            </a:r>
            <a:endParaRPr lang="en-US" sz="2550" dirty="0"/>
          </a:p>
        </p:txBody>
      </p:sp>
      <p:sp>
        <p:nvSpPr>
          <p:cNvPr id="4" name="Shape 2"/>
          <p:cNvSpPr/>
          <p:nvPr/>
        </p:nvSpPr>
        <p:spPr>
          <a:xfrm>
            <a:off x="566928" y="1691640"/>
            <a:ext cx="457200" cy="457200"/>
          </a:xfrm>
          <a:prstGeom prst="ellipse">
            <a:avLst/>
          </a:prstGeom>
          <a:solidFill>
            <a:srgbClr val="8A837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Each market was created by the last generation’s omissions.   </a:t>
            </a:r>
            <a:r>
              <a:rPr lang="en-US" sz="1300" dirty="0">
                <a:solidFill>
                  <a:srgbClr val="6E6A62"/>
                </a:solidFill>
                <a:latin typeface="Georgia" pitchFamily="34" charset="0"/>
                <a:ea typeface="Georgia" pitchFamily="34" charset="-122"/>
                <a:cs typeface="Georgia" pitchFamily="34" charset="-120"/>
              </a:rPr>
              <a:t>CRM sold into the context ERP left at its boundary; AI now sells into all of them at once.</a:t>
            </a:r>
            <a:endParaRPr lang="en-US" sz="1500" dirty="0"/>
          </a:p>
        </p:txBody>
      </p:sp>
      <p:sp>
        <p:nvSpPr>
          <p:cNvPr id="7" name="Shape 5"/>
          <p:cNvSpPr/>
          <p:nvPr/>
        </p:nvSpPr>
        <p:spPr>
          <a:xfrm>
            <a:off x="566928" y="2857500"/>
            <a:ext cx="457200" cy="457200"/>
          </a:xfrm>
          <a:prstGeom prst="ellipse">
            <a:avLst/>
          </a:prstGeom>
          <a:solidFill>
            <a:srgbClr val="8A8378"/>
          </a:solidFill>
          <a:ln/>
        </p:spPr>
        <p:txBody>
          <a:bodyPr/>
          <a:lstStyle/>
          <a:p>
            <a:endParaRPr lang="LID4096"/>
          </a:p>
        </p:txBody>
      </p:sp>
      <p:sp>
        <p:nvSpPr>
          <p:cNvPr id="8" name="Text 6"/>
          <p:cNvSpPr/>
          <p:nvPr/>
        </p:nvSpPr>
        <p:spPr>
          <a:xfrm>
            <a:off x="566928" y="28575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 vendor’s boundary is its product.   </a:t>
            </a:r>
            <a:r>
              <a:rPr lang="en-US" sz="1300" dirty="0">
                <a:solidFill>
                  <a:srgbClr val="6E6A62"/>
                </a:solidFill>
                <a:latin typeface="Georgia" pitchFamily="34" charset="0"/>
                <a:ea typeface="Georgia" pitchFamily="34" charset="-122"/>
                <a:cs typeface="Georgia" pitchFamily="34" charset="-120"/>
              </a:rPr>
              <a:t>The crossing between products belongs to no vendor and sits on no roadmap.</a:t>
            </a:r>
            <a:endParaRPr lang="en-US" sz="1500" dirty="0"/>
          </a:p>
        </p:txBody>
      </p:sp>
      <p:sp>
        <p:nvSpPr>
          <p:cNvPr id="10" name="Shape 8"/>
          <p:cNvSpPr/>
          <p:nvPr/>
        </p:nvSpPr>
        <p:spPr>
          <a:xfrm>
            <a:off x="566928" y="4023360"/>
            <a:ext cx="457200" cy="457200"/>
          </a:xfrm>
          <a:prstGeom prst="ellipse">
            <a:avLst/>
          </a:prstGeom>
          <a:solidFill>
            <a:srgbClr val="8A8378"/>
          </a:solidFill>
          <a:ln/>
        </p:spPr>
        <p:txBody>
          <a:bodyPr/>
          <a:lstStyle/>
          <a:p>
            <a:endParaRPr lang="LID4096"/>
          </a:p>
        </p:txBody>
      </p:sp>
      <p:sp>
        <p:nvSpPr>
          <p:cNvPr id="11" name="Text 9"/>
          <p:cNvSpPr/>
          <p:nvPr/>
        </p:nvSpPr>
        <p:spPr>
          <a:xfrm>
            <a:off x="566928" y="402336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The fifth generation preserves none of the six.   </a:t>
            </a:r>
            <a:r>
              <a:rPr lang="en-US" sz="1300" dirty="0">
                <a:solidFill>
                  <a:srgbClr val="6E6A62"/>
                </a:solidFill>
                <a:latin typeface="Georgia" pitchFamily="34" charset="0"/>
                <a:ea typeface="Georgia" pitchFamily="34" charset="-122"/>
                <a:cs typeface="Georgia" pitchFamily="34" charset="-120"/>
              </a:rPr>
              <a:t>Models are attached without context, authority, or memory — a ‘brilliant stranger.’</a:t>
            </a:r>
            <a:endParaRPr lang="en-US" sz="1500" dirty="0"/>
          </a:p>
        </p:txBody>
      </p:sp>
      <p:sp>
        <p:nvSpPr>
          <p:cNvPr id="13" name="Shape 11"/>
          <p:cNvSpPr/>
          <p:nvPr/>
        </p:nvSpPr>
        <p:spPr>
          <a:xfrm>
            <a:off x="566928" y="5189220"/>
            <a:ext cx="457200" cy="457200"/>
          </a:xfrm>
          <a:prstGeom prst="ellipse">
            <a:avLst/>
          </a:prstGeom>
          <a:solidFill>
            <a:srgbClr val="8A8378"/>
          </a:solidFill>
          <a:ln/>
        </p:spPr>
        <p:txBody>
          <a:bodyPr/>
          <a:lstStyle/>
          <a:p>
            <a:endParaRPr lang="LID4096"/>
          </a:p>
        </p:txBody>
      </p:sp>
      <p:sp>
        <p:nvSpPr>
          <p:cNvPr id="14" name="Text 12"/>
          <p:cNvSpPr/>
          <p:nvPr/>
        </p:nvSpPr>
        <p:spPr>
          <a:xfrm>
            <a:off x="566928" y="51892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What ends the song is volume.   </a:t>
            </a:r>
            <a:r>
              <a:rPr lang="en-US" sz="1300" dirty="0">
                <a:solidFill>
                  <a:srgbClr val="6E6A62"/>
                </a:solidFill>
                <a:latin typeface="Georgia" pitchFamily="34" charset="0"/>
                <a:ea typeface="Georgia" pitchFamily="34" charset="-122"/>
                <a:cs typeface="Georgia" pitchFamily="34" charset="-120"/>
              </a:rPr>
              <a:t>Near-zero marginal cost exceeds what the human compensation layer can carry.</a:t>
            </a:r>
            <a:endParaRPr lang="en-US" sz="15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The two-sentence test</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Pick two systems you use. Complete for each: ‘This system is responsible for preserving ______. That responsibility ends at ______.’</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At each boundary you named, what carries the property beyond that point — another structure, or a person? Count the people.</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4</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The subsidy is withdrawn</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Two things are true at once: the technology genuinely works, and the deployments fail at unprecedented rates. This week we resolve the paradox — the failures aren’t AI failures, they’re forty-year-old custody failures surfacing because the mechanism that hid them (the invisible layer) is being removed.</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Hold the ‘two true statements’ together</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the invisible layer as an unpriced subsidy</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Say what the subsidy actually bought</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PARADOX OF THE MOMENT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Two true statements</a:t>
            </a:r>
            <a:endParaRPr lang="en-US" sz="2550" dirty="0"/>
          </a:p>
        </p:txBody>
      </p:sp>
      <p:sp>
        <p:nvSpPr>
          <p:cNvPr id="4" name="Shape 2"/>
          <p:cNvSpPr/>
          <p:nvPr/>
        </p:nvSpPr>
        <p:spPr>
          <a:xfrm>
            <a:off x="566928" y="1737360"/>
            <a:ext cx="5368900" cy="4480560"/>
          </a:xfrm>
          <a:prstGeom prst="roundRect">
            <a:avLst>
              <a:gd name="adj" fmla="val 1633"/>
            </a:avLst>
          </a:prstGeom>
          <a:solidFill>
            <a:srgbClr val="F4F2EE"/>
          </a:solidFill>
          <a:ln/>
        </p:spPr>
        <p:txBody>
          <a:bodyPr/>
          <a:lstStyle/>
          <a:p>
            <a:endParaRPr lang="LID4096"/>
          </a:p>
        </p:txBody>
      </p:sp>
      <p:sp>
        <p:nvSpPr>
          <p:cNvPr id="5" name="Shape 3"/>
          <p:cNvSpPr/>
          <p:nvPr/>
        </p:nvSpPr>
        <p:spPr>
          <a:xfrm>
            <a:off x="566928" y="1737360"/>
            <a:ext cx="5368900" cy="548640"/>
          </a:xfrm>
          <a:prstGeom prst="roundRect">
            <a:avLst>
              <a:gd name="adj" fmla="val 13333"/>
            </a:avLst>
          </a:prstGeom>
          <a:solidFill>
            <a:srgbClr val="8A8378"/>
          </a:solidFill>
          <a:ln/>
        </p:spPr>
        <p:txBody>
          <a:bodyPr/>
          <a:lstStyle/>
          <a:p>
            <a:endParaRPr lang="LID4096"/>
          </a:p>
        </p:txBody>
      </p:sp>
      <p:sp>
        <p:nvSpPr>
          <p:cNvPr id="6" name="Text 4"/>
          <p:cNvSpPr/>
          <p:nvPr/>
        </p:nvSpPr>
        <p:spPr>
          <a:xfrm>
            <a:off x="79552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The technology works</a:t>
            </a:r>
            <a:endParaRPr lang="en-US" sz="150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capability discontinuity is real</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Machines read, conclude, and produce at near-zero cost</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It improves every quarter</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Measurable, reproducible, visible in an afternoon</a:t>
            </a:r>
            <a:endParaRPr lang="en-US" sz="1250" dirty="0"/>
          </a:p>
        </p:txBody>
      </p:sp>
      <p:sp>
        <p:nvSpPr>
          <p:cNvPr id="8" name="Shape 6"/>
          <p:cNvSpPr/>
          <p:nvPr/>
        </p:nvSpPr>
        <p:spPr>
          <a:xfrm>
            <a:off x="6255868" y="1737360"/>
            <a:ext cx="5368900" cy="4480560"/>
          </a:xfrm>
          <a:prstGeom prst="roundRect">
            <a:avLst>
              <a:gd name="adj" fmla="val 1633"/>
            </a:avLst>
          </a:prstGeom>
          <a:solidFill>
            <a:srgbClr val="EBE7DF"/>
          </a:solidFill>
          <a:ln/>
        </p:spPr>
        <p:txBody>
          <a:bodyPr/>
          <a:lstStyle/>
          <a:p>
            <a:endParaRPr lang="LID4096"/>
          </a:p>
        </p:txBody>
      </p:sp>
      <p:sp>
        <p:nvSpPr>
          <p:cNvPr id="9" name="Shape 7"/>
          <p:cNvSpPr/>
          <p:nvPr/>
        </p:nvSpPr>
        <p:spPr>
          <a:xfrm>
            <a:off x="6255868" y="1737360"/>
            <a:ext cx="5368900" cy="548640"/>
          </a:xfrm>
          <a:prstGeom prst="roundRect">
            <a:avLst>
              <a:gd name="adj" fmla="val 13333"/>
            </a:avLst>
          </a:prstGeom>
          <a:solidFill>
            <a:srgbClr val="33302B"/>
          </a:solidFill>
          <a:ln/>
        </p:spPr>
        <p:txBody>
          <a:bodyPr/>
          <a:lstStyle/>
          <a:p>
            <a:endParaRPr lang="LID4096"/>
          </a:p>
        </p:txBody>
      </p:sp>
      <p:sp>
        <p:nvSpPr>
          <p:cNvPr id="10" name="Text 8"/>
          <p:cNvSpPr/>
          <p:nvPr/>
        </p:nvSpPr>
        <p:spPr>
          <a:xfrm>
            <a:off x="648446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The deployments fail</a:t>
            </a:r>
            <a:endParaRPr lang="en-US" sz="150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Abandoned pilots; initiatives that never reach production</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Retrieval systems that can’t answer their own questions</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Attacks that succeed with embarrassing ease</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At rates without precedent in enterprise software</a:t>
            </a:r>
            <a:endParaRPr lang="en-US" sz="1250" dirty="0"/>
          </a:p>
        </p:txBody>
      </p:sp>
      <p:sp>
        <p:nvSpPr>
          <p:cNvPr id="12" name="Text 10"/>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INVISIBLE LAYER, READ ECONOMICALLY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subsidy, named</a:t>
            </a:r>
            <a:endParaRPr lang="en-US" sz="2550" dirty="0"/>
          </a:p>
        </p:txBody>
      </p:sp>
      <p:sp>
        <p:nvSpPr>
          <p:cNvPr id="4" name="Shape 2"/>
          <p:cNvSpPr/>
          <p:nvPr/>
        </p:nvSpPr>
        <p:spPr>
          <a:xfrm>
            <a:off x="566928" y="1691640"/>
            <a:ext cx="457200" cy="457200"/>
          </a:xfrm>
          <a:prstGeom prst="ellipse">
            <a:avLst/>
          </a:prstGeom>
          <a:solidFill>
            <a:srgbClr val="8A837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It is a subsidy.   </a:t>
            </a:r>
            <a:r>
              <a:rPr lang="en-US" sz="1300" dirty="0">
                <a:solidFill>
                  <a:srgbClr val="6E6A62"/>
                </a:solidFill>
                <a:latin typeface="Georgia" pitchFamily="34" charset="0"/>
                <a:ea typeface="Georgia" pitchFamily="34" charset="-122"/>
                <a:cs typeface="Georgia" pitchFamily="34" charset="-120"/>
              </a:rPr>
              <a:t>A continuous transfer from the workforce’s attention to the architecture’s adequacy.</a:t>
            </a:r>
            <a:endParaRPr lang="en-US" sz="1500" dirty="0"/>
          </a:p>
        </p:txBody>
      </p:sp>
      <p:sp>
        <p:nvSpPr>
          <p:cNvPr id="7" name="Shape 5"/>
          <p:cNvSpPr/>
          <p:nvPr/>
        </p:nvSpPr>
        <p:spPr>
          <a:xfrm>
            <a:off x="566928" y="2857500"/>
            <a:ext cx="457200" cy="457200"/>
          </a:xfrm>
          <a:prstGeom prst="ellipse">
            <a:avLst/>
          </a:prstGeom>
          <a:solidFill>
            <a:srgbClr val="8A8378"/>
          </a:solidFill>
          <a:ln/>
        </p:spPr>
        <p:txBody>
          <a:bodyPr/>
          <a:lstStyle/>
          <a:p>
            <a:endParaRPr lang="LID4096"/>
          </a:p>
        </p:txBody>
      </p:sp>
      <p:sp>
        <p:nvSpPr>
          <p:cNvPr id="8" name="Text 6"/>
          <p:cNvSpPr/>
          <p:nvPr/>
        </p:nvSpPr>
        <p:spPr>
          <a:xfrm>
            <a:off x="566928" y="28575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It is unpriced.   </a:t>
            </a:r>
            <a:r>
              <a:rPr lang="en-US" sz="1300" dirty="0">
                <a:solidFill>
                  <a:srgbClr val="6E6A62"/>
                </a:solidFill>
                <a:latin typeface="Georgia" pitchFamily="34" charset="0"/>
                <a:ea typeface="Georgia" pitchFamily="34" charset="-122"/>
                <a:cs typeface="Georgia" pitchFamily="34" charset="-120"/>
              </a:rPr>
              <a:t>No budget line reads ‘manual custody of organisational properties.’ It hides inside job descriptions.</a:t>
            </a:r>
            <a:endParaRPr lang="en-US" sz="1500" dirty="0"/>
          </a:p>
        </p:txBody>
      </p:sp>
      <p:sp>
        <p:nvSpPr>
          <p:cNvPr id="10" name="Shape 8"/>
          <p:cNvSpPr/>
          <p:nvPr/>
        </p:nvSpPr>
        <p:spPr>
          <a:xfrm>
            <a:off x="566928" y="4023360"/>
            <a:ext cx="457200" cy="457200"/>
          </a:xfrm>
          <a:prstGeom prst="ellipse">
            <a:avLst/>
          </a:prstGeom>
          <a:solidFill>
            <a:srgbClr val="8A8378"/>
          </a:solidFill>
          <a:ln/>
        </p:spPr>
        <p:txBody>
          <a:bodyPr/>
          <a:lstStyle/>
          <a:p>
            <a:endParaRPr lang="LID4096"/>
          </a:p>
        </p:txBody>
      </p:sp>
      <p:sp>
        <p:nvSpPr>
          <p:cNvPr id="11" name="Text 9"/>
          <p:cNvSpPr/>
          <p:nvPr/>
        </p:nvSpPr>
        <p:spPr>
          <a:xfrm>
            <a:off x="566928" y="402336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Its camouflage is that it looks like work.   </a:t>
            </a:r>
            <a:r>
              <a:rPr lang="en-US" sz="1300" dirty="0">
                <a:solidFill>
                  <a:srgbClr val="6E6A62"/>
                </a:solidFill>
                <a:latin typeface="Georgia" pitchFamily="34" charset="0"/>
                <a:ea typeface="Georgia" pitchFamily="34" charset="-122"/>
                <a:cs typeface="Georgia" pitchFamily="34" charset="-120"/>
              </a:rPr>
              <a:t>It IS work — work that exists only because the architecture does not carry what it should.</a:t>
            </a:r>
            <a:endParaRPr lang="en-US" sz="1500" dirty="0"/>
          </a:p>
        </p:txBody>
      </p:sp>
      <p:sp>
        <p:nvSpPr>
          <p:cNvPr id="13" name="Shape 11"/>
          <p:cNvSpPr/>
          <p:nvPr/>
        </p:nvSpPr>
        <p:spPr>
          <a:xfrm>
            <a:off x="566928" y="5189220"/>
            <a:ext cx="457200" cy="457200"/>
          </a:xfrm>
          <a:prstGeom prst="ellipse">
            <a:avLst/>
          </a:prstGeom>
          <a:solidFill>
            <a:srgbClr val="8A8378"/>
          </a:solidFill>
          <a:ln/>
        </p:spPr>
        <p:txBody>
          <a:bodyPr/>
          <a:lstStyle/>
          <a:p>
            <a:endParaRPr lang="LID4096"/>
          </a:p>
        </p:txBody>
      </p:sp>
      <p:sp>
        <p:nvSpPr>
          <p:cNvPr id="14" name="Text 12"/>
          <p:cNvSpPr/>
          <p:nvPr/>
        </p:nvSpPr>
        <p:spPr>
          <a:xfrm>
            <a:off x="566928" y="51892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It bought the appearance of adequacy.   </a:t>
            </a:r>
            <a:r>
              <a:rPr lang="en-US" sz="1300" dirty="0">
                <a:solidFill>
                  <a:srgbClr val="6E6A62"/>
                </a:solidFill>
                <a:latin typeface="Georgia" pitchFamily="34" charset="0"/>
                <a:ea typeface="Georgia" pitchFamily="34" charset="-122"/>
                <a:cs typeface="Georgia" pitchFamily="34" charset="-120"/>
              </a:rPr>
              <a:t>A subsidised failure is indistinguishable from a success — as long as the subsidy flows.</a:t>
            </a:r>
            <a:endParaRPr lang="en-US" sz="15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WHY NOW</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The failures are not AI failures. They are custody failures, forty years old, surfacing simultaneously because the mechanism that concealed them is being removed.</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Chapter 3</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2148840"/>
            <a:ext cx="1371600" cy="310896"/>
          </a:xfrm>
          <a:prstGeom prst="rect">
            <a:avLst/>
          </a:prstGeom>
          <a:noFill/>
          <a:ln/>
        </p:spPr>
        <p:txBody>
          <a:bodyPr wrap="square" rtlCol="0" anchor="ctr"/>
          <a:lstStyle/>
          <a:p>
            <a:pPr marL="0" indent="0" algn="ctr">
              <a:buNone/>
            </a:pPr>
            <a:r>
              <a:rPr lang="en-US" sz="1050" b="1" kern="0" spc="50" dirty="0">
                <a:solidFill>
                  <a:srgbClr val="1B1A18"/>
                </a:solidFill>
                <a:latin typeface="Georgia" pitchFamily="34" charset="0"/>
                <a:ea typeface="Georgia" pitchFamily="34" charset="-122"/>
                <a:cs typeface="Georgia" pitchFamily="34" charset="-120"/>
              </a:rPr>
              <a:t>PART 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marL="0" indent="0">
              <a:buNone/>
            </a:pPr>
            <a:r>
              <a:rPr lang="en-US" sz="3550" b="1" dirty="0">
                <a:solidFill>
                  <a:srgbClr val="FFFFFF"/>
                </a:solidFill>
                <a:latin typeface="Georgia" pitchFamily="34" charset="0"/>
                <a:ea typeface="Georgia" pitchFamily="34" charset="-122"/>
                <a:cs typeface="Georgia" pitchFamily="34" charset="-120"/>
              </a:rPr>
              <a:t>The Laws</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marL="0" indent="0">
              <a:lnSpc>
                <a:spcPct val="125000"/>
              </a:lnSpc>
              <a:buNone/>
            </a:pPr>
            <a:r>
              <a:rPr lang="en-US" sz="1500" dirty="0">
                <a:solidFill>
                  <a:srgbClr val="E4DFD5"/>
                </a:solidFill>
                <a:latin typeface="Georgia" pitchFamily="34" charset="0"/>
                <a:ea typeface="Georgia" pitchFamily="34" charset="-122"/>
                <a:cs typeface="Georgia" pitchFamily="34" charset="-120"/>
              </a:rPr>
              <a:t>If you learn one part, learn this one. The custody law, the six conserved properties, the four axioms of the agentic era, and the preservation principle — everything else in the course is this, unfolded.</a:t>
            </a:r>
            <a:endParaRPr lang="en-US" sz="15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5</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The law and the crossing</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This week states the governing law of the whole course, and makes one decisive move: it changes the unit of enterprise architecture from the box (the system) to the boundary between boxes (the crossing). Systems are the replaceable part; crossings are where an enterprise is actually made or lost.</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State the custody law</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why ‘the crossing’ is the right unit</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Distinguish the static and dynamic forms of the law</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LAW</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Enterprise architecture is the custody of organisational properties under movement.</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The law the whole book unfolds (Chapter 4)</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MOST CONSEQUENTIAL MOVE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Why the unit is the crossing, not the box</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Systems are the one thing an enterprise is NOT.   </a:t>
            </a:r>
            <a:r>
              <a:rPr lang="en-US" sz="1300" dirty="0">
                <a:solidFill>
                  <a:srgbClr val="6E6A62"/>
                </a:solidFill>
                <a:latin typeface="Georgia" pitchFamily="34" charset="0"/>
                <a:ea typeface="Georgia" pitchFamily="34" charset="-122"/>
                <a:cs typeface="Georgia" pitchFamily="34" charset="-120"/>
              </a:rPr>
              <a:t>They get replaced; the enterprise persists. Designing them well is necessary but not the essential work.</a:t>
            </a:r>
            <a:endParaRPr lang="en-US" sz="1500" dirty="0"/>
          </a:p>
        </p:txBody>
      </p:sp>
      <p:sp>
        <p:nvSpPr>
          <p:cNvPr id="7" name="Shape 5"/>
          <p:cNvSpPr/>
          <p:nvPr/>
        </p:nvSpPr>
        <p:spPr>
          <a:xfrm>
            <a:off x="566928" y="2857500"/>
            <a:ext cx="457200" cy="457200"/>
          </a:xfrm>
          <a:prstGeom prst="ellipse">
            <a:avLst/>
          </a:prstGeom>
          <a:solidFill>
            <a:srgbClr val="1B1A18"/>
          </a:solidFill>
          <a:ln/>
        </p:spPr>
        <p:txBody>
          <a:bodyPr/>
          <a:lstStyle/>
          <a:p>
            <a:endParaRPr lang="LID4096"/>
          </a:p>
        </p:txBody>
      </p:sp>
      <p:sp>
        <p:nvSpPr>
          <p:cNvPr id="8" name="Text 6"/>
          <p:cNvSpPr/>
          <p:nvPr/>
        </p:nvSpPr>
        <p:spPr>
          <a:xfrm>
            <a:off x="566928" y="28575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The essential work is custody.   </a:t>
            </a:r>
            <a:r>
              <a:rPr lang="en-US" sz="1300" dirty="0">
                <a:solidFill>
                  <a:srgbClr val="6E6A62"/>
                </a:solidFill>
                <a:latin typeface="Georgia" pitchFamily="34" charset="0"/>
                <a:ea typeface="Georgia" pitchFamily="34" charset="-122"/>
                <a:cs typeface="Georgia" pitchFamily="34" charset="-120"/>
              </a:rPr>
              <a:t>Ensuring the properties survive every movement the work makes.</a:t>
            </a:r>
            <a:endParaRPr lang="en-US" sz="1500" dirty="0"/>
          </a:p>
        </p:txBody>
      </p:sp>
      <p:sp>
        <p:nvSpPr>
          <p:cNvPr id="10" name="Shape 8"/>
          <p:cNvSpPr/>
          <p:nvPr/>
        </p:nvSpPr>
        <p:spPr>
          <a:xfrm>
            <a:off x="566928" y="4023360"/>
            <a:ext cx="457200" cy="457200"/>
          </a:xfrm>
          <a:prstGeom prst="ellipse">
            <a:avLst/>
          </a:prstGeom>
          <a:solidFill>
            <a:srgbClr val="1B1A18"/>
          </a:solidFill>
          <a:ln/>
        </p:spPr>
        <p:txBody>
          <a:bodyPr/>
          <a:lstStyle/>
          <a:p>
            <a:endParaRPr lang="LID4096"/>
          </a:p>
        </p:txBody>
      </p:sp>
      <p:sp>
        <p:nvSpPr>
          <p:cNvPr id="11" name="Text 9"/>
          <p:cNvSpPr/>
          <p:nvPr/>
        </p:nvSpPr>
        <p:spPr>
          <a:xfrm>
            <a:off x="566928" y="402336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Crossings have no name, no budget, no owner.   </a:t>
            </a:r>
            <a:r>
              <a:rPr lang="en-US" sz="1300" dirty="0">
                <a:solidFill>
                  <a:srgbClr val="6E6A62"/>
                </a:solidFill>
                <a:latin typeface="Georgia" pitchFamily="34" charset="0"/>
                <a:ea typeface="Georgia" pitchFamily="34" charset="-122"/>
                <a:cs typeface="Georgia" pitchFamily="34" charset="-120"/>
              </a:rPr>
              <a:t>So they fail continuously, invisibly, and without consequence to anyone responsible.</a:t>
            </a:r>
            <a:endParaRPr lang="en-US" sz="1500" dirty="0"/>
          </a:p>
        </p:txBody>
      </p:sp>
      <p:sp>
        <p:nvSpPr>
          <p:cNvPr id="13" name="Shape 11"/>
          <p:cNvSpPr/>
          <p:nvPr/>
        </p:nvSpPr>
        <p:spPr>
          <a:xfrm>
            <a:off x="566928" y="5189220"/>
            <a:ext cx="457200" cy="457200"/>
          </a:xfrm>
          <a:prstGeom prst="ellipse">
            <a:avLst/>
          </a:prstGeom>
          <a:solidFill>
            <a:srgbClr val="1B1A18"/>
          </a:solidFill>
          <a:ln/>
        </p:spPr>
        <p:txBody>
          <a:bodyPr/>
          <a:lstStyle/>
          <a:p>
            <a:endParaRPr lang="LID4096"/>
          </a:p>
        </p:txBody>
      </p:sp>
      <p:sp>
        <p:nvSpPr>
          <p:cNvPr id="14" name="Text 12"/>
          <p:cNvSpPr/>
          <p:nvPr/>
        </p:nvSpPr>
        <p:spPr>
          <a:xfrm>
            <a:off x="566928" y="51892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Optimise boxes, neglect crossings…   </a:t>
            </a:r>
            <a:r>
              <a:rPr lang="en-US" sz="1300" dirty="0">
                <a:solidFill>
                  <a:srgbClr val="6E6A62"/>
                </a:solidFill>
                <a:latin typeface="Georgia" pitchFamily="34" charset="0"/>
                <a:ea typeface="Georgia" pitchFamily="34" charset="-122"/>
                <a:cs typeface="Georgia" pitchFamily="34" charset="-120"/>
              </a:rPr>
              <a:t>…and you have perfected the replaceable part while abandoning the part that makes it an enterprise.</a:t>
            </a:r>
            <a:endParaRPr lang="en-US" sz="15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PRESERVATION AT REST · CUSTODY IN MOTION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law has two forms</a:t>
            </a:r>
            <a:endParaRPr lang="en-US" sz="2550" dirty="0"/>
          </a:p>
        </p:txBody>
      </p:sp>
      <p:sp>
        <p:nvSpPr>
          <p:cNvPr id="4" name="Shape 2"/>
          <p:cNvSpPr/>
          <p:nvPr/>
        </p:nvSpPr>
        <p:spPr>
          <a:xfrm>
            <a:off x="566928" y="1691640"/>
            <a:ext cx="5391760" cy="4572000"/>
          </a:xfrm>
          <a:prstGeom prst="roundRect">
            <a:avLst>
              <a:gd name="adj" fmla="val 1600"/>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1060704" cy="310896"/>
          </a:xfrm>
          <a:prstGeom prst="roundRect">
            <a:avLst>
              <a:gd name="adj" fmla="val 50000"/>
            </a:avLst>
          </a:prstGeom>
          <a:solidFill>
            <a:srgbClr val="6E6A62"/>
          </a:solidFill>
          <a:ln/>
        </p:spPr>
        <p:txBody>
          <a:bodyPr/>
          <a:lstStyle/>
          <a:p>
            <a:endParaRPr lang="LID4096"/>
          </a:p>
        </p:txBody>
      </p:sp>
      <p:sp>
        <p:nvSpPr>
          <p:cNvPr id="6" name="Text 4"/>
          <p:cNvSpPr/>
          <p:nvPr/>
        </p:nvSpPr>
        <p:spPr>
          <a:xfrm>
            <a:off x="795528" y="1892808"/>
            <a:ext cx="106070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STATIC</a:t>
            </a:r>
            <a:endParaRPr lang="en-US" sz="950" dirty="0"/>
          </a:p>
        </p:txBody>
      </p:sp>
      <p:sp>
        <p:nvSpPr>
          <p:cNvPr id="7" name="Text 5"/>
          <p:cNvSpPr/>
          <p:nvPr/>
        </p:nvSpPr>
        <p:spPr>
          <a:xfrm>
            <a:off x="79552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Preservation (one system)</a:t>
            </a:r>
            <a:endParaRPr lang="en-US" sz="1500" dirty="0"/>
          </a:p>
        </p:txBody>
      </p:sp>
      <p:sp>
        <p:nvSpPr>
          <p:cNvPr id="8" name="Text 6"/>
          <p:cNvSpPr/>
          <p:nvPr/>
        </p:nvSpPr>
        <p:spPr>
          <a:xfrm>
            <a:off x="795528" y="2715768"/>
            <a:ext cx="4934560" cy="34290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Partition what must not change from what must change constantly, and let change live only in data. Structure holds, content moves.</a:t>
            </a:r>
            <a:endParaRPr lang="en-US" sz="1200" dirty="0"/>
          </a:p>
        </p:txBody>
      </p:sp>
      <p:sp>
        <p:nvSpPr>
          <p:cNvPr id="9" name="Shape 7"/>
          <p:cNvSpPr/>
          <p:nvPr/>
        </p:nvSpPr>
        <p:spPr>
          <a:xfrm>
            <a:off x="6233008" y="1691640"/>
            <a:ext cx="5391760" cy="4572000"/>
          </a:xfrm>
          <a:prstGeom prst="roundRect">
            <a:avLst>
              <a:gd name="adj" fmla="val 1600"/>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6461608" y="1892808"/>
            <a:ext cx="1161288" cy="310896"/>
          </a:xfrm>
          <a:prstGeom prst="roundRect">
            <a:avLst>
              <a:gd name="adj" fmla="val 50000"/>
            </a:avLst>
          </a:prstGeom>
          <a:solidFill>
            <a:srgbClr val="1B1A18"/>
          </a:solidFill>
          <a:ln/>
        </p:spPr>
        <p:txBody>
          <a:bodyPr/>
          <a:lstStyle/>
          <a:p>
            <a:endParaRPr lang="LID4096"/>
          </a:p>
        </p:txBody>
      </p:sp>
      <p:sp>
        <p:nvSpPr>
          <p:cNvPr id="11" name="Text 9"/>
          <p:cNvSpPr/>
          <p:nvPr/>
        </p:nvSpPr>
        <p:spPr>
          <a:xfrm>
            <a:off x="6461608" y="1892808"/>
            <a:ext cx="116128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DYNAMIC</a:t>
            </a:r>
            <a:endParaRPr lang="en-US" sz="950" dirty="0"/>
          </a:p>
        </p:txBody>
      </p:sp>
      <p:sp>
        <p:nvSpPr>
          <p:cNvPr id="12" name="Text 10"/>
          <p:cNvSpPr/>
          <p:nvPr/>
        </p:nvSpPr>
        <p:spPr>
          <a:xfrm>
            <a:off x="646160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Custody (the whole enterprise)</a:t>
            </a:r>
            <a:endParaRPr lang="en-US" sz="1500" dirty="0"/>
          </a:p>
        </p:txBody>
      </p:sp>
      <p:sp>
        <p:nvSpPr>
          <p:cNvPr id="13" name="Text 11"/>
          <p:cNvSpPr/>
          <p:nvPr/>
        </p:nvSpPr>
        <p:spPr>
          <a:xfrm>
            <a:off x="6461608" y="2715768"/>
            <a:ext cx="4934560" cy="34290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invariants aren’t just preserved in place — they must be carried, intact, across every boundary the work crosses.</a:t>
            </a:r>
            <a:endParaRPr lang="en-US" sz="1200" dirty="0"/>
          </a:p>
        </p:txBody>
      </p:sp>
      <p:sp>
        <p:nvSpPr>
          <p:cNvPr id="14" name="Text 1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Reframing failure</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Take the frozen-payment example from Week 1. Name the exact crossing where it went wrong and what should have travelled with the work but didn’t.</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Why can two systems each be perfectly correct on their own, yet still produce a wrong outcome together?</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6</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The six properties, part 1 — context &amp; authority</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The law says architecture is custody — but custody of what? Six properties, and no more. This week introduces all six at a glance, then goes deep on the first two: context (the meaning of the work) and authority (who may decide). Both are notorious for surviving none of the boundaries the data sails through.</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Name all six conserved properties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Define context and its ‘meaning error’</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Define authority and boundary enforcement</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CUSTODY OF WHAT, EXACTLY?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six conserved properties</a:t>
            </a:r>
            <a:endParaRPr lang="en-US" sz="25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557784" cy="310896"/>
          </a:xfrm>
          <a:prstGeom prst="roundRect">
            <a:avLst>
              <a:gd name="adj" fmla="val 50000"/>
            </a:avLst>
          </a:prstGeom>
          <a:solidFill>
            <a:srgbClr val="8A8378"/>
          </a:solidFill>
          <a:ln/>
        </p:spPr>
        <p:txBody>
          <a:bodyPr/>
          <a:lstStyle/>
          <a:p>
            <a:endParaRPr lang="LID4096"/>
          </a:p>
        </p:txBody>
      </p:sp>
      <p:sp>
        <p:nvSpPr>
          <p:cNvPr id="6" name="Text 4"/>
          <p:cNvSpPr/>
          <p:nvPr/>
        </p:nvSpPr>
        <p:spPr>
          <a:xfrm>
            <a:off x="795528" y="1892808"/>
            <a:ext cx="55778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1</a:t>
            </a:r>
            <a:endParaRPr lang="en-US" sz="950" dirty="0"/>
          </a:p>
        </p:txBody>
      </p:sp>
      <p:sp>
        <p:nvSpPr>
          <p:cNvPr id="7" name="Text 5"/>
          <p:cNvSpPr/>
          <p:nvPr/>
        </p:nvSpPr>
        <p:spPr>
          <a:xfrm>
            <a:off x="795528" y="229514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Context</a:t>
            </a:r>
            <a:endParaRPr lang="en-US" sz="1500" dirty="0"/>
          </a:p>
        </p:txBody>
      </p:sp>
      <p:sp>
        <p:nvSpPr>
          <p:cNvPr id="8" name="Text 6"/>
          <p:cNvSpPr/>
          <p:nvPr/>
        </p:nvSpPr>
        <p:spPr>
          <a:xfrm>
            <a:off x="795528" y="271576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meaning of the work — why it exists, what constrains it. Failure: the meaning error.</a:t>
            </a:r>
            <a:endParaRPr lang="en-US" sz="120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4572914" y="1892808"/>
            <a:ext cx="557784" cy="310896"/>
          </a:xfrm>
          <a:prstGeom prst="roundRect">
            <a:avLst>
              <a:gd name="adj" fmla="val 50000"/>
            </a:avLst>
          </a:prstGeom>
          <a:solidFill>
            <a:srgbClr val="8A8378"/>
          </a:solidFill>
          <a:ln/>
        </p:spPr>
        <p:txBody>
          <a:bodyPr/>
          <a:lstStyle/>
          <a:p>
            <a:endParaRPr lang="LID4096"/>
          </a:p>
        </p:txBody>
      </p:sp>
      <p:sp>
        <p:nvSpPr>
          <p:cNvPr id="11" name="Text 9"/>
          <p:cNvSpPr/>
          <p:nvPr/>
        </p:nvSpPr>
        <p:spPr>
          <a:xfrm>
            <a:off x="4572914" y="1892808"/>
            <a:ext cx="55778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2</a:t>
            </a:r>
            <a:endParaRPr lang="en-US" sz="950" dirty="0"/>
          </a:p>
        </p:txBody>
      </p:sp>
      <p:sp>
        <p:nvSpPr>
          <p:cNvPr id="12" name="Text 10"/>
          <p:cNvSpPr/>
          <p:nvPr/>
        </p:nvSpPr>
        <p:spPr>
          <a:xfrm>
            <a:off x="4572914" y="229514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Authority</a:t>
            </a:r>
            <a:endParaRPr lang="en-US" sz="1500" dirty="0"/>
          </a:p>
        </p:txBody>
      </p:sp>
      <p:sp>
        <p:nvSpPr>
          <p:cNvPr id="13" name="Text 11"/>
          <p:cNvSpPr/>
          <p:nvPr/>
        </p:nvSpPr>
        <p:spPr>
          <a:xfrm>
            <a:off x="4572914" y="271576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Who may decide what, within which limits. Enforced at the boundary, not re-derived locally.</a:t>
            </a:r>
            <a:endParaRPr lang="en-US" sz="120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5" name="Shape 13"/>
          <p:cNvSpPr/>
          <p:nvPr/>
        </p:nvSpPr>
        <p:spPr>
          <a:xfrm>
            <a:off x="8350301" y="1892808"/>
            <a:ext cx="557784" cy="310896"/>
          </a:xfrm>
          <a:prstGeom prst="roundRect">
            <a:avLst>
              <a:gd name="adj" fmla="val 50000"/>
            </a:avLst>
          </a:prstGeom>
          <a:solidFill>
            <a:srgbClr val="8A8378"/>
          </a:solidFill>
          <a:ln/>
        </p:spPr>
        <p:txBody>
          <a:bodyPr/>
          <a:lstStyle/>
          <a:p>
            <a:endParaRPr lang="LID4096"/>
          </a:p>
        </p:txBody>
      </p:sp>
      <p:sp>
        <p:nvSpPr>
          <p:cNvPr id="16" name="Text 14"/>
          <p:cNvSpPr/>
          <p:nvPr/>
        </p:nvSpPr>
        <p:spPr>
          <a:xfrm>
            <a:off x="8350301" y="1892808"/>
            <a:ext cx="55778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3</a:t>
            </a:r>
            <a:endParaRPr lang="en-US" sz="950" dirty="0"/>
          </a:p>
        </p:txBody>
      </p:sp>
      <p:sp>
        <p:nvSpPr>
          <p:cNvPr id="17" name="Text 15"/>
          <p:cNvSpPr/>
          <p:nvPr/>
        </p:nvSpPr>
        <p:spPr>
          <a:xfrm>
            <a:off x="8350301" y="229514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Accountability</a:t>
            </a:r>
            <a:endParaRPr lang="en-US" sz="1500" dirty="0"/>
          </a:p>
        </p:txBody>
      </p:sp>
      <p:sp>
        <p:nvSpPr>
          <p:cNvPr id="18" name="Text 16"/>
          <p:cNvSpPr/>
          <p:nvPr/>
        </p:nvSpPr>
        <p:spPr>
          <a:xfrm>
            <a:off x="8350301" y="271576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Provenance as a by-product of action. If it needs investigation, custody already failed.</a:t>
            </a:r>
            <a:endParaRPr lang="en-US" sz="120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0" name="Shape 18"/>
          <p:cNvSpPr/>
          <p:nvPr/>
        </p:nvSpPr>
        <p:spPr>
          <a:xfrm>
            <a:off x="795528" y="4315968"/>
            <a:ext cx="557784" cy="310896"/>
          </a:xfrm>
          <a:prstGeom prst="roundRect">
            <a:avLst>
              <a:gd name="adj" fmla="val 50000"/>
            </a:avLst>
          </a:prstGeom>
          <a:solidFill>
            <a:srgbClr val="8A8378"/>
          </a:solidFill>
          <a:ln/>
        </p:spPr>
        <p:txBody>
          <a:bodyPr/>
          <a:lstStyle/>
          <a:p>
            <a:endParaRPr lang="LID4096"/>
          </a:p>
        </p:txBody>
      </p:sp>
      <p:sp>
        <p:nvSpPr>
          <p:cNvPr id="21" name="Text 19"/>
          <p:cNvSpPr/>
          <p:nvPr/>
        </p:nvSpPr>
        <p:spPr>
          <a:xfrm>
            <a:off x="795528" y="4315968"/>
            <a:ext cx="55778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4</a:t>
            </a:r>
            <a:endParaRPr lang="en-US" sz="950" dirty="0"/>
          </a:p>
        </p:txBody>
      </p:sp>
      <p:sp>
        <p:nvSpPr>
          <p:cNvPr id="22" name="Text 20"/>
          <p:cNvSpPr/>
          <p:nvPr/>
        </p:nvSpPr>
        <p:spPr>
          <a:xfrm>
            <a:off x="795528" y="471830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Coordination</a:t>
            </a:r>
            <a:endParaRPr lang="en-US" sz="1500" dirty="0"/>
          </a:p>
        </p:txBody>
      </p:sp>
      <p:sp>
        <p:nvSpPr>
          <p:cNvPr id="23" name="Text 21"/>
          <p:cNvSpPr/>
          <p:nvPr/>
        </p:nvSpPr>
        <p:spPr>
          <a:xfrm>
            <a:off x="795528" y="513892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Alignment through shared invariants at the seams — not through shared middleware.</a:t>
            </a:r>
            <a:endParaRPr lang="en-US" sz="120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5" name="Shape 23"/>
          <p:cNvSpPr/>
          <p:nvPr/>
        </p:nvSpPr>
        <p:spPr>
          <a:xfrm>
            <a:off x="4572914" y="4315968"/>
            <a:ext cx="557784" cy="310896"/>
          </a:xfrm>
          <a:prstGeom prst="roundRect">
            <a:avLst>
              <a:gd name="adj" fmla="val 50000"/>
            </a:avLst>
          </a:prstGeom>
          <a:solidFill>
            <a:srgbClr val="8A8378"/>
          </a:solidFill>
          <a:ln/>
        </p:spPr>
        <p:txBody>
          <a:bodyPr/>
          <a:lstStyle/>
          <a:p>
            <a:endParaRPr lang="LID4096"/>
          </a:p>
        </p:txBody>
      </p:sp>
      <p:sp>
        <p:nvSpPr>
          <p:cNvPr id="26" name="Text 24"/>
          <p:cNvSpPr/>
          <p:nvPr/>
        </p:nvSpPr>
        <p:spPr>
          <a:xfrm>
            <a:off x="4572914" y="4315968"/>
            <a:ext cx="55778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5</a:t>
            </a:r>
            <a:endParaRPr lang="en-US" sz="950" dirty="0"/>
          </a:p>
        </p:txBody>
      </p:sp>
      <p:sp>
        <p:nvSpPr>
          <p:cNvPr id="27" name="Text 25"/>
          <p:cNvSpPr/>
          <p:nvPr/>
        </p:nvSpPr>
        <p:spPr>
          <a:xfrm>
            <a:off x="4572914" y="471830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Execution coherence</a:t>
            </a:r>
            <a:endParaRPr lang="en-US" sz="1500" dirty="0"/>
          </a:p>
        </p:txBody>
      </p:sp>
      <p:sp>
        <p:nvSpPr>
          <p:cNvPr id="28" name="Text 26"/>
          <p:cNvSpPr/>
          <p:nvPr/>
        </p:nvSpPr>
        <p:spPr>
          <a:xfrm>
            <a:off x="4572914" y="513892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non-negotiables enforced identically at every crossing. No component opts out.</a:t>
            </a:r>
            <a:endParaRPr lang="en-US" sz="120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30" name="Shape 28"/>
          <p:cNvSpPr/>
          <p:nvPr/>
        </p:nvSpPr>
        <p:spPr>
          <a:xfrm>
            <a:off x="8350301" y="4315968"/>
            <a:ext cx="557784" cy="310896"/>
          </a:xfrm>
          <a:prstGeom prst="roundRect">
            <a:avLst>
              <a:gd name="adj" fmla="val 50000"/>
            </a:avLst>
          </a:prstGeom>
          <a:solidFill>
            <a:srgbClr val="8A8378"/>
          </a:solidFill>
          <a:ln/>
        </p:spPr>
        <p:txBody>
          <a:bodyPr/>
          <a:lstStyle/>
          <a:p>
            <a:endParaRPr lang="LID4096"/>
          </a:p>
        </p:txBody>
      </p:sp>
      <p:sp>
        <p:nvSpPr>
          <p:cNvPr id="31" name="Text 29"/>
          <p:cNvSpPr/>
          <p:nvPr/>
        </p:nvSpPr>
        <p:spPr>
          <a:xfrm>
            <a:off x="8350301" y="4315968"/>
            <a:ext cx="55778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6</a:t>
            </a:r>
            <a:endParaRPr lang="en-US" sz="950" dirty="0"/>
          </a:p>
        </p:txBody>
      </p:sp>
      <p:sp>
        <p:nvSpPr>
          <p:cNvPr id="32" name="Text 30"/>
          <p:cNvSpPr/>
          <p:nvPr/>
        </p:nvSpPr>
        <p:spPr>
          <a:xfrm>
            <a:off x="8350301" y="471830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Institutional memory</a:t>
            </a:r>
            <a:endParaRPr lang="en-US" sz="1500" dirty="0"/>
          </a:p>
        </p:txBody>
      </p:sp>
      <p:sp>
        <p:nvSpPr>
          <p:cNvPr id="33" name="Text 31"/>
          <p:cNvSpPr/>
          <p:nvPr/>
        </p:nvSpPr>
        <p:spPr>
          <a:xfrm>
            <a:off x="8350301" y="513892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What the organisation knows — durable, written with ceremony, trusted by provenance.</a:t>
            </a:r>
            <a:endParaRPr lang="en-US" sz="1200" dirty="0"/>
          </a:p>
        </p:txBody>
      </p:sp>
      <p:sp>
        <p:nvSpPr>
          <p:cNvPr id="34" name="Text 3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PROPERTY 1</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Context — the meaning of the work</a:t>
            </a:r>
            <a:endParaRPr lang="en-US" sz="25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Text 3"/>
          <p:cNvSpPr/>
          <p:nvPr/>
        </p:nvSpPr>
        <p:spPr>
          <a:xfrm>
            <a:off x="795528" y="189280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What it is</a:t>
            </a:r>
            <a:endParaRPr lang="en-US" sz="1500" dirty="0"/>
          </a:p>
        </p:txBody>
      </p:sp>
      <p:sp>
        <p:nvSpPr>
          <p:cNvPr id="6" name="Text 4"/>
          <p:cNvSpPr/>
          <p:nvPr/>
        </p:nvSpPr>
        <p:spPr>
          <a:xfrm>
            <a:off x="795528" y="235000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Why the work exists, what constrains it, what preceded it. Data survives every hop; context, by default, survives none.</a:t>
            </a:r>
            <a:endParaRPr lang="en-US" sz="1200" dirty="0"/>
          </a:p>
        </p:txBody>
      </p:sp>
      <p:sp>
        <p:nvSpPr>
          <p:cNvPr id="7" name="Shape 5"/>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8" name="Text 6"/>
          <p:cNvSpPr/>
          <p:nvPr/>
        </p:nvSpPr>
        <p:spPr>
          <a:xfrm>
            <a:off x="6461608" y="189280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The characteristic failure</a:t>
            </a:r>
            <a:endParaRPr lang="en-US" sz="1500" dirty="0"/>
          </a:p>
        </p:txBody>
      </p:sp>
      <p:sp>
        <p:nvSpPr>
          <p:cNvPr id="9" name="Text 7"/>
          <p:cNvSpPr/>
          <p:nvPr/>
        </p:nvSpPr>
        <p:spPr>
          <a:xfrm>
            <a:off x="6461608" y="235000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meaning error — the data arrived intact and signified the wrong thing. Invisible to every data-quality programme.</a:t>
            </a:r>
            <a:endParaRPr lang="en-US" sz="1200" dirty="0"/>
          </a:p>
        </p:txBody>
      </p:sp>
      <p:sp>
        <p:nvSpPr>
          <p:cNvPr id="10" name="Shape 8"/>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1" name="Text 9"/>
          <p:cNvSpPr/>
          <p:nvPr/>
        </p:nvSpPr>
        <p:spPr>
          <a:xfrm>
            <a:off x="795528" y="431596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The chronic form</a:t>
            </a:r>
            <a:endParaRPr lang="en-US" sz="1500" dirty="0"/>
          </a:p>
        </p:txBody>
      </p:sp>
      <p:sp>
        <p:nvSpPr>
          <p:cNvPr id="12" name="Text 10"/>
          <p:cNvSpPr/>
          <p:nvPr/>
        </p:nvSpPr>
        <p:spPr>
          <a:xfrm>
            <a:off x="795528" y="477316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‘reconstruction tax’: standing meetings, clarifying emails, the premium paid for long-tenured staff.</a:t>
            </a:r>
            <a:endParaRPr lang="en-US" sz="1200" dirty="0"/>
          </a:p>
        </p:txBody>
      </p:sp>
      <p:sp>
        <p:nvSpPr>
          <p:cNvPr id="13" name="Shape 11"/>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4" name="Text 12"/>
          <p:cNvSpPr/>
          <p:nvPr/>
        </p:nvSpPr>
        <p:spPr>
          <a:xfrm>
            <a:off x="6461608" y="431596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The test</a:t>
            </a:r>
            <a:endParaRPr lang="en-US" sz="1500" dirty="0"/>
          </a:p>
        </p:txBody>
      </p:sp>
      <p:sp>
        <p:nvSpPr>
          <p:cNvPr id="15" name="Text 13"/>
          <p:cNvSpPr/>
          <p:nvPr/>
        </p:nvSpPr>
        <p:spPr>
          <a:xfrm>
            <a:off x="6461608" y="477316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Ask the receiving side not what the data says but what it means. If that needs a phone call, context is not in custody.</a:t>
            </a:r>
            <a:endParaRPr lang="en-US" sz="12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PROPERTY 2</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Authority — the structure of decision rights</a:t>
            </a:r>
            <a:endParaRPr lang="en-US" sz="25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Text 3"/>
          <p:cNvSpPr/>
          <p:nvPr/>
        </p:nvSpPr>
        <p:spPr>
          <a:xfrm>
            <a:off x="795528" y="189280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What it is</a:t>
            </a:r>
            <a:endParaRPr lang="en-US" sz="1500" dirty="0"/>
          </a:p>
        </p:txBody>
      </p:sp>
      <p:sp>
        <p:nvSpPr>
          <p:cNvPr id="6" name="Text 4"/>
          <p:cNvSpPr/>
          <p:nvPr/>
        </p:nvSpPr>
        <p:spPr>
          <a:xfrm>
            <a:off x="795528" y="235000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Who may decide what, within which limits, delegated by whom — ideally one fabric woven from the top down.</a:t>
            </a:r>
            <a:endParaRPr lang="en-US" sz="1200" dirty="0"/>
          </a:p>
        </p:txBody>
      </p:sp>
      <p:sp>
        <p:nvSpPr>
          <p:cNvPr id="7" name="Shape 5"/>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8" name="Text 6"/>
          <p:cNvSpPr/>
          <p:nvPr/>
        </p:nvSpPr>
        <p:spPr>
          <a:xfrm>
            <a:off x="6461608" y="189280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How it fails</a:t>
            </a:r>
            <a:endParaRPr lang="en-US" sz="1500" dirty="0"/>
          </a:p>
        </p:txBody>
      </p:sp>
      <p:sp>
        <p:nvSpPr>
          <p:cNvPr id="9" name="Text 7"/>
          <p:cNvSpPr/>
          <p:nvPr/>
        </p:nvSpPr>
        <p:spPr>
          <a:xfrm>
            <a:off x="6461608" y="235000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Shredded into each application’s own permission model — a dozen vendor dialects that never speak to each other.</a:t>
            </a:r>
            <a:endParaRPr lang="en-US" sz="1200" dirty="0"/>
          </a:p>
        </p:txBody>
      </p:sp>
      <p:sp>
        <p:nvSpPr>
          <p:cNvPr id="10" name="Shape 8"/>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1" name="Text 9"/>
          <p:cNvSpPr/>
          <p:nvPr/>
        </p:nvSpPr>
        <p:spPr>
          <a:xfrm>
            <a:off x="795528" y="431596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The custody requirement</a:t>
            </a:r>
            <a:endParaRPr lang="en-US" sz="1500" dirty="0"/>
          </a:p>
        </p:txBody>
      </p:sp>
      <p:sp>
        <p:nvSpPr>
          <p:cNvPr id="12" name="Text 10"/>
          <p:cNvSpPr/>
          <p:nvPr/>
        </p:nvSpPr>
        <p:spPr>
          <a:xfrm>
            <a:off x="795528" y="477316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Decision rights travel with the work and are enforced at the boundary it crosses — not re-derived from local roles.</a:t>
            </a:r>
            <a:endParaRPr lang="en-US" sz="1200" dirty="0"/>
          </a:p>
        </p:txBody>
      </p:sp>
      <p:sp>
        <p:nvSpPr>
          <p:cNvPr id="13" name="Shape 11"/>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4" name="Text 12"/>
          <p:cNvSpPr/>
          <p:nvPr/>
        </p:nvSpPr>
        <p:spPr>
          <a:xfrm>
            <a:off x="6461608" y="431596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Preview</a:t>
            </a:r>
            <a:endParaRPr lang="en-US" sz="1500" dirty="0"/>
          </a:p>
        </p:txBody>
      </p:sp>
      <p:sp>
        <p:nvSpPr>
          <p:cNvPr id="15" name="Text 13"/>
          <p:cNvSpPr/>
          <p:nvPr/>
        </p:nvSpPr>
        <p:spPr>
          <a:xfrm>
            <a:off x="6461608" y="4773168"/>
            <a:ext cx="4934560" cy="13716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Meet ‘four-hundred-as-ceiling’: an approval that means nothing once its authority is left at the border.</a:t>
            </a:r>
            <a:endParaRPr lang="en-US" sz="12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7</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The six properties, part 2 — accountability, coordination, coherence, memory</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We complete the set of six and then ask the crucial question: why exactly these, and why only these? The answer is what makes the framework an engineering claim rather than a list of nice-to-haves.</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Define the remaining four properties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Match each property to its characteristic failure</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the completeness claim</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PROPERTIES 3–6</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remaining four</a:t>
            </a:r>
            <a:endParaRPr lang="en-US" sz="25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2267712" cy="310896"/>
          </a:xfrm>
          <a:prstGeom prst="roundRect">
            <a:avLst>
              <a:gd name="adj" fmla="val 50000"/>
            </a:avLst>
          </a:prstGeom>
          <a:solidFill>
            <a:srgbClr val="1B1A18"/>
          </a:solidFill>
          <a:ln/>
        </p:spPr>
        <p:txBody>
          <a:bodyPr/>
          <a:lstStyle/>
          <a:p>
            <a:endParaRPr lang="LID4096"/>
          </a:p>
        </p:txBody>
      </p:sp>
      <p:sp>
        <p:nvSpPr>
          <p:cNvPr id="6" name="Text 4"/>
          <p:cNvSpPr/>
          <p:nvPr/>
        </p:nvSpPr>
        <p:spPr>
          <a:xfrm>
            <a:off x="795528" y="1892808"/>
            <a:ext cx="2267712"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3 · Accountability</a:t>
            </a:r>
            <a:endParaRPr lang="en-US" sz="950" dirty="0"/>
          </a:p>
        </p:txBody>
      </p:sp>
      <p:sp>
        <p:nvSpPr>
          <p:cNvPr id="7" name="Text 5"/>
          <p:cNvSpPr/>
          <p:nvPr/>
        </p:nvSpPr>
        <p:spPr>
          <a:xfrm>
            <a:off x="79552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Provenance by-product</a:t>
            </a:r>
            <a:endParaRPr lang="en-US" sz="1500" dirty="0"/>
          </a:p>
        </p:txBody>
      </p:sp>
      <p:sp>
        <p:nvSpPr>
          <p:cNvPr id="8" name="Text 6"/>
          <p:cNvSpPr/>
          <p:nvPr/>
        </p:nvSpPr>
        <p:spPr>
          <a:xfrm>
            <a:off x="79552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Attribution captured at the moment of action. If it requires investigation later, custody has already failed.</a:t>
            </a:r>
            <a:endParaRPr lang="en-US" sz="12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6461608" y="1892808"/>
            <a:ext cx="2066544" cy="310896"/>
          </a:xfrm>
          <a:prstGeom prst="roundRect">
            <a:avLst>
              <a:gd name="adj" fmla="val 50000"/>
            </a:avLst>
          </a:prstGeom>
          <a:solidFill>
            <a:srgbClr val="1B1A18"/>
          </a:solidFill>
          <a:ln/>
        </p:spPr>
        <p:txBody>
          <a:bodyPr/>
          <a:lstStyle/>
          <a:p>
            <a:endParaRPr lang="LID4096"/>
          </a:p>
        </p:txBody>
      </p:sp>
      <p:sp>
        <p:nvSpPr>
          <p:cNvPr id="11" name="Text 9"/>
          <p:cNvSpPr/>
          <p:nvPr/>
        </p:nvSpPr>
        <p:spPr>
          <a:xfrm>
            <a:off x="6461608" y="1892808"/>
            <a:ext cx="206654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4 · Coordination</a:t>
            </a:r>
            <a:endParaRPr lang="en-US" sz="950" dirty="0"/>
          </a:p>
        </p:txBody>
      </p:sp>
      <p:sp>
        <p:nvSpPr>
          <p:cNvPr id="12" name="Text 10"/>
          <p:cNvSpPr/>
          <p:nvPr/>
        </p:nvSpPr>
        <p:spPr>
          <a:xfrm>
            <a:off x="646160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Shared invariants</a:t>
            </a:r>
            <a:endParaRPr lang="en-US" sz="1500" dirty="0"/>
          </a:p>
        </p:txBody>
      </p:sp>
      <p:sp>
        <p:nvSpPr>
          <p:cNvPr id="13" name="Text 11"/>
          <p:cNvSpPr/>
          <p:nvPr/>
        </p:nvSpPr>
        <p:spPr>
          <a:xfrm>
            <a:off x="646160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Alignment achieved by shared invariants at the seams — never by shared middleware. Connection is not coordination.</a:t>
            </a:r>
            <a:endParaRPr lang="en-US" sz="12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5" name="Shape 13"/>
          <p:cNvSpPr/>
          <p:nvPr/>
        </p:nvSpPr>
        <p:spPr>
          <a:xfrm>
            <a:off x="795528" y="4315968"/>
            <a:ext cx="1764792" cy="310896"/>
          </a:xfrm>
          <a:prstGeom prst="roundRect">
            <a:avLst>
              <a:gd name="adj" fmla="val 50000"/>
            </a:avLst>
          </a:prstGeom>
          <a:solidFill>
            <a:srgbClr val="1B1A18"/>
          </a:solidFill>
          <a:ln/>
        </p:spPr>
        <p:txBody>
          <a:bodyPr/>
          <a:lstStyle/>
          <a:p>
            <a:endParaRPr lang="LID4096"/>
          </a:p>
        </p:txBody>
      </p:sp>
      <p:sp>
        <p:nvSpPr>
          <p:cNvPr id="16" name="Text 14"/>
          <p:cNvSpPr/>
          <p:nvPr/>
        </p:nvSpPr>
        <p:spPr>
          <a:xfrm>
            <a:off x="795528" y="4315968"/>
            <a:ext cx="1764792"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5 · Coherence</a:t>
            </a:r>
            <a:endParaRPr lang="en-US" sz="950" dirty="0"/>
          </a:p>
        </p:txBody>
      </p:sp>
      <p:sp>
        <p:nvSpPr>
          <p:cNvPr id="17" name="Text 15"/>
          <p:cNvSpPr/>
          <p:nvPr/>
        </p:nvSpPr>
        <p:spPr>
          <a:xfrm>
            <a:off x="79552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Same rule, every door</a:t>
            </a:r>
            <a:endParaRPr lang="en-US" sz="1500" dirty="0"/>
          </a:p>
        </p:txBody>
      </p:sp>
      <p:sp>
        <p:nvSpPr>
          <p:cNvPr id="18" name="Text 16"/>
          <p:cNvSpPr/>
          <p:nvPr/>
        </p:nvSpPr>
        <p:spPr>
          <a:xfrm>
            <a:off x="79552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Non-negotiables enforced identically at every crossing. ‘It depends which door you came in through’ is fatal.</a:t>
            </a:r>
            <a:endParaRPr lang="en-US" sz="120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0" name="Shape 18"/>
          <p:cNvSpPr/>
          <p:nvPr/>
        </p:nvSpPr>
        <p:spPr>
          <a:xfrm>
            <a:off x="6461608" y="4315968"/>
            <a:ext cx="1463040" cy="310896"/>
          </a:xfrm>
          <a:prstGeom prst="roundRect">
            <a:avLst>
              <a:gd name="adj" fmla="val 50000"/>
            </a:avLst>
          </a:prstGeom>
          <a:solidFill>
            <a:srgbClr val="1B1A18"/>
          </a:solidFill>
          <a:ln/>
        </p:spPr>
        <p:txBody>
          <a:bodyPr/>
          <a:lstStyle/>
          <a:p>
            <a:endParaRPr lang="LID4096"/>
          </a:p>
        </p:txBody>
      </p:sp>
      <p:sp>
        <p:nvSpPr>
          <p:cNvPr id="21" name="Text 19"/>
          <p:cNvSpPr/>
          <p:nvPr/>
        </p:nvSpPr>
        <p:spPr>
          <a:xfrm>
            <a:off x="6461608" y="4315968"/>
            <a:ext cx="146304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6 · Memory</a:t>
            </a:r>
            <a:endParaRPr lang="en-US" sz="950" dirty="0"/>
          </a:p>
        </p:txBody>
      </p:sp>
      <p:sp>
        <p:nvSpPr>
          <p:cNvPr id="22" name="Text 20"/>
          <p:cNvSpPr/>
          <p:nvPr/>
        </p:nvSpPr>
        <p:spPr>
          <a:xfrm>
            <a:off x="646160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Ceremony &amp; provenance</a:t>
            </a:r>
            <a:endParaRPr lang="en-US" sz="1500" dirty="0"/>
          </a:p>
        </p:txBody>
      </p:sp>
      <p:sp>
        <p:nvSpPr>
          <p:cNvPr id="23" name="Text 21"/>
          <p:cNvSpPr/>
          <p:nvPr/>
        </p:nvSpPr>
        <p:spPr>
          <a:xfrm>
            <a:off x="646160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Durable knowledge, written with ceremony and trusted by provenance. Memory anything can write is not memory.</a:t>
            </a:r>
            <a:endParaRPr lang="en-US" sz="1200" dirty="0"/>
          </a:p>
        </p:txBody>
      </p:sp>
      <p:sp>
        <p:nvSpPr>
          <p:cNvPr id="24" name="Text 2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AN ENGINEERING CLAIM, NOT A WISH LIST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Why these six — and only these</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They are the enterprise’s conserved quantities.   </a:t>
            </a:r>
            <a:r>
              <a:rPr lang="en-US" sz="1300" dirty="0">
                <a:solidFill>
                  <a:srgbClr val="6E6A62"/>
                </a:solidFill>
                <a:latin typeface="Georgia" pitchFamily="34" charset="0"/>
                <a:ea typeface="Georgia" pitchFamily="34" charset="-122"/>
                <a:cs typeface="Georgia" pitchFamily="34" charset="-120"/>
              </a:rPr>
              <a:t>The things that must balance across every boundary; if they don’t, something is leaking and the design is wrong.</a:t>
            </a:r>
            <a:endParaRPr lang="en-US" sz="1500" dirty="0"/>
          </a:p>
        </p:txBody>
      </p:sp>
      <p:sp>
        <p:nvSpPr>
          <p:cNvPr id="7" name="Shape 5"/>
          <p:cNvSpPr/>
          <p:nvPr/>
        </p:nvSpPr>
        <p:spPr>
          <a:xfrm>
            <a:off x="566928" y="3246120"/>
            <a:ext cx="457200" cy="457200"/>
          </a:xfrm>
          <a:prstGeom prst="ellipse">
            <a:avLst/>
          </a:prstGeom>
          <a:solidFill>
            <a:srgbClr val="1B1A18"/>
          </a:solidFill>
          <a:ln/>
        </p:spPr>
        <p:txBody>
          <a:bodyPr/>
          <a:lstStyle/>
          <a:p>
            <a:endParaRPr lang="LID4096"/>
          </a:p>
        </p:txBody>
      </p:sp>
      <p:sp>
        <p:nvSpPr>
          <p:cNvPr id="8" name="Text 6"/>
          <p:cNvSpPr/>
          <p:nvPr/>
        </p:nvSpPr>
        <p:spPr>
          <a:xfrm>
            <a:off x="566928" y="32461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Each is defined by its failure.   </a:t>
            </a:r>
            <a:r>
              <a:rPr lang="en-US" sz="1300" dirty="0">
                <a:solidFill>
                  <a:srgbClr val="6E6A62"/>
                </a:solidFill>
                <a:latin typeface="Georgia" pitchFamily="34" charset="0"/>
                <a:ea typeface="Georgia" pitchFamily="34" charset="-122"/>
                <a:cs typeface="Georgia" pitchFamily="34" charset="-120"/>
              </a:rPr>
              <a:t>You can’t see a missing property directly — you learn to recognise its absence by the damage. The damage is the leak.</a:t>
            </a:r>
            <a:endParaRPr lang="en-US" sz="1500" dirty="0"/>
          </a:p>
        </p:txBody>
      </p:sp>
      <p:sp>
        <p:nvSpPr>
          <p:cNvPr id="10" name="Shape 8"/>
          <p:cNvSpPr/>
          <p:nvPr/>
        </p:nvSpPr>
        <p:spPr>
          <a:xfrm>
            <a:off x="566928" y="4800600"/>
            <a:ext cx="457200" cy="457200"/>
          </a:xfrm>
          <a:prstGeom prst="ellipse">
            <a:avLst/>
          </a:prstGeom>
          <a:solidFill>
            <a:srgbClr val="1B1A18"/>
          </a:solidFill>
          <a:ln/>
        </p:spPr>
        <p:txBody>
          <a:bodyPr/>
          <a:lstStyle/>
          <a:p>
            <a:endParaRPr lang="LID4096"/>
          </a:p>
        </p:txBody>
      </p:sp>
      <p:sp>
        <p:nvSpPr>
          <p:cNvPr id="11" name="Text 9"/>
          <p:cNvSpPr/>
          <p:nvPr/>
        </p:nvSpPr>
        <p:spPr>
          <a:xfrm>
            <a:off x="566928" y="48006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They are properties of the enterprise,   </a:t>
            </a:r>
            <a:r>
              <a:rPr lang="en-US" sz="1300" dirty="0">
                <a:solidFill>
                  <a:srgbClr val="6E6A62"/>
                </a:solidFill>
                <a:latin typeface="Georgia" pitchFamily="34" charset="0"/>
                <a:ea typeface="Georgia" pitchFamily="34" charset="-122"/>
                <a:cs typeface="Georgia" pitchFamily="34" charset="-120"/>
              </a:rPr>
              <a:t>not features of a system. A feature is something a system has; these the architecture must carry wherever work goes.</a:t>
            </a:r>
            <a:endParaRPr lang="en-US" sz="1500" dirty="0"/>
          </a:p>
        </p:txBody>
      </p:sp>
      <p:sp>
        <p:nvSpPr>
          <p:cNvPr id="13" name="Text 11"/>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Diagnose by damage</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For each of three problems you’ve witnessed, which of the six properties was missing? Justify from the symptom, not the cause you assumed.</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Could you argue for a seventh property? Try — then test whether it’s really one of the six wearing a different name.</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8</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The four axioms of the agentic era</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Midterm week. We consolidate Part II with the four axioms that make the agentic era different, and the single conclusion they force together: governance cannot live inside the model. It must live in the structure the model’s output passes through.</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State the four axioms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why ‘a system prompt is a request’</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Derive: why the model can’t be the control point</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QUESTIONS THAT DECIDE THE DEAL</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four axioms</a:t>
            </a:r>
            <a:endParaRPr lang="en-US" sz="25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1161288" cy="310896"/>
          </a:xfrm>
          <a:prstGeom prst="roundRect">
            <a:avLst>
              <a:gd name="adj" fmla="val 50000"/>
            </a:avLst>
          </a:prstGeom>
          <a:solidFill>
            <a:srgbClr val="1B1A18"/>
          </a:solidFill>
          <a:ln/>
        </p:spPr>
        <p:txBody>
          <a:bodyPr/>
          <a:lstStyle/>
          <a:p>
            <a:endParaRPr lang="LID4096"/>
          </a:p>
        </p:txBody>
      </p:sp>
      <p:sp>
        <p:nvSpPr>
          <p:cNvPr id="6" name="Text 4"/>
          <p:cNvSpPr/>
          <p:nvPr/>
        </p:nvSpPr>
        <p:spPr>
          <a:xfrm>
            <a:off x="795528" y="1892808"/>
            <a:ext cx="116128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AXIOM 1</a:t>
            </a:r>
            <a:endParaRPr lang="en-US" sz="950" dirty="0"/>
          </a:p>
        </p:txBody>
      </p:sp>
      <p:sp>
        <p:nvSpPr>
          <p:cNvPr id="7" name="Text 5"/>
          <p:cNvSpPr/>
          <p:nvPr/>
        </p:nvSpPr>
        <p:spPr>
          <a:xfrm>
            <a:off x="79552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Regulatory determinism</a:t>
            </a:r>
            <a:endParaRPr lang="en-US" sz="1500" dirty="0"/>
          </a:p>
        </p:txBody>
      </p:sp>
      <p:sp>
        <p:nvSpPr>
          <p:cNvPr id="8" name="Text 6"/>
          <p:cNvSpPr/>
          <p:nvPr/>
        </p:nvSpPr>
        <p:spPr>
          <a:xfrm>
            <a:off x="79552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In a regulated domain, governance must be deterministic, inspectable, and provable after the fact. Regulation is modal: must, never.</a:t>
            </a:r>
            <a:endParaRPr lang="en-US" sz="12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6461608" y="1892808"/>
            <a:ext cx="1161288" cy="310896"/>
          </a:xfrm>
          <a:prstGeom prst="roundRect">
            <a:avLst>
              <a:gd name="adj" fmla="val 50000"/>
            </a:avLst>
          </a:prstGeom>
          <a:solidFill>
            <a:srgbClr val="1B1A18"/>
          </a:solidFill>
          <a:ln/>
        </p:spPr>
        <p:txBody>
          <a:bodyPr/>
          <a:lstStyle/>
          <a:p>
            <a:endParaRPr lang="LID4096"/>
          </a:p>
        </p:txBody>
      </p:sp>
      <p:sp>
        <p:nvSpPr>
          <p:cNvPr id="11" name="Text 9"/>
          <p:cNvSpPr/>
          <p:nvPr/>
        </p:nvSpPr>
        <p:spPr>
          <a:xfrm>
            <a:off x="6461608" y="1892808"/>
            <a:ext cx="116128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AXIOM 2</a:t>
            </a:r>
            <a:endParaRPr lang="en-US" sz="950" dirty="0"/>
          </a:p>
        </p:txBody>
      </p:sp>
      <p:sp>
        <p:nvSpPr>
          <p:cNvPr id="12" name="Text 10"/>
          <p:cNvSpPr/>
          <p:nvPr/>
        </p:nvSpPr>
        <p:spPr>
          <a:xfrm>
            <a:off x="646160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Probabilistic behaviour</a:t>
            </a:r>
            <a:endParaRPr lang="en-US" sz="1500" dirty="0"/>
          </a:p>
        </p:txBody>
      </p:sp>
      <p:sp>
        <p:nvSpPr>
          <p:cNvPr id="13" name="Text 11"/>
          <p:cNvSpPr/>
          <p:nvPr/>
        </p:nvSpPr>
        <p:spPr>
          <a:xfrm>
            <a:off x="646160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same input can yield different outputs; adversarial input, arbitrary ones. Instructed behaviour is not guaranteed behaviour.</a:t>
            </a:r>
            <a:endParaRPr lang="en-US" sz="12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5" name="Shape 13"/>
          <p:cNvSpPr/>
          <p:nvPr/>
        </p:nvSpPr>
        <p:spPr>
          <a:xfrm>
            <a:off x="795528" y="4315968"/>
            <a:ext cx="1161288" cy="310896"/>
          </a:xfrm>
          <a:prstGeom prst="roundRect">
            <a:avLst>
              <a:gd name="adj" fmla="val 50000"/>
            </a:avLst>
          </a:prstGeom>
          <a:solidFill>
            <a:srgbClr val="1B1A18"/>
          </a:solidFill>
          <a:ln/>
        </p:spPr>
        <p:txBody>
          <a:bodyPr/>
          <a:lstStyle/>
          <a:p>
            <a:endParaRPr lang="LID4096"/>
          </a:p>
        </p:txBody>
      </p:sp>
      <p:sp>
        <p:nvSpPr>
          <p:cNvPr id="16" name="Text 14"/>
          <p:cNvSpPr/>
          <p:nvPr/>
        </p:nvSpPr>
        <p:spPr>
          <a:xfrm>
            <a:off x="795528" y="4315968"/>
            <a:ext cx="116128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AXIOM 3</a:t>
            </a:r>
            <a:endParaRPr lang="en-US" sz="950" dirty="0"/>
          </a:p>
        </p:txBody>
      </p:sp>
      <p:sp>
        <p:nvSpPr>
          <p:cNvPr id="17" name="Text 15"/>
          <p:cNvSpPr/>
          <p:nvPr/>
        </p:nvSpPr>
        <p:spPr>
          <a:xfrm>
            <a:off x="79552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Perpetual variance</a:t>
            </a:r>
            <a:endParaRPr lang="en-US" sz="1500" dirty="0"/>
          </a:p>
        </p:txBody>
      </p:sp>
      <p:sp>
        <p:nvSpPr>
          <p:cNvPr id="18" name="Text 16"/>
          <p:cNvSpPr/>
          <p:nvPr/>
        </p:nvSpPr>
        <p:spPr>
          <a:xfrm>
            <a:off x="79552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Models, regulations, tenants, and domains change at independent, externally imposed rates. Four clocks, none you control.</a:t>
            </a:r>
            <a:endParaRPr lang="en-US" sz="120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0" name="Shape 18"/>
          <p:cNvSpPr/>
          <p:nvPr/>
        </p:nvSpPr>
        <p:spPr>
          <a:xfrm>
            <a:off x="6461608" y="4315968"/>
            <a:ext cx="1161288" cy="310896"/>
          </a:xfrm>
          <a:prstGeom prst="roundRect">
            <a:avLst>
              <a:gd name="adj" fmla="val 50000"/>
            </a:avLst>
          </a:prstGeom>
          <a:solidFill>
            <a:srgbClr val="1B1A18"/>
          </a:solidFill>
          <a:ln/>
        </p:spPr>
        <p:txBody>
          <a:bodyPr/>
          <a:lstStyle/>
          <a:p>
            <a:endParaRPr lang="LID4096"/>
          </a:p>
        </p:txBody>
      </p:sp>
      <p:sp>
        <p:nvSpPr>
          <p:cNvPr id="21" name="Text 19"/>
          <p:cNvSpPr/>
          <p:nvPr/>
        </p:nvSpPr>
        <p:spPr>
          <a:xfrm>
            <a:off x="6461608" y="4315968"/>
            <a:ext cx="116128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AXIOM 4</a:t>
            </a:r>
            <a:endParaRPr lang="en-US" sz="950" dirty="0"/>
          </a:p>
        </p:txBody>
      </p:sp>
      <p:sp>
        <p:nvSpPr>
          <p:cNvPr id="22" name="Text 20"/>
          <p:cNvSpPr/>
          <p:nvPr/>
        </p:nvSpPr>
        <p:spPr>
          <a:xfrm>
            <a:off x="646160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Audit primacy</a:t>
            </a:r>
            <a:endParaRPr lang="en-US" sz="1500" dirty="0"/>
          </a:p>
        </p:txBody>
      </p:sp>
      <p:sp>
        <p:nvSpPr>
          <p:cNvPr id="23" name="Text 21"/>
          <p:cNvSpPr/>
          <p:nvPr/>
        </p:nvSpPr>
        <p:spPr>
          <a:xfrm>
            <a:off x="646160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What cannot be audited cannot be deployed. Evidence is a product of the system — and it cannot be retrofitted.</a:t>
            </a:r>
            <a:endParaRPr lang="en-US" sz="1200" dirty="0"/>
          </a:p>
        </p:txBody>
      </p:sp>
      <p:sp>
        <p:nvSpPr>
          <p:cNvPr id="24" name="Text 2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ELIMINATION</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If governance must hold always (Axiom 1) and the model holds usually (Axiom 2), then the model can never be the locus of governance.</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The composition that decides the architecture</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ALIGNMENT vs ARCHITECTURE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distinction to carry away</a:t>
            </a:r>
            <a:endParaRPr lang="en-US" sz="2550" dirty="0"/>
          </a:p>
        </p:txBody>
      </p:sp>
      <p:sp>
        <p:nvSpPr>
          <p:cNvPr id="4" name="Shape 2"/>
          <p:cNvSpPr/>
          <p:nvPr/>
        </p:nvSpPr>
        <p:spPr>
          <a:xfrm>
            <a:off x="566928" y="1691640"/>
            <a:ext cx="457200" cy="457200"/>
          </a:xfrm>
          <a:prstGeom prst="ellipse">
            <a:avLst/>
          </a:prstGeom>
          <a:solidFill>
            <a:srgbClr val="8A837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 well-trained employee   </a:t>
            </a:r>
            <a:r>
              <a:rPr lang="en-US" sz="1300" dirty="0">
                <a:solidFill>
                  <a:srgbClr val="6E6A62"/>
                </a:solidFill>
                <a:latin typeface="Georgia" pitchFamily="34" charset="0"/>
                <a:ea typeface="Georgia" pitchFamily="34" charset="-122"/>
                <a:cs typeface="Georgia" pitchFamily="34" charset="-120"/>
              </a:rPr>
              <a:t>Alignment makes the model better behaved — worth every effort, and never enough on its own.</a:t>
            </a:r>
            <a:endParaRPr lang="en-US" sz="1500" dirty="0"/>
          </a:p>
        </p:txBody>
      </p:sp>
      <p:sp>
        <p:nvSpPr>
          <p:cNvPr id="7" name="Shape 5"/>
          <p:cNvSpPr/>
          <p:nvPr/>
        </p:nvSpPr>
        <p:spPr>
          <a:xfrm>
            <a:off x="566928" y="3246120"/>
            <a:ext cx="457200" cy="457200"/>
          </a:xfrm>
          <a:prstGeom prst="ellipse">
            <a:avLst/>
          </a:prstGeom>
          <a:solidFill>
            <a:srgbClr val="8A8378"/>
          </a:solidFill>
          <a:ln/>
        </p:spPr>
        <p:txBody>
          <a:bodyPr/>
          <a:lstStyle/>
          <a:p>
            <a:endParaRPr lang="LID4096"/>
          </a:p>
        </p:txBody>
      </p:sp>
      <p:sp>
        <p:nvSpPr>
          <p:cNvPr id="8" name="Text 6"/>
          <p:cNvSpPr/>
          <p:nvPr/>
        </p:nvSpPr>
        <p:spPr>
          <a:xfrm>
            <a:off x="566928" y="32461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 door that locks   </a:t>
            </a:r>
            <a:r>
              <a:rPr lang="en-US" sz="1300" dirty="0">
                <a:solidFill>
                  <a:srgbClr val="6E6A62"/>
                </a:solidFill>
                <a:latin typeface="Georgia" pitchFamily="34" charset="0"/>
                <a:ea typeface="Georgia" pitchFamily="34" charset="-122"/>
                <a:cs typeface="Georgia" pitchFamily="34" charset="-120"/>
              </a:rPr>
              <a:t>Governance must live outside the component, so the guarantee does not depend on the model having behaved.</a:t>
            </a:r>
            <a:endParaRPr lang="en-US" sz="1500" dirty="0"/>
          </a:p>
        </p:txBody>
      </p:sp>
      <p:sp>
        <p:nvSpPr>
          <p:cNvPr id="10" name="Shape 8"/>
          <p:cNvSpPr/>
          <p:nvPr/>
        </p:nvSpPr>
        <p:spPr>
          <a:xfrm>
            <a:off x="566928" y="4800600"/>
            <a:ext cx="457200" cy="457200"/>
          </a:xfrm>
          <a:prstGeom prst="ellipse">
            <a:avLst/>
          </a:prstGeom>
          <a:solidFill>
            <a:srgbClr val="8A8378"/>
          </a:solidFill>
          <a:ln/>
        </p:spPr>
        <p:txBody>
          <a:bodyPr/>
          <a:lstStyle/>
          <a:p>
            <a:endParaRPr lang="LID4096"/>
          </a:p>
        </p:txBody>
      </p:sp>
      <p:sp>
        <p:nvSpPr>
          <p:cNvPr id="11" name="Text 9"/>
          <p:cNvSpPr/>
          <p:nvPr/>
        </p:nvSpPr>
        <p:spPr>
          <a:xfrm>
            <a:off x="566928" y="48006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Enterprises need both,   </a:t>
            </a:r>
            <a:r>
              <a:rPr lang="en-US" sz="1300" dirty="0">
                <a:solidFill>
                  <a:srgbClr val="6E6A62"/>
                </a:solidFill>
                <a:latin typeface="Georgia" pitchFamily="34" charset="0"/>
                <a:ea typeface="Georgia" pitchFamily="34" charset="-122"/>
                <a:cs typeface="Georgia" pitchFamily="34" charset="-120"/>
              </a:rPr>
              <a:t>and only one of them is architecture. Midterm covers Weeks 1–8.</a:t>
            </a:r>
            <a:endParaRPr lang="en-US" sz="1500" dirty="0"/>
          </a:p>
        </p:txBody>
      </p:sp>
      <p:sp>
        <p:nvSpPr>
          <p:cNvPr id="13" name="Text 11"/>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2148840"/>
            <a:ext cx="1371600" cy="310896"/>
          </a:xfrm>
          <a:prstGeom prst="rect">
            <a:avLst/>
          </a:prstGeom>
          <a:noFill/>
          <a:ln/>
        </p:spPr>
        <p:txBody>
          <a:bodyPr wrap="square" rtlCol="0" anchor="ctr"/>
          <a:lstStyle/>
          <a:p>
            <a:pPr marL="0" indent="0" algn="ctr">
              <a:buNone/>
            </a:pPr>
            <a:r>
              <a:rPr lang="en-US" sz="1050" b="1" kern="0" spc="50" dirty="0">
                <a:solidFill>
                  <a:srgbClr val="1B1A18"/>
                </a:solidFill>
                <a:latin typeface="Georgia" pitchFamily="34" charset="0"/>
                <a:ea typeface="Georgia" pitchFamily="34" charset="-122"/>
                <a:cs typeface="Georgia" pitchFamily="34" charset="-120"/>
              </a:rPr>
              <a:t>PART III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marL="0" indent="0">
              <a:buNone/>
            </a:pPr>
            <a:r>
              <a:rPr lang="en-US" sz="3550" b="1" dirty="0">
                <a:solidFill>
                  <a:srgbClr val="FFFFFF"/>
                </a:solidFill>
                <a:latin typeface="Georgia" pitchFamily="34" charset="0"/>
                <a:ea typeface="Georgia" pitchFamily="34" charset="-122"/>
                <a:cs typeface="Georgia" pitchFamily="34" charset="-120"/>
              </a:rPr>
              <a:t>Agentic AI</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marL="0" indent="0">
              <a:lnSpc>
                <a:spcPct val="125000"/>
              </a:lnSpc>
              <a:buNone/>
            </a:pPr>
            <a:r>
              <a:rPr lang="en-US" sz="1500" dirty="0">
                <a:solidFill>
                  <a:srgbClr val="E4DFD5"/>
                </a:solidFill>
                <a:latin typeface="Georgia" pitchFamily="34" charset="0"/>
                <a:ea typeface="Georgia" pitchFamily="34" charset="-122"/>
                <a:cs typeface="Georgia" pitchFamily="34" charset="-120"/>
              </a:rPr>
              <a:t>Now apply the laws to the participant that made them urgent: an actor that arrives with no context, no authority, and no memory except what the structure hands it.</a:t>
            </a:r>
            <a:endParaRPr lang="en-US" sz="15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9</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Structure holds, content moves</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The preservation principle turns Part II into something you can build against — and litigate against. We separate the ‘invariants’ (the machinery whose change needs engineering) from the ‘variants’ (everything that changes with just authority and data), and study a $460M failure that shows what happens when behaviour hides in the wrong set.</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State the preservation principle</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Sort a system into invariants and variants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why data beats code for behaviour</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SORT EVERYTHING INTO TWO SETS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partition</a:t>
            </a:r>
            <a:endParaRPr lang="en-US" sz="2550" dirty="0"/>
          </a:p>
        </p:txBody>
      </p:sp>
      <p:sp>
        <p:nvSpPr>
          <p:cNvPr id="4" name="Shape 2"/>
          <p:cNvSpPr/>
          <p:nvPr/>
        </p:nvSpPr>
        <p:spPr>
          <a:xfrm>
            <a:off x="566928" y="1691640"/>
            <a:ext cx="5391760" cy="4572000"/>
          </a:xfrm>
          <a:prstGeom prst="roundRect">
            <a:avLst>
              <a:gd name="adj" fmla="val 1600"/>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1463040" cy="310896"/>
          </a:xfrm>
          <a:prstGeom prst="roundRect">
            <a:avLst>
              <a:gd name="adj" fmla="val 50000"/>
            </a:avLst>
          </a:prstGeom>
          <a:solidFill>
            <a:srgbClr val="1B1A18"/>
          </a:solidFill>
          <a:ln/>
        </p:spPr>
        <p:txBody>
          <a:bodyPr/>
          <a:lstStyle/>
          <a:p>
            <a:endParaRPr lang="LID4096"/>
          </a:p>
        </p:txBody>
      </p:sp>
      <p:sp>
        <p:nvSpPr>
          <p:cNvPr id="6" name="Text 4"/>
          <p:cNvSpPr/>
          <p:nvPr/>
        </p:nvSpPr>
        <p:spPr>
          <a:xfrm>
            <a:off x="795528" y="1892808"/>
            <a:ext cx="146304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INVARIANTS</a:t>
            </a:r>
            <a:endParaRPr lang="en-US" sz="950" dirty="0"/>
          </a:p>
        </p:txBody>
      </p:sp>
      <p:sp>
        <p:nvSpPr>
          <p:cNvPr id="7" name="Text 5"/>
          <p:cNvSpPr/>
          <p:nvPr/>
        </p:nvSpPr>
        <p:spPr>
          <a:xfrm>
            <a:off x="79552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Change needs engineering</a:t>
            </a:r>
            <a:endParaRPr lang="en-US" sz="1500" dirty="0"/>
          </a:p>
        </p:txBody>
      </p:sp>
      <p:sp>
        <p:nvSpPr>
          <p:cNvPr id="8" name="Text 6"/>
          <p:cNvSpPr/>
          <p:nvPr/>
        </p:nvSpPr>
        <p:spPr>
          <a:xfrm>
            <a:off x="795528" y="2715768"/>
            <a:ext cx="4934560" cy="34290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code, enforcement points, seams, storage topology, execution machinery. Where every ‘always’ and ‘never’ must live.</a:t>
            </a:r>
            <a:endParaRPr lang="en-US" sz="1200" dirty="0"/>
          </a:p>
        </p:txBody>
      </p:sp>
      <p:sp>
        <p:nvSpPr>
          <p:cNvPr id="9" name="Shape 7"/>
          <p:cNvSpPr/>
          <p:nvPr/>
        </p:nvSpPr>
        <p:spPr>
          <a:xfrm>
            <a:off x="6233008" y="1691640"/>
            <a:ext cx="5391760" cy="4572000"/>
          </a:xfrm>
          <a:prstGeom prst="roundRect">
            <a:avLst>
              <a:gd name="adj" fmla="val 1600"/>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6461608" y="1892808"/>
            <a:ext cx="1261872" cy="310896"/>
          </a:xfrm>
          <a:prstGeom prst="roundRect">
            <a:avLst>
              <a:gd name="adj" fmla="val 50000"/>
            </a:avLst>
          </a:prstGeom>
          <a:solidFill>
            <a:srgbClr val="8A8378"/>
          </a:solidFill>
          <a:ln/>
        </p:spPr>
        <p:txBody>
          <a:bodyPr/>
          <a:lstStyle/>
          <a:p>
            <a:endParaRPr lang="LID4096"/>
          </a:p>
        </p:txBody>
      </p:sp>
      <p:sp>
        <p:nvSpPr>
          <p:cNvPr id="11" name="Text 9"/>
          <p:cNvSpPr/>
          <p:nvPr/>
        </p:nvSpPr>
        <p:spPr>
          <a:xfrm>
            <a:off x="6461608" y="1892808"/>
            <a:ext cx="1261872"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VARIANTS</a:t>
            </a:r>
            <a:endParaRPr lang="en-US" sz="950" dirty="0"/>
          </a:p>
        </p:txBody>
      </p:sp>
      <p:sp>
        <p:nvSpPr>
          <p:cNvPr id="12" name="Text 10"/>
          <p:cNvSpPr/>
          <p:nvPr/>
        </p:nvSpPr>
        <p:spPr>
          <a:xfrm>
            <a:off x="646160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Change needs only authority + data</a:t>
            </a:r>
            <a:endParaRPr lang="en-US" sz="1500" dirty="0"/>
          </a:p>
        </p:txBody>
      </p:sp>
      <p:sp>
        <p:nvSpPr>
          <p:cNvPr id="13" name="Text 11"/>
          <p:cNvSpPr/>
          <p:nvPr/>
        </p:nvSpPr>
        <p:spPr>
          <a:xfrm>
            <a:off x="6461608" y="2715768"/>
            <a:ext cx="4934560" cy="342900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rules, configuration, prompts, capability grants, model choices, memory contents. Changed by writing data under authority.</a:t>
            </a:r>
            <a:endParaRPr lang="en-US" sz="1200" dirty="0"/>
          </a:p>
        </p:txBody>
      </p:sp>
      <p:sp>
        <p:nvSpPr>
          <p:cNvPr id="14" name="Text 1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AUDITABILITY IS INHERITED, NOT IMPLEMENTED</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Why data beats code for behaviour</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Queryable   </a:t>
            </a:r>
            <a:r>
              <a:rPr lang="en-US" sz="1300" dirty="0">
                <a:solidFill>
                  <a:srgbClr val="6E6A62"/>
                </a:solidFill>
                <a:latin typeface="Georgia" pitchFamily="34" charset="0"/>
                <a:ea typeface="Georgia" pitchFamily="34" charset="-122"/>
                <a:cs typeface="Georgia" pitchFamily="34" charset="-120"/>
              </a:rPr>
              <a:t>‘What can this actor do, and who decided that?’ becomes a lookup — not an archaeology of a codebase.</a:t>
            </a:r>
            <a:endParaRPr lang="en-US" sz="1500" dirty="0"/>
          </a:p>
        </p:txBody>
      </p:sp>
      <p:sp>
        <p:nvSpPr>
          <p:cNvPr id="7" name="Shape 5"/>
          <p:cNvSpPr/>
          <p:nvPr/>
        </p:nvSpPr>
        <p:spPr>
          <a:xfrm>
            <a:off x="566928" y="3246120"/>
            <a:ext cx="457200" cy="457200"/>
          </a:xfrm>
          <a:prstGeom prst="ellipse">
            <a:avLst/>
          </a:prstGeom>
          <a:solidFill>
            <a:srgbClr val="1B1A18"/>
          </a:solidFill>
          <a:ln/>
        </p:spPr>
        <p:txBody>
          <a:bodyPr/>
          <a:lstStyle/>
          <a:p>
            <a:endParaRPr lang="LID4096"/>
          </a:p>
        </p:txBody>
      </p:sp>
      <p:sp>
        <p:nvSpPr>
          <p:cNvPr id="8" name="Text 6"/>
          <p:cNvSpPr/>
          <p:nvPr/>
        </p:nvSpPr>
        <p:spPr>
          <a:xfrm>
            <a:off x="566928" y="32461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Diffable &amp; versionable   </a:t>
            </a:r>
            <a:r>
              <a:rPr lang="en-US" sz="1300" dirty="0">
                <a:solidFill>
                  <a:srgbClr val="6E6A62"/>
                </a:solidFill>
                <a:latin typeface="Georgia" pitchFamily="34" charset="0"/>
                <a:ea typeface="Georgia" pitchFamily="34" charset="-122"/>
                <a:cs typeface="Georgia" pitchFamily="34" charset="-120"/>
              </a:rPr>
              <a:t>What changed this month is a comparison of rows, not of releases.</a:t>
            </a:r>
            <a:endParaRPr lang="en-US" sz="1500" dirty="0"/>
          </a:p>
        </p:txBody>
      </p:sp>
      <p:sp>
        <p:nvSpPr>
          <p:cNvPr id="10" name="Shape 8"/>
          <p:cNvSpPr/>
          <p:nvPr/>
        </p:nvSpPr>
        <p:spPr>
          <a:xfrm>
            <a:off x="566928" y="4800600"/>
            <a:ext cx="457200" cy="457200"/>
          </a:xfrm>
          <a:prstGeom prst="ellipse">
            <a:avLst/>
          </a:prstGeom>
          <a:solidFill>
            <a:srgbClr val="1B1A18"/>
          </a:solidFill>
          <a:ln/>
        </p:spPr>
        <p:txBody>
          <a:bodyPr/>
          <a:lstStyle/>
          <a:p>
            <a:endParaRPr lang="LID4096"/>
          </a:p>
        </p:txBody>
      </p:sp>
      <p:sp>
        <p:nvSpPr>
          <p:cNvPr id="11" name="Text 9"/>
          <p:cNvSpPr/>
          <p:nvPr/>
        </p:nvSpPr>
        <p:spPr>
          <a:xfrm>
            <a:off x="566928" y="48006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Attributable   </a:t>
            </a:r>
            <a:r>
              <a:rPr lang="en-US" sz="1300" dirty="0">
                <a:solidFill>
                  <a:srgbClr val="6E6A62"/>
                </a:solidFill>
                <a:latin typeface="Georgia" pitchFamily="34" charset="0"/>
                <a:ea typeface="Georgia" pitchFamily="34" charset="-122"/>
                <a:cs typeface="Georgia" pitchFamily="34" charset="-120"/>
              </a:rPr>
              <a:t>Every change carries an author and an authority — a name and a delegation, not a version number.</a:t>
            </a:r>
            <a:endParaRPr lang="en-US" sz="1500" dirty="0"/>
          </a:p>
        </p:txBody>
      </p:sp>
      <p:sp>
        <p:nvSpPr>
          <p:cNvPr id="13" name="Text 11"/>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1A18"/>
        </a:solidFill>
        <a:effectLst/>
      </p:bgPr>
    </p:bg>
    <p:spTree>
      <p:nvGrpSpPr>
        <p:cNvPr id="1" name=""/>
        <p:cNvGrpSpPr/>
        <p:nvPr/>
      </p:nvGrpSpPr>
      <p:grpSpPr>
        <a:xfrm>
          <a:off x="0" y="0"/>
          <a:ext cx="0" cy="0"/>
          <a:chOff x="0" y="0"/>
          <a:chExt cx="0" cy="0"/>
        </a:xfrm>
      </p:grpSpPr>
      <p:sp>
        <p:nvSpPr>
          <p:cNvPr id="2" name="Text 0"/>
          <p:cNvSpPr/>
          <p:nvPr/>
        </p:nvSpPr>
        <p:spPr>
          <a:xfrm>
            <a:off x="566928" y="50292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WHAT BEHAVIOUR-IN-CODE COSTS</a:t>
            </a:r>
            <a:endParaRPr lang="en-US" sz="1150" dirty="0"/>
          </a:p>
        </p:txBody>
      </p:sp>
      <p:sp>
        <p:nvSpPr>
          <p:cNvPr id="3" name="Text 1"/>
          <p:cNvSpPr/>
          <p:nvPr/>
        </p:nvSpPr>
        <p:spPr>
          <a:xfrm>
            <a:off x="566928" y="82296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Consequence record — Knight Capital</a:t>
            </a:r>
            <a:endParaRPr lang="en-US" sz="2350" dirty="0"/>
          </a:p>
        </p:txBody>
      </p:sp>
      <p:sp>
        <p:nvSpPr>
          <p:cNvPr id="4" name="Text 2"/>
          <p:cNvSpPr/>
          <p:nvPr/>
        </p:nvSpPr>
        <p:spPr>
          <a:xfrm>
            <a:off x="566928" y="1920240"/>
            <a:ext cx="5760720" cy="1554480"/>
          </a:xfrm>
          <a:prstGeom prst="rect">
            <a:avLst/>
          </a:prstGeom>
          <a:noFill/>
          <a:ln/>
        </p:spPr>
        <p:txBody>
          <a:bodyPr wrap="square" rtlCol="0" anchor="ctr"/>
          <a:lstStyle/>
          <a:p>
            <a:pPr marL="0" indent="0">
              <a:buNone/>
            </a:pPr>
            <a:r>
              <a:rPr lang="en-US" sz="6950" b="1" dirty="0">
                <a:solidFill>
                  <a:srgbClr val="8A8378"/>
                </a:solidFill>
                <a:latin typeface="Georgia" pitchFamily="34" charset="0"/>
                <a:ea typeface="Georgia" pitchFamily="34" charset="-122"/>
                <a:cs typeface="Georgia" pitchFamily="34" charset="-120"/>
              </a:rPr>
              <a:t>$460M+</a:t>
            </a:r>
            <a:endParaRPr lang="en-US" sz="6950" dirty="0"/>
          </a:p>
        </p:txBody>
      </p:sp>
      <p:sp>
        <p:nvSpPr>
          <p:cNvPr id="5" name="Text 3"/>
          <p:cNvSpPr/>
          <p:nvPr/>
        </p:nvSpPr>
        <p:spPr>
          <a:xfrm>
            <a:off x="566928" y="3429000"/>
            <a:ext cx="5760720" cy="1463040"/>
          </a:xfrm>
          <a:prstGeom prst="rect">
            <a:avLst/>
          </a:prstGeom>
          <a:noFill/>
          <a:ln/>
        </p:spPr>
        <p:txBody>
          <a:bodyPr wrap="square" rtlCol="0" anchor="t"/>
          <a:lstStyle/>
          <a:p>
            <a:pPr marL="0" indent="0">
              <a:lnSpc>
                <a:spcPct val="120000"/>
              </a:lnSpc>
              <a:buNone/>
            </a:pPr>
            <a:r>
              <a:rPr lang="en-US" sz="1500" dirty="0">
                <a:solidFill>
                  <a:srgbClr val="E4DFD5"/>
                </a:solidFill>
                <a:latin typeface="Georgia" pitchFamily="34" charset="0"/>
                <a:ea typeface="Georgia" pitchFamily="34" charset="-122"/>
                <a:cs typeface="Georgia" pitchFamily="34" charset="-120"/>
              </a:rPr>
              <a:t>lost in roughly 45 minutes, 1 August 2012</a:t>
            </a:r>
            <a:endParaRPr lang="en-US" sz="1500" dirty="0"/>
          </a:p>
        </p:txBody>
      </p:sp>
      <p:sp>
        <p:nvSpPr>
          <p:cNvPr id="6" name="Shape 4"/>
          <p:cNvSpPr/>
          <p:nvPr/>
        </p:nvSpPr>
        <p:spPr>
          <a:xfrm>
            <a:off x="6766560" y="1920240"/>
            <a:ext cx="4858207" cy="3566160"/>
          </a:xfrm>
          <a:prstGeom prst="roundRect">
            <a:avLst>
              <a:gd name="adj" fmla="val 2564"/>
            </a:avLst>
          </a:prstGeom>
          <a:solidFill>
            <a:srgbClr val="33302B"/>
          </a:solidFill>
          <a:ln/>
        </p:spPr>
        <p:txBody>
          <a:bodyPr/>
          <a:lstStyle/>
          <a:p>
            <a:endParaRPr lang="LID4096"/>
          </a:p>
        </p:txBody>
      </p:sp>
      <p:sp>
        <p:nvSpPr>
          <p:cNvPr id="7" name="Text 5"/>
          <p:cNvSpPr/>
          <p:nvPr/>
        </p:nvSpPr>
        <p:spPr>
          <a:xfrm>
            <a:off x="6995160" y="2121408"/>
            <a:ext cx="4401007" cy="3200400"/>
          </a:xfrm>
          <a:prstGeom prst="rect">
            <a:avLst/>
          </a:prstGeom>
          <a:noFill/>
          <a:ln/>
        </p:spPr>
        <p:txBody>
          <a:bodyPr wrap="square" rtlCol="0" anchor="t"/>
          <a:lstStyle/>
          <a:p>
            <a:pPr marL="0" indent="0">
              <a:lnSpc>
                <a:spcPct val="120000"/>
              </a:lnSpc>
              <a:spcAft>
                <a:spcPts val="1000"/>
              </a:spcAft>
              <a:buNone/>
            </a:pPr>
            <a:r>
              <a:rPr lang="en-US" sz="1250" b="1" dirty="0">
                <a:solidFill>
                  <a:srgbClr val="FFFFFF"/>
                </a:solidFill>
                <a:latin typeface="Georgia" pitchFamily="34" charset="0"/>
                <a:ea typeface="Georgia" pitchFamily="34" charset="-122"/>
                <a:cs typeface="Georgia" pitchFamily="34" charset="-120"/>
              </a:rPr>
              <a:t>What failed:</a:t>
            </a:r>
            <a:endParaRPr lang="en-US" sz="1250" dirty="0"/>
          </a:p>
          <a:p>
            <a:pPr marL="0" indent="0">
              <a:lnSpc>
                <a:spcPct val="120000"/>
              </a:lnSpc>
              <a:spcAft>
                <a:spcPts val="1000"/>
              </a:spcAft>
              <a:buNone/>
            </a:pPr>
            <a:r>
              <a:rPr lang="en-US" sz="1250" dirty="0">
                <a:solidFill>
                  <a:srgbClr val="E4DFD5"/>
                </a:solidFill>
                <a:latin typeface="Georgia" pitchFamily="34" charset="0"/>
                <a:ea typeface="Georgia" pitchFamily="34" charset="-122"/>
                <a:cs typeface="Georgia" pitchFamily="34" charset="-120"/>
              </a:rPr>
              <a:t>a config flag repurposed years earlier still triggered dead code on one un-updated server.</a:t>
            </a:r>
            <a:endParaRPr lang="en-US" sz="1250" dirty="0"/>
          </a:p>
          <a:p>
            <a:pPr marL="0" indent="0">
              <a:lnSpc>
                <a:spcPct val="120000"/>
              </a:lnSpc>
              <a:spcAft>
                <a:spcPts val="1000"/>
              </a:spcAft>
              <a:buNone/>
            </a:pPr>
            <a:r>
              <a:rPr lang="en-US" sz="1250" b="1" dirty="0">
                <a:solidFill>
                  <a:srgbClr val="FFFFFF"/>
                </a:solidFill>
                <a:latin typeface="Georgia" pitchFamily="34" charset="0"/>
                <a:ea typeface="Georgia" pitchFamily="34" charset="-122"/>
                <a:cs typeface="Georgia" pitchFamily="34" charset="-120"/>
              </a:rPr>
              <a:t>The result:</a:t>
            </a:r>
            <a:endParaRPr lang="en-US" sz="1250" dirty="0"/>
          </a:p>
          <a:p>
            <a:pPr marL="0" indent="0">
              <a:lnSpc>
                <a:spcPct val="120000"/>
              </a:lnSpc>
              <a:spcAft>
                <a:spcPts val="1000"/>
              </a:spcAft>
              <a:buNone/>
            </a:pPr>
            <a:r>
              <a:rPr lang="en-US" sz="1250" dirty="0">
                <a:solidFill>
                  <a:srgbClr val="E4DFD5"/>
                </a:solidFill>
                <a:latin typeface="Georgia" pitchFamily="34" charset="0"/>
                <a:ea typeface="Georgia" pitchFamily="34" charset="-122"/>
                <a:cs typeface="Georgia" pitchFamily="34" charset="-120"/>
              </a:rPr>
              <a:t>212 orders became 4M+ executions across 154 stocks; ~$6.5B of unintended exposure.</a:t>
            </a:r>
            <a:endParaRPr lang="en-US" sz="1250" dirty="0"/>
          </a:p>
          <a:p>
            <a:pPr marL="0" indent="0">
              <a:lnSpc>
                <a:spcPct val="120000"/>
              </a:lnSpc>
              <a:spcAft>
                <a:spcPts val="1000"/>
              </a:spcAft>
              <a:buNone/>
            </a:pPr>
            <a:r>
              <a:rPr lang="en-US" sz="1250" b="1" dirty="0">
                <a:solidFill>
                  <a:srgbClr val="FFFFFF"/>
                </a:solidFill>
                <a:latin typeface="Georgia" pitchFamily="34" charset="0"/>
                <a:ea typeface="Georgia" pitchFamily="34" charset="-122"/>
                <a:cs typeface="Georgia" pitchFamily="34" charset="-120"/>
              </a:rPr>
              <a:t>The lesson:</a:t>
            </a:r>
            <a:endParaRPr lang="en-US" sz="1250" dirty="0"/>
          </a:p>
          <a:p>
            <a:pPr marL="0" indent="0">
              <a:lnSpc>
                <a:spcPct val="120000"/>
              </a:lnSpc>
              <a:spcAft>
                <a:spcPts val="1000"/>
              </a:spcAft>
              <a:buNone/>
            </a:pPr>
            <a:r>
              <a:rPr lang="en-US" sz="1250" dirty="0">
                <a:solidFill>
                  <a:srgbClr val="E4DFD5"/>
                </a:solidFill>
                <a:latin typeface="Georgia" pitchFamily="34" charset="0"/>
                <a:ea typeface="Georgia" pitchFamily="34" charset="-122"/>
                <a:cs typeface="Georgia" pitchFamily="34" charset="-120"/>
              </a:rPr>
              <a:t>behaviour in code + change through the code path + a hidden boundary — the exact combination the principle forbids. No model required.</a:t>
            </a:r>
            <a:endParaRPr lang="en-US" sz="1250" dirty="0"/>
          </a:p>
        </p:txBody>
      </p:sp>
      <p:sp>
        <p:nvSpPr>
          <p:cNvPr id="8" name="Text 6"/>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9" name="Text 7"/>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FOUR-HUNDRED-AS-CEILING</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interlude: one crossing, worked both ways</a:t>
            </a:r>
            <a:endParaRPr lang="en-US" sz="2550" dirty="0"/>
          </a:p>
        </p:txBody>
      </p:sp>
      <p:sp>
        <p:nvSpPr>
          <p:cNvPr id="4" name="Shape 2"/>
          <p:cNvSpPr/>
          <p:nvPr/>
        </p:nvSpPr>
        <p:spPr>
          <a:xfrm>
            <a:off x="566928" y="1737360"/>
            <a:ext cx="5368900" cy="4480560"/>
          </a:xfrm>
          <a:prstGeom prst="roundRect">
            <a:avLst>
              <a:gd name="adj" fmla="val 1633"/>
            </a:avLst>
          </a:prstGeom>
          <a:solidFill>
            <a:srgbClr val="F4F2EE"/>
          </a:solidFill>
          <a:ln/>
        </p:spPr>
        <p:txBody>
          <a:bodyPr/>
          <a:lstStyle/>
          <a:p>
            <a:endParaRPr lang="LID4096"/>
          </a:p>
        </p:txBody>
      </p:sp>
      <p:sp>
        <p:nvSpPr>
          <p:cNvPr id="5" name="Shape 3"/>
          <p:cNvSpPr/>
          <p:nvPr/>
        </p:nvSpPr>
        <p:spPr>
          <a:xfrm>
            <a:off x="566928" y="1737360"/>
            <a:ext cx="5368900" cy="548640"/>
          </a:xfrm>
          <a:prstGeom prst="roundRect">
            <a:avLst>
              <a:gd name="adj" fmla="val 13333"/>
            </a:avLst>
          </a:prstGeom>
          <a:solidFill>
            <a:srgbClr val="8A8378"/>
          </a:solidFill>
          <a:ln/>
        </p:spPr>
        <p:txBody>
          <a:bodyPr/>
          <a:lstStyle/>
          <a:p>
            <a:endParaRPr lang="LID4096"/>
          </a:p>
        </p:txBody>
      </p:sp>
      <p:sp>
        <p:nvSpPr>
          <p:cNvPr id="6" name="Text 4"/>
          <p:cNvSpPr/>
          <p:nvPr/>
        </p:nvSpPr>
        <p:spPr>
          <a:xfrm>
            <a:off x="79552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Without custody</a:t>
            </a:r>
            <a:endParaRPr lang="en-US" sz="150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‘400’ crosses as a budget, not a ceiling — context lost</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Procurement enforces its own local roles — authority lost</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An order breaches the cap; nothing objects — coherence absent</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Months later: archaeology to find who approved it</a:t>
            </a:r>
            <a:endParaRPr lang="en-US" sz="1250" dirty="0"/>
          </a:p>
        </p:txBody>
      </p:sp>
      <p:sp>
        <p:nvSpPr>
          <p:cNvPr id="8" name="Shape 6"/>
          <p:cNvSpPr/>
          <p:nvPr/>
        </p:nvSpPr>
        <p:spPr>
          <a:xfrm>
            <a:off x="6255868" y="1737360"/>
            <a:ext cx="5368900" cy="4480560"/>
          </a:xfrm>
          <a:prstGeom prst="roundRect">
            <a:avLst>
              <a:gd name="adj" fmla="val 1633"/>
            </a:avLst>
          </a:prstGeom>
          <a:solidFill>
            <a:srgbClr val="EBE7DF"/>
          </a:solidFill>
          <a:ln/>
        </p:spPr>
        <p:txBody>
          <a:bodyPr/>
          <a:lstStyle/>
          <a:p>
            <a:endParaRPr lang="LID4096"/>
          </a:p>
        </p:txBody>
      </p:sp>
      <p:sp>
        <p:nvSpPr>
          <p:cNvPr id="9" name="Shape 7"/>
          <p:cNvSpPr/>
          <p:nvPr/>
        </p:nvSpPr>
        <p:spPr>
          <a:xfrm>
            <a:off x="6255868" y="1737360"/>
            <a:ext cx="5368900" cy="548640"/>
          </a:xfrm>
          <a:prstGeom prst="roundRect">
            <a:avLst>
              <a:gd name="adj" fmla="val 13333"/>
            </a:avLst>
          </a:prstGeom>
          <a:solidFill>
            <a:srgbClr val="33302B"/>
          </a:solidFill>
          <a:ln/>
        </p:spPr>
        <p:txBody>
          <a:bodyPr/>
          <a:lstStyle/>
          <a:p>
            <a:endParaRPr lang="LID4096"/>
          </a:p>
        </p:txBody>
      </p:sp>
      <p:sp>
        <p:nvSpPr>
          <p:cNvPr id="10" name="Text 8"/>
          <p:cNvSpPr/>
          <p:nvPr/>
        </p:nvSpPr>
        <p:spPr>
          <a:xfrm>
            <a:off x="648446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With custody</a:t>
            </a:r>
            <a:endParaRPr lang="en-US" sz="150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‘400-as-ceiling’ crosses bound to its condition</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decision right crosses as data, enforced at the seam</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crossing refuses the breaching order — whoever raised it</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regulator’s question is answered by query, not investigation</a:t>
            </a:r>
            <a:endParaRPr lang="en-US" sz="1250" dirty="0"/>
          </a:p>
        </p:txBody>
      </p:sp>
      <p:sp>
        <p:nvSpPr>
          <p:cNvPr id="12" name="Text 10"/>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10</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From tools to participants; identity as data</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When a person joins an organisation, an elaborate machinery of admission runs before they do an hour of work: identity, contract, rights, access, a manager, a file. Agents get plugged in with none of it. This week: what ‘day one’ requires, and why an agent should be a row of data, not a class of code.</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List what an enterprise gives a human on day one</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‘connectivity is not citizenship’</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Argue for identity-as-data (the agent is a row)</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MAGNIFICENT MACHINERY OF ADMISSION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Day one — how an enterprise admits a human</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Identity + contract   </a:t>
            </a:r>
            <a:r>
              <a:rPr lang="en-US" sz="1300" dirty="0">
                <a:solidFill>
                  <a:srgbClr val="6E6A62"/>
                </a:solidFill>
                <a:latin typeface="Georgia" pitchFamily="34" charset="0"/>
                <a:ea typeface="Georgia" pitchFamily="34" charset="-122"/>
                <a:cs typeface="Georgia" pitchFamily="34" charset="-120"/>
              </a:rPr>
              <a:t>A unique identity, and a statement of what they are engaged to do.</a:t>
            </a:r>
            <a:endParaRPr lang="en-US" sz="1500" dirty="0"/>
          </a:p>
        </p:txBody>
      </p:sp>
      <p:sp>
        <p:nvSpPr>
          <p:cNvPr id="7" name="Shape 5"/>
          <p:cNvSpPr/>
          <p:nvPr/>
        </p:nvSpPr>
        <p:spPr>
          <a:xfrm>
            <a:off x="566928" y="2857500"/>
            <a:ext cx="457200" cy="457200"/>
          </a:xfrm>
          <a:prstGeom prst="ellipse">
            <a:avLst/>
          </a:prstGeom>
          <a:solidFill>
            <a:srgbClr val="1B1A18"/>
          </a:solidFill>
          <a:ln/>
        </p:spPr>
        <p:txBody>
          <a:bodyPr/>
          <a:lstStyle/>
          <a:p>
            <a:endParaRPr lang="LID4096"/>
          </a:p>
        </p:txBody>
      </p:sp>
      <p:sp>
        <p:nvSpPr>
          <p:cNvPr id="8" name="Text 6"/>
          <p:cNvSpPr/>
          <p:nvPr/>
        </p:nvSpPr>
        <p:spPr>
          <a:xfrm>
            <a:off x="566928" y="28575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Rights + access   </a:t>
            </a:r>
            <a:r>
              <a:rPr lang="en-US" sz="1300" dirty="0">
                <a:solidFill>
                  <a:srgbClr val="6E6A62"/>
                </a:solidFill>
                <a:latin typeface="Georgia" pitchFamily="34" charset="0"/>
                <a:ea typeface="Georgia" pitchFamily="34" charset="-122"/>
                <a:cs typeface="Georgia" pitchFamily="34" charset="-120"/>
              </a:rPr>
              <a:t>Explicit decision rights with limits, delegated from somewhere nameable; access scoped to the role.</a:t>
            </a:r>
            <a:endParaRPr lang="en-US" sz="1500" dirty="0"/>
          </a:p>
        </p:txBody>
      </p:sp>
      <p:sp>
        <p:nvSpPr>
          <p:cNvPr id="10" name="Shape 8"/>
          <p:cNvSpPr/>
          <p:nvPr/>
        </p:nvSpPr>
        <p:spPr>
          <a:xfrm>
            <a:off x="566928" y="4023360"/>
            <a:ext cx="457200" cy="457200"/>
          </a:xfrm>
          <a:prstGeom prst="ellipse">
            <a:avLst/>
          </a:prstGeom>
          <a:solidFill>
            <a:srgbClr val="1B1A18"/>
          </a:solidFill>
          <a:ln/>
        </p:spPr>
        <p:txBody>
          <a:bodyPr/>
          <a:lstStyle/>
          <a:p>
            <a:endParaRPr lang="LID4096"/>
          </a:p>
        </p:txBody>
      </p:sp>
      <p:sp>
        <p:nvSpPr>
          <p:cNvPr id="11" name="Text 9"/>
          <p:cNvSpPr/>
          <p:nvPr/>
        </p:nvSpPr>
        <p:spPr>
          <a:xfrm>
            <a:off x="566928" y="402336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A manager + a file   </a:t>
            </a:r>
            <a:r>
              <a:rPr lang="en-US" sz="1300" dirty="0">
                <a:solidFill>
                  <a:srgbClr val="6E6A62"/>
                </a:solidFill>
                <a:latin typeface="Georgia" pitchFamily="34" charset="0"/>
                <a:ea typeface="Georgia" pitchFamily="34" charset="-122"/>
                <a:cs typeface="Georgia" pitchFamily="34" charset="-120"/>
              </a:rPr>
              <a:t>Someone who answers for them while they learn; a record in which their actions accumulate.</a:t>
            </a:r>
            <a:endParaRPr lang="en-US" sz="1500" dirty="0"/>
          </a:p>
        </p:txBody>
      </p:sp>
      <p:sp>
        <p:nvSpPr>
          <p:cNvPr id="13" name="Shape 11"/>
          <p:cNvSpPr/>
          <p:nvPr/>
        </p:nvSpPr>
        <p:spPr>
          <a:xfrm>
            <a:off x="566928" y="5189220"/>
            <a:ext cx="457200" cy="457200"/>
          </a:xfrm>
          <a:prstGeom prst="ellipse">
            <a:avLst/>
          </a:prstGeom>
          <a:solidFill>
            <a:srgbClr val="1B1A18"/>
          </a:solidFill>
          <a:ln/>
        </p:spPr>
        <p:txBody>
          <a:bodyPr/>
          <a:lstStyle/>
          <a:p>
            <a:endParaRPr lang="LID4096"/>
          </a:p>
        </p:txBody>
      </p:sp>
      <p:sp>
        <p:nvSpPr>
          <p:cNvPr id="14" name="Text 12"/>
          <p:cNvSpPr/>
          <p:nvPr/>
        </p:nvSpPr>
        <p:spPr>
          <a:xfrm>
            <a:off x="566928" y="51892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2870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Only then does work begin   </a:t>
            </a:r>
            <a:r>
              <a:rPr lang="en-US" sz="1300" dirty="0">
                <a:solidFill>
                  <a:srgbClr val="6E6A62"/>
                </a:solidFill>
                <a:latin typeface="Georgia" pitchFamily="34" charset="0"/>
                <a:ea typeface="Georgia" pitchFamily="34" charset="-122"/>
                <a:cs typeface="Georgia" pitchFamily="34" charset="-120"/>
              </a:rPr>
              <a:t>…and even then, under probation. Agents today are given almost none of this.</a:t>
            </a:r>
            <a:endParaRPr lang="en-US" sz="1500" dirty="0"/>
          </a:p>
        </p:txBody>
      </p:sp>
      <p:sp>
        <p:nvSpPr>
          <p:cNvPr id="16" name="Text 1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DECISION THAT IS THE WHOLE ARCHITECTURE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Two answers to ‘what is an agent?’</a:t>
            </a:r>
            <a:endParaRPr lang="en-US" sz="2550" dirty="0"/>
          </a:p>
        </p:txBody>
      </p:sp>
      <p:sp>
        <p:nvSpPr>
          <p:cNvPr id="4" name="Shape 2"/>
          <p:cNvSpPr/>
          <p:nvPr/>
        </p:nvSpPr>
        <p:spPr>
          <a:xfrm>
            <a:off x="566928" y="1737360"/>
            <a:ext cx="5368900" cy="4480560"/>
          </a:xfrm>
          <a:prstGeom prst="roundRect">
            <a:avLst>
              <a:gd name="adj" fmla="val 1633"/>
            </a:avLst>
          </a:prstGeom>
          <a:solidFill>
            <a:srgbClr val="F4F2EE"/>
          </a:solidFill>
          <a:ln/>
        </p:spPr>
        <p:txBody>
          <a:bodyPr/>
          <a:lstStyle/>
          <a:p>
            <a:endParaRPr lang="LID4096"/>
          </a:p>
        </p:txBody>
      </p:sp>
      <p:sp>
        <p:nvSpPr>
          <p:cNvPr id="5" name="Shape 3"/>
          <p:cNvSpPr/>
          <p:nvPr/>
        </p:nvSpPr>
        <p:spPr>
          <a:xfrm>
            <a:off x="566928" y="1737360"/>
            <a:ext cx="5368900" cy="548640"/>
          </a:xfrm>
          <a:prstGeom prst="roundRect">
            <a:avLst>
              <a:gd name="adj" fmla="val 13333"/>
            </a:avLst>
          </a:prstGeom>
          <a:solidFill>
            <a:srgbClr val="8A8378"/>
          </a:solidFill>
          <a:ln/>
        </p:spPr>
        <p:txBody>
          <a:bodyPr/>
          <a:lstStyle/>
          <a:p>
            <a:endParaRPr lang="LID4096"/>
          </a:p>
        </p:txBody>
      </p:sp>
      <p:sp>
        <p:nvSpPr>
          <p:cNvPr id="6" name="Text 4"/>
          <p:cNvSpPr/>
          <p:nvPr/>
        </p:nvSpPr>
        <p:spPr>
          <a:xfrm>
            <a:off x="79552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An agent is code (a class)</a:t>
            </a:r>
            <a:endParaRPr lang="en-US" sz="150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Finance agent = one module, procurement = another</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New domain → new class; new customer → a branch</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Behaviour lives in the invariants (the slow side)</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Org chart rendered as a codebase — a git history</a:t>
            </a:r>
            <a:endParaRPr lang="en-US" sz="1250" dirty="0"/>
          </a:p>
        </p:txBody>
      </p:sp>
      <p:sp>
        <p:nvSpPr>
          <p:cNvPr id="8" name="Shape 6"/>
          <p:cNvSpPr/>
          <p:nvPr/>
        </p:nvSpPr>
        <p:spPr>
          <a:xfrm>
            <a:off x="6255868" y="1737360"/>
            <a:ext cx="5368900" cy="4480560"/>
          </a:xfrm>
          <a:prstGeom prst="roundRect">
            <a:avLst>
              <a:gd name="adj" fmla="val 1633"/>
            </a:avLst>
          </a:prstGeom>
          <a:solidFill>
            <a:srgbClr val="EBE7DF"/>
          </a:solidFill>
          <a:ln/>
        </p:spPr>
        <p:txBody>
          <a:bodyPr/>
          <a:lstStyle/>
          <a:p>
            <a:endParaRPr lang="LID4096"/>
          </a:p>
        </p:txBody>
      </p:sp>
      <p:sp>
        <p:nvSpPr>
          <p:cNvPr id="9" name="Shape 7"/>
          <p:cNvSpPr/>
          <p:nvPr/>
        </p:nvSpPr>
        <p:spPr>
          <a:xfrm>
            <a:off x="6255868" y="1737360"/>
            <a:ext cx="5368900" cy="548640"/>
          </a:xfrm>
          <a:prstGeom prst="roundRect">
            <a:avLst>
              <a:gd name="adj" fmla="val 13333"/>
            </a:avLst>
          </a:prstGeom>
          <a:solidFill>
            <a:srgbClr val="33302B"/>
          </a:solidFill>
          <a:ln/>
        </p:spPr>
        <p:txBody>
          <a:bodyPr/>
          <a:lstStyle/>
          <a:p>
            <a:endParaRPr lang="LID4096"/>
          </a:p>
        </p:txBody>
      </p:sp>
      <p:sp>
        <p:nvSpPr>
          <p:cNvPr id="10" name="Text 8"/>
          <p:cNvSpPr/>
          <p:nvPr/>
        </p:nvSpPr>
        <p:spPr>
          <a:xfrm>
            <a:off x="6484468" y="1737360"/>
            <a:ext cx="4911700" cy="54864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An agent is data (a row)</a:t>
            </a:r>
            <a:endParaRPr lang="en-US" sz="150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Identity + capability grants + knowledge scope + model</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One fixed, generic engine interprets the row</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Behaviour lives in the variants (the fast side)</a:t>
            </a:r>
            <a:endParaRPr lang="en-US" sz="1250" dirty="0"/>
          </a:p>
          <a:p>
            <a:pPr marL="177800" indent="-177800">
              <a:lnSpc>
                <a:spcPct val="1150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Org chart rendered as records — queryable &amp; auditable</a:t>
            </a:r>
            <a:endParaRPr lang="en-US" sz="1250" dirty="0"/>
          </a:p>
        </p:txBody>
      </p:sp>
      <p:sp>
        <p:nvSpPr>
          <p:cNvPr id="12" name="Text 10"/>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Draft the day-one packet</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Design the ‘day-one packet’ for an AI agent that will approve small refunds. What identity, rights, limits, and record must exist before it acts?</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Why does ‘it has an API key and network access’ fall far short of citizenship?</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11</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Keeping the rule out of the model; trust at the seams</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If a rule must never be broken, where is it physically enforced? This week: positional enforcement (the ‘never’ lives in a boundary, not a prompt), why ‘a system prompt is a request,’ and the missing dimension at every seam — where a piece of input actually came from.</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Locate where a ‘never’ is enforced</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governance in structure, not models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Define origin and ‘scope by construction’</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WHERE THE ‘NEVER’ LIVES</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Instructed behaviour is not guaranteed behaviour. A system prompt is a request.</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Chapter 9</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FLOOR BENEATH EVERY POSTURE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Positional enforcement</a:t>
            </a:r>
            <a:endParaRPr lang="en-US" sz="2550" dirty="0"/>
          </a:p>
        </p:txBody>
      </p:sp>
      <p:sp>
        <p:nvSpPr>
          <p:cNvPr id="4" name="Shape 2"/>
          <p:cNvSpPr/>
          <p:nvPr/>
        </p:nvSpPr>
        <p:spPr>
          <a:xfrm>
            <a:off x="566928" y="1691640"/>
            <a:ext cx="457200" cy="457200"/>
          </a:xfrm>
          <a:prstGeom prst="ellipse">
            <a:avLst/>
          </a:prstGeom>
          <a:solidFill>
            <a:srgbClr val="1B1A18"/>
          </a:solidFill>
          <a:ln/>
        </p:spPr>
        <p:txBody>
          <a:bodyPr/>
          <a:lstStyle/>
          <a:p>
            <a:endParaRPr lang="LID4096"/>
          </a:p>
        </p:txBody>
      </p:sp>
      <p:sp>
        <p:nvSpPr>
          <p:cNvPr id="5" name="Text 3"/>
          <p:cNvSpPr/>
          <p:nvPr/>
        </p:nvSpPr>
        <p:spPr>
          <a:xfrm>
            <a:off x="566928"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Find the non-negotiable.   </a:t>
            </a:r>
            <a:r>
              <a:rPr lang="en-US" sz="1300" dirty="0">
                <a:solidFill>
                  <a:srgbClr val="6E6A62"/>
                </a:solidFill>
                <a:latin typeface="Georgia" pitchFamily="34" charset="0"/>
                <a:ea typeface="Georgia" pitchFamily="34" charset="-122"/>
                <a:cs typeface="Georgia" pitchFamily="34" charset="-120"/>
              </a:rPr>
              <a:t>One rule that must hold always — data residency, a sanctions block, a spending ceiling.</a:t>
            </a:r>
            <a:endParaRPr lang="en-US" sz="1500" dirty="0"/>
          </a:p>
        </p:txBody>
      </p:sp>
      <p:sp>
        <p:nvSpPr>
          <p:cNvPr id="7" name="Shape 5"/>
          <p:cNvSpPr/>
          <p:nvPr/>
        </p:nvSpPr>
        <p:spPr>
          <a:xfrm>
            <a:off x="566928" y="3246120"/>
            <a:ext cx="457200" cy="457200"/>
          </a:xfrm>
          <a:prstGeom prst="ellipse">
            <a:avLst/>
          </a:prstGeom>
          <a:solidFill>
            <a:srgbClr val="1B1A18"/>
          </a:solidFill>
          <a:ln/>
        </p:spPr>
        <p:txBody>
          <a:bodyPr/>
          <a:lstStyle/>
          <a:p>
            <a:endParaRPr lang="LID4096"/>
          </a:p>
        </p:txBody>
      </p:sp>
      <p:sp>
        <p:nvSpPr>
          <p:cNvPr id="8" name="Text 6"/>
          <p:cNvSpPr/>
          <p:nvPr/>
        </p:nvSpPr>
        <p:spPr>
          <a:xfrm>
            <a:off x="566928" y="32461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Find its physical enforcement point.   </a:t>
            </a:r>
            <a:r>
              <a:rPr lang="en-US" sz="1300" dirty="0">
                <a:solidFill>
                  <a:srgbClr val="6E6A62"/>
                </a:solidFill>
                <a:latin typeface="Georgia" pitchFamily="34" charset="0"/>
                <a:ea typeface="Georgia" pitchFamily="34" charset="-122"/>
                <a:cs typeface="Georgia" pitchFamily="34" charset="-120"/>
              </a:rPr>
              <a:t>A structural gate the work passes through — not an instruction the model was given.</a:t>
            </a:r>
            <a:endParaRPr lang="en-US" sz="1500" dirty="0"/>
          </a:p>
        </p:txBody>
      </p:sp>
      <p:sp>
        <p:nvSpPr>
          <p:cNvPr id="10" name="Shape 8"/>
          <p:cNvSpPr/>
          <p:nvPr/>
        </p:nvSpPr>
        <p:spPr>
          <a:xfrm>
            <a:off x="566928" y="4800600"/>
            <a:ext cx="457200" cy="457200"/>
          </a:xfrm>
          <a:prstGeom prst="ellipse">
            <a:avLst/>
          </a:prstGeom>
          <a:solidFill>
            <a:srgbClr val="1B1A18"/>
          </a:solidFill>
          <a:ln/>
        </p:spPr>
        <p:txBody>
          <a:bodyPr/>
          <a:lstStyle/>
          <a:p>
            <a:endParaRPr lang="LID4096"/>
          </a:p>
        </p:txBody>
      </p:sp>
      <p:sp>
        <p:nvSpPr>
          <p:cNvPr id="11" name="Text 9"/>
          <p:cNvSpPr/>
          <p:nvPr/>
        </p:nvSpPr>
        <p:spPr>
          <a:xfrm>
            <a:off x="566928" y="480060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17320"/>
          </a:xfrm>
          <a:prstGeom prst="rect">
            <a:avLst/>
          </a:prstGeom>
          <a:noFill/>
          <a:ln/>
        </p:spPr>
        <p:txBody>
          <a:bodyPr wrap="square" rtlCol="0" anchor="t"/>
          <a:lstStyle/>
          <a:p>
            <a:pPr marL="0" indent="0">
              <a:lnSpc>
                <a:spcPct val="112000"/>
              </a:lnSpc>
              <a:buNone/>
            </a:pPr>
            <a:r>
              <a:rPr lang="en-US" sz="1500" b="1" dirty="0">
                <a:solidFill>
                  <a:srgbClr val="33302B"/>
                </a:solidFill>
                <a:latin typeface="Georgia" pitchFamily="34" charset="0"/>
                <a:ea typeface="Georgia" pitchFamily="34" charset="-122"/>
                <a:cs typeface="Georgia" pitchFamily="34" charset="-120"/>
              </a:rPr>
              <a:t>Disqualify on the word ‘prompt.’   </a:t>
            </a:r>
            <a:r>
              <a:rPr lang="en-US" sz="1300" dirty="0">
                <a:solidFill>
                  <a:srgbClr val="6E6A62"/>
                </a:solidFill>
                <a:latin typeface="Georgia" pitchFamily="34" charset="0"/>
                <a:ea typeface="Georgia" pitchFamily="34" charset="-122"/>
                <a:cs typeface="Georgia" pitchFamily="34" charset="-120"/>
              </a:rPr>
              <a:t>If the only thing standing between the enterprise and the forbidden action is wording, it isn’t governed.</a:t>
            </a:r>
            <a:endParaRPr lang="en-US" sz="1500" dirty="0"/>
          </a:p>
        </p:txBody>
      </p:sp>
      <p:sp>
        <p:nvSpPr>
          <p:cNvPr id="13" name="Text 11"/>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ORIGIN IS THE MISSING DIMENSION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Trust at the seams</a:t>
            </a:r>
            <a:endParaRPr lang="en-US" sz="2550" dirty="0"/>
          </a:p>
        </p:txBody>
      </p:sp>
      <p:sp>
        <p:nvSpPr>
          <p:cNvPr id="4" name="Shape 2"/>
          <p:cNvSpPr/>
          <p:nvPr/>
        </p:nvSpPr>
        <p:spPr>
          <a:xfrm>
            <a:off x="566928" y="1691640"/>
            <a:ext cx="5391760" cy="4572000"/>
          </a:xfrm>
          <a:prstGeom prst="roundRect">
            <a:avLst>
              <a:gd name="adj" fmla="val 1600"/>
            </a:avLst>
          </a:prstGeom>
          <a:solidFill>
            <a:srgbClr val="F4F2EE"/>
          </a:solidFill>
          <a:ln w="12700">
            <a:solidFill>
              <a:srgbClr val="EBE7DF"/>
            </a:solidFill>
            <a:prstDash val="solid"/>
          </a:ln>
        </p:spPr>
        <p:txBody>
          <a:bodyPr/>
          <a:lstStyle/>
          <a:p>
            <a:endParaRPr lang="LID4096"/>
          </a:p>
        </p:txBody>
      </p:sp>
      <p:sp>
        <p:nvSpPr>
          <p:cNvPr id="5" name="Text 3"/>
          <p:cNvSpPr/>
          <p:nvPr/>
        </p:nvSpPr>
        <p:spPr>
          <a:xfrm>
            <a:off x="795528" y="189280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Origin</a:t>
            </a:r>
            <a:endParaRPr lang="en-US" sz="1500" dirty="0"/>
          </a:p>
        </p:txBody>
      </p:sp>
      <p:sp>
        <p:nvSpPr>
          <p:cNvPr id="6" name="Text 4"/>
          <p:cNvSpPr/>
          <p:nvPr/>
        </p:nvSpPr>
        <p:spPr>
          <a:xfrm>
            <a:off x="795528" y="2350008"/>
            <a:ext cx="4934560" cy="379476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What does the structure know about where a fragment of input came from — and what is that class of input permitted to influence?</a:t>
            </a:r>
            <a:endParaRPr lang="en-US" sz="1200" dirty="0"/>
          </a:p>
        </p:txBody>
      </p:sp>
      <p:sp>
        <p:nvSpPr>
          <p:cNvPr id="7" name="Shape 5"/>
          <p:cNvSpPr/>
          <p:nvPr/>
        </p:nvSpPr>
        <p:spPr>
          <a:xfrm>
            <a:off x="6233008" y="1691640"/>
            <a:ext cx="5391760" cy="4572000"/>
          </a:xfrm>
          <a:prstGeom prst="roundRect">
            <a:avLst>
              <a:gd name="adj" fmla="val 1600"/>
            </a:avLst>
          </a:prstGeom>
          <a:solidFill>
            <a:srgbClr val="F4F2EE"/>
          </a:solidFill>
          <a:ln w="12700">
            <a:solidFill>
              <a:srgbClr val="EBE7DF"/>
            </a:solidFill>
            <a:prstDash val="solid"/>
          </a:ln>
        </p:spPr>
        <p:txBody>
          <a:bodyPr/>
          <a:lstStyle/>
          <a:p>
            <a:endParaRPr lang="LID4096"/>
          </a:p>
        </p:txBody>
      </p:sp>
      <p:sp>
        <p:nvSpPr>
          <p:cNvPr id="8" name="Text 6"/>
          <p:cNvSpPr/>
          <p:nvPr/>
        </p:nvSpPr>
        <p:spPr>
          <a:xfrm>
            <a:off x="6461608" y="1892808"/>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Scope by construction</a:t>
            </a:r>
            <a:endParaRPr lang="en-US" sz="1500" dirty="0"/>
          </a:p>
        </p:txBody>
      </p:sp>
      <p:sp>
        <p:nvSpPr>
          <p:cNvPr id="9" name="Text 7"/>
          <p:cNvSpPr/>
          <p:nvPr/>
        </p:nvSpPr>
        <p:spPr>
          <a:xfrm>
            <a:off x="6461608" y="2350008"/>
            <a:ext cx="4934560" cy="379476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Isolation and limits enforced by the shape of the structure, so that crossing a boundary you shouldn’t is not merely discouraged but impossible to express.</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2148840"/>
            <a:ext cx="1371600" cy="310896"/>
          </a:xfrm>
          <a:prstGeom prst="rect">
            <a:avLst/>
          </a:prstGeom>
          <a:noFill/>
          <a:ln/>
        </p:spPr>
        <p:txBody>
          <a:bodyPr wrap="square" rtlCol="0" anchor="ctr"/>
          <a:lstStyle/>
          <a:p>
            <a:pPr marL="0" indent="0" algn="ctr">
              <a:buNone/>
            </a:pPr>
            <a:r>
              <a:rPr lang="en-US" sz="1050" b="1" kern="0" spc="50" dirty="0">
                <a:solidFill>
                  <a:srgbClr val="1B1A18"/>
                </a:solidFill>
                <a:latin typeface="Georgia" pitchFamily="34" charset="0"/>
                <a:ea typeface="Georgia" pitchFamily="34" charset="-122"/>
                <a:cs typeface="Georgia" pitchFamily="34" charset="-120"/>
              </a:rPr>
              <a:t>PART IV / V</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marL="0" indent="0">
              <a:buNone/>
            </a:pPr>
            <a:r>
              <a:rPr lang="en-US" sz="3550" b="1" dirty="0">
                <a:solidFill>
                  <a:srgbClr val="FFFFFF"/>
                </a:solidFill>
                <a:latin typeface="Georgia" pitchFamily="34" charset="0"/>
                <a:ea typeface="Georgia" pitchFamily="34" charset="-122"/>
                <a:cs typeface="Georgia" pitchFamily="34" charset="-120"/>
              </a:rPr>
              <a:t>Memory, and Why It Reaches the Boardroom</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marL="0" indent="0">
              <a:lnSpc>
                <a:spcPct val="125000"/>
              </a:lnSpc>
              <a:buNone/>
            </a:pPr>
            <a:r>
              <a:rPr lang="en-US" sz="1500" dirty="0">
                <a:solidFill>
                  <a:srgbClr val="E4DFD5"/>
                </a:solidFill>
                <a:latin typeface="Georgia" pitchFamily="34" charset="0"/>
                <a:ea typeface="Georgia" pitchFamily="34" charset="-122"/>
                <a:cs typeface="Georgia" pitchFamily="34" charset="-120"/>
              </a:rPr>
              <a:t>How an enterprise’s meaning and knowledge must be kept — and where the consequences land: sovereignty, cost, and the kind of thing that can hold the crossings.</a:t>
            </a:r>
            <a:endParaRPr lang="en-US" sz="15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12</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Meaning and memory</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A survey of Part IV. Context is not data, and no schema has a field for ‘why.’ Different knowledge belongs in different stores. Durable memory needs ‘ceremony’ to write and provenance to trust — and once an enterprise’s memory has machine readers and motivated authors, memory becomes an attack surface.</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why a schema can’t carry meaning</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Say what ‘durability requires ceremony’ means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Describe memory as a target</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CONTEXT &amp; MEMORY IN PRACTICE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Four ideas from Part IV</a:t>
            </a:r>
            <a:endParaRPr lang="en-US" sz="25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960120" cy="310896"/>
          </a:xfrm>
          <a:prstGeom prst="roundRect">
            <a:avLst>
              <a:gd name="adj" fmla="val 50000"/>
            </a:avLst>
          </a:prstGeom>
          <a:solidFill>
            <a:srgbClr val="1B1A18"/>
          </a:solidFill>
          <a:ln/>
        </p:spPr>
        <p:txBody>
          <a:bodyPr/>
          <a:lstStyle/>
          <a:p>
            <a:endParaRPr lang="LID4096"/>
          </a:p>
        </p:txBody>
      </p:sp>
      <p:sp>
        <p:nvSpPr>
          <p:cNvPr id="6" name="Text 4"/>
          <p:cNvSpPr/>
          <p:nvPr/>
        </p:nvSpPr>
        <p:spPr>
          <a:xfrm>
            <a:off x="795528" y="189280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12</a:t>
            </a:r>
            <a:endParaRPr lang="en-US" sz="950" dirty="0"/>
          </a:p>
        </p:txBody>
      </p:sp>
      <p:sp>
        <p:nvSpPr>
          <p:cNvPr id="7" name="Text 5"/>
          <p:cNvSpPr/>
          <p:nvPr/>
        </p:nvSpPr>
        <p:spPr>
          <a:xfrm>
            <a:off x="79552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Context is not data</a:t>
            </a:r>
            <a:endParaRPr lang="en-US" sz="1500" dirty="0"/>
          </a:p>
        </p:txBody>
      </p:sp>
      <p:sp>
        <p:nvSpPr>
          <p:cNvPr id="8" name="Text 6"/>
          <p:cNvSpPr/>
          <p:nvPr/>
        </p:nvSpPr>
        <p:spPr>
          <a:xfrm>
            <a:off x="79552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The entire landscape moves data; almost nothing moves meaning. No interface spec has a field for ‘why.’</a:t>
            </a:r>
            <a:endParaRPr lang="en-US" sz="12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6461608" y="1892808"/>
            <a:ext cx="960120" cy="310896"/>
          </a:xfrm>
          <a:prstGeom prst="roundRect">
            <a:avLst>
              <a:gd name="adj" fmla="val 50000"/>
            </a:avLst>
          </a:prstGeom>
          <a:solidFill>
            <a:srgbClr val="1B1A18"/>
          </a:solidFill>
          <a:ln/>
        </p:spPr>
        <p:txBody>
          <a:bodyPr/>
          <a:lstStyle/>
          <a:p>
            <a:endParaRPr lang="LID4096"/>
          </a:p>
        </p:txBody>
      </p:sp>
      <p:sp>
        <p:nvSpPr>
          <p:cNvPr id="11" name="Text 9"/>
          <p:cNvSpPr/>
          <p:nvPr/>
        </p:nvSpPr>
        <p:spPr>
          <a:xfrm>
            <a:off x="6461608" y="189280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13</a:t>
            </a:r>
            <a:endParaRPr lang="en-US" sz="950" dirty="0"/>
          </a:p>
        </p:txBody>
      </p:sp>
      <p:sp>
        <p:nvSpPr>
          <p:cNvPr id="12" name="Text 10"/>
          <p:cNvSpPr/>
          <p:nvPr/>
        </p:nvSpPr>
        <p:spPr>
          <a:xfrm>
            <a:off x="646160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The right store for the shape</a:t>
            </a:r>
            <a:endParaRPr lang="en-US" sz="1500" dirty="0"/>
          </a:p>
        </p:txBody>
      </p:sp>
      <p:sp>
        <p:nvSpPr>
          <p:cNvPr id="13" name="Text 11"/>
          <p:cNvSpPr/>
          <p:nvPr/>
        </p:nvSpPr>
        <p:spPr>
          <a:xfrm>
            <a:off x="646160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Forcing all knowledge into one shape destroys structure the enterprise later needs — and pays to rebuild.</a:t>
            </a:r>
            <a:endParaRPr lang="en-US" sz="12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5" name="Shape 13"/>
          <p:cNvSpPr/>
          <p:nvPr/>
        </p:nvSpPr>
        <p:spPr>
          <a:xfrm>
            <a:off x="795528" y="4315968"/>
            <a:ext cx="960120" cy="310896"/>
          </a:xfrm>
          <a:prstGeom prst="roundRect">
            <a:avLst>
              <a:gd name="adj" fmla="val 50000"/>
            </a:avLst>
          </a:prstGeom>
          <a:solidFill>
            <a:srgbClr val="1B1A18"/>
          </a:solidFill>
          <a:ln/>
        </p:spPr>
        <p:txBody>
          <a:bodyPr/>
          <a:lstStyle/>
          <a:p>
            <a:endParaRPr lang="LID4096"/>
          </a:p>
        </p:txBody>
      </p:sp>
      <p:sp>
        <p:nvSpPr>
          <p:cNvPr id="16" name="Text 14"/>
          <p:cNvSpPr/>
          <p:nvPr/>
        </p:nvSpPr>
        <p:spPr>
          <a:xfrm>
            <a:off x="795528" y="431596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14</a:t>
            </a:r>
            <a:endParaRPr lang="en-US" sz="950" dirty="0"/>
          </a:p>
        </p:txBody>
      </p:sp>
      <p:sp>
        <p:nvSpPr>
          <p:cNvPr id="17" name="Text 15"/>
          <p:cNvSpPr/>
          <p:nvPr/>
        </p:nvSpPr>
        <p:spPr>
          <a:xfrm>
            <a:off x="79552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Durability requires ceremony</a:t>
            </a:r>
            <a:endParaRPr lang="en-US" sz="1500" dirty="0"/>
          </a:p>
        </p:txBody>
      </p:sp>
      <p:sp>
        <p:nvSpPr>
          <p:cNvPr id="18" name="Text 16"/>
          <p:cNvSpPr/>
          <p:nvPr/>
        </p:nvSpPr>
        <p:spPr>
          <a:xfrm>
            <a:off x="79552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Memory that anything can write is not memory. Durable knowledge needs a gated write and trusted provenance.</a:t>
            </a:r>
            <a:endParaRPr lang="en-US" sz="120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0" name="Shape 18"/>
          <p:cNvSpPr/>
          <p:nvPr/>
        </p:nvSpPr>
        <p:spPr>
          <a:xfrm>
            <a:off x="6461608" y="4315968"/>
            <a:ext cx="960120" cy="310896"/>
          </a:xfrm>
          <a:prstGeom prst="roundRect">
            <a:avLst>
              <a:gd name="adj" fmla="val 50000"/>
            </a:avLst>
          </a:prstGeom>
          <a:solidFill>
            <a:srgbClr val="8A8378"/>
          </a:solidFill>
          <a:ln/>
        </p:spPr>
        <p:txBody>
          <a:bodyPr/>
          <a:lstStyle/>
          <a:p>
            <a:endParaRPr lang="LID4096"/>
          </a:p>
        </p:txBody>
      </p:sp>
      <p:sp>
        <p:nvSpPr>
          <p:cNvPr id="21" name="Text 19"/>
          <p:cNvSpPr/>
          <p:nvPr/>
        </p:nvSpPr>
        <p:spPr>
          <a:xfrm>
            <a:off x="6461608" y="431596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15</a:t>
            </a:r>
            <a:endParaRPr lang="en-US" sz="950" dirty="0"/>
          </a:p>
        </p:txBody>
      </p:sp>
      <p:sp>
        <p:nvSpPr>
          <p:cNvPr id="22" name="Text 20"/>
          <p:cNvSpPr/>
          <p:nvPr/>
        </p:nvSpPr>
        <p:spPr>
          <a:xfrm>
            <a:off x="646160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Memory as a target</a:t>
            </a:r>
            <a:endParaRPr lang="en-US" sz="1500" dirty="0"/>
          </a:p>
        </p:txBody>
      </p:sp>
      <p:sp>
        <p:nvSpPr>
          <p:cNvPr id="23" name="Text 21"/>
          <p:cNvSpPr/>
          <p:nvPr/>
        </p:nvSpPr>
        <p:spPr>
          <a:xfrm>
            <a:off x="646160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Poison the memory once and every future reader inherits it — a time-shifted attack with reach and attribution.</a:t>
            </a:r>
            <a:endParaRPr lang="en-US" sz="1200" dirty="0"/>
          </a:p>
        </p:txBody>
      </p:sp>
      <p:sp>
        <p:nvSpPr>
          <p:cNvPr id="24" name="Text 2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Meaning and memory in the wild</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Find a case where the same fact meant different things in two systems. What ‘why’ failed to travel between them?</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If an attacker could write one false ‘fact’ into a company’s knowledge base, what damage could it do months later?</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13</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Why it matters to leaders</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This week lifts the argument to where boards and regulators live. Sovereignty is the ability to say ‘no’ to any single vendor, model provider, or jurisdiction. Cost and accountability must be measurable per action. And the thing that holds the crossings can’t be a player in the game it referees.</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Define sovereignty as structure</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Explain the ‘meter and the ledger’</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Say why infrastructure must be neutral</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PART V AT A GLANCE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Strategic consequences</a:t>
            </a:r>
            <a:endParaRPr lang="en-US" sz="25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960120" cy="310896"/>
          </a:xfrm>
          <a:prstGeom prst="roundRect">
            <a:avLst>
              <a:gd name="adj" fmla="val 50000"/>
            </a:avLst>
          </a:prstGeom>
          <a:solidFill>
            <a:srgbClr val="1B1A18"/>
          </a:solidFill>
          <a:ln/>
        </p:spPr>
        <p:txBody>
          <a:bodyPr/>
          <a:lstStyle/>
          <a:p>
            <a:endParaRPr lang="LID4096"/>
          </a:p>
        </p:txBody>
      </p:sp>
      <p:sp>
        <p:nvSpPr>
          <p:cNvPr id="6" name="Text 4"/>
          <p:cNvSpPr/>
          <p:nvPr/>
        </p:nvSpPr>
        <p:spPr>
          <a:xfrm>
            <a:off x="795528" y="189280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17</a:t>
            </a:r>
            <a:endParaRPr lang="en-US" sz="950" dirty="0"/>
          </a:p>
        </p:txBody>
      </p:sp>
      <p:sp>
        <p:nvSpPr>
          <p:cNvPr id="7" name="Text 5"/>
          <p:cNvSpPr/>
          <p:nvPr/>
        </p:nvSpPr>
        <p:spPr>
          <a:xfrm>
            <a:off x="79552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Sovereignty as structure</a:t>
            </a:r>
            <a:endParaRPr lang="en-US" sz="1500" dirty="0"/>
          </a:p>
        </p:txBody>
      </p:sp>
      <p:sp>
        <p:nvSpPr>
          <p:cNvPr id="8" name="Text 6"/>
          <p:cNvSpPr/>
          <p:nvPr/>
        </p:nvSpPr>
        <p:spPr>
          <a:xfrm>
            <a:off x="79552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Read politically: the ability to say no to any single party. Read architecturally: the partition. The dependency census reveals the leash.</a:t>
            </a:r>
            <a:endParaRPr lang="en-US" sz="12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6461608" y="1892808"/>
            <a:ext cx="960120" cy="310896"/>
          </a:xfrm>
          <a:prstGeom prst="roundRect">
            <a:avLst>
              <a:gd name="adj" fmla="val 50000"/>
            </a:avLst>
          </a:prstGeom>
          <a:solidFill>
            <a:srgbClr val="1B1A18"/>
          </a:solidFill>
          <a:ln/>
        </p:spPr>
        <p:txBody>
          <a:bodyPr/>
          <a:lstStyle/>
          <a:p>
            <a:endParaRPr lang="LID4096"/>
          </a:p>
        </p:txBody>
      </p:sp>
      <p:sp>
        <p:nvSpPr>
          <p:cNvPr id="11" name="Text 9"/>
          <p:cNvSpPr/>
          <p:nvPr/>
        </p:nvSpPr>
        <p:spPr>
          <a:xfrm>
            <a:off x="6461608" y="189280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19</a:t>
            </a:r>
            <a:endParaRPr lang="en-US" sz="950" dirty="0"/>
          </a:p>
        </p:txBody>
      </p:sp>
      <p:sp>
        <p:nvSpPr>
          <p:cNvPr id="12" name="Text 10"/>
          <p:cNvSpPr/>
          <p:nvPr/>
        </p:nvSpPr>
        <p:spPr>
          <a:xfrm>
            <a:off x="6461608" y="229514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The meter and the ledger</a:t>
            </a:r>
            <a:endParaRPr lang="en-US" sz="1500" dirty="0"/>
          </a:p>
        </p:txBody>
      </p:sp>
      <p:sp>
        <p:nvSpPr>
          <p:cNvPr id="13" name="Text 11"/>
          <p:cNvSpPr/>
          <p:nvPr/>
        </p:nvSpPr>
        <p:spPr>
          <a:xfrm>
            <a:off x="6461608" y="271576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Cost and consumption per action, from execution-time records — so one agent, one month, has a defensible invoice.</a:t>
            </a:r>
            <a:endParaRPr lang="en-US" sz="12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5" name="Shape 13"/>
          <p:cNvSpPr/>
          <p:nvPr/>
        </p:nvSpPr>
        <p:spPr>
          <a:xfrm>
            <a:off x="795528" y="4315968"/>
            <a:ext cx="960120" cy="310896"/>
          </a:xfrm>
          <a:prstGeom prst="roundRect">
            <a:avLst>
              <a:gd name="adj" fmla="val 50000"/>
            </a:avLst>
          </a:prstGeom>
          <a:solidFill>
            <a:srgbClr val="1B1A18"/>
          </a:solidFill>
          <a:ln/>
        </p:spPr>
        <p:txBody>
          <a:bodyPr/>
          <a:lstStyle/>
          <a:p>
            <a:endParaRPr lang="LID4096"/>
          </a:p>
        </p:txBody>
      </p:sp>
      <p:sp>
        <p:nvSpPr>
          <p:cNvPr id="16" name="Text 14"/>
          <p:cNvSpPr/>
          <p:nvPr/>
        </p:nvSpPr>
        <p:spPr>
          <a:xfrm>
            <a:off x="795528" y="4315968"/>
            <a:ext cx="960120"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Ch 20</a:t>
            </a:r>
            <a:endParaRPr lang="en-US" sz="950" dirty="0"/>
          </a:p>
        </p:txBody>
      </p:sp>
      <p:sp>
        <p:nvSpPr>
          <p:cNvPr id="17" name="Text 15"/>
          <p:cNvSpPr/>
          <p:nvPr/>
        </p:nvSpPr>
        <p:spPr>
          <a:xfrm>
            <a:off x="79552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Infrastructure that outlives</a:t>
            </a:r>
            <a:endParaRPr lang="en-US" sz="1500" dirty="0"/>
          </a:p>
        </p:txBody>
      </p:sp>
      <p:sp>
        <p:nvSpPr>
          <p:cNvPr id="18" name="Text 16"/>
          <p:cNvSpPr/>
          <p:nvPr/>
        </p:nvSpPr>
        <p:spPr>
          <a:xfrm>
            <a:off x="79552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A party cannot be its own referee. What holds the invariants must be neutral and built from replaceable parts.</a:t>
            </a:r>
            <a:endParaRPr lang="en-US" sz="120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0" name="Shape 18"/>
          <p:cNvSpPr/>
          <p:nvPr/>
        </p:nvSpPr>
        <p:spPr>
          <a:xfrm>
            <a:off x="6461608" y="4315968"/>
            <a:ext cx="859536" cy="310896"/>
          </a:xfrm>
          <a:prstGeom prst="roundRect">
            <a:avLst>
              <a:gd name="adj" fmla="val 50000"/>
            </a:avLst>
          </a:prstGeom>
          <a:solidFill>
            <a:srgbClr val="8A8378"/>
          </a:solidFill>
          <a:ln/>
        </p:spPr>
        <p:txBody>
          <a:bodyPr/>
          <a:lstStyle/>
          <a:p>
            <a:endParaRPr lang="LID4096"/>
          </a:p>
        </p:txBody>
      </p:sp>
      <p:sp>
        <p:nvSpPr>
          <p:cNvPr id="21" name="Text 19"/>
          <p:cNvSpPr/>
          <p:nvPr/>
        </p:nvSpPr>
        <p:spPr>
          <a:xfrm>
            <a:off x="6461608" y="4315968"/>
            <a:ext cx="859536"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Meta</a:t>
            </a:r>
            <a:endParaRPr lang="en-US" sz="950" dirty="0"/>
          </a:p>
        </p:txBody>
      </p:sp>
      <p:sp>
        <p:nvSpPr>
          <p:cNvPr id="22" name="Text 20"/>
          <p:cNvSpPr/>
          <p:nvPr/>
        </p:nvSpPr>
        <p:spPr>
          <a:xfrm>
            <a:off x="6461608" y="4718304"/>
            <a:ext cx="4934560"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One rule underneath</a:t>
            </a:r>
            <a:endParaRPr lang="en-US" sz="1500" dirty="0"/>
          </a:p>
        </p:txBody>
      </p:sp>
      <p:sp>
        <p:nvSpPr>
          <p:cNvPr id="23" name="Text 21"/>
          <p:cNvSpPr/>
          <p:nvPr/>
        </p:nvSpPr>
        <p:spPr>
          <a:xfrm>
            <a:off x="6461608" y="5138928"/>
            <a:ext cx="4934560"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Every component must be replaceable, and no property ever may be — sovereignty, the partition, and the evaluator’s last question, all at once.</a:t>
            </a:r>
            <a:endParaRPr lang="en-US" sz="1200" dirty="0"/>
          </a:p>
        </p:txBody>
      </p:sp>
      <p:sp>
        <p:nvSpPr>
          <p:cNvPr id="24" name="Text 2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The board’s questions</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Name one vendor an organisation you know could NOT say ‘no’ to tomorrow. What property is at risk because of that?</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Why is ‘we can’t tell you what this agent cost us last month’ a governance problem, not just an accounting one?</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2148840"/>
            <a:ext cx="1371600" cy="310896"/>
          </a:xfrm>
          <a:prstGeom prst="rect">
            <a:avLst/>
          </a:prstGeom>
          <a:noFill/>
          <a:ln/>
        </p:spPr>
        <p:txBody>
          <a:bodyPr wrap="square" rtlCol="0" anchor="ctr"/>
          <a:lstStyle/>
          <a:p>
            <a:pPr marL="0" indent="0" algn="ctr">
              <a:buNone/>
            </a:pPr>
            <a:r>
              <a:rPr lang="en-US" sz="1050" b="1" kern="0" spc="50" dirty="0">
                <a:solidFill>
                  <a:srgbClr val="1B1A18"/>
                </a:solidFill>
                <a:latin typeface="Georgia" pitchFamily="34" charset="0"/>
                <a:ea typeface="Georgia" pitchFamily="34" charset="-122"/>
                <a:cs typeface="Georgia" pitchFamily="34" charset="-120"/>
              </a:rPr>
              <a:t>PART VI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marL="0" indent="0">
              <a:buNone/>
            </a:pPr>
            <a:r>
              <a:rPr lang="en-US" sz="3550" b="1" dirty="0">
                <a:solidFill>
                  <a:srgbClr val="FFFFFF"/>
                </a:solidFill>
                <a:latin typeface="Georgia" pitchFamily="34" charset="0"/>
                <a:ea typeface="Georgia" pitchFamily="34" charset="-122"/>
                <a:cs typeface="Georgia" pitchFamily="34" charset="-120"/>
              </a:rPr>
              <a:t>Practice</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marL="0" indent="0">
              <a:lnSpc>
                <a:spcPct val="125000"/>
              </a:lnSpc>
              <a:buNone/>
            </a:pPr>
            <a:r>
              <a:rPr lang="en-US" sz="1500" dirty="0">
                <a:solidFill>
                  <a:srgbClr val="E4DFD5"/>
                </a:solidFill>
                <a:latin typeface="Georgia" pitchFamily="34" charset="0"/>
                <a:ea typeface="Georgia" pitchFamily="34" charset="-122"/>
                <a:cs typeface="Georgia" pitchFamily="34" charset="-120"/>
              </a:rPr>
              <a:t>What you carry away: how to judge anything that will claim this vocabulary, and the rules that follow from the law.</a:t>
            </a:r>
            <a:endParaRPr lang="en-US" sz="15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txBody>
          <a:bodyPr/>
          <a:lstStyle/>
          <a:p>
            <a:endParaRPr lang="LID4096"/>
          </a:p>
        </p:txBody>
      </p:sp>
      <p:sp>
        <p:nvSpPr>
          <p:cNvPr id="3" name="Shape 1"/>
          <p:cNvSpPr/>
          <p:nvPr/>
        </p:nvSpPr>
        <p:spPr>
          <a:xfrm>
            <a:off x="566928" y="457200"/>
            <a:ext cx="868680" cy="868680"/>
          </a:xfrm>
          <a:prstGeom prst="ellipse">
            <a:avLst/>
          </a:prstGeom>
          <a:solidFill>
            <a:srgbClr val="8A8378"/>
          </a:solidFill>
          <a:ln/>
        </p:spPr>
        <p:txBody>
          <a:bodyPr/>
          <a:lstStyle/>
          <a:p>
            <a:endParaRPr lang="LID4096"/>
          </a:p>
        </p:txBody>
      </p:sp>
      <p:sp>
        <p:nvSpPr>
          <p:cNvPr id="4" name="Text 2"/>
          <p:cNvSpPr/>
          <p:nvPr/>
        </p:nvSpPr>
        <p:spPr>
          <a:xfrm>
            <a:off x="566928" y="457200"/>
            <a:ext cx="868680" cy="868680"/>
          </a:xfrm>
          <a:prstGeom prst="rect">
            <a:avLst/>
          </a:prstGeom>
          <a:noFill/>
          <a:ln/>
        </p:spPr>
        <p:txBody>
          <a:bodyPr wrap="square" rtlCol="0" anchor="ctr"/>
          <a:lstStyle/>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marL="0" indent="0" algn="ctr">
              <a:lnSpc>
                <a:spcPct val="90000"/>
              </a:lnSpc>
              <a:buNone/>
            </a:pPr>
            <a:r>
              <a:rPr lang="en-US" sz="1400" b="1" dirty="0">
                <a:solidFill>
                  <a:srgbClr val="1B1A18"/>
                </a:solidFill>
                <a:latin typeface="Georgia" pitchFamily="34" charset="0"/>
                <a:ea typeface="Georgia" pitchFamily="34" charset="-122"/>
                <a:cs typeface="Georgia" pitchFamily="34" charset="-120"/>
              </a:rPr>
              <a:t>14</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marL="0" indent="0">
              <a:buNone/>
            </a:pPr>
            <a:r>
              <a:rPr lang="en-US" sz="2550" b="1" dirty="0">
                <a:solidFill>
                  <a:srgbClr val="FFFFFF"/>
                </a:solidFill>
                <a:latin typeface="Georgia" pitchFamily="34" charset="0"/>
                <a:ea typeface="Georgia" pitchFamily="34" charset="-122"/>
                <a:cs typeface="Georgia" pitchFamily="34" charset="-120"/>
              </a:rPr>
              <a:t>Judging the real thing</a:t>
            </a:r>
            <a:endParaRPr lang="en-US" sz="2550" dirty="0"/>
          </a:p>
        </p:txBody>
      </p:sp>
      <p:sp>
        <p:nvSpPr>
          <p:cNvPr id="6" name="Text 4"/>
          <p:cNvSpPr/>
          <p:nvPr/>
        </p:nvSpPr>
        <p:spPr>
          <a:xfrm>
            <a:off x="566928" y="2103120"/>
            <a:ext cx="4572000"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marL="0" indent="0">
              <a:lnSpc>
                <a:spcPct val="130000"/>
              </a:lnSpc>
              <a:buNone/>
            </a:pPr>
            <a:r>
              <a:rPr lang="en-US" sz="1500" dirty="0">
                <a:solidFill>
                  <a:srgbClr val="33302B"/>
                </a:solidFill>
                <a:latin typeface="Georgia" pitchFamily="34" charset="0"/>
                <a:ea typeface="Georgia" pitchFamily="34" charset="-122"/>
                <a:cs typeface="Georgia" pitchFamily="34" charset="-120"/>
              </a:rPr>
              <a:t>The final week hands you the instrument that makes you nobody’s dupe: a source-code-free evaluation protocol, and the six custody rules the law generates. We then review for the final exam. The whole protocol factors from one demand — show the crossing, and show what survives it.</a:t>
            </a:r>
            <a:endParaRPr lang="en-US" sz="15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txBody>
          <a:bodyPr/>
          <a:lstStyle/>
          <a:p>
            <a:endParaRPr lang="LID4096"/>
          </a:p>
        </p:txBody>
      </p:sp>
      <p:sp>
        <p:nvSpPr>
          <p:cNvPr id="9" name="Text 7"/>
          <p:cNvSpPr/>
          <p:nvPr/>
        </p:nvSpPr>
        <p:spPr>
          <a:xfrm>
            <a:off x="7680960" y="2286000"/>
            <a:ext cx="4023360" cy="365760"/>
          </a:xfrm>
          <a:prstGeom prst="rect">
            <a:avLst/>
          </a:prstGeom>
          <a:noFill/>
          <a:ln/>
        </p:spPr>
        <p:txBody>
          <a:bodyPr wrap="square" rtlCol="0" anchor="ctr"/>
          <a:lstStyle/>
          <a:p>
            <a:pPr marL="0" indent="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Apply ‘show the crossing’ to a claim</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Recall the six custody rules</a:t>
            </a:r>
            <a:endParaRPr lang="en-US" sz="1200" dirty="0"/>
          </a:p>
          <a:p>
            <a:pPr marL="177800" indent="-177800">
              <a:lnSpc>
                <a:spcPct val="110000"/>
              </a:lnSpc>
              <a:spcAft>
                <a:spcPts val="800"/>
              </a:spcAft>
              <a:buSzPct val="100000"/>
              <a:buChar char="•"/>
            </a:pPr>
            <a:r>
              <a:rPr lang="en-US" sz="1200" dirty="0">
                <a:solidFill>
                  <a:srgbClr val="33302B"/>
                </a:solidFill>
                <a:latin typeface="Georgia" pitchFamily="34" charset="0"/>
                <a:ea typeface="Georgia" pitchFamily="34" charset="-122"/>
                <a:cs typeface="Georgia" pitchFamily="34" charset="-120"/>
              </a:rPr>
              <a:t>State the rule above the rules</a:t>
            </a:r>
            <a:endParaRPr lang="en-US" sz="120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marL="0" indent="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THE EVALUATION PROTOCOL</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marL="0" indent="0">
              <a:lnSpc>
                <a:spcPct val="115000"/>
              </a:lnSpc>
              <a:buNone/>
            </a:pPr>
            <a:r>
              <a:rPr lang="en-US" sz="2550" b="1" i="1" dirty="0">
                <a:solidFill>
                  <a:srgbClr val="1B1A18"/>
                </a:solidFill>
                <a:latin typeface="Georgia" pitchFamily="34" charset="0"/>
                <a:ea typeface="Georgia" pitchFamily="34" charset="-122"/>
                <a:cs typeface="Georgia" pitchFamily="34" charset="-120"/>
              </a:rPr>
              <a:t>Show the crossing, and show what survives it.</a:t>
            </a:r>
            <a:endParaRPr lang="en-US" sz="2550" dirty="0"/>
          </a:p>
        </p:txBody>
      </p:sp>
      <p:sp>
        <p:nvSpPr>
          <p:cNvPr id="5" name="Text 3"/>
          <p:cNvSpPr/>
          <p:nvPr/>
        </p:nvSpPr>
        <p:spPr>
          <a:xfrm>
            <a:off x="1572768" y="4937760"/>
            <a:ext cx="9594799" cy="457200"/>
          </a:xfrm>
          <a:prstGeom prst="rect">
            <a:avLst/>
          </a:prstGeom>
          <a:noFill/>
          <a:ln/>
        </p:spPr>
        <p:txBody>
          <a:bodyPr wrap="square" rtlCol="0" anchor="ctr"/>
          <a:lstStyle/>
          <a:p>
            <a:pPr marL="0" indent="0">
              <a:buNone/>
            </a:pPr>
            <a:r>
              <a:rPr lang="en-US" sz="1300" dirty="0">
                <a:solidFill>
                  <a:srgbClr val="6E6A62"/>
                </a:solidFill>
                <a:latin typeface="Georgia" pitchFamily="34" charset="0"/>
                <a:ea typeface="Georgia" pitchFamily="34" charset="-122"/>
                <a:cs typeface="Georgia" pitchFamily="34" charset="-120"/>
              </a:rPr>
              <a:t>— The whole book in one demand (Chapter 22)</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marL="0" indent="0">
              <a:buNone/>
            </a:pPr>
            <a:r>
              <a:rPr lang="en-US" sz="1050" b="1" kern="0" spc="100" dirty="0">
                <a:solidFill>
                  <a:srgbClr val="8A8378"/>
                </a:solidFill>
                <a:latin typeface="Georgia" pitchFamily="34" charset="0"/>
                <a:ea typeface="Georgia" pitchFamily="34" charset="-122"/>
                <a:cs typeface="Georgia" pitchFamily="34" charset="-120"/>
              </a:rPr>
              <a:t>ONE PER PROPERTY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2550" b="1" dirty="0">
                <a:solidFill>
                  <a:srgbClr val="1B1A18"/>
                </a:solidFill>
                <a:latin typeface="Georgia" pitchFamily="34" charset="0"/>
                <a:ea typeface="Georgia" pitchFamily="34" charset="-122"/>
                <a:cs typeface="Georgia" pitchFamily="34" charset="-120"/>
              </a:rPr>
              <a:t>The six custody rules</a:t>
            </a:r>
            <a:endParaRPr lang="en-US" sz="25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5" name="Shape 3"/>
          <p:cNvSpPr/>
          <p:nvPr/>
        </p:nvSpPr>
        <p:spPr>
          <a:xfrm>
            <a:off x="795528" y="1892808"/>
            <a:ext cx="1161288" cy="310896"/>
          </a:xfrm>
          <a:prstGeom prst="roundRect">
            <a:avLst>
              <a:gd name="adj" fmla="val 50000"/>
            </a:avLst>
          </a:prstGeom>
          <a:solidFill>
            <a:srgbClr val="1B1A18"/>
          </a:solidFill>
          <a:ln/>
        </p:spPr>
        <p:txBody>
          <a:bodyPr/>
          <a:lstStyle/>
          <a:p>
            <a:endParaRPr lang="LID4096"/>
          </a:p>
        </p:txBody>
      </p:sp>
      <p:sp>
        <p:nvSpPr>
          <p:cNvPr id="6" name="Text 4"/>
          <p:cNvSpPr/>
          <p:nvPr/>
        </p:nvSpPr>
        <p:spPr>
          <a:xfrm>
            <a:off x="795528" y="1892808"/>
            <a:ext cx="116128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Context</a:t>
            </a:r>
            <a:endParaRPr lang="en-US" sz="950" dirty="0"/>
          </a:p>
        </p:txBody>
      </p:sp>
      <p:sp>
        <p:nvSpPr>
          <p:cNvPr id="7" name="Text 5"/>
          <p:cNvSpPr/>
          <p:nvPr/>
        </p:nvSpPr>
        <p:spPr>
          <a:xfrm>
            <a:off x="795528" y="229514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Preserve more than you transport</a:t>
            </a:r>
            <a:endParaRPr lang="en-US" sz="1500" dirty="0"/>
          </a:p>
        </p:txBody>
      </p:sp>
      <p:sp>
        <p:nvSpPr>
          <p:cNvPr id="8" name="Text 6"/>
          <p:cNvSpPr/>
          <p:nvPr/>
        </p:nvSpPr>
        <p:spPr>
          <a:xfrm>
            <a:off x="795528" y="271576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Meaning travels with the work, or the destination invents its own.</a:t>
            </a:r>
            <a:endParaRPr lang="en-US" sz="120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0" name="Shape 8"/>
          <p:cNvSpPr/>
          <p:nvPr/>
        </p:nvSpPr>
        <p:spPr>
          <a:xfrm>
            <a:off x="4572914" y="1892808"/>
            <a:ext cx="1362456" cy="310896"/>
          </a:xfrm>
          <a:prstGeom prst="roundRect">
            <a:avLst>
              <a:gd name="adj" fmla="val 50000"/>
            </a:avLst>
          </a:prstGeom>
          <a:solidFill>
            <a:srgbClr val="1B1A18"/>
          </a:solidFill>
          <a:ln/>
        </p:spPr>
        <p:txBody>
          <a:bodyPr/>
          <a:lstStyle/>
          <a:p>
            <a:endParaRPr lang="LID4096"/>
          </a:p>
        </p:txBody>
      </p:sp>
      <p:sp>
        <p:nvSpPr>
          <p:cNvPr id="11" name="Text 9"/>
          <p:cNvSpPr/>
          <p:nvPr/>
        </p:nvSpPr>
        <p:spPr>
          <a:xfrm>
            <a:off x="4572914" y="1892808"/>
            <a:ext cx="1362456"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Authority</a:t>
            </a:r>
            <a:endParaRPr lang="en-US" sz="950" dirty="0"/>
          </a:p>
        </p:txBody>
      </p:sp>
      <p:sp>
        <p:nvSpPr>
          <p:cNvPr id="12" name="Text 10"/>
          <p:cNvSpPr/>
          <p:nvPr/>
        </p:nvSpPr>
        <p:spPr>
          <a:xfrm>
            <a:off x="4572914" y="229514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Rights are data, enforced at the boundary</a:t>
            </a:r>
            <a:endParaRPr lang="en-US" sz="1500" dirty="0"/>
          </a:p>
        </p:txBody>
      </p:sp>
      <p:sp>
        <p:nvSpPr>
          <p:cNvPr id="13" name="Text 11"/>
          <p:cNvSpPr/>
          <p:nvPr/>
        </p:nvSpPr>
        <p:spPr>
          <a:xfrm>
            <a:off x="4572914" y="271576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Authority implied by app permissions is authority you no longer own.</a:t>
            </a:r>
            <a:endParaRPr lang="en-US" sz="120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15" name="Shape 13"/>
          <p:cNvSpPr/>
          <p:nvPr/>
        </p:nvSpPr>
        <p:spPr>
          <a:xfrm>
            <a:off x="8350301" y="1892808"/>
            <a:ext cx="1865376" cy="310896"/>
          </a:xfrm>
          <a:prstGeom prst="roundRect">
            <a:avLst>
              <a:gd name="adj" fmla="val 50000"/>
            </a:avLst>
          </a:prstGeom>
          <a:solidFill>
            <a:srgbClr val="1B1A18"/>
          </a:solidFill>
          <a:ln/>
        </p:spPr>
        <p:txBody>
          <a:bodyPr/>
          <a:lstStyle/>
          <a:p>
            <a:endParaRPr lang="LID4096"/>
          </a:p>
        </p:txBody>
      </p:sp>
      <p:sp>
        <p:nvSpPr>
          <p:cNvPr id="16" name="Text 14"/>
          <p:cNvSpPr/>
          <p:nvPr/>
        </p:nvSpPr>
        <p:spPr>
          <a:xfrm>
            <a:off x="8350301" y="1892808"/>
            <a:ext cx="1865376"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Accountability</a:t>
            </a:r>
            <a:endParaRPr lang="en-US" sz="950" dirty="0"/>
          </a:p>
        </p:txBody>
      </p:sp>
      <p:sp>
        <p:nvSpPr>
          <p:cNvPr id="17" name="Text 15"/>
          <p:cNvSpPr/>
          <p:nvPr/>
        </p:nvSpPr>
        <p:spPr>
          <a:xfrm>
            <a:off x="8350301" y="229514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Provenance is a by-product</a:t>
            </a:r>
            <a:endParaRPr lang="en-US" sz="1500" dirty="0"/>
          </a:p>
        </p:txBody>
      </p:sp>
      <p:sp>
        <p:nvSpPr>
          <p:cNvPr id="18" name="Text 16"/>
          <p:cNvSpPr/>
          <p:nvPr/>
        </p:nvSpPr>
        <p:spPr>
          <a:xfrm>
            <a:off x="8350301" y="271576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If attribution needs investigation, custody has already failed.</a:t>
            </a:r>
            <a:endParaRPr lang="en-US" sz="120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0" name="Shape 18"/>
          <p:cNvSpPr/>
          <p:nvPr/>
        </p:nvSpPr>
        <p:spPr>
          <a:xfrm>
            <a:off x="795528" y="4315968"/>
            <a:ext cx="1664208" cy="310896"/>
          </a:xfrm>
          <a:prstGeom prst="roundRect">
            <a:avLst>
              <a:gd name="adj" fmla="val 50000"/>
            </a:avLst>
          </a:prstGeom>
          <a:solidFill>
            <a:srgbClr val="1B1A18"/>
          </a:solidFill>
          <a:ln/>
        </p:spPr>
        <p:txBody>
          <a:bodyPr/>
          <a:lstStyle/>
          <a:p>
            <a:endParaRPr lang="LID4096"/>
          </a:p>
        </p:txBody>
      </p:sp>
      <p:sp>
        <p:nvSpPr>
          <p:cNvPr id="21" name="Text 19"/>
          <p:cNvSpPr/>
          <p:nvPr/>
        </p:nvSpPr>
        <p:spPr>
          <a:xfrm>
            <a:off x="795528" y="4315968"/>
            <a:ext cx="1664208"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Coordination</a:t>
            </a:r>
            <a:endParaRPr lang="en-US" sz="950" dirty="0"/>
          </a:p>
        </p:txBody>
      </p:sp>
      <p:sp>
        <p:nvSpPr>
          <p:cNvPr id="22" name="Text 20"/>
          <p:cNvSpPr/>
          <p:nvPr/>
        </p:nvSpPr>
        <p:spPr>
          <a:xfrm>
            <a:off x="795528" y="471830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Shared invariants at the seams</a:t>
            </a:r>
            <a:endParaRPr lang="en-US" sz="1500" dirty="0"/>
          </a:p>
        </p:txBody>
      </p:sp>
      <p:sp>
        <p:nvSpPr>
          <p:cNvPr id="23" name="Text 21"/>
          <p:cNvSpPr/>
          <p:nvPr/>
        </p:nvSpPr>
        <p:spPr>
          <a:xfrm>
            <a:off x="795528" y="513892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Whatever merely connects does not coordinate.</a:t>
            </a:r>
            <a:endParaRPr lang="en-US" sz="120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25" name="Shape 23"/>
          <p:cNvSpPr/>
          <p:nvPr/>
        </p:nvSpPr>
        <p:spPr>
          <a:xfrm>
            <a:off x="4572914" y="4315968"/>
            <a:ext cx="1362456" cy="310896"/>
          </a:xfrm>
          <a:prstGeom prst="roundRect">
            <a:avLst>
              <a:gd name="adj" fmla="val 50000"/>
            </a:avLst>
          </a:prstGeom>
          <a:solidFill>
            <a:srgbClr val="1B1A18"/>
          </a:solidFill>
          <a:ln/>
        </p:spPr>
        <p:txBody>
          <a:bodyPr/>
          <a:lstStyle/>
          <a:p>
            <a:endParaRPr lang="LID4096"/>
          </a:p>
        </p:txBody>
      </p:sp>
      <p:sp>
        <p:nvSpPr>
          <p:cNvPr id="26" name="Text 24"/>
          <p:cNvSpPr/>
          <p:nvPr/>
        </p:nvSpPr>
        <p:spPr>
          <a:xfrm>
            <a:off x="4572914" y="4315968"/>
            <a:ext cx="1362456"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Coherence</a:t>
            </a:r>
            <a:endParaRPr lang="en-US" sz="950" dirty="0"/>
          </a:p>
        </p:txBody>
      </p:sp>
      <p:sp>
        <p:nvSpPr>
          <p:cNvPr id="27" name="Text 25"/>
          <p:cNvSpPr/>
          <p:nvPr/>
        </p:nvSpPr>
        <p:spPr>
          <a:xfrm>
            <a:off x="4572914" y="471830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Non-negotiables above the systems</a:t>
            </a:r>
            <a:endParaRPr lang="en-US" sz="1500" dirty="0"/>
          </a:p>
        </p:txBody>
      </p:sp>
      <p:sp>
        <p:nvSpPr>
          <p:cNvPr id="28" name="Text 26"/>
          <p:cNvSpPr/>
          <p:nvPr/>
        </p:nvSpPr>
        <p:spPr>
          <a:xfrm>
            <a:off x="4572914" y="513892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Enforced at every crossing; no component may opt out.</a:t>
            </a:r>
            <a:endParaRPr lang="en-US" sz="120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txBody>
          <a:bodyPr/>
          <a:lstStyle/>
          <a:p>
            <a:endParaRPr lang="LID4096"/>
          </a:p>
        </p:txBody>
      </p:sp>
      <p:sp>
        <p:nvSpPr>
          <p:cNvPr id="30" name="Shape 28"/>
          <p:cNvSpPr/>
          <p:nvPr/>
        </p:nvSpPr>
        <p:spPr>
          <a:xfrm>
            <a:off x="8350301" y="4315968"/>
            <a:ext cx="1060704" cy="310896"/>
          </a:xfrm>
          <a:prstGeom prst="roundRect">
            <a:avLst>
              <a:gd name="adj" fmla="val 50000"/>
            </a:avLst>
          </a:prstGeom>
          <a:solidFill>
            <a:srgbClr val="1B1A18"/>
          </a:solidFill>
          <a:ln/>
        </p:spPr>
        <p:txBody>
          <a:bodyPr/>
          <a:lstStyle/>
          <a:p>
            <a:endParaRPr lang="LID4096"/>
          </a:p>
        </p:txBody>
      </p:sp>
      <p:sp>
        <p:nvSpPr>
          <p:cNvPr id="31" name="Text 29"/>
          <p:cNvSpPr/>
          <p:nvPr/>
        </p:nvSpPr>
        <p:spPr>
          <a:xfrm>
            <a:off x="8350301" y="4315968"/>
            <a:ext cx="1060704" cy="310896"/>
          </a:xfrm>
          <a:prstGeom prst="rect">
            <a:avLst/>
          </a:prstGeom>
          <a:noFill/>
          <a:ln/>
        </p:spPr>
        <p:txBody>
          <a:bodyPr wrap="square" rtlCol="0" anchor="ctr"/>
          <a:lstStyle/>
          <a:p>
            <a:pPr marL="0" indent="0" algn="ctr">
              <a:buNone/>
            </a:pPr>
            <a:r>
              <a:rPr lang="en-US" sz="850" b="1" kern="0" spc="50" dirty="0">
                <a:solidFill>
                  <a:srgbClr val="FFFFFF"/>
                </a:solidFill>
                <a:latin typeface="Georgia" pitchFamily="34" charset="0"/>
                <a:ea typeface="Georgia" pitchFamily="34" charset="-122"/>
                <a:cs typeface="Georgia" pitchFamily="34" charset="-120"/>
              </a:rPr>
              <a:t>Memory</a:t>
            </a:r>
            <a:endParaRPr lang="en-US" sz="950" dirty="0"/>
          </a:p>
        </p:txBody>
      </p:sp>
      <p:sp>
        <p:nvSpPr>
          <p:cNvPr id="32" name="Text 30"/>
          <p:cNvSpPr/>
          <p:nvPr/>
        </p:nvSpPr>
        <p:spPr>
          <a:xfrm>
            <a:off x="8350301" y="4718304"/>
            <a:ext cx="3045866" cy="457200"/>
          </a:xfrm>
          <a:prstGeom prst="rect">
            <a:avLst/>
          </a:prstGeom>
          <a:noFill/>
          <a:ln/>
        </p:spPr>
        <p:txBody>
          <a:bodyPr wrap="square" rtlCol="0" anchor="ctr"/>
          <a:lstStyle/>
          <a:p>
            <a:pPr marL="0" indent="0">
              <a:buNone/>
            </a:pPr>
            <a:r>
              <a:rPr lang="en-US" sz="1500" b="1" dirty="0">
                <a:solidFill>
                  <a:srgbClr val="1B1A18"/>
                </a:solidFill>
                <a:latin typeface="Georgia" pitchFamily="34" charset="0"/>
                <a:ea typeface="Georgia" pitchFamily="34" charset="-122"/>
                <a:cs typeface="Georgia" pitchFamily="34" charset="-120"/>
              </a:rPr>
              <a:t>Ceremony to write, provenance to trust</a:t>
            </a:r>
            <a:endParaRPr lang="en-US" sz="1500" dirty="0"/>
          </a:p>
        </p:txBody>
      </p:sp>
      <p:sp>
        <p:nvSpPr>
          <p:cNvPr id="33" name="Text 31"/>
          <p:cNvSpPr/>
          <p:nvPr/>
        </p:nvSpPr>
        <p:spPr>
          <a:xfrm>
            <a:off x="8350301" y="5138928"/>
            <a:ext cx="3045866" cy="1005840"/>
          </a:xfrm>
          <a:prstGeom prst="rect">
            <a:avLst/>
          </a:prstGeom>
          <a:noFill/>
          <a:ln/>
        </p:spPr>
        <p:txBody>
          <a:bodyPr wrap="square" rtlCol="0" anchor="t"/>
          <a:lstStyle/>
          <a:p>
            <a:pPr marL="0" indent="0">
              <a:lnSpc>
                <a:spcPct val="112000"/>
              </a:lnSpc>
              <a:buNone/>
            </a:pPr>
            <a:r>
              <a:rPr lang="en-US" sz="1200" dirty="0">
                <a:solidFill>
                  <a:srgbClr val="33302B"/>
                </a:solidFill>
                <a:latin typeface="Georgia" pitchFamily="34" charset="0"/>
                <a:ea typeface="Georgia" pitchFamily="34" charset="-122"/>
                <a:cs typeface="Georgia" pitchFamily="34" charset="-120"/>
              </a:rPr>
              <a:t>Memory anything can write is not memory.</a:t>
            </a:r>
            <a:endParaRPr lang="en-US" sz="1200" dirty="0"/>
          </a:p>
        </p:txBody>
      </p:sp>
      <p:sp>
        <p:nvSpPr>
          <p:cNvPr id="34" name="Text 32"/>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566928" y="502920"/>
            <a:ext cx="2743200" cy="310896"/>
          </a:xfrm>
          <a:prstGeom prst="roundRect">
            <a:avLst>
              <a:gd name="adj" fmla="val 50000"/>
            </a:avLst>
          </a:prstGeom>
          <a:solidFill>
            <a:srgbClr val="8A8378"/>
          </a:solidFill>
          <a:ln/>
        </p:spPr>
        <p:txBody>
          <a:bodyPr/>
          <a:lstStyle/>
          <a:p>
            <a:endParaRPr lang="LID4096"/>
          </a:p>
        </p:txBody>
      </p:sp>
      <p:sp>
        <p:nvSpPr>
          <p:cNvPr id="3" name="Text 1"/>
          <p:cNvSpPr/>
          <p:nvPr/>
        </p:nvSpPr>
        <p:spPr>
          <a:xfrm>
            <a:off x="566928" y="502920"/>
            <a:ext cx="274320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CHECK YOUR UNDERSTANDING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marL="0" indent="0">
              <a:buNone/>
            </a:pPr>
            <a:r>
              <a:rPr lang="en-US" sz="2350" b="1" dirty="0">
                <a:solidFill>
                  <a:srgbClr val="FFFFFF"/>
                </a:solidFill>
                <a:latin typeface="Georgia" pitchFamily="34" charset="0"/>
                <a:ea typeface="Georgia" pitchFamily="34" charset="-122"/>
                <a:cs typeface="Georgia" pitchFamily="34" charset="-120"/>
              </a:rPr>
              <a:t>Run the protocol</a:t>
            </a:r>
            <a:endParaRPr lang="en-US" sz="2350" dirty="0"/>
          </a:p>
        </p:txBody>
      </p:sp>
      <p:sp>
        <p:nvSpPr>
          <p:cNvPr id="5" name="Shape 3"/>
          <p:cNvSpPr/>
          <p:nvPr/>
        </p:nvSpPr>
        <p:spPr>
          <a:xfrm>
            <a:off x="566928" y="1965960"/>
            <a:ext cx="420624" cy="420624"/>
          </a:xfrm>
          <a:prstGeom prst="ellipse">
            <a:avLst/>
          </a:prstGeom>
          <a:solidFill>
            <a:srgbClr val="8A8378"/>
          </a:solidFill>
          <a:ln/>
        </p:spPr>
        <p:txBody>
          <a:bodyPr/>
          <a:lstStyle/>
          <a:p>
            <a:endParaRPr lang="LID4096"/>
          </a:p>
        </p:txBody>
      </p:sp>
      <p:sp>
        <p:nvSpPr>
          <p:cNvPr id="6" name="Text 4"/>
          <p:cNvSpPr/>
          <p:nvPr/>
        </p:nvSpPr>
        <p:spPr>
          <a:xfrm>
            <a:off x="566928" y="1965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Take any AI product claim you’ve seen advertised. What single demonstration would you ask for to test whether it truly keeps a property in custody?</a:t>
            </a:r>
            <a:endParaRPr lang="en-US" sz="1450" dirty="0"/>
          </a:p>
        </p:txBody>
      </p:sp>
      <p:sp>
        <p:nvSpPr>
          <p:cNvPr id="8" name="Shape 6"/>
          <p:cNvSpPr/>
          <p:nvPr/>
        </p:nvSpPr>
        <p:spPr>
          <a:xfrm>
            <a:off x="566928" y="4251960"/>
            <a:ext cx="420624" cy="420624"/>
          </a:xfrm>
          <a:prstGeom prst="ellipse">
            <a:avLst/>
          </a:prstGeom>
          <a:solidFill>
            <a:srgbClr val="8A8378"/>
          </a:solidFill>
          <a:ln/>
        </p:spPr>
        <p:txBody>
          <a:bodyPr/>
          <a:lstStyle/>
          <a:p>
            <a:endParaRPr lang="LID4096"/>
          </a:p>
        </p:txBody>
      </p:sp>
      <p:sp>
        <p:nvSpPr>
          <p:cNvPr id="9" name="Text 7"/>
          <p:cNvSpPr/>
          <p:nvPr/>
        </p:nvSpPr>
        <p:spPr>
          <a:xfrm>
            <a:off x="566928" y="4251960"/>
            <a:ext cx="420624" cy="420624"/>
          </a:xfrm>
          <a:prstGeom prst="rect">
            <a:avLst/>
          </a:prstGeom>
          <a:noFill/>
          <a:ln/>
        </p:spPr>
        <p:txBody>
          <a:bodyPr wrap="square" rtlCol="0" anchor="ctr"/>
          <a:lstStyle/>
          <a:p>
            <a:pPr marL="0" indent="0" algn="ctr">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marL="0" indent="0">
              <a:lnSpc>
                <a:spcPct val="115000"/>
              </a:lnSpc>
              <a:buNone/>
            </a:pPr>
            <a:r>
              <a:rPr lang="en-US" sz="1450" dirty="0">
                <a:solidFill>
                  <a:srgbClr val="E4DFD5"/>
                </a:solidFill>
                <a:latin typeface="Georgia" pitchFamily="34" charset="0"/>
                <a:ea typeface="Georgia" pitchFamily="34" charset="-122"/>
                <a:cs typeface="Georgia" pitchFamily="34" charset="-120"/>
              </a:rPr>
              <a:t>Exam review: which of the six properties do you find hardest to define from its failure? Let’s work it together.</a:t>
            </a:r>
            <a:endParaRPr lang="en-US" sz="1450" dirty="0"/>
          </a:p>
        </p:txBody>
      </p:sp>
      <p:sp>
        <p:nvSpPr>
          <p:cNvPr id="11" name="Text 9"/>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B1A18"/>
        </a:solidFill>
        <a:effectLst/>
      </p:bgPr>
    </p:bg>
    <p:spTree>
      <p:nvGrpSpPr>
        <p:cNvPr id="1" name=""/>
        <p:cNvGrpSpPr/>
        <p:nvPr/>
      </p:nvGrpSpPr>
      <p:grpSpPr>
        <a:xfrm>
          <a:off x="0" y="0"/>
          <a:ext cx="0" cy="0"/>
          <a:chOff x="0" y="0"/>
          <a:chExt cx="0" cy="0"/>
        </a:xfrm>
      </p:grpSpPr>
      <p:sp>
        <p:nvSpPr>
          <p:cNvPr id="2" name="Shape 0"/>
          <p:cNvSpPr/>
          <p:nvPr/>
        </p:nvSpPr>
        <p:spPr>
          <a:xfrm>
            <a:off x="-1371600" y="3657600"/>
            <a:ext cx="4572000" cy="4572000"/>
          </a:xfrm>
          <a:prstGeom prst="ellipse">
            <a:avLst/>
          </a:prstGeom>
          <a:solidFill>
            <a:srgbClr val="33302B"/>
          </a:solidFill>
          <a:ln/>
        </p:spPr>
        <p:txBody>
          <a:bodyPr/>
          <a:lstStyle/>
          <a:p>
            <a:endParaRPr lang="LID4096"/>
          </a:p>
        </p:txBody>
      </p:sp>
      <p:sp>
        <p:nvSpPr>
          <p:cNvPr id="3" name="Shape 1"/>
          <p:cNvSpPr/>
          <p:nvPr/>
        </p:nvSpPr>
        <p:spPr>
          <a:xfrm>
            <a:off x="566928" y="1280160"/>
            <a:ext cx="2011680" cy="310896"/>
          </a:xfrm>
          <a:prstGeom prst="roundRect">
            <a:avLst>
              <a:gd name="adj" fmla="val 50000"/>
            </a:avLst>
          </a:prstGeom>
          <a:solidFill>
            <a:srgbClr val="8A8378"/>
          </a:solidFill>
          <a:ln/>
        </p:spPr>
        <p:txBody>
          <a:bodyPr/>
          <a:lstStyle/>
          <a:p>
            <a:endParaRPr lang="LID4096"/>
          </a:p>
        </p:txBody>
      </p:sp>
      <p:sp>
        <p:nvSpPr>
          <p:cNvPr id="4" name="Text 2"/>
          <p:cNvSpPr/>
          <p:nvPr/>
        </p:nvSpPr>
        <p:spPr>
          <a:xfrm>
            <a:off x="566928" y="1280160"/>
            <a:ext cx="2011680" cy="310896"/>
          </a:xfrm>
          <a:prstGeom prst="rect">
            <a:avLst/>
          </a:prstGeom>
          <a:noFill/>
          <a:ln/>
        </p:spPr>
        <p:txBody>
          <a:bodyPr wrap="square" rtlCol="0" anchor="ctr"/>
          <a:lstStyle/>
          <a:p>
            <a:pPr marL="0" indent="0" algn="ctr">
              <a:buNone/>
            </a:pPr>
            <a:r>
              <a:rPr lang="en-US" sz="950" b="1" kern="0" spc="50" dirty="0">
                <a:solidFill>
                  <a:srgbClr val="1B1A18"/>
                </a:solidFill>
                <a:latin typeface="Georgia" pitchFamily="34" charset="0"/>
                <a:ea typeface="Georgia" pitchFamily="34" charset="-122"/>
                <a:cs typeface="Georgia" pitchFamily="34" charset="-120"/>
              </a:rPr>
              <a:t>THE RULE ABOVE THE RULES</a:t>
            </a:r>
            <a:endParaRPr lang="en-US" sz="1050" dirty="0"/>
          </a:p>
        </p:txBody>
      </p:sp>
      <p:sp>
        <p:nvSpPr>
          <p:cNvPr id="5" name="Text 3"/>
          <p:cNvSpPr/>
          <p:nvPr/>
        </p:nvSpPr>
        <p:spPr>
          <a:xfrm>
            <a:off x="566928" y="1828800"/>
            <a:ext cx="10789920" cy="1645920"/>
          </a:xfrm>
          <a:prstGeom prst="rect">
            <a:avLst/>
          </a:prstGeom>
          <a:noFill/>
          <a:ln/>
        </p:spPr>
        <p:txBody>
          <a:bodyPr wrap="square" rtlCol="0" anchor="ctr"/>
          <a:lstStyle/>
          <a:p>
            <a:pPr marL="0" indent="0">
              <a:lnSpc>
                <a:spcPct val="110000"/>
              </a:lnSpc>
              <a:buNone/>
            </a:pPr>
            <a:r>
              <a:rPr lang="en-US" sz="3200" b="1" i="1" dirty="0">
                <a:solidFill>
                  <a:srgbClr val="FFFFFF"/>
                </a:solidFill>
                <a:latin typeface="Georgia" pitchFamily="34" charset="0"/>
                <a:ea typeface="Georgia" pitchFamily="34" charset="-122"/>
                <a:cs typeface="Georgia" pitchFamily="34" charset="-120"/>
              </a:rPr>
              <a:t>“Every component must be replaceable,</a:t>
            </a:r>
            <a:endParaRPr lang="en-US" sz="3200" dirty="0"/>
          </a:p>
          <a:p>
            <a:pPr marL="0" indent="0">
              <a:lnSpc>
                <a:spcPct val="110000"/>
              </a:lnSpc>
              <a:buNone/>
            </a:pPr>
            <a:r>
              <a:rPr lang="en-US" sz="3200" b="1" i="1" dirty="0">
                <a:solidFill>
                  <a:srgbClr val="FFFFFF"/>
                </a:solidFill>
                <a:latin typeface="Georgia" pitchFamily="34" charset="0"/>
                <a:ea typeface="Georgia" pitchFamily="34" charset="-122"/>
                <a:cs typeface="Georgia" pitchFamily="34" charset="-120"/>
              </a:rPr>
              <a:t>and no property ever may be.”</a:t>
            </a:r>
            <a:endParaRPr lang="en-US" sz="3200" dirty="0"/>
          </a:p>
        </p:txBody>
      </p:sp>
      <p:sp>
        <p:nvSpPr>
          <p:cNvPr id="6" name="Text 4"/>
          <p:cNvSpPr/>
          <p:nvPr/>
        </p:nvSpPr>
        <p:spPr>
          <a:xfrm>
            <a:off x="566928" y="3840480"/>
            <a:ext cx="9601200" cy="914400"/>
          </a:xfrm>
          <a:prstGeom prst="rect">
            <a:avLst/>
          </a:prstGeom>
          <a:noFill/>
          <a:ln/>
        </p:spPr>
        <p:txBody>
          <a:bodyPr wrap="square" rtlCol="0" anchor="ctr"/>
          <a:lstStyle/>
          <a:p>
            <a:pPr marL="0" indent="0">
              <a:lnSpc>
                <a:spcPct val="125000"/>
              </a:lnSpc>
              <a:buNone/>
            </a:pPr>
            <a:r>
              <a:rPr lang="en-US" sz="1500" dirty="0">
                <a:solidFill>
                  <a:srgbClr val="E4DFD5"/>
                </a:solidFill>
                <a:latin typeface="Georgia" pitchFamily="34" charset="0"/>
                <a:ea typeface="Georgia" pitchFamily="34" charset="-122"/>
                <a:cs typeface="Georgia" pitchFamily="34" charset="-120"/>
              </a:rPr>
              <a:t>Judge any architecture the way an engineer judges a design: go to a boundary, and ask what survived the crossing.</a:t>
            </a:r>
            <a:endParaRPr lang="en-US" sz="1500" dirty="0"/>
          </a:p>
        </p:txBody>
      </p:sp>
      <p:sp>
        <p:nvSpPr>
          <p:cNvPr id="7" name="Text 5"/>
          <p:cNvSpPr/>
          <p:nvPr/>
        </p:nvSpPr>
        <p:spPr>
          <a:xfrm>
            <a:off x="566928" y="6473952"/>
            <a:ext cx="9960559" cy="274320"/>
          </a:xfrm>
          <a:prstGeom prst="rect">
            <a:avLst/>
          </a:prstGeom>
          <a:noFill/>
          <a:ln/>
        </p:spPr>
        <p:txBody>
          <a:bodyPr wrap="square" rtlCol="0" anchor="ctr"/>
          <a:lstStyle/>
          <a:p>
            <a:pPr marL="0" indent="0" algn="l">
              <a:buNone/>
            </a:pPr>
            <a:r>
              <a:rPr lang="en-US" sz="900" i="1" dirty="0">
                <a:solidFill>
                  <a:srgbClr val="6E6A62"/>
                </a:solidFill>
                <a:latin typeface="Georgia" pitchFamily="34" charset="0"/>
                <a:ea typeface="Georgia" pitchFamily="34" charset="-122"/>
                <a:cs typeface="Georgia" pitchFamily="34" charset="-120"/>
              </a:rPr>
              <a:t>What the Structure Does Not Carry</a:t>
            </a:r>
            <a:r>
              <a:rPr lang="en-US" sz="900" dirty="0">
                <a:solidFill>
                  <a:srgbClr val="6E6A62"/>
                </a:solidFill>
                <a:latin typeface="Georgia" pitchFamily="34" charset="0"/>
                <a:ea typeface="Georgia" pitchFamily="34" charset="-122"/>
                <a:cs typeface="Georgia" pitchFamily="34" charset="-120"/>
              </a:rPr>
              <a:t>  ·  BSc — Foundations of the Agentic Enterprise</a:t>
            </a:r>
            <a:endParaRPr lang="en-US" sz="900" dirty="0"/>
          </a:p>
        </p:txBody>
      </p:sp>
      <p:sp>
        <p:nvSpPr>
          <p:cNvPr id="8" name="Text 6"/>
          <p:cNvSpPr/>
          <p:nvPr/>
        </p:nvSpPr>
        <p:spPr>
          <a:xfrm>
            <a:off x="10710367" y="6473952"/>
            <a:ext cx="914400" cy="274320"/>
          </a:xfrm>
          <a:prstGeom prst="rect">
            <a:avLst/>
          </a:prstGeom>
          <a:noFill/>
          <a:ln/>
        </p:spPr>
        <p:txBody>
          <a:bodyPr wrap="square" rtlCol="0" anchor="ctr"/>
          <a:lstStyle/>
          <a:p>
            <a:pPr marL="0" indent="0" algn="r">
              <a:buNone/>
            </a:pPr>
            <a:r>
              <a:rPr lang="en-US" sz="900" dirty="0">
                <a:solidFill>
                  <a:srgbClr val="6E6A62"/>
                </a:solidFill>
                <a:latin typeface="Georgia" pitchFamily="34" charset="0"/>
                <a:ea typeface="Georgia" pitchFamily="34" charset="-122"/>
                <a:cs typeface="Georgia" pitchFamily="34" charset="-120"/>
              </a:rPr>
              <a:t>65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531ba0e-85a4-46ab-adc8-1e6706ffed50}" enabled="0" method="" siteId="{9531ba0e-85a4-46ab-adc8-1e6706ffed50}" removed="1"/>
</clbl:labelList>
</file>

<file path=docProps/app.xml><?xml version="1.0" encoding="utf-8"?>
<Properties xmlns="http://schemas.openxmlformats.org/officeDocument/2006/extended-properties" xmlns:vt="http://schemas.openxmlformats.org/officeDocument/2006/docPropsVTypes">
  <TotalTime>0</TotalTime>
  <Words>6422</Words>
  <Application>Microsoft Office PowerPoint</Application>
  <PresentationFormat>Widescreen</PresentationFormat>
  <Paragraphs>779</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Georg Zangl</cp:lastModifiedBy>
  <cp:revision>1</cp:revision>
  <dcterms:created xsi:type="dcterms:W3CDTF">2026-08-15T17:18:03Z</dcterms:created>
  <dcterms:modified xsi:type="dcterms:W3CDTF">2026-08-28T14:35:14Z</dcterms:modified>
</cp:coreProperties>
</file>