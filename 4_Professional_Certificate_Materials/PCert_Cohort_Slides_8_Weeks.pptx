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0"/>
    <p:restoredTop sz="8895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5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5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5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5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1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Applied cohort opener. The through-line: by Week 8 each participant produces a real evaluation report and remediation plan for a system of their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— The crossing as the unit of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a first crossing map of the participant's own system. This becomes capstone raw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 — The six properties and their failure signatures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Diagnostic clinic: you recognise a missing property by its damage. Drill the failure signatures until they are instinctive.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 6–8 short symptom cards; participants can also bring their own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 — The axioms and the location of governance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— Identity, seams, and configuration-time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5 — Context and memory custody in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6 — Sovereignty, isolation, and cost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7 — The nine-test evaluation protocol, applied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exercise is the rehearsal for the capstone; leave time to start the real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8 — The custody rules &amp; capstone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6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3302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3A3630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051560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515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CERTIFICATE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Custody Architect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and Governing Agentic AI in Regulated Enterprises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66928" y="4206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8-week applied cohort programme, built on the book
</a:t>
            </a:r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Georg Zangl  · 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52120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4B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practising architects, CTOs, and engineering leaders. Bring a real system; leave able to evaluate, govern, and remediate it.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48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1–3 · Seeing &amp; locating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to see crossings, diagnose the six properties by their failure signatures, and locate where a hard rule is actually enforced.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crossing as the unit of architecture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start where the book starts: an enterprise is a set of properties that must survive movement, and the unit of the work is the crossing — the boundary between systems, not the system itself. This week you begin the habit you will use all programme: bring a real system and start mapping its crossings.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be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a crossing and why it has no owner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systems-fail-loud vs crossings-fail-silent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 a crossing map of your own system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HABIT THAT RUNS ALL PROGRAMME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crossing is the unit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 fail loudly.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Alarms, dashboards, owners, budgets. They get fixed because someone is accountable.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85750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57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80263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Crossings fail silently.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component owns the context; the loss surfaces weeks later as ‘human error’.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02336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96849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crossing has no name, budget, or owner.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exactly why nobody is funded to fix it — and why you must learn to find it.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518922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5189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13435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job as a custody architect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to make the crossings visible, then ask what survives each one.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48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0" b="1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200" dirty="0"/>
          </a:p>
        </p:txBody>
      </p:sp>
      <p:sp>
        <p:nvSpPr>
          <p:cNvPr id="3" name="Text 1"/>
          <p:cNvSpPr/>
          <p:nvPr/>
        </p:nvSpPr>
        <p:spPr>
          <a:xfrm>
            <a:off x="1554480" y="1371600"/>
            <a:ext cx="99605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54480" y="1783080"/>
            <a:ext cx="9594799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50" b="1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architecture is the custody of organisational properties under movement. Go to a boundary, and ask what survived the crossing.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572768" y="4937760"/>
            <a:ext cx="95947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law, and the method (Chapters 4 &amp; 22)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EXERCISE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Map your own crossings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Sketch a real system you own as boxes (systems) and arrows (integrations).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489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89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44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each arrow, mark what a human currently carries that no system moves: a meaning, a permission, a memory.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013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13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968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the three crossings you most suspect are failing silently — you will return to them all programme.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properties and their failure signatures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diagnostic clinic. The six properties are best learned backwards — by the damage each leaves when it is missing. This week you drill the failure signatures until you can name the missing property from a symptom alone, the way a clinician reads a presentation.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be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six properties and their signatures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 a missing property from a symptom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 the crossings on your map with the property at risk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CLINIC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properties, read by their damage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of the work. Failure signature: the meaning error — data intact, significance lost.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4314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914" y="189280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914" y="189280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914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914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rights. Signature: an action taken under authority no one conferred.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0301" y="189280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0301" y="189280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50301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0301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answers. Signature: attribution needs an investigation.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431596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431596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Alignment. Signature: each system correct, the enterprise jointly wrong.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4314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914" y="431596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914" y="431596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914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coherence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914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non-negotiables. Signature: a rule that holds at some doors, not all.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1701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0301" y="4315968"/>
            <a:ext cx="557784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1" name="Text 29"/>
          <p:cNvSpPr/>
          <p:nvPr/>
        </p:nvSpPr>
        <p:spPr>
          <a:xfrm>
            <a:off x="8350301" y="4315968"/>
            <a:ext cx="557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50301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memory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0301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org knows. Signature: knowledge — and its provenance — walks out the door.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CUSTODY ARCHITECT’S CLINICAL METHOD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 by damage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from the symptom, not the cause you assume.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‘A number meant the wrong thing’ → context, before you blame a person.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9125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crossing.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missing property has a boundary where it should have been carried and wasn’t.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74573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 ‘it was human error’.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verdict hides the crossing that manufactured the error.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EXERCISE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Diagnostic clinic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set of supplied failure symptoms, name the property not in custody — arguing only from the damage.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489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89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44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to your Week 1 map: tag each circled crossing with the property most at risk.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013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13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968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one-line failure that would occur at each if an agent replaced the human there.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axioms and the location of governance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a hard rule actually live? This week gives you the practitioner’s version of the four axioms and the single conclusion that matters at the keyboard: a ‘never’ cannot be enforced by instructing a model. You practise the address test — the fastest disqualifier in your toolkit.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be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four axioms in practitioner terms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why a ‘never’ can’t live in a prompt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address test on a real rule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GOVERNANCE LIVES OUTSIDE THE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axioms, at the keyboard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Determinism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are modal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‘never’ must hold always and be provable — not 99.9% of the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1892808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1892808"/>
            <a:ext cx="2167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Probabilistic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6160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holds ‘usually’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160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input, different output; adversarial input, arbitrary output. Instruction ≠ guarantee.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315968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315968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Variance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independent clocks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552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Models, regulations, tenants, domains change on schedules you don’t control.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1608" y="4315968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4315968"/>
            <a:ext cx="2167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Audit primacy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6160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is a product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6160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can’t be audited can’t ship — and evidence can’t be retrofitted.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48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0" b="1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200" dirty="0"/>
          </a:p>
        </p:txBody>
      </p:sp>
      <p:sp>
        <p:nvSpPr>
          <p:cNvPr id="3" name="Text 1"/>
          <p:cNvSpPr/>
          <p:nvPr/>
        </p:nvSpPr>
        <p:spPr>
          <a:xfrm>
            <a:off x="1554480" y="1371600"/>
            <a:ext cx="99605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FASTEST DISQUALIFIER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54480" y="1783080"/>
            <a:ext cx="9594799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50" b="1" i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Instructed behaviour is not guaranteed behaviour. A system prompt is a request. Disqualify any ‘never’ whose only enforcement is a prompt.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572768" y="4937760"/>
            <a:ext cx="95947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address test (Chapters 5 &amp; 9)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EXERCISE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3 — The address test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every hard ‘never’ in a system you know (residency, sanctions, spend ceilings, PII egress).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489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89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44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each, locate the physical enforcement point — the structural gate the work passes through.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013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13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968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 every ‘never’ whose only enforcement is an instruction to a model or a person.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48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4–6 · Custody in the field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laws to real systems: identity and seams, context and memory, sovereignty and cost.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Identity, seams, and configuration-time decisions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is about participants and boundaries. An agent should be a row of data, not a class of code; trust at the seams turns on origin — where a fragment came from and what it may influence; and the decisive choices (which model, what an agent may do) belong at configuration time, not runtime.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be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an agent as data (identity, grants, scope)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origin and expressibility tests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configuration-time from runtime decisions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THE SEAMS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field checks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as 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row, not a class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+ capability grants + knowledge scope + model, interpreted by a fixed engine. The org chart as records.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189280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1892808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61608" y="229514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did this come from?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1608" y="275234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 must know a fragment’s origin and bound what that class of input may influence.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315968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31596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them write 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552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 engineer can write the statement that crosses a tenant boundary, isolation is only a policy.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114800"/>
            <a:ext cx="5391760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1608" y="4315968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4315968"/>
            <a:ext cx="2167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vs runtime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61608" y="4718304"/>
            <a:ext cx="493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in advance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61608" y="5175504"/>
            <a:ext cx="493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model runs, what an agent may do — bound at configuration time under authority, not ‘let the model decide’.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EXERCISE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4 — Origin &amp; expressibility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real integration, tag each input source with an origin class and its permitted influence.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489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89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44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expressibility test: try to write the statement that would cross a trust boundary.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013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13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968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three decisions in the system and classify each as configuration-time or runtime.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and memory custody in practice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properties that leak most quietly are context and memory. This week: why no schema carries ‘why’, how to price the reconstruction tax you are already paying, and how to design durable memory with the ceremony and provenance that make it trustworthy — and attack-resistant.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be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and price the reconstruction tax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right store for a knowledge shape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 write-ceremony with provenance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QUIET LEAKS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&amp; memory, in the field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field for ‘why’.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survives every hop; significance survives none unless you carry it deliberately.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85750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57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80263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reconstruction tax.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standing meetings and clarifying emails you already pay to re-attach stripped meaning.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02336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96849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Durability requires ceremony.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anything can write is not memory. Gate the write; attribute it; make it reversible.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5189220"/>
            <a:ext cx="457200" cy="457200"/>
          </a:xfrm>
          <a:prstGeom prst="ellipse">
            <a:avLst/>
          </a:prstGeom>
          <a:solidFill>
            <a:srgbClr val="1B1A1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5189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134356"/>
            <a:ext cx="10280599" cy="1056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is a target.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poisoned entry is inherited by every future reader — a time-shifted attack. Trust must follow origin.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EXERCISE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5 — Memory-custody design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one piece of durable knowledge in your system; list the ‘why’ that must travel with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489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89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44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 minimal write-ceremony: who may write, under what authority, with what provenance.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013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13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968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how your design would defeat a poisoned-memory (time-shifted) attack.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Sovereignty, isolation, and cost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board-facing properties, made practical. Sovereignty is the ability to say ‘no’ to any single party — measured by a dependency census and a substitution test. Isolation must be a construction, not a policy. And cost and accountability are one problem: measurable per action.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be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dependency census and substitution test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isolation-as-policy from isolation-as-construction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the two-invoices test to agent work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· ISOLATION · COST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field instruments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census + substitution test.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the parties whose change forces you to change; price the cost of saying ‘no’ to each.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9125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 by construction.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cross-boundary action should be impossible to express — not merely discouraged.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457200" cy="45720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745736"/>
            <a:ext cx="10280599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meter and the ledger.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and consumption per action, from execution-time records — the two-invoices test.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EXERCISE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6 — Census, substitution &amp; two-invoices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dependency census for your system; mark each dependency replaceable or load-bearing.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489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89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44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substitution test on the two hardest; state the cost of saying ‘no’.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013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13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968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Attempt a two-invoices statement — cost and consumption per action — for one agent-month; note the gaps.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48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488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7–8 · The instrument &amp; the capstone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Assemble the nine-test protocol, run it end to end, and produce a real evaluation report and remediation plan.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nine-test evaluation protocol, applied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you assemble everything into the instrument that makes you nobody’s dupe: a source-code-free protocol you can run against any system in a working day. We run it live against a supplied architecture, then you begin running it against your capstone target.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be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full nine-test protocol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demonstrations against structure, not slides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evidence-based verdicts per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SOURCE CODE · NO GOODWILL · A DEMONSTRATION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nine-test protocol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crossing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real work across a real boundary, live; inspect what arrives with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4314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914" y="1892808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914" y="1892808"/>
            <a:ext cx="1362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914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+ where-proven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914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tenant → rows or a release? Where does a new agent prove itself?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0301" y="18928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0301" y="189280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50301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 test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0301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non-negotiable; its physical enforcement point; disqualify on ‘prompt’.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431596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431596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Expressibility + origin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cross-tenant statement; what does the structure know about origin?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4314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914" y="4315968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914" y="4315968"/>
            <a:ext cx="1261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914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+ substitution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914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runtime leash list; the cost of saying no to any party.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1701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0301" y="4315968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31" name="Text 29"/>
          <p:cNvSpPr/>
          <p:nvPr/>
        </p:nvSpPr>
        <p:spPr>
          <a:xfrm>
            <a:off x="8350301" y="4315968"/>
            <a:ext cx="2167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&amp; nature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50301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Last-month · two-invoices · outlive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0301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by query; per-action cost; the referee and turnover questions.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3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EXERCISE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7 — Full protocol dry-run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all nine tests against the supplied reference architecture; record a verdict and the evidence for each.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489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89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44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the single most damaging finding and the demonstration that would settle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013960"/>
            <a:ext cx="420624" cy="420624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13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968240"/>
            <a:ext cx="10372039" cy="143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 the same run against your capstone system — the report is due next week.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B1A1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868680" cy="868680"/>
          </a:xfrm>
          <a:prstGeom prst="ellipse">
            <a:avLst/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WK</a:t>
            </a:r>
            <a:endParaRPr lang="en-US" sz="1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457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custody rules &amp; capstone review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close with the six custody rules and the rule above them, then review capstone drafts. Your deliverable — an evaluation report and remediation plan for a real system — is the certificate’s proof that you can not only see custody failures but specify how to fix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103120"/>
            <a:ext cx="4172407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be able to…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97480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the six custody rules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rule above the rules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Finalise your evaluation report and remediation plan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TAKE-AWAY CHECKLIST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custody rules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 more than you transport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travels with the work, or the destination invents its own.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4314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914" y="1892808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914" y="1892808"/>
            <a:ext cx="1362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914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Rights are data, enforced at the boundary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914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 implied by app permissions is authority you no longer 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69164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0301" y="1892808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0301" y="189280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50301" y="229514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is a by-product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0301" y="275234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attribution needs investigation, custody has already failed.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4315968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4315968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invariants at the seams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Whatever merely connects does not coordinate.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4314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914" y="4315968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914" y="4315968"/>
            <a:ext cx="1362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914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Non-negotiables above the systems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914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Enforced at every crossing; no component may opt out.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1701" y="4114800"/>
            <a:ext cx="3503066" cy="2148840"/>
          </a:xfrm>
          <a:prstGeom prst="roundRect">
            <a:avLst>
              <a:gd name="adj" fmla="val 3404"/>
            </a:avLst>
          </a:prstGeom>
          <a:solidFill>
            <a:srgbClr val="F4F2EE"/>
          </a:solidFill>
          <a:ln w="12700">
            <a:solidFill>
              <a:srgbClr val="EBE7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0301" y="431596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B1A18"/>
          </a:solidFill>
          <a:ln/>
        </p:spPr>
      </p:sp>
      <p:sp>
        <p:nvSpPr>
          <p:cNvPr id="31" name="Text 29"/>
          <p:cNvSpPr/>
          <p:nvPr/>
        </p:nvSpPr>
        <p:spPr>
          <a:xfrm>
            <a:off x="8350301" y="4315968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50301" y="4718304"/>
            <a:ext cx="30458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Ceremony to write, provenance to trust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0301" y="5175504"/>
            <a:ext cx="30458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anything can write is not memory.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33302B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23444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8A837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1B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 ABOVE THE RULES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 component must be replaceable,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no property ever may be.”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capstone is the proof: run the protocol against a real system, and show — with evidence — what survives the crossing and what does not.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99605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Structure Does Not Carry</a:t>
            </a:r>
            <a:pPr algn="l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Professional Certificate — The Custody Architect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2026-08-16T06:24:01Z</dcterms:created>
  <dcterms:modified xsi:type="dcterms:W3CDTF">2026-08-16T06:24:01Z</dcterms:modified>
</cp:coreProperties>
</file>