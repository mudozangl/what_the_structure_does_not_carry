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313" r:id="rId64"/>
    <p:sldId id="314" r:id="rId65"/>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50"/>
    <p:restoredTop sz="8895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6.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slide" Target="slides/slide32.xml"/><Relationship Id="rId32" Type="http://schemas.openxmlformats.org/officeDocument/2006/relationships/slide" Target="slides/slide33.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6.xml"/><Relationship Id="rId36" Type="http://schemas.openxmlformats.org/officeDocument/2006/relationships/slide" Target="slides/slide37.xml"/><Relationship Id="rId37" Type="http://schemas.openxmlformats.org/officeDocument/2006/relationships/slide" Target="slides/slide38.xml"/><Relationship Id="rId38" Type="http://schemas.openxmlformats.org/officeDocument/2006/relationships/slide" Target="slides/slide39.xml"/><Relationship Id="rId39" Type="http://schemas.openxmlformats.org/officeDocument/2006/relationships/slide" Target="slides/slide40.xml"/><Relationship Id="rId40" Type="http://schemas.openxmlformats.org/officeDocument/2006/relationships/slide" Target="slides/slide41.xml"/><Relationship Id="rId41" Type="http://schemas.openxmlformats.org/officeDocument/2006/relationships/slide" Target="slides/slide42.xml"/><Relationship Id="rId42" Type="http://schemas.openxmlformats.org/officeDocument/2006/relationships/slide" Target="slides/slide43.xml"/><Relationship Id="rId43" Type="http://schemas.openxmlformats.org/officeDocument/2006/relationships/slide" Target="slides/slide44.xml"/><Relationship Id="rId44" Type="http://schemas.openxmlformats.org/officeDocument/2006/relationships/slide" Target="slides/slide45.xml"/><Relationship Id="rId45" Type="http://schemas.openxmlformats.org/officeDocument/2006/relationships/slide" Target="slides/slide46.xml"/><Relationship Id="rId46" Type="http://schemas.openxmlformats.org/officeDocument/2006/relationships/slide" Target="slides/slide47.xml"/><Relationship Id="rId47" Type="http://schemas.openxmlformats.org/officeDocument/2006/relationships/slide" Target="slides/slide48.xml"/><Relationship Id="rId48" Type="http://schemas.openxmlformats.org/officeDocument/2006/relationships/slide" Target="slides/slide49.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slide" Target="slides/slide59.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openxmlformats.org/officeDocument/2006/relationships/slide" Target="slides/slide4.xml"/><Relationship Id="rId65"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15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15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15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15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150" kern="1200">
        <a:solidFill>
          <a:schemeClr val="tx1"/>
        </a:solidFill>
        <a:latin typeface="+mn-lt"/>
        <a:ea typeface="+mn-ea"/>
        <a:cs typeface="+mn-cs"/>
      </a:defRPr>
    </a:lvl1pPr>
    <a:lvl2pPr marL="457200" algn="l" defTabSz="914400" rtl="0" eaLnBrk="1" latinLnBrk="0" hangingPunct="1">
      <a:defRPr sz="1150" kern="1200">
        <a:solidFill>
          <a:schemeClr val="tx1"/>
        </a:solidFill>
        <a:latin typeface="+mn-lt"/>
        <a:ea typeface="+mn-ea"/>
        <a:cs typeface="+mn-cs"/>
      </a:defRPr>
    </a:lvl2pPr>
    <a:lvl3pPr marL="914400" algn="l" defTabSz="914400" rtl="0" eaLnBrk="1" latinLnBrk="0" hangingPunct="1">
      <a:defRPr sz="1150" kern="1200">
        <a:solidFill>
          <a:schemeClr val="tx1"/>
        </a:solidFill>
        <a:latin typeface="+mn-lt"/>
        <a:ea typeface="+mn-ea"/>
        <a:cs typeface="+mn-cs"/>
      </a:defRPr>
    </a:lvl3pPr>
    <a:lvl4pPr marL="1371600" algn="l" defTabSz="914400" rtl="0" eaLnBrk="1" latinLnBrk="0" hangingPunct="1">
      <a:defRPr sz="1150" kern="1200">
        <a:solidFill>
          <a:schemeClr val="tx1"/>
        </a:solidFill>
        <a:latin typeface="+mn-lt"/>
        <a:ea typeface="+mn-ea"/>
        <a:cs typeface="+mn-cs"/>
      </a:defRPr>
    </a:lvl4pPr>
    <a:lvl5pPr marL="1828800" algn="l" defTabSz="914400" rtl="0" eaLnBrk="1" latinLnBrk="0" hangingPunct="1">
      <a:defRPr sz="1150" kern="1200">
        <a:solidFill>
          <a:schemeClr val="tx1"/>
        </a:solidFill>
        <a:latin typeface="+mn-lt"/>
        <a:ea typeface="+mn-ea"/>
        <a:cs typeface="+mn-cs"/>
      </a:defRPr>
    </a:lvl5pPr>
    <a:lvl6pPr marL="2286000" algn="l" defTabSz="914400" rtl="0" eaLnBrk="1" latinLnBrk="0" hangingPunct="1">
      <a:defRPr sz="1150" kern="1200">
        <a:solidFill>
          <a:schemeClr val="tx1"/>
        </a:solidFill>
        <a:latin typeface="+mn-lt"/>
        <a:ea typeface="+mn-ea"/>
        <a:cs typeface="+mn-cs"/>
      </a:defRPr>
    </a:lvl6pPr>
    <a:lvl7pPr marL="2743200" algn="l" defTabSz="914400" rtl="0" eaLnBrk="1" latinLnBrk="0" hangingPunct="1">
      <a:defRPr sz="1150" kern="1200">
        <a:solidFill>
          <a:schemeClr val="tx1"/>
        </a:solidFill>
        <a:latin typeface="+mn-lt"/>
        <a:ea typeface="+mn-ea"/>
        <a:cs typeface="+mn-cs"/>
      </a:defRPr>
    </a:lvl7pPr>
    <a:lvl8pPr marL="3200400" algn="l" defTabSz="914400" rtl="0" eaLnBrk="1" latinLnBrk="0" hangingPunct="1">
      <a:defRPr sz="1150" kern="1200">
        <a:solidFill>
          <a:schemeClr val="tx1"/>
        </a:solidFill>
        <a:latin typeface="+mn-lt"/>
        <a:ea typeface="+mn-ea"/>
        <a:cs typeface="+mn-cs"/>
      </a:defRPr>
    </a:lvl8pPr>
    <a:lvl9pPr marL="3657600" algn="l" defTabSz="914400" rtl="0" eaLnBrk="1" latinLnBrk="0" hangingPunct="1">
      <a:defRPr sz="115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Graduate seminar opener. Set expectations: this is a reading-intensive, derivation-based course. Students reconstruct the argument, attack it, and apply the evaluation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 The discipline redefined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students to name the hidden premise: that traffic stayed within human carrying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a one-page crossing analysis. This seeds the vocabulary for the whole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 Custody under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these as the enterprise's conserved quantities — the things that must balance across every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3 — The four axioms and the two eliminations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Set 1 (axiom composition) is assigned here; due Week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4 — Preservation vs custody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enterprise is not more diligent — the failure is structurally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5 — From tools to participants; identity as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Set 2 (locate the ‘never’ / express authority) assigned; due Week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6 — Governance in structure, not in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 Trust at the seams; decisions at configuration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Set 3 (expressibility &amp; dependency census) assigned; due Week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8 — Context is not data; content and its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Consequence-record case analysis due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9 — Durable memory; memory as an attack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10 — Isolation and sovereignty as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Set 3 due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11 — Governance that survives volume; the meter and the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12 — Infrastructure that outlives; preservation is not stasis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13 — The evaluation protocol and the custody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 presentations and defence. Reward proposals whose own tests bite.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15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0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65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25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33302B"/>
          </a:solidFill>
          <a:ln/>
        </p:spPr>
      </p:sp>
      <p:sp>
        <p:nvSpPr>
          <p:cNvPr id="3" name="Shape 1"/>
          <p:cNvSpPr/>
          <p:nvPr/>
        </p:nvSpPr>
        <p:spPr>
          <a:xfrm>
            <a:off x="10241280" y="4023360"/>
            <a:ext cx="3108960" cy="3108960"/>
          </a:xfrm>
          <a:prstGeom prst="ellipse">
            <a:avLst/>
          </a:prstGeom>
          <a:solidFill>
            <a:srgbClr val="3A3630"/>
          </a:solidFill>
          <a:ln/>
        </p:spPr>
      </p:sp>
      <p:sp>
        <p:nvSpPr>
          <p:cNvPr id="4" name="Shape 2"/>
          <p:cNvSpPr/>
          <p:nvPr/>
        </p:nvSpPr>
        <p:spPr>
          <a:xfrm>
            <a:off x="566928" y="1051560"/>
            <a:ext cx="3566160" cy="310896"/>
          </a:xfrm>
          <a:prstGeom prst="roundRect">
            <a:avLst>
              <a:gd name="adj" fmla="val 50000"/>
            </a:avLst>
          </a:prstGeom>
          <a:solidFill>
            <a:srgbClr val="8A8378"/>
          </a:solidFill>
          <a:ln/>
        </p:spPr>
      </p:sp>
      <p:sp>
        <p:nvSpPr>
          <p:cNvPr id="5" name="Text 3"/>
          <p:cNvSpPr/>
          <p:nvPr/>
        </p:nvSpPr>
        <p:spPr>
          <a:xfrm>
            <a:off x="566928" y="1051560"/>
            <a:ext cx="356616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MASTER OF SCIENCE  ·  SEMINAR</a:t>
            </a:r>
            <a:endParaRPr lang="en-US" sz="1050" dirty="0"/>
          </a:p>
        </p:txBody>
      </p:sp>
      <p:sp>
        <p:nvSpPr>
          <p:cNvPr id="6" name="Text 4"/>
          <p:cNvSpPr/>
          <p:nvPr/>
        </p:nvSpPr>
        <p:spPr>
          <a:xfrm>
            <a:off x="566928" y="1600200"/>
            <a:ext cx="9326880" cy="1920240"/>
          </a:xfrm>
          <a:prstGeom prst="rect">
            <a:avLst/>
          </a:prstGeom>
          <a:noFill/>
          <a:ln/>
        </p:spPr>
        <p:txBody>
          <a:bodyPr wrap="square" rtlCol="0" anchor="ctr"/>
          <a:lstStyle/>
          <a:p>
            <a:pPr indent="0" marL="0">
              <a:lnSpc>
                <a:spcPct val="100000"/>
              </a:lnSpc>
              <a:buNone/>
            </a:pPr>
            <a:r>
              <a:rPr lang="en-US" sz="3950" b="1" dirty="0">
                <a:solidFill>
                  <a:srgbClr val="FFFFFF"/>
                </a:solidFill>
                <a:latin typeface="Georgia" pitchFamily="34" charset="0"/>
                <a:ea typeface="Georgia" pitchFamily="34" charset="-122"/>
                <a:cs typeface="Georgia" pitchFamily="34" charset="-120"/>
              </a:rPr>
              <a:t>Custody Architecture</a:t>
            </a:r>
            <a:endParaRPr lang="en-US" sz="3950" dirty="0"/>
          </a:p>
          <a:p>
            <a:pPr indent="0" marL="0">
              <a:lnSpc>
                <a:spcPct val="100000"/>
              </a:lnSpc>
              <a:buNone/>
            </a:pPr>
            <a:r>
              <a:rPr lang="en-US" sz="3950" b="1" dirty="0">
                <a:solidFill>
                  <a:srgbClr val="FFFFFF"/>
                </a:solidFill>
                <a:latin typeface="Georgia" pitchFamily="34" charset="0"/>
                <a:ea typeface="Georgia" pitchFamily="34" charset="-122"/>
                <a:cs typeface="Georgia" pitchFamily="34" charset="-120"/>
              </a:rPr>
              <a:t>for Agentic Enterprises</a:t>
            </a:r>
            <a:endParaRPr lang="en-US" sz="3950" dirty="0"/>
          </a:p>
        </p:txBody>
      </p:sp>
      <p:sp>
        <p:nvSpPr>
          <p:cNvPr id="7" name="Text 5"/>
          <p:cNvSpPr/>
          <p:nvPr/>
        </p:nvSpPr>
        <p:spPr>
          <a:xfrm>
            <a:off x="566928" y="3611880"/>
            <a:ext cx="9692640" cy="548640"/>
          </a:xfrm>
          <a:prstGeom prst="rect">
            <a:avLst/>
          </a:prstGeom>
          <a:noFill/>
          <a:ln/>
        </p:spPr>
        <p:txBody>
          <a:bodyPr wrap="square" rtlCol="0" anchor="ctr"/>
          <a:lstStyle/>
          <a:p>
            <a:pPr indent="0" marL="0">
              <a:buNone/>
            </a:pPr>
            <a:r>
              <a:rPr lang="en-US" sz="1950" i="1" dirty="0">
                <a:solidFill>
                  <a:srgbClr val="E4DFD5"/>
                </a:solidFill>
                <a:latin typeface="Georgia" pitchFamily="34" charset="0"/>
                <a:ea typeface="Georgia" pitchFamily="34" charset="-122"/>
                <a:cs typeface="Georgia" pitchFamily="34" charset="-120"/>
              </a:rPr>
              <a:t>Deriving Enterprise Architecture from First Principles</a:t>
            </a:r>
            <a:endParaRPr lang="en-US" sz="1950" dirty="0"/>
          </a:p>
        </p:txBody>
      </p:sp>
      <p:sp>
        <p:nvSpPr>
          <p:cNvPr id="8" name="Text 6"/>
          <p:cNvSpPr/>
          <p:nvPr/>
        </p:nvSpPr>
        <p:spPr>
          <a:xfrm>
            <a:off x="566928" y="5029200"/>
            <a:ext cx="10515600" cy="822960"/>
          </a:xfrm>
          <a:prstGeom prst="rect">
            <a:avLst/>
          </a:prstGeom>
          <a:noFill/>
          <a:ln/>
        </p:spPr>
        <p:txBody>
          <a:bodyPr wrap="square" rtlCol="0" anchor="ctr"/>
          <a:lstStyle/>
          <a:p>
            <a:pPr indent="0" marL="0">
              <a:lnSpc>
                <a:spcPct val="120000"/>
              </a:lnSpc>
              <a:buNone/>
            </a:pPr>
            <a:r>
              <a:rPr lang="en-US" sz="1300" dirty="0">
                <a:solidFill>
                  <a:srgbClr val="D6D2C9"/>
                </a:solidFill>
                <a:latin typeface="Georgia" pitchFamily="34" charset="0"/>
                <a:ea typeface="Georgia" pitchFamily="34" charset="-122"/>
                <a:cs typeface="Georgia" pitchFamily="34" charset="-120"/>
              </a:rPr>
              <a:t>A 13-week graduate seminar + derivation lab, built on the book
</a:t>
            </a:r>
            <a:pPr indent="0" marL="0">
              <a:lnSpc>
                <a:spcPct val="120000"/>
              </a:lnSpc>
              <a:buNone/>
            </a:pPr>
            <a:r>
              <a:rPr lang="en-US" sz="1400" b="1" i="1" dirty="0">
                <a:solidFill>
                  <a:srgbClr val="FFFFFF"/>
                </a:solidFill>
                <a:latin typeface="Georgia" pitchFamily="34" charset="0"/>
                <a:ea typeface="Georgia" pitchFamily="34" charset="-122"/>
                <a:cs typeface="Georgia" pitchFamily="34" charset="-120"/>
              </a:rPr>
              <a:t>What the Structure Does Not Carry</a:t>
            </a:r>
            <a:pPr indent="0" marL="0">
              <a:lnSpc>
                <a:spcPct val="120000"/>
              </a:lnSpc>
              <a:buNone/>
            </a:pPr>
            <a:r>
              <a:rPr lang="en-US" sz="1200" dirty="0">
                <a:solidFill>
                  <a:srgbClr val="D6D2C9"/>
                </a:solidFill>
                <a:latin typeface="Georgia" pitchFamily="34" charset="0"/>
                <a:ea typeface="Georgia" pitchFamily="34" charset="-122"/>
                <a:cs typeface="Georgia" pitchFamily="34" charset="-120"/>
              </a:rPr>
              <a:t>  ·  Georg Zangl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371600" cy="310896"/>
          </a:xfrm>
          <a:prstGeom prst="roundRect">
            <a:avLst>
              <a:gd name="adj" fmla="val 50000"/>
            </a:avLst>
          </a:prstGeom>
          <a:solidFill>
            <a:srgbClr val="8A8378"/>
          </a:solidFill>
          <a:ln/>
        </p:spPr>
      </p:sp>
      <p:sp>
        <p:nvSpPr>
          <p:cNvPr id="3" name="Text 1"/>
          <p:cNvSpPr/>
          <p:nvPr/>
        </p:nvSpPr>
        <p:spPr>
          <a:xfrm>
            <a:off x="566928" y="2148840"/>
            <a:ext cx="137160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PART I</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Invisible Layer</a:t>
            </a:r>
            <a:endParaRPr lang="en-US" sz="3400" dirty="0"/>
          </a:p>
        </p:txBody>
      </p:sp>
      <p:sp>
        <p:nvSpPr>
          <p:cNvPr id="5" name="Text 3"/>
          <p:cNvSpPr/>
          <p:nvPr/>
        </p:nvSpPr>
        <p:spPr>
          <a:xfrm>
            <a:off x="566928" y="365760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Read as a graduate diagnosis: the discipline has appeared adequate for forty years only because a human layer silently compensated for what the architecture never carried.</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1</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The discipline redefined</a:t>
            </a:r>
            <a:endParaRPr lang="en-US" sz="22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We open by reconstructing the book’s diagnosis rigorously: the architecture diagram omits the human layer that carries meaning, authority and memory across boundaries; five generations of software each preserved one property and left the rest; and agentic AI withdraws the subsidy. In the lab, you locate the crossing in a supplied incident and specify what failed there.</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Reconstruct the diagnosis of Part I as an argument</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Distinguish loud system failure from silent crossing failure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Locate a crossing and specify the property that leaked</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BEFORE THE RECONSTRUCTION</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What an enterprise really is</a:t>
            </a:r>
            <a:endParaRPr lang="en-US" sz="24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An enterprise is not its systems.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Every application in a large institution is replaced within a working lifetime, yet the enterprise persists across every replacement — so whatever it is, it is not the equipment.</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It is a set of properties that must hold as work moves.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What the work means, who may decide it, who answers for it, how independent actions stay aligned, which rules hold at every door, and what the organisation still knows tomorrow.</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Six of them — named now, derived later.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Context, authority, accountability, coordination, execution coherence, institutional memory. This primer states them plainly; the rest of the course earns them from first principles.</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properties are the enterprise; the systems are replaceable.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Designing systems well is necessary, but the essential work is keeping these properties intact wherever the work goes.</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WHAT THE DIAGRAM OMITS</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invisible layer</a:t>
            </a:r>
            <a:endParaRPr lang="en-US" sz="24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architecture diagram leaves out its most important component.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Boxes are systems and arrows are integrations — and between them stands a layer of people the diagram never draws.</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At every arrow, a person carries what no system stores.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The meaning of a figure, the authority to approve it, the memory of why it was set — moved by hand, inside people's heads.</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For forty years the layer was invisible because it was salaried.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It never appeared in a diagram or a budget line, so the architecture looked adequate while people quietly compensated for what it did not carry.</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Agentic AI withdraws that subsidy.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Automate the task and the person at the boundary leaves with it. The failures that follow are not new AI failures — they are old custody gaps, surfacing.</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PART I AS AN ARGUMENT</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diagnosis, stated as premises</a:t>
            </a:r>
            <a:endParaRPr lang="en-US" sz="24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P1 — The enterprise persists while its systems change.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Therefore systems are not what the enterprise is.</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P2 — Work moves across boundaries the diagram draws as arrows.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At each arrow, something must be carried that the arrow does not model.</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P3 — For forty years, people carried it.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Meaning, authority, accountability, memory — by hand, at every crossing.</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C — The adequacy was subsidised, not real.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 subsidised failure is indistinguishable from success while the subsidy flows.</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WHY THE LEAK IS INVISIBLE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Two regimes of failure</a:t>
            </a:r>
            <a:endParaRPr lang="en-US" sz="2450" dirty="0"/>
          </a:p>
        </p:txBody>
      </p:sp>
      <p:sp>
        <p:nvSpPr>
          <p:cNvPr id="4" name="Shape 2"/>
          <p:cNvSpPr/>
          <p:nvPr/>
        </p:nvSpPr>
        <p:spPr>
          <a:xfrm>
            <a:off x="566928" y="1737360"/>
            <a:ext cx="5368900" cy="4480560"/>
          </a:xfrm>
          <a:prstGeom prst="roundRect">
            <a:avLst>
              <a:gd name="adj" fmla="val 1633"/>
            </a:avLst>
          </a:prstGeom>
          <a:solidFill>
            <a:srgbClr val="F4F2EE"/>
          </a:solidFill>
          <a:ln/>
        </p:spPr>
      </p:sp>
      <p:sp>
        <p:nvSpPr>
          <p:cNvPr id="5" name="Shape 3"/>
          <p:cNvSpPr/>
          <p:nvPr/>
        </p:nvSpPr>
        <p:spPr>
          <a:xfrm>
            <a:off x="566928" y="1737360"/>
            <a:ext cx="5368900" cy="548640"/>
          </a:xfrm>
          <a:prstGeom prst="roundRect">
            <a:avLst>
              <a:gd name="adj" fmla="val 13333"/>
            </a:avLst>
          </a:prstGeom>
          <a:solidFill>
            <a:srgbClr val="8A8378"/>
          </a:solidFill>
          <a:ln/>
        </p:spPr>
      </p:sp>
      <p:sp>
        <p:nvSpPr>
          <p:cNvPr id="6" name="Text 4"/>
          <p:cNvSpPr/>
          <p:nvPr/>
        </p:nvSpPr>
        <p:spPr>
          <a:xfrm>
            <a:off x="795528" y="1737360"/>
            <a:ext cx="4911700" cy="548640"/>
          </a:xfrm>
          <a:prstGeom prst="rect">
            <a:avLst/>
          </a:prstGeom>
          <a:noFill/>
          <a:ln/>
        </p:spPr>
        <p:txBody>
          <a:bodyPr wrap="square"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System failure</a:t>
            </a:r>
            <a:endParaRPr lang="en-US" sz="1450" dirty="0"/>
          </a:p>
        </p:txBody>
      </p:sp>
      <p:sp>
        <p:nvSpPr>
          <p:cNvPr id="7" name="Text 5"/>
          <p:cNvSpPr/>
          <p:nvPr/>
        </p:nvSpPr>
        <p:spPr>
          <a:xfrm>
            <a:off x="82296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Loud: alarms, dashboards, pagers</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Attributable and owned</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Fixed because someone’s job depends on it</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Named, budgeted, staffed</a:t>
            </a:r>
            <a:endParaRPr lang="en-US" sz="1200" dirty="0"/>
          </a:p>
        </p:txBody>
      </p:sp>
      <p:sp>
        <p:nvSpPr>
          <p:cNvPr id="8" name="Shape 6"/>
          <p:cNvSpPr/>
          <p:nvPr/>
        </p:nvSpPr>
        <p:spPr>
          <a:xfrm>
            <a:off x="6255868" y="1737360"/>
            <a:ext cx="5368900" cy="4480560"/>
          </a:xfrm>
          <a:prstGeom prst="roundRect">
            <a:avLst>
              <a:gd name="adj" fmla="val 1633"/>
            </a:avLst>
          </a:prstGeom>
          <a:solidFill>
            <a:srgbClr val="EBE7DF"/>
          </a:solidFill>
          <a:ln/>
        </p:spPr>
      </p:sp>
      <p:sp>
        <p:nvSpPr>
          <p:cNvPr id="9" name="Shape 7"/>
          <p:cNvSpPr/>
          <p:nvPr/>
        </p:nvSpPr>
        <p:spPr>
          <a:xfrm>
            <a:off x="6255868" y="1737360"/>
            <a:ext cx="5368900" cy="548640"/>
          </a:xfrm>
          <a:prstGeom prst="roundRect">
            <a:avLst>
              <a:gd name="adj" fmla="val 13333"/>
            </a:avLst>
          </a:prstGeom>
          <a:solidFill>
            <a:srgbClr val="33302B"/>
          </a:solidFill>
          <a:ln/>
        </p:spPr>
      </p:sp>
      <p:sp>
        <p:nvSpPr>
          <p:cNvPr id="10" name="Text 8"/>
          <p:cNvSpPr/>
          <p:nvPr/>
        </p:nvSpPr>
        <p:spPr>
          <a:xfrm>
            <a:off x="6484468" y="1737360"/>
            <a:ext cx="4911700" cy="548640"/>
          </a:xfrm>
          <a:prstGeom prst="rect">
            <a:avLst/>
          </a:prstGeom>
          <a:noFill/>
          <a:ln/>
        </p:spPr>
        <p:txBody>
          <a:bodyPr wrap="square"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Crossing failure</a:t>
            </a:r>
            <a:endParaRPr lang="en-US" sz="1450" dirty="0"/>
          </a:p>
        </p:txBody>
      </p:sp>
      <p:sp>
        <p:nvSpPr>
          <p:cNvPr id="11" name="Text 9"/>
          <p:cNvSpPr/>
          <p:nvPr/>
        </p:nvSpPr>
        <p:spPr>
          <a:xfrm>
            <a:off x="651190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Silent: no component owns the context</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Surfaces weeks later as ‘human error’</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Never attributed to the boundary that made it</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No name, no budget, no owner</a:t>
            </a:r>
            <a:endParaRPr lang="en-US" sz="1200" dirty="0"/>
          </a:p>
        </p:txBody>
      </p:sp>
      <p:sp>
        <p:nvSpPr>
          <p:cNvPr id="12" name="Text 10"/>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3" name="Text 11"/>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DERIVATION LAB</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Lab 1 — Locate the crossing</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1</a:t>
            </a:r>
            <a:endParaRPr lang="en-US" sz="1200" dirty="0"/>
          </a:p>
        </p:txBody>
      </p:sp>
      <p:sp>
        <p:nvSpPr>
          <p:cNvPr id="7" name="Text 5"/>
          <p:cNvSpPr/>
          <p:nvPr/>
        </p:nvSpPr>
        <p:spPr>
          <a:xfrm>
            <a:off x="1143000" y="1920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Given the supplied incident, draw the systems and the boundaries between them.</a:t>
            </a:r>
            <a:endParaRPr lang="en-US" sz="1400" dirty="0"/>
          </a:p>
        </p:txBody>
      </p:sp>
      <p:sp>
        <p:nvSpPr>
          <p:cNvPr id="8" name="Shape 6"/>
          <p:cNvSpPr/>
          <p:nvPr/>
        </p:nvSpPr>
        <p:spPr>
          <a:xfrm>
            <a:off x="566928" y="3489960"/>
            <a:ext cx="420624" cy="420624"/>
          </a:xfrm>
          <a:prstGeom prst="ellipse">
            <a:avLst/>
          </a:prstGeom>
          <a:solidFill>
            <a:srgbClr val="8A8378"/>
          </a:solidFill>
          <a:ln/>
        </p:spPr>
      </p:sp>
      <p:sp>
        <p:nvSpPr>
          <p:cNvPr id="9" name="Text 7"/>
          <p:cNvSpPr/>
          <p:nvPr/>
        </p:nvSpPr>
        <p:spPr>
          <a:xfrm>
            <a:off x="566928" y="3489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1143000" y="3444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Identify the exact crossing where the loss occurred and name the property that leaked.</a:t>
            </a:r>
            <a:endParaRPr lang="en-US" sz="1400" dirty="0"/>
          </a:p>
        </p:txBody>
      </p:sp>
      <p:sp>
        <p:nvSpPr>
          <p:cNvPr id="11" name="Shape 9"/>
          <p:cNvSpPr/>
          <p:nvPr/>
        </p:nvSpPr>
        <p:spPr>
          <a:xfrm>
            <a:off x="566928" y="5013960"/>
            <a:ext cx="420624" cy="420624"/>
          </a:xfrm>
          <a:prstGeom prst="ellipse">
            <a:avLst/>
          </a:prstGeom>
          <a:solidFill>
            <a:srgbClr val="8A8378"/>
          </a:solidFill>
          <a:ln/>
        </p:spPr>
      </p:sp>
      <p:sp>
        <p:nvSpPr>
          <p:cNvPr id="12" name="Text 10"/>
          <p:cNvSpPr/>
          <p:nvPr/>
        </p:nvSpPr>
        <p:spPr>
          <a:xfrm>
            <a:off x="566928" y="5013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3</a:t>
            </a:r>
            <a:endParaRPr lang="en-US" sz="1200" dirty="0"/>
          </a:p>
        </p:txBody>
      </p:sp>
      <p:sp>
        <p:nvSpPr>
          <p:cNvPr id="13" name="Text 11"/>
          <p:cNvSpPr/>
          <p:nvPr/>
        </p:nvSpPr>
        <p:spPr>
          <a:xfrm>
            <a:off x="1143000" y="4968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State one counterfactual: what, carried across that crossing, would have prevented it?</a:t>
            </a:r>
            <a:endParaRPr lang="en-US" sz="140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371600" cy="310896"/>
          </a:xfrm>
          <a:prstGeom prst="roundRect">
            <a:avLst>
              <a:gd name="adj" fmla="val 50000"/>
            </a:avLst>
          </a:prstGeom>
          <a:solidFill>
            <a:srgbClr val="8A8378"/>
          </a:solidFill>
          <a:ln/>
        </p:spPr>
      </p:sp>
      <p:sp>
        <p:nvSpPr>
          <p:cNvPr id="3" name="Text 1"/>
          <p:cNvSpPr/>
          <p:nvPr/>
        </p:nvSpPr>
        <p:spPr>
          <a:xfrm>
            <a:off x="566928" y="2148840"/>
            <a:ext cx="137160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PART II</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Laws</a:t>
            </a:r>
            <a:endParaRPr lang="en-US" sz="3400" dirty="0"/>
          </a:p>
        </p:txBody>
      </p:sp>
      <p:sp>
        <p:nvSpPr>
          <p:cNvPr id="5" name="Text 3"/>
          <p:cNvSpPr/>
          <p:nvPr/>
        </p:nvSpPr>
        <p:spPr>
          <a:xfrm>
            <a:off x="566928" y="365760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The core of the course. The custody law, the six conserved quantities, the four axioms, and the preservation principle — derived, attacked, and made precise enough to build and litigate against.</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2</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Custody under movement</a:t>
            </a:r>
            <a:endParaRPr lang="en-US" sz="22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We derive the governing law and its six conserved quantities. Treating the enterprise as an engineer treats a plant, we ask what must balance across every boundary. In the lab you rebuild the six properties from first principles and argue for completeness.</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State and defend the custody law</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Derive the six properties as conserved quantities</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Argue why the set is complete</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521208" y="548640"/>
            <a:ext cx="1828800" cy="1463040"/>
          </a:xfrm>
          <a:prstGeom prst="rect">
            <a:avLst/>
          </a:prstGeom>
          <a:noFill/>
          <a:ln/>
        </p:spPr>
        <p:txBody>
          <a:bodyPr wrap="square" rtlCol="0" anchor="ctr"/>
          <a:lstStyle/>
          <a:p>
            <a:pPr indent="0" marL="0">
              <a:buNone/>
            </a:pPr>
            <a:r>
              <a:rPr lang="en-US" sz="12200" b="1" dirty="0">
                <a:solidFill>
                  <a:srgbClr val="E4DFD5"/>
                </a:solidFill>
                <a:latin typeface="Georgia" pitchFamily="34" charset="0"/>
                <a:ea typeface="Georgia" pitchFamily="34" charset="-122"/>
                <a:cs typeface="Georgia" pitchFamily="34" charset="-120"/>
              </a:rPr>
              <a:t>“</a:t>
            </a:r>
            <a:endParaRPr lang="en-US" sz="12200" dirty="0"/>
          </a:p>
        </p:txBody>
      </p:sp>
      <p:sp>
        <p:nvSpPr>
          <p:cNvPr id="3" name="Text 1"/>
          <p:cNvSpPr/>
          <p:nvPr/>
        </p:nvSpPr>
        <p:spPr>
          <a:xfrm>
            <a:off x="1554480" y="1371600"/>
            <a:ext cx="9960559"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LAW</a:t>
            </a:r>
            <a:endParaRPr lang="en-US" sz="1150" dirty="0"/>
          </a:p>
        </p:txBody>
      </p:sp>
      <p:sp>
        <p:nvSpPr>
          <p:cNvPr id="4" name="Text 2"/>
          <p:cNvSpPr/>
          <p:nvPr/>
        </p:nvSpPr>
        <p:spPr>
          <a:xfrm>
            <a:off x="1554480" y="1783080"/>
            <a:ext cx="9594799" cy="2743200"/>
          </a:xfrm>
          <a:prstGeom prst="rect">
            <a:avLst/>
          </a:prstGeom>
          <a:noFill/>
          <a:ln/>
        </p:spPr>
        <p:txBody>
          <a:bodyPr wrap="square" rtlCol="0" anchor="t"/>
          <a:lstStyle/>
          <a:p>
            <a:pPr indent="0" marL="0">
              <a:lnSpc>
                <a:spcPct val="115000"/>
              </a:lnSpc>
              <a:buNone/>
            </a:pPr>
            <a:r>
              <a:rPr lang="en-US" sz="2350" b="1" i="1" dirty="0">
                <a:solidFill>
                  <a:srgbClr val="1B1A18"/>
                </a:solidFill>
                <a:latin typeface="Georgia" pitchFamily="34" charset="0"/>
                <a:ea typeface="Georgia" pitchFamily="34" charset="-122"/>
                <a:cs typeface="Georgia" pitchFamily="34" charset="-120"/>
              </a:rPr>
              <a:t>Enterprise architecture is the custody of organisational properties under movement. The unit is the crossing.</a:t>
            </a:r>
            <a:endParaRPr lang="en-US" sz="2350" dirty="0"/>
          </a:p>
        </p:txBody>
      </p:sp>
      <p:sp>
        <p:nvSpPr>
          <p:cNvPr id="5" name="Text 3"/>
          <p:cNvSpPr/>
          <p:nvPr/>
        </p:nvSpPr>
        <p:spPr>
          <a:xfrm>
            <a:off x="1572768" y="4937760"/>
            <a:ext cx="9594799" cy="457200"/>
          </a:xfrm>
          <a:prstGeom prst="rect">
            <a:avLst/>
          </a:prstGeom>
          <a:noFill/>
          <a:ln/>
        </p:spPr>
        <p:txBody>
          <a:bodyPr wrap="square" rtlCol="0" anchor="ctr"/>
          <a:lstStyle/>
          <a:p>
            <a:pPr indent="0" marL="0">
              <a:buNone/>
            </a:pPr>
            <a:r>
              <a:rPr lang="en-US" sz="1300" dirty="0">
                <a:solidFill>
                  <a:srgbClr val="6E6A62"/>
                </a:solidFill>
                <a:latin typeface="Georgia" pitchFamily="34" charset="0"/>
                <a:ea typeface="Georgia" pitchFamily="34" charset="-122"/>
                <a:cs typeface="Georgia" pitchFamily="34" charset="-120"/>
              </a:rPr>
              <a:t>— Chapter 4</a:t>
            </a:r>
            <a:endParaRPr lang="en-US" sz="13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CUSTODY OF WHAT, EXACTLY?</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six conserved quantities</a:t>
            </a:r>
            <a:endParaRPr lang="en-US" sz="2450" dirty="0"/>
          </a:p>
        </p:txBody>
      </p:sp>
      <p:sp>
        <p:nvSpPr>
          <p:cNvPr id="4" name="Shape 2"/>
          <p:cNvSpPr/>
          <p:nvPr/>
        </p:nvSpPr>
        <p:spPr>
          <a:xfrm>
            <a:off x="566928" y="1691640"/>
            <a:ext cx="3503066"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557784" cy="310896"/>
          </a:xfrm>
          <a:prstGeom prst="roundRect">
            <a:avLst>
              <a:gd name="adj" fmla="val 50000"/>
            </a:avLst>
          </a:prstGeom>
          <a:solidFill>
            <a:srgbClr val="8A8378"/>
          </a:solidFill>
          <a:ln/>
        </p:spPr>
      </p:sp>
      <p:sp>
        <p:nvSpPr>
          <p:cNvPr id="6" name="Text 4"/>
          <p:cNvSpPr/>
          <p:nvPr/>
        </p:nvSpPr>
        <p:spPr>
          <a:xfrm>
            <a:off x="795528" y="1892808"/>
            <a:ext cx="557784"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1</a:t>
            </a:r>
            <a:endParaRPr lang="en-US" sz="950" dirty="0"/>
          </a:p>
        </p:txBody>
      </p:sp>
      <p:sp>
        <p:nvSpPr>
          <p:cNvPr id="7" name="Text 5"/>
          <p:cNvSpPr/>
          <p:nvPr/>
        </p:nvSpPr>
        <p:spPr>
          <a:xfrm>
            <a:off x="795528" y="2295144"/>
            <a:ext cx="3045866"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Context</a:t>
            </a:r>
            <a:endParaRPr lang="en-US" sz="1450" dirty="0"/>
          </a:p>
        </p:txBody>
      </p:sp>
      <p:sp>
        <p:nvSpPr>
          <p:cNvPr id="8" name="Text 6"/>
          <p:cNvSpPr/>
          <p:nvPr/>
        </p:nvSpPr>
        <p:spPr>
          <a:xfrm>
            <a:off x="795528"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Meaning of the work. Failure: the meaning error. Rule: preserve more than you transport.</a:t>
            </a:r>
            <a:endParaRPr lang="en-US" sz="1150" dirty="0"/>
          </a:p>
        </p:txBody>
      </p:sp>
      <p:sp>
        <p:nvSpPr>
          <p:cNvPr id="9" name="Shape 7"/>
          <p:cNvSpPr/>
          <p:nvPr/>
        </p:nvSpPr>
        <p:spPr>
          <a:xfrm>
            <a:off x="4344314" y="1691640"/>
            <a:ext cx="3503066"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4572914" y="1892808"/>
            <a:ext cx="557784" cy="310896"/>
          </a:xfrm>
          <a:prstGeom prst="roundRect">
            <a:avLst>
              <a:gd name="adj" fmla="val 50000"/>
            </a:avLst>
          </a:prstGeom>
          <a:solidFill>
            <a:srgbClr val="8A8378"/>
          </a:solidFill>
          <a:ln/>
        </p:spPr>
      </p:sp>
      <p:sp>
        <p:nvSpPr>
          <p:cNvPr id="11" name="Text 9"/>
          <p:cNvSpPr/>
          <p:nvPr/>
        </p:nvSpPr>
        <p:spPr>
          <a:xfrm>
            <a:off x="4572914" y="1892808"/>
            <a:ext cx="557784"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2</a:t>
            </a:r>
            <a:endParaRPr lang="en-US" sz="950" dirty="0"/>
          </a:p>
        </p:txBody>
      </p:sp>
      <p:sp>
        <p:nvSpPr>
          <p:cNvPr id="12" name="Text 10"/>
          <p:cNvSpPr/>
          <p:nvPr/>
        </p:nvSpPr>
        <p:spPr>
          <a:xfrm>
            <a:off x="4572914" y="2295144"/>
            <a:ext cx="3045866"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Authority</a:t>
            </a:r>
            <a:endParaRPr lang="en-US" sz="1450" dirty="0"/>
          </a:p>
        </p:txBody>
      </p:sp>
      <p:sp>
        <p:nvSpPr>
          <p:cNvPr id="13" name="Text 11"/>
          <p:cNvSpPr/>
          <p:nvPr/>
        </p:nvSpPr>
        <p:spPr>
          <a:xfrm>
            <a:off x="4572914"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Decision rights, enforced at the boundary. Rule: rights are data, not re-derived locally.</a:t>
            </a:r>
            <a:endParaRPr lang="en-US" sz="1150" dirty="0"/>
          </a:p>
        </p:txBody>
      </p:sp>
      <p:sp>
        <p:nvSpPr>
          <p:cNvPr id="14" name="Shape 12"/>
          <p:cNvSpPr/>
          <p:nvPr/>
        </p:nvSpPr>
        <p:spPr>
          <a:xfrm>
            <a:off x="8121701" y="1691640"/>
            <a:ext cx="3503066"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8350301" y="1892808"/>
            <a:ext cx="557784" cy="310896"/>
          </a:xfrm>
          <a:prstGeom prst="roundRect">
            <a:avLst>
              <a:gd name="adj" fmla="val 50000"/>
            </a:avLst>
          </a:prstGeom>
          <a:solidFill>
            <a:srgbClr val="8A8378"/>
          </a:solidFill>
          <a:ln/>
        </p:spPr>
      </p:sp>
      <p:sp>
        <p:nvSpPr>
          <p:cNvPr id="16" name="Text 14"/>
          <p:cNvSpPr/>
          <p:nvPr/>
        </p:nvSpPr>
        <p:spPr>
          <a:xfrm>
            <a:off x="8350301" y="1892808"/>
            <a:ext cx="557784"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3</a:t>
            </a:r>
            <a:endParaRPr lang="en-US" sz="950" dirty="0"/>
          </a:p>
        </p:txBody>
      </p:sp>
      <p:sp>
        <p:nvSpPr>
          <p:cNvPr id="17" name="Text 15"/>
          <p:cNvSpPr/>
          <p:nvPr/>
        </p:nvSpPr>
        <p:spPr>
          <a:xfrm>
            <a:off x="8350301" y="2295144"/>
            <a:ext cx="3045866"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Accountability</a:t>
            </a:r>
            <a:endParaRPr lang="en-US" sz="1450" dirty="0"/>
          </a:p>
        </p:txBody>
      </p:sp>
      <p:sp>
        <p:nvSpPr>
          <p:cNvPr id="18" name="Text 16"/>
          <p:cNvSpPr/>
          <p:nvPr/>
        </p:nvSpPr>
        <p:spPr>
          <a:xfrm>
            <a:off x="8350301"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Provenance as a by-product. Rule: if attribution needs investigation, custody failed.</a:t>
            </a:r>
            <a:endParaRPr lang="en-US" sz="1150" dirty="0"/>
          </a:p>
        </p:txBody>
      </p:sp>
      <p:sp>
        <p:nvSpPr>
          <p:cNvPr id="19" name="Shape 17"/>
          <p:cNvSpPr/>
          <p:nvPr/>
        </p:nvSpPr>
        <p:spPr>
          <a:xfrm>
            <a:off x="566928" y="4114800"/>
            <a:ext cx="3503066"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795528" y="4315968"/>
            <a:ext cx="557784" cy="310896"/>
          </a:xfrm>
          <a:prstGeom prst="roundRect">
            <a:avLst>
              <a:gd name="adj" fmla="val 50000"/>
            </a:avLst>
          </a:prstGeom>
          <a:solidFill>
            <a:srgbClr val="8A8378"/>
          </a:solidFill>
          <a:ln/>
        </p:spPr>
      </p:sp>
      <p:sp>
        <p:nvSpPr>
          <p:cNvPr id="21" name="Text 19"/>
          <p:cNvSpPr/>
          <p:nvPr/>
        </p:nvSpPr>
        <p:spPr>
          <a:xfrm>
            <a:off x="795528" y="4315968"/>
            <a:ext cx="557784"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4</a:t>
            </a:r>
            <a:endParaRPr lang="en-US" sz="950" dirty="0"/>
          </a:p>
        </p:txBody>
      </p:sp>
      <p:sp>
        <p:nvSpPr>
          <p:cNvPr id="22" name="Text 20"/>
          <p:cNvSpPr/>
          <p:nvPr/>
        </p:nvSpPr>
        <p:spPr>
          <a:xfrm>
            <a:off x="795528" y="4718304"/>
            <a:ext cx="3045866"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Coordination</a:t>
            </a:r>
            <a:endParaRPr lang="en-US" sz="1450" dirty="0"/>
          </a:p>
        </p:txBody>
      </p:sp>
      <p:sp>
        <p:nvSpPr>
          <p:cNvPr id="23" name="Text 21"/>
          <p:cNvSpPr/>
          <p:nvPr/>
        </p:nvSpPr>
        <p:spPr>
          <a:xfrm>
            <a:off x="795528"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Shared invariants at the seams. Rule: whatever merely connects does not coordinate.</a:t>
            </a:r>
            <a:endParaRPr lang="en-US" sz="1150" dirty="0"/>
          </a:p>
        </p:txBody>
      </p:sp>
      <p:sp>
        <p:nvSpPr>
          <p:cNvPr id="24" name="Shape 22"/>
          <p:cNvSpPr/>
          <p:nvPr/>
        </p:nvSpPr>
        <p:spPr>
          <a:xfrm>
            <a:off x="4344314" y="4114800"/>
            <a:ext cx="3503066" cy="2148840"/>
          </a:xfrm>
          <a:prstGeom prst="roundRect">
            <a:avLst>
              <a:gd name="adj" fmla="val 3404"/>
            </a:avLst>
          </a:prstGeom>
          <a:solidFill>
            <a:srgbClr val="F4F2EE"/>
          </a:solidFill>
          <a:ln w="12700">
            <a:solidFill>
              <a:srgbClr val="EBE7DF"/>
            </a:solidFill>
            <a:prstDash val="solid"/>
          </a:ln>
        </p:spPr>
      </p:sp>
      <p:sp>
        <p:nvSpPr>
          <p:cNvPr id="25" name="Shape 23"/>
          <p:cNvSpPr/>
          <p:nvPr/>
        </p:nvSpPr>
        <p:spPr>
          <a:xfrm>
            <a:off x="4572914" y="4315968"/>
            <a:ext cx="557784" cy="310896"/>
          </a:xfrm>
          <a:prstGeom prst="roundRect">
            <a:avLst>
              <a:gd name="adj" fmla="val 50000"/>
            </a:avLst>
          </a:prstGeom>
          <a:solidFill>
            <a:srgbClr val="8A8378"/>
          </a:solidFill>
          <a:ln/>
        </p:spPr>
      </p:sp>
      <p:sp>
        <p:nvSpPr>
          <p:cNvPr id="26" name="Text 24"/>
          <p:cNvSpPr/>
          <p:nvPr/>
        </p:nvSpPr>
        <p:spPr>
          <a:xfrm>
            <a:off x="4572914" y="4315968"/>
            <a:ext cx="557784"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5</a:t>
            </a:r>
            <a:endParaRPr lang="en-US" sz="950" dirty="0"/>
          </a:p>
        </p:txBody>
      </p:sp>
      <p:sp>
        <p:nvSpPr>
          <p:cNvPr id="27" name="Text 25"/>
          <p:cNvSpPr/>
          <p:nvPr/>
        </p:nvSpPr>
        <p:spPr>
          <a:xfrm>
            <a:off x="4572914" y="4718304"/>
            <a:ext cx="3045866"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Execution coherence</a:t>
            </a:r>
            <a:endParaRPr lang="en-US" sz="1450" dirty="0"/>
          </a:p>
        </p:txBody>
      </p:sp>
      <p:sp>
        <p:nvSpPr>
          <p:cNvPr id="28" name="Text 26"/>
          <p:cNvSpPr/>
          <p:nvPr/>
        </p:nvSpPr>
        <p:spPr>
          <a:xfrm>
            <a:off x="4572914"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Non-negotiables above the systems, enforced at every crossing. No component opts out.</a:t>
            </a:r>
            <a:endParaRPr lang="en-US" sz="1150" dirty="0"/>
          </a:p>
        </p:txBody>
      </p:sp>
      <p:sp>
        <p:nvSpPr>
          <p:cNvPr id="29" name="Shape 27"/>
          <p:cNvSpPr/>
          <p:nvPr/>
        </p:nvSpPr>
        <p:spPr>
          <a:xfrm>
            <a:off x="8121701" y="4114800"/>
            <a:ext cx="3503066" cy="2148840"/>
          </a:xfrm>
          <a:prstGeom prst="roundRect">
            <a:avLst>
              <a:gd name="adj" fmla="val 3404"/>
            </a:avLst>
          </a:prstGeom>
          <a:solidFill>
            <a:srgbClr val="F4F2EE"/>
          </a:solidFill>
          <a:ln w="12700">
            <a:solidFill>
              <a:srgbClr val="EBE7DF"/>
            </a:solidFill>
            <a:prstDash val="solid"/>
          </a:ln>
        </p:spPr>
      </p:sp>
      <p:sp>
        <p:nvSpPr>
          <p:cNvPr id="30" name="Shape 28"/>
          <p:cNvSpPr/>
          <p:nvPr/>
        </p:nvSpPr>
        <p:spPr>
          <a:xfrm>
            <a:off x="8350301" y="4315968"/>
            <a:ext cx="557784" cy="310896"/>
          </a:xfrm>
          <a:prstGeom prst="roundRect">
            <a:avLst>
              <a:gd name="adj" fmla="val 50000"/>
            </a:avLst>
          </a:prstGeom>
          <a:solidFill>
            <a:srgbClr val="8A8378"/>
          </a:solidFill>
          <a:ln/>
        </p:spPr>
      </p:sp>
      <p:sp>
        <p:nvSpPr>
          <p:cNvPr id="31" name="Text 29"/>
          <p:cNvSpPr/>
          <p:nvPr/>
        </p:nvSpPr>
        <p:spPr>
          <a:xfrm>
            <a:off x="8350301" y="4315968"/>
            <a:ext cx="557784"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6</a:t>
            </a:r>
            <a:endParaRPr lang="en-US" sz="950" dirty="0"/>
          </a:p>
        </p:txBody>
      </p:sp>
      <p:sp>
        <p:nvSpPr>
          <p:cNvPr id="32" name="Text 30"/>
          <p:cNvSpPr/>
          <p:nvPr/>
        </p:nvSpPr>
        <p:spPr>
          <a:xfrm>
            <a:off x="8350301" y="4718304"/>
            <a:ext cx="3045866"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Institutional memory</a:t>
            </a:r>
            <a:endParaRPr lang="en-US" sz="1450" dirty="0"/>
          </a:p>
        </p:txBody>
      </p:sp>
      <p:sp>
        <p:nvSpPr>
          <p:cNvPr id="33" name="Text 31"/>
          <p:cNvSpPr/>
          <p:nvPr/>
        </p:nvSpPr>
        <p:spPr>
          <a:xfrm>
            <a:off x="8350301"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Durable, ceremonied, provenance-bearing. Memory anything can write is not memory.</a:t>
            </a:r>
            <a:endParaRPr lang="en-US" sz="1150" dirty="0"/>
          </a:p>
        </p:txBody>
      </p:sp>
      <p:sp>
        <p:nvSpPr>
          <p:cNvPr id="34" name="Text 3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35" name="Text 3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FROM TWO OBSERVATIONS TO SIX PROPERTIES</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derivation, in outline</a:t>
            </a:r>
            <a:endParaRPr lang="en-US" sz="24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Observation A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The enterprise is what persists; systems are the replaceable part.</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Observation B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Work moves; invariants must therefore be carried, not merely preserved in place.</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move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Change the unit from the box to the boundary — custody is a property of crossings.</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closure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Enumerate what must survive a crossing; six categories exhaust it — each defined by its characteristic failure.</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DERIVATION LAB</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Lab 2 — Rebuild &amp; attack the six</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1</a:t>
            </a:r>
            <a:endParaRPr lang="en-US" sz="1200" dirty="0"/>
          </a:p>
        </p:txBody>
      </p:sp>
      <p:sp>
        <p:nvSpPr>
          <p:cNvPr id="7" name="Text 5"/>
          <p:cNvSpPr/>
          <p:nvPr/>
        </p:nvSpPr>
        <p:spPr>
          <a:xfrm>
            <a:off x="1143000" y="1920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Reconstruct each property from its characteristic failure, without looking at the list.</a:t>
            </a:r>
            <a:endParaRPr lang="en-US" sz="1400" dirty="0"/>
          </a:p>
        </p:txBody>
      </p:sp>
      <p:sp>
        <p:nvSpPr>
          <p:cNvPr id="8" name="Shape 6"/>
          <p:cNvSpPr/>
          <p:nvPr/>
        </p:nvSpPr>
        <p:spPr>
          <a:xfrm>
            <a:off x="566928" y="3489960"/>
            <a:ext cx="420624" cy="420624"/>
          </a:xfrm>
          <a:prstGeom prst="ellipse">
            <a:avLst/>
          </a:prstGeom>
          <a:solidFill>
            <a:srgbClr val="8A8378"/>
          </a:solidFill>
          <a:ln/>
        </p:spPr>
      </p:sp>
      <p:sp>
        <p:nvSpPr>
          <p:cNvPr id="9" name="Text 7"/>
          <p:cNvSpPr/>
          <p:nvPr/>
        </p:nvSpPr>
        <p:spPr>
          <a:xfrm>
            <a:off x="566928" y="3489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1143000" y="3444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Attempt a seventh property; test whether it collapses into one of the six.</a:t>
            </a:r>
            <a:endParaRPr lang="en-US" sz="1400" dirty="0"/>
          </a:p>
        </p:txBody>
      </p:sp>
      <p:sp>
        <p:nvSpPr>
          <p:cNvPr id="11" name="Shape 9"/>
          <p:cNvSpPr/>
          <p:nvPr/>
        </p:nvSpPr>
        <p:spPr>
          <a:xfrm>
            <a:off x="566928" y="5013960"/>
            <a:ext cx="420624" cy="420624"/>
          </a:xfrm>
          <a:prstGeom prst="ellipse">
            <a:avLst/>
          </a:prstGeom>
          <a:solidFill>
            <a:srgbClr val="8A8378"/>
          </a:solidFill>
          <a:ln/>
        </p:spPr>
      </p:sp>
      <p:sp>
        <p:nvSpPr>
          <p:cNvPr id="12" name="Text 10"/>
          <p:cNvSpPr/>
          <p:nvPr/>
        </p:nvSpPr>
        <p:spPr>
          <a:xfrm>
            <a:off x="566928" y="5013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3</a:t>
            </a:r>
            <a:endParaRPr lang="en-US" sz="1200" dirty="0"/>
          </a:p>
        </p:txBody>
      </p:sp>
      <p:sp>
        <p:nvSpPr>
          <p:cNvPr id="13" name="Text 11"/>
          <p:cNvSpPr/>
          <p:nvPr/>
        </p:nvSpPr>
        <p:spPr>
          <a:xfrm>
            <a:off x="1143000" y="4968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Write the completeness argument in your own words — and one honest objection to it.</a:t>
            </a:r>
            <a:endParaRPr lang="en-US" sz="140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3</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The four axioms and the two eliminations</a:t>
            </a:r>
            <a:endParaRPr lang="en-US" sz="22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The axioms make the agentic era different, and jointly they eliminate two tempting architectures. We work the composition carefully: if governance must hold always and the model holds only usually, the model cannot be the locus of governance. The lab formalises the eliminations.</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State the four axioms precisely</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Derive the two eliminations they force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Explain ‘alignment improves the component; governance must live outside it’</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QUESTIONS THAT DECIDE THE DEAL</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four axioms</a:t>
            </a:r>
            <a:endParaRPr lang="en-US" sz="24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161288" cy="310896"/>
          </a:xfrm>
          <a:prstGeom prst="roundRect">
            <a:avLst>
              <a:gd name="adj" fmla="val 50000"/>
            </a:avLst>
          </a:prstGeom>
          <a:solidFill>
            <a:srgbClr val="1B1A18"/>
          </a:solidFill>
          <a:ln/>
        </p:spPr>
      </p:sp>
      <p:sp>
        <p:nvSpPr>
          <p:cNvPr id="6" name="Text 4"/>
          <p:cNvSpPr/>
          <p:nvPr/>
        </p:nvSpPr>
        <p:spPr>
          <a:xfrm>
            <a:off x="795528" y="1892808"/>
            <a:ext cx="116128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AXIOM 1</a:t>
            </a:r>
            <a:endParaRPr lang="en-US" sz="950" dirty="0"/>
          </a:p>
        </p:txBody>
      </p:sp>
      <p:sp>
        <p:nvSpPr>
          <p:cNvPr id="7" name="Text 5"/>
          <p:cNvSpPr/>
          <p:nvPr/>
        </p:nvSpPr>
        <p:spPr>
          <a:xfrm>
            <a:off x="795528" y="229514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Regulatory determinism</a:t>
            </a:r>
            <a:endParaRPr lang="en-US" sz="1450" dirty="0"/>
          </a:p>
        </p:txBody>
      </p:sp>
      <p:sp>
        <p:nvSpPr>
          <p:cNvPr id="8" name="Text 6"/>
          <p:cNvSpPr/>
          <p:nvPr/>
        </p:nvSpPr>
        <p:spPr>
          <a:xfrm>
            <a:off x="795528" y="275234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Governance must be deterministic, inspectable, provable. Regulation is modal — must, never — and modal claims cannot be met statistically.</a:t>
            </a:r>
            <a:endParaRPr lang="en-US" sz="115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6461608" y="1892808"/>
            <a:ext cx="1161288" cy="310896"/>
          </a:xfrm>
          <a:prstGeom prst="roundRect">
            <a:avLst>
              <a:gd name="adj" fmla="val 50000"/>
            </a:avLst>
          </a:prstGeom>
          <a:solidFill>
            <a:srgbClr val="1B1A18"/>
          </a:solidFill>
          <a:ln/>
        </p:spPr>
      </p:sp>
      <p:sp>
        <p:nvSpPr>
          <p:cNvPr id="11" name="Text 9"/>
          <p:cNvSpPr/>
          <p:nvPr/>
        </p:nvSpPr>
        <p:spPr>
          <a:xfrm>
            <a:off x="6461608" y="1892808"/>
            <a:ext cx="116128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AXIOM 2</a:t>
            </a:r>
            <a:endParaRPr lang="en-US" sz="950" dirty="0"/>
          </a:p>
        </p:txBody>
      </p:sp>
      <p:sp>
        <p:nvSpPr>
          <p:cNvPr id="12" name="Text 10"/>
          <p:cNvSpPr/>
          <p:nvPr/>
        </p:nvSpPr>
        <p:spPr>
          <a:xfrm>
            <a:off x="6461608" y="229514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Probabilistic behaviour</a:t>
            </a:r>
            <a:endParaRPr lang="en-US" sz="1450" dirty="0"/>
          </a:p>
        </p:txBody>
      </p:sp>
      <p:sp>
        <p:nvSpPr>
          <p:cNvPr id="13" name="Text 11"/>
          <p:cNvSpPr/>
          <p:nvPr/>
        </p:nvSpPr>
        <p:spPr>
          <a:xfrm>
            <a:off x="6461608" y="275234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Model output is probabilistic; adversarial input can produce arbitrary output. A system prompt is a request.</a:t>
            </a:r>
            <a:endParaRPr lang="en-US" sz="115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795528" y="4315968"/>
            <a:ext cx="1161288" cy="310896"/>
          </a:xfrm>
          <a:prstGeom prst="roundRect">
            <a:avLst>
              <a:gd name="adj" fmla="val 50000"/>
            </a:avLst>
          </a:prstGeom>
          <a:solidFill>
            <a:srgbClr val="1B1A18"/>
          </a:solidFill>
          <a:ln/>
        </p:spPr>
      </p:sp>
      <p:sp>
        <p:nvSpPr>
          <p:cNvPr id="16" name="Text 14"/>
          <p:cNvSpPr/>
          <p:nvPr/>
        </p:nvSpPr>
        <p:spPr>
          <a:xfrm>
            <a:off x="795528" y="4315968"/>
            <a:ext cx="116128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AXIOM 3</a:t>
            </a:r>
            <a:endParaRPr lang="en-US" sz="950" dirty="0"/>
          </a:p>
        </p:txBody>
      </p:sp>
      <p:sp>
        <p:nvSpPr>
          <p:cNvPr id="17" name="Text 15"/>
          <p:cNvSpPr/>
          <p:nvPr/>
        </p:nvSpPr>
        <p:spPr>
          <a:xfrm>
            <a:off x="795528" y="471830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Perpetual variance</a:t>
            </a:r>
            <a:endParaRPr lang="en-US" sz="1450" dirty="0"/>
          </a:p>
        </p:txBody>
      </p:sp>
      <p:sp>
        <p:nvSpPr>
          <p:cNvPr id="18" name="Text 16"/>
          <p:cNvSpPr/>
          <p:nvPr/>
        </p:nvSpPr>
        <p:spPr>
          <a:xfrm>
            <a:off x="795528" y="517550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Models, regulations, tenants, domains change on four independent clocks. Their composition is continuous change.</a:t>
            </a:r>
            <a:endParaRPr lang="en-US" sz="1150" dirty="0"/>
          </a:p>
        </p:txBody>
      </p:sp>
      <p:sp>
        <p:nvSpPr>
          <p:cNvPr id="19" name="Shape 17"/>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6461608" y="4315968"/>
            <a:ext cx="1161288" cy="310896"/>
          </a:xfrm>
          <a:prstGeom prst="roundRect">
            <a:avLst>
              <a:gd name="adj" fmla="val 50000"/>
            </a:avLst>
          </a:prstGeom>
          <a:solidFill>
            <a:srgbClr val="1B1A18"/>
          </a:solidFill>
          <a:ln/>
        </p:spPr>
      </p:sp>
      <p:sp>
        <p:nvSpPr>
          <p:cNvPr id="21" name="Text 19"/>
          <p:cNvSpPr/>
          <p:nvPr/>
        </p:nvSpPr>
        <p:spPr>
          <a:xfrm>
            <a:off x="6461608" y="4315968"/>
            <a:ext cx="116128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AXIOM 4</a:t>
            </a:r>
            <a:endParaRPr lang="en-US" sz="950" dirty="0"/>
          </a:p>
        </p:txBody>
      </p:sp>
      <p:sp>
        <p:nvSpPr>
          <p:cNvPr id="22" name="Text 20"/>
          <p:cNvSpPr/>
          <p:nvPr/>
        </p:nvSpPr>
        <p:spPr>
          <a:xfrm>
            <a:off x="6461608" y="471830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Audit primacy</a:t>
            </a:r>
            <a:endParaRPr lang="en-US" sz="1450" dirty="0"/>
          </a:p>
        </p:txBody>
      </p:sp>
      <p:sp>
        <p:nvSpPr>
          <p:cNvPr id="23" name="Text 21"/>
          <p:cNvSpPr/>
          <p:nvPr/>
        </p:nvSpPr>
        <p:spPr>
          <a:xfrm>
            <a:off x="6461608" y="517550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What cannot be audited cannot be deployed. Evidence is a product of the system and cannot be retrofitted.</a:t>
            </a:r>
            <a:endParaRPr lang="en-US" sz="1150" dirty="0"/>
          </a:p>
        </p:txBody>
      </p:sp>
      <p:sp>
        <p:nvSpPr>
          <p:cNvPr id="24" name="Text 2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25" name="Text 2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WHAT THE AXIOMS REMOVE FROM THE DESIGN SPACE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two eliminations</a:t>
            </a:r>
            <a:endParaRPr lang="en-US" sz="2450" dirty="0"/>
          </a:p>
        </p:txBody>
      </p:sp>
      <p:sp>
        <p:nvSpPr>
          <p:cNvPr id="4" name="Shape 2"/>
          <p:cNvSpPr/>
          <p:nvPr/>
        </p:nvSpPr>
        <p:spPr>
          <a:xfrm>
            <a:off x="566928" y="1691640"/>
            <a:ext cx="457200" cy="457200"/>
          </a:xfrm>
          <a:prstGeom prst="ellipse">
            <a:avLst/>
          </a:prstGeom>
          <a:solidFill>
            <a:srgbClr val="8A837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44475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Elimination 1 — the model as governor.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Axiom 1 (always) + Axiom 2 (usually) ⇒ whatever must never happen cannot be entrusted to the model.</a:t>
            </a:r>
            <a:endParaRPr lang="en-US" sz="1450" dirty="0"/>
          </a:p>
        </p:txBody>
      </p:sp>
      <p:sp>
        <p:nvSpPr>
          <p:cNvPr id="7" name="Shape 5"/>
          <p:cNvSpPr/>
          <p:nvPr/>
        </p:nvSpPr>
        <p:spPr>
          <a:xfrm>
            <a:off x="566928" y="3246120"/>
            <a:ext cx="457200" cy="457200"/>
          </a:xfrm>
          <a:prstGeom prst="ellipse">
            <a:avLst/>
          </a:prstGeom>
          <a:solidFill>
            <a:srgbClr val="8A8378"/>
          </a:solidFill>
          <a:ln/>
        </p:spPr>
      </p:sp>
      <p:sp>
        <p:nvSpPr>
          <p:cNvPr id="8" name="Text 6"/>
          <p:cNvSpPr/>
          <p:nvPr/>
        </p:nvSpPr>
        <p:spPr>
          <a:xfrm>
            <a:off x="566928" y="32461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3191256"/>
            <a:ext cx="10280599" cy="144475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Elimination 2 — the self-modifying platform.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Axiom 3 (four clocks) + Axiom 4 (proof per transaction) ⇒ a system that absorbs change by changing itself is always mid-change, its proofs perpetually reopened.</a:t>
            </a:r>
            <a:endParaRPr lang="en-US" sz="1450" dirty="0"/>
          </a:p>
        </p:txBody>
      </p:sp>
      <p:sp>
        <p:nvSpPr>
          <p:cNvPr id="10" name="Shape 8"/>
          <p:cNvSpPr/>
          <p:nvPr/>
        </p:nvSpPr>
        <p:spPr>
          <a:xfrm>
            <a:off x="566928" y="4800600"/>
            <a:ext cx="457200" cy="457200"/>
          </a:xfrm>
          <a:prstGeom prst="ellipse">
            <a:avLst/>
          </a:prstGeom>
          <a:solidFill>
            <a:srgbClr val="8A8378"/>
          </a:solidFill>
          <a:ln/>
        </p:spPr>
      </p:sp>
      <p:sp>
        <p:nvSpPr>
          <p:cNvPr id="11" name="Text 9"/>
          <p:cNvSpPr/>
          <p:nvPr/>
        </p:nvSpPr>
        <p:spPr>
          <a:xfrm>
            <a:off x="566928" y="48006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4745736"/>
            <a:ext cx="10280599" cy="144475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What remains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 fixed structure through which variable data flows — Chapter 6’s forced shape.</a:t>
            </a:r>
            <a:endParaRPr lang="en-US" sz="1450" dirty="0"/>
          </a:p>
        </p:txBody>
      </p:sp>
      <p:sp>
        <p:nvSpPr>
          <p:cNvPr id="13" name="Text 11"/>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4" name="Text 12"/>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PROBLEM SET 1 · SET</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Lab 3 — Formalise the elimination</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1</a:t>
            </a:r>
            <a:endParaRPr lang="en-US" sz="1200" dirty="0"/>
          </a:p>
        </p:txBody>
      </p:sp>
      <p:sp>
        <p:nvSpPr>
          <p:cNvPr id="7" name="Text 5"/>
          <p:cNvSpPr/>
          <p:nvPr/>
        </p:nvSpPr>
        <p:spPr>
          <a:xfrm>
            <a:off x="1143000" y="1920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Write Elimination 1 as a short, valid argument from Axioms 1 and 2.</a:t>
            </a:r>
            <a:endParaRPr lang="en-US" sz="1400" dirty="0"/>
          </a:p>
        </p:txBody>
      </p:sp>
      <p:sp>
        <p:nvSpPr>
          <p:cNvPr id="8" name="Shape 6"/>
          <p:cNvSpPr/>
          <p:nvPr/>
        </p:nvSpPr>
        <p:spPr>
          <a:xfrm>
            <a:off x="566928" y="3489960"/>
            <a:ext cx="420624" cy="420624"/>
          </a:xfrm>
          <a:prstGeom prst="ellipse">
            <a:avLst/>
          </a:prstGeom>
          <a:solidFill>
            <a:srgbClr val="8A8378"/>
          </a:solidFill>
          <a:ln/>
        </p:spPr>
      </p:sp>
      <p:sp>
        <p:nvSpPr>
          <p:cNvPr id="9" name="Text 7"/>
          <p:cNvSpPr/>
          <p:nvPr/>
        </p:nvSpPr>
        <p:spPr>
          <a:xfrm>
            <a:off x="566928" y="3489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1143000" y="3444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Give a real or constructed adversarial-input case that instantiates Axiom 2.</a:t>
            </a:r>
            <a:endParaRPr lang="en-US" sz="1400" dirty="0"/>
          </a:p>
        </p:txBody>
      </p:sp>
      <p:sp>
        <p:nvSpPr>
          <p:cNvPr id="11" name="Shape 9"/>
          <p:cNvSpPr/>
          <p:nvPr/>
        </p:nvSpPr>
        <p:spPr>
          <a:xfrm>
            <a:off x="566928" y="5013960"/>
            <a:ext cx="420624" cy="420624"/>
          </a:xfrm>
          <a:prstGeom prst="ellipse">
            <a:avLst/>
          </a:prstGeom>
          <a:solidFill>
            <a:srgbClr val="8A8378"/>
          </a:solidFill>
          <a:ln/>
        </p:spPr>
      </p:sp>
      <p:sp>
        <p:nvSpPr>
          <p:cNvPr id="12" name="Text 10"/>
          <p:cNvSpPr/>
          <p:nvPr/>
        </p:nvSpPr>
        <p:spPr>
          <a:xfrm>
            <a:off x="566928" y="5013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3</a:t>
            </a:r>
            <a:endParaRPr lang="en-US" sz="1200" dirty="0"/>
          </a:p>
        </p:txBody>
      </p:sp>
      <p:sp>
        <p:nvSpPr>
          <p:cNvPr id="13" name="Text 11"/>
          <p:cNvSpPr/>
          <p:nvPr/>
        </p:nvSpPr>
        <p:spPr>
          <a:xfrm>
            <a:off x="1143000" y="4968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State the ‘door that locks vs well-trained employee’ distinction as a claim about location, not quality.</a:t>
            </a:r>
            <a:endParaRPr lang="en-US" sz="140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4</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Preservation vs custody</a:t>
            </a:r>
            <a:endParaRPr lang="en-US" sz="22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The preservation principle turns the law into something buildable and litigable. We derive the invariant/variant partition, prove why data beats code for behaviour, and study the contrapositive as a diagnostic. The interlude then shows one crossing worked both ways.</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Derive the preservation principle by elimination</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Sort a system into invariants and variants</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Use the contrapositive as a diagnostic</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EVERY DESIGN DECISION IS A PLACEMENT</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partition</a:t>
            </a:r>
            <a:endParaRPr lang="en-US" sz="2450" dirty="0"/>
          </a:p>
        </p:txBody>
      </p:sp>
      <p:sp>
        <p:nvSpPr>
          <p:cNvPr id="4" name="Shape 2"/>
          <p:cNvSpPr/>
          <p:nvPr/>
        </p:nvSpPr>
        <p:spPr>
          <a:xfrm>
            <a:off x="566928" y="1691640"/>
            <a:ext cx="5391760" cy="4572000"/>
          </a:xfrm>
          <a:prstGeom prst="roundRect">
            <a:avLst>
              <a:gd name="adj" fmla="val 1600"/>
            </a:avLst>
          </a:prstGeom>
          <a:solidFill>
            <a:srgbClr val="F4F2EE"/>
          </a:solidFill>
          <a:ln w="12700">
            <a:solidFill>
              <a:srgbClr val="EBE7DF"/>
            </a:solidFill>
            <a:prstDash val="solid"/>
          </a:ln>
        </p:spPr>
      </p:sp>
      <p:sp>
        <p:nvSpPr>
          <p:cNvPr id="5" name="Shape 3"/>
          <p:cNvSpPr/>
          <p:nvPr/>
        </p:nvSpPr>
        <p:spPr>
          <a:xfrm>
            <a:off x="795528" y="1892808"/>
            <a:ext cx="1463040" cy="310896"/>
          </a:xfrm>
          <a:prstGeom prst="roundRect">
            <a:avLst>
              <a:gd name="adj" fmla="val 50000"/>
            </a:avLst>
          </a:prstGeom>
          <a:solidFill>
            <a:srgbClr val="1B1A18"/>
          </a:solidFill>
          <a:ln/>
        </p:spPr>
      </p:sp>
      <p:sp>
        <p:nvSpPr>
          <p:cNvPr id="6" name="Text 4"/>
          <p:cNvSpPr/>
          <p:nvPr/>
        </p:nvSpPr>
        <p:spPr>
          <a:xfrm>
            <a:off x="795528" y="1892808"/>
            <a:ext cx="1463040"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INVARIANTS</a:t>
            </a:r>
            <a:endParaRPr lang="en-US" sz="950" dirty="0"/>
          </a:p>
        </p:txBody>
      </p:sp>
      <p:sp>
        <p:nvSpPr>
          <p:cNvPr id="7" name="Text 5"/>
          <p:cNvSpPr/>
          <p:nvPr/>
        </p:nvSpPr>
        <p:spPr>
          <a:xfrm>
            <a:off x="795528" y="229514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Change needs engineering</a:t>
            </a:r>
            <a:endParaRPr lang="en-US" sz="1450" dirty="0"/>
          </a:p>
        </p:txBody>
      </p:sp>
      <p:sp>
        <p:nvSpPr>
          <p:cNvPr id="8" name="Text 6"/>
          <p:cNvSpPr/>
          <p:nvPr/>
        </p:nvSpPr>
        <p:spPr>
          <a:xfrm>
            <a:off x="795528" y="2752344"/>
            <a:ext cx="4934560" cy="338328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Code, enforcement points, seams, storage topology, execution machinery. Where every ‘always’ and ‘never’ must live.</a:t>
            </a:r>
            <a:endParaRPr lang="en-US" sz="1150" dirty="0"/>
          </a:p>
        </p:txBody>
      </p:sp>
      <p:sp>
        <p:nvSpPr>
          <p:cNvPr id="9" name="Shape 7"/>
          <p:cNvSpPr/>
          <p:nvPr/>
        </p:nvSpPr>
        <p:spPr>
          <a:xfrm>
            <a:off x="6233008" y="1691640"/>
            <a:ext cx="5391760" cy="4572000"/>
          </a:xfrm>
          <a:prstGeom prst="roundRect">
            <a:avLst>
              <a:gd name="adj" fmla="val 1600"/>
            </a:avLst>
          </a:prstGeom>
          <a:solidFill>
            <a:srgbClr val="F4F2EE"/>
          </a:solidFill>
          <a:ln w="12700">
            <a:solidFill>
              <a:srgbClr val="EBE7DF"/>
            </a:solidFill>
            <a:prstDash val="solid"/>
          </a:ln>
        </p:spPr>
      </p:sp>
      <p:sp>
        <p:nvSpPr>
          <p:cNvPr id="10" name="Shape 8"/>
          <p:cNvSpPr/>
          <p:nvPr/>
        </p:nvSpPr>
        <p:spPr>
          <a:xfrm>
            <a:off x="6461608" y="1892808"/>
            <a:ext cx="1261872" cy="310896"/>
          </a:xfrm>
          <a:prstGeom prst="roundRect">
            <a:avLst>
              <a:gd name="adj" fmla="val 50000"/>
            </a:avLst>
          </a:prstGeom>
          <a:solidFill>
            <a:srgbClr val="8A8378"/>
          </a:solidFill>
          <a:ln/>
        </p:spPr>
      </p:sp>
      <p:sp>
        <p:nvSpPr>
          <p:cNvPr id="11" name="Text 9"/>
          <p:cNvSpPr/>
          <p:nvPr/>
        </p:nvSpPr>
        <p:spPr>
          <a:xfrm>
            <a:off x="6461608" y="1892808"/>
            <a:ext cx="1261872"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VARIANTS</a:t>
            </a:r>
            <a:endParaRPr lang="en-US" sz="950" dirty="0"/>
          </a:p>
        </p:txBody>
      </p:sp>
      <p:sp>
        <p:nvSpPr>
          <p:cNvPr id="12" name="Text 10"/>
          <p:cNvSpPr/>
          <p:nvPr/>
        </p:nvSpPr>
        <p:spPr>
          <a:xfrm>
            <a:off x="6461608" y="229514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Change needs authority + data</a:t>
            </a:r>
            <a:endParaRPr lang="en-US" sz="1450" dirty="0"/>
          </a:p>
        </p:txBody>
      </p:sp>
      <p:sp>
        <p:nvSpPr>
          <p:cNvPr id="13" name="Text 11"/>
          <p:cNvSpPr/>
          <p:nvPr/>
        </p:nvSpPr>
        <p:spPr>
          <a:xfrm>
            <a:off x="6461608" y="2752344"/>
            <a:ext cx="4934560" cy="338328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Rules, config, prompts, capability grants, model selections, memory. Changed by writing data under authority.</a:t>
            </a:r>
            <a:endParaRPr lang="en-US" sz="115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AUDITABILITY IS INHERITED, NOT IMPLEMENTED</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Why data beats code for behaviour</a:t>
            </a:r>
            <a:endParaRPr lang="en-US" sz="24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Queryable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‘What can this actor do, and who decided that?’ is a lookup, in bounded time, with a complete result.</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Diffable &amp; versionable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Change is a comparison of rows; the audit trail is generated by the act of changing behaviour.</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Attributable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Every change carries an author and an authority — a name and a delegation, not a version number.</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contrapositive (diagnostic)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If onboarding a tenant needs a branch, or a regulation needs a release, behaviour lives in the invariants — and every proof reopens.</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FOUR-HUNDRED-AS-CEILING</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interlude: one crossing, both ways</a:t>
            </a:r>
            <a:endParaRPr lang="en-US" sz="2450" dirty="0"/>
          </a:p>
        </p:txBody>
      </p:sp>
      <p:sp>
        <p:nvSpPr>
          <p:cNvPr id="4" name="Shape 2"/>
          <p:cNvSpPr/>
          <p:nvPr/>
        </p:nvSpPr>
        <p:spPr>
          <a:xfrm>
            <a:off x="566928" y="1737360"/>
            <a:ext cx="5368900" cy="4480560"/>
          </a:xfrm>
          <a:prstGeom prst="roundRect">
            <a:avLst>
              <a:gd name="adj" fmla="val 1633"/>
            </a:avLst>
          </a:prstGeom>
          <a:solidFill>
            <a:srgbClr val="F4F2EE"/>
          </a:solidFill>
          <a:ln/>
        </p:spPr>
      </p:sp>
      <p:sp>
        <p:nvSpPr>
          <p:cNvPr id="5" name="Shape 3"/>
          <p:cNvSpPr/>
          <p:nvPr/>
        </p:nvSpPr>
        <p:spPr>
          <a:xfrm>
            <a:off x="566928" y="1737360"/>
            <a:ext cx="5368900" cy="548640"/>
          </a:xfrm>
          <a:prstGeom prst="roundRect">
            <a:avLst>
              <a:gd name="adj" fmla="val 13333"/>
            </a:avLst>
          </a:prstGeom>
          <a:solidFill>
            <a:srgbClr val="8A8378"/>
          </a:solidFill>
          <a:ln/>
        </p:spPr>
      </p:sp>
      <p:sp>
        <p:nvSpPr>
          <p:cNvPr id="6" name="Text 4"/>
          <p:cNvSpPr/>
          <p:nvPr/>
        </p:nvSpPr>
        <p:spPr>
          <a:xfrm>
            <a:off x="795528" y="1737360"/>
            <a:ext cx="4911700" cy="548640"/>
          </a:xfrm>
          <a:prstGeom prst="rect">
            <a:avLst/>
          </a:prstGeom>
          <a:noFill/>
          <a:ln/>
        </p:spPr>
        <p:txBody>
          <a:bodyPr wrap="square"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Without custody</a:t>
            </a:r>
            <a:endParaRPr lang="en-US" sz="1450" dirty="0"/>
          </a:p>
        </p:txBody>
      </p:sp>
      <p:sp>
        <p:nvSpPr>
          <p:cNvPr id="7" name="Text 5"/>
          <p:cNvSpPr/>
          <p:nvPr/>
        </p:nvSpPr>
        <p:spPr>
          <a:xfrm>
            <a:off x="82296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‘400’ crosses as a budget — context lost</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Procurement enforces local roles — authority lost</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The cap is breached silently — coherence absent</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Attribution by archaeology months later</a:t>
            </a:r>
            <a:endParaRPr lang="en-US" sz="1200" dirty="0"/>
          </a:p>
        </p:txBody>
      </p:sp>
      <p:sp>
        <p:nvSpPr>
          <p:cNvPr id="8" name="Shape 6"/>
          <p:cNvSpPr/>
          <p:nvPr/>
        </p:nvSpPr>
        <p:spPr>
          <a:xfrm>
            <a:off x="6255868" y="1737360"/>
            <a:ext cx="5368900" cy="4480560"/>
          </a:xfrm>
          <a:prstGeom prst="roundRect">
            <a:avLst>
              <a:gd name="adj" fmla="val 1633"/>
            </a:avLst>
          </a:prstGeom>
          <a:solidFill>
            <a:srgbClr val="EBE7DF"/>
          </a:solidFill>
          <a:ln/>
        </p:spPr>
      </p:sp>
      <p:sp>
        <p:nvSpPr>
          <p:cNvPr id="9" name="Shape 7"/>
          <p:cNvSpPr/>
          <p:nvPr/>
        </p:nvSpPr>
        <p:spPr>
          <a:xfrm>
            <a:off x="6255868" y="1737360"/>
            <a:ext cx="5368900" cy="548640"/>
          </a:xfrm>
          <a:prstGeom prst="roundRect">
            <a:avLst>
              <a:gd name="adj" fmla="val 13333"/>
            </a:avLst>
          </a:prstGeom>
          <a:solidFill>
            <a:srgbClr val="33302B"/>
          </a:solidFill>
          <a:ln/>
        </p:spPr>
      </p:sp>
      <p:sp>
        <p:nvSpPr>
          <p:cNvPr id="10" name="Text 8"/>
          <p:cNvSpPr/>
          <p:nvPr/>
        </p:nvSpPr>
        <p:spPr>
          <a:xfrm>
            <a:off x="6484468" y="1737360"/>
            <a:ext cx="4911700" cy="548640"/>
          </a:xfrm>
          <a:prstGeom prst="rect">
            <a:avLst/>
          </a:prstGeom>
          <a:noFill/>
          <a:ln/>
        </p:spPr>
        <p:txBody>
          <a:bodyPr wrap="square"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With custody</a:t>
            </a:r>
            <a:endParaRPr lang="en-US" sz="1450" dirty="0"/>
          </a:p>
        </p:txBody>
      </p:sp>
      <p:sp>
        <p:nvSpPr>
          <p:cNvPr id="11" name="Text 9"/>
          <p:cNvSpPr/>
          <p:nvPr/>
        </p:nvSpPr>
        <p:spPr>
          <a:xfrm>
            <a:off x="651190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‘400-as-ceiling’ crosses bound to its condition</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The right crosses as data, enforced at the seam</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The breaching order is refused, whoever raised it</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The regulator’s question answered by query</a:t>
            </a:r>
            <a:endParaRPr lang="en-US" sz="1200" dirty="0"/>
          </a:p>
        </p:txBody>
      </p:sp>
      <p:sp>
        <p:nvSpPr>
          <p:cNvPr id="12" name="Text 10"/>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3" name="Text 11"/>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371600" cy="310896"/>
          </a:xfrm>
          <a:prstGeom prst="roundRect">
            <a:avLst>
              <a:gd name="adj" fmla="val 50000"/>
            </a:avLst>
          </a:prstGeom>
          <a:solidFill>
            <a:srgbClr val="8A8378"/>
          </a:solidFill>
          <a:ln/>
        </p:spPr>
      </p:sp>
      <p:sp>
        <p:nvSpPr>
          <p:cNvPr id="3" name="Text 1"/>
          <p:cNvSpPr/>
          <p:nvPr/>
        </p:nvSpPr>
        <p:spPr>
          <a:xfrm>
            <a:off x="566928" y="2148840"/>
            <a:ext cx="137160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PART III</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Agentic AI</a:t>
            </a:r>
            <a:endParaRPr lang="en-US" sz="3400" dirty="0"/>
          </a:p>
        </p:txBody>
      </p:sp>
      <p:sp>
        <p:nvSpPr>
          <p:cNvPr id="5" name="Text 3"/>
          <p:cNvSpPr/>
          <p:nvPr/>
        </p:nvSpPr>
        <p:spPr>
          <a:xfrm>
            <a:off x="566928" y="365760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Apply the laws to the participant that made them urgent: identity as data, governance located outside the model, trust at the seams, and decisions bound at configuration time.</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5</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From tools to participants; identity as data</a:t>
            </a:r>
            <a:endParaRPr lang="en-US" sz="22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We run the ‘agent as code’ vs ‘agent as data’ answers through the partition. Because an agent is the most behaviourally demanded object in the architecture, placing it in code puts the fastest-changing thing on the slow side — and the axioms grind it. In the lab you express an org chart as authority records.</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Explain day-one admission and ‘connectivity is not citizenship’</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Derive identity-as-data from the partition</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Express delegated authority as inspectable records</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MACHINERY OF ADMISSION, DERIVED</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Day-one admission</a:t>
            </a:r>
            <a:endParaRPr lang="en-US" sz="24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Identity + contract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 unique identity and a statement of engagement.</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Delegated rights + scoped access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Explicit decision rights with limits, from a nameable authority.</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A responsible manager + a file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Answerability during learning; a record that accrues actions.</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agent gets almost none of this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So it acts without constitutional position — a ‘brilliant stranger’.</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DECISION THAT IS THE ARCHITECTURE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Run both answers through the partition</a:t>
            </a:r>
            <a:endParaRPr lang="en-US" sz="2450" dirty="0"/>
          </a:p>
        </p:txBody>
      </p:sp>
      <p:sp>
        <p:nvSpPr>
          <p:cNvPr id="4" name="Shape 2"/>
          <p:cNvSpPr/>
          <p:nvPr/>
        </p:nvSpPr>
        <p:spPr>
          <a:xfrm>
            <a:off x="566928" y="1737360"/>
            <a:ext cx="5368900" cy="4480560"/>
          </a:xfrm>
          <a:prstGeom prst="roundRect">
            <a:avLst>
              <a:gd name="adj" fmla="val 1633"/>
            </a:avLst>
          </a:prstGeom>
          <a:solidFill>
            <a:srgbClr val="F4F2EE"/>
          </a:solidFill>
          <a:ln/>
        </p:spPr>
      </p:sp>
      <p:sp>
        <p:nvSpPr>
          <p:cNvPr id="5" name="Shape 3"/>
          <p:cNvSpPr/>
          <p:nvPr/>
        </p:nvSpPr>
        <p:spPr>
          <a:xfrm>
            <a:off x="566928" y="1737360"/>
            <a:ext cx="5368900" cy="548640"/>
          </a:xfrm>
          <a:prstGeom prst="roundRect">
            <a:avLst>
              <a:gd name="adj" fmla="val 13333"/>
            </a:avLst>
          </a:prstGeom>
          <a:solidFill>
            <a:srgbClr val="8A8378"/>
          </a:solidFill>
          <a:ln/>
        </p:spPr>
      </p:sp>
      <p:sp>
        <p:nvSpPr>
          <p:cNvPr id="6" name="Text 4"/>
          <p:cNvSpPr/>
          <p:nvPr/>
        </p:nvSpPr>
        <p:spPr>
          <a:xfrm>
            <a:off x="795528" y="1737360"/>
            <a:ext cx="4911700" cy="548640"/>
          </a:xfrm>
          <a:prstGeom prst="rect">
            <a:avLst/>
          </a:prstGeom>
          <a:noFill/>
          <a:ln/>
        </p:spPr>
        <p:txBody>
          <a:bodyPr wrap="square"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Agent as code (a class)</a:t>
            </a:r>
            <a:endParaRPr lang="en-US" sz="1450" dirty="0"/>
          </a:p>
        </p:txBody>
      </p:sp>
      <p:sp>
        <p:nvSpPr>
          <p:cNvPr id="7" name="Text 5"/>
          <p:cNvSpPr/>
          <p:nvPr/>
        </p:nvSpPr>
        <p:spPr>
          <a:xfrm>
            <a:off x="82296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New domain → new class; new tenant → a branch</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Behaviour lands in the invariants (slow side)</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Perpetually mid-change; ‘a consultancy with a repository’</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Org chart = a git history</a:t>
            </a:r>
            <a:endParaRPr lang="en-US" sz="1200" dirty="0"/>
          </a:p>
        </p:txBody>
      </p:sp>
      <p:sp>
        <p:nvSpPr>
          <p:cNvPr id="8" name="Shape 6"/>
          <p:cNvSpPr/>
          <p:nvPr/>
        </p:nvSpPr>
        <p:spPr>
          <a:xfrm>
            <a:off x="6255868" y="1737360"/>
            <a:ext cx="5368900" cy="4480560"/>
          </a:xfrm>
          <a:prstGeom prst="roundRect">
            <a:avLst>
              <a:gd name="adj" fmla="val 1633"/>
            </a:avLst>
          </a:prstGeom>
          <a:solidFill>
            <a:srgbClr val="EBE7DF"/>
          </a:solidFill>
          <a:ln/>
        </p:spPr>
      </p:sp>
      <p:sp>
        <p:nvSpPr>
          <p:cNvPr id="9" name="Shape 7"/>
          <p:cNvSpPr/>
          <p:nvPr/>
        </p:nvSpPr>
        <p:spPr>
          <a:xfrm>
            <a:off x="6255868" y="1737360"/>
            <a:ext cx="5368900" cy="548640"/>
          </a:xfrm>
          <a:prstGeom prst="roundRect">
            <a:avLst>
              <a:gd name="adj" fmla="val 13333"/>
            </a:avLst>
          </a:prstGeom>
          <a:solidFill>
            <a:srgbClr val="33302B"/>
          </a:solidFill>
          <a:ln/>
        </p:spPr>
      </p:sp>
      <p:sp>
        <p:nvSpPr>
          <p:cNvPr id="10" name="Text 8"/>
          <p:cNvSpPr/>
          <p:nvPr/>
        </p:nvSpPr>
        <p:spPr>
          <a:xfrm>
            <a:off x="6484468" y="1737360"/>
            <a:ext cx="4911700" cy="548640"/>
          </a:xfrm>
          <a:prstGeom prst="rect">
            <a:avLst/>
          </a:prstGeom>
          <a:noFill/>
          <a:ln/>
        </p:spPr>
        <p:txBody>
          <a:bodyPr wrap="square"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Agent as data (a row)</a:t>
            </a:r>
            <a:endParaRPr lang="en-US" sz="1450" dirty="0"/>
          </a:p>
        </p:txBody>
      </p:sp>
      <p:sp>
        <p:nvSpPr>
          <p:cNvPr id="11" name="Text 9"/>
          <p:cNvSpPr/>
          <p:nvPr/>
        </p:nvSpPr>
        <p:spPr>
          <a:xfrm>
            <a:off x="651190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Identity + grants + scope + model, under authority</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One fixed engine interprets the row</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Demands land as administrative acts</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Org chart = queryable, diffable, attributable records</a:t>
            </a:r>
            <a:endParaRPr lang="en-US" sz="1200" dirty="0"/>
          </a:p>
        </p:txBody>
      </p:sp>
      <p:sp>
        <p:nvSpPr>
          <p:cNvPr id="12" name="Text 10"/>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3" name="Text 11"/>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PROBLEM SET 2 · SET</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Lab 5 — The executable org chart</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1</a:t>
            </a:r>
            <a:endParaRPr lang="en-US" sz="1200" dirty="0"/>
          </a:p>
        </p:txBody>
      </p:sp>
      <p:sp>
        <p:nvSpPr>
          <p:cNvPr id="7" name="Text 5"/>
          <p:cNvSpPr/>
          <p:nvPr/>
        </p:nvSpPr>
        <p:spPr>
          <a:xfrm>
            <a:off x="1143000" y="1920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Model a small delegation chain as records: authority → bounded grant → agent, with scope and date.</a:t>
            </a:r>
            <a:endParaRPr lang="en-US" sz="1400" dirty="0"/>
          </a:p>
        </p:txBody>
      </p:sp>
      <p:sp>
        <p:nvSpPr>
          <p:cNvPr id="8" name="Shape 6"/>
          <p:cNvSpPr/>
          <p:nvPr/>
        </p:nvSpPr>
        <p:spPr>
          <a:xfrm>
            <a:off x="566928" y="3489960"/>
            <a:ext cx="420624" cy="420624"/>
          </a:xfrm>
          <a:prstGeom prst="ellipse">
            <a:avLst/>
          </a:prstGeom>
          <a:solidFill>
            <a:srgbClr val="8A8378"/>
          </a:solidFill>
          <a:ln/>
        </p:spPr>
      </p:sp>
      <p:sp>
        <p:nvSpPr>
          <p:cNvPr id="9" name="Text 7"/>
          <p:cNvSpPr/>
          <p:nvPr/>
        </p:nvSpPr>
        <p:spPr>
          <a:xfrm>
            <a:off x="566928" y="3489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1143000" y="3444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Write the query that answers ‘which agents can touch payments, and who authorised that?’</a:t>
            </a:r>
            <a:endParaRPr lang="en-US" sz="1400" dirty="0"/>
          </a:p>
        </p:txBody>
      </p:sp>
      <p:sp>
        <p:nvSpPr>
          <p:cNvPr id="11" name="Shape 9"/>
          <p:cNvSpPr/>
          <p:nvPr/>
        </p:nvSpPr>
        <p:spPr>
          <a:xfrm>
            <a:off x="566928" y="5013960"/>
            <a:ext cx="420624" cy="420624"/>
          </a:xfrm>
          <a:prstGeom prst="ellipse">
            <a:avLst/>
          </a:prstGeom>
          <a:solidFill>
            <a:srgbClr val="8A8378"/>
          </a:solidFill>
          <a:ln/>
        </p:spPr>
      </p:sp>
      <p:sp>
        <p:nvSpPr>
          <p:cNvPr id="12" name="Text 10"/>
          <p:cNvSpPr/>
          <p:nvPr/>
        </p:nvSpPr>
        <p:spPr>
          <a:xfrm>
            <a:off x="566928" y="5013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3</a:t>
            </a:r>
            <a:endParaRPr lang="en-US" sz="1200" dirty="0"/>
          </a:p>
        </p:txBody>
      </p:sp>
      <p:sp>
        <p:nvSpPr>
          <p:cNvPr id="13" name="Text 11"/>
          <p:cNvSpPr/>
          <p:nvPr/>
        </p:nvSpPr>
        <p:spPr>
          <a:xfrm>
            <a:off x="1143000" y="4968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Show where representation becomes enforcement — the gate that consults the row.</a:t>
            </a:r>
            <a:endParaRPr lang="en-US" sz="140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371600" cy="310896"/>
          </a:xfrm>
          <a:prstGeom prst="roundRect">
            <a:avLst>
              <a:gd name="adj" fmla="val 50000"/>
            </a:avLst>
          </a:prstGeom>
          <a:solidFill>
            <a:srgbClr val="8A8378"/>
          </a:solidFill>
          <a:ln/>
        </p:spPr>
      </p:sp>
      <p:sp>
        <p:nvSpPr>
          <p:cNvPr id="3" name="Text 1"/>
          <p:cNvSpPr/>
          <p:nvPr/>
        </p:nvSpPr>
        <p:spPr>
          <a:xfrm>
            <a:off x="566928" y="2148840"/>
            <a:ext cx="137160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PART III</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Agentic AI (continued)</a:t>
            </a:r>
            <a:endParaRPr lang="en-US" sz="3400" dirty="0"/>
          </a:p>
        </p:txBody>
      </p:sp>
      <p:sp>
        <p:nvSpPr>
          <p:cNvPr id="5" name="Text 3"/>
          <p:cNvSpPr/>
          <p:nvPr/>
        </p:nvSpPr>
        <p:spPr>
          <a:xfrm>
            <a:off x="566928" y="365760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Where the guarantee physically lives, and how trust is bounded at the seams.</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6</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Governance in structure, not in models</a:t>
            </a:r>
            <a:endParaRPr lang="en-US" sz="22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This week isolates the location question. A non-negotiable must be enforced at a structural gate the work passes through, independent of what any component was asked. We build the ‘address test’ and practise disqualifying prompt-based enforcement.</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Locate the enforcement point for a non-negotiable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Explain positional enforcement and ‘the floor beneath every posture’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Apply the address test</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521208" y="548640"/>
            <a:ext cx="1828800" cy="1463040"/>
          </a:xfrm>
          <a:prstGeom prst="rect">
            <a:avLst/>
          </a:prstGeom>
          <a:noFill/>
          <a:ln/>
        </p:spPr>
        <p:txBody>
          <a:bodyPr wrap="square" rtlCol="0" anchor="ctr"/>
          <a:lstStyle/>
          <a:p>
            <a:pPr indent="0" marL="0">
              <a:buNone/>
            </a:pPr>
            <a:r>
              <a:rPr lang="en-US" sz="12200" b="1" dirty="0">
                <a:solidFill>
                  <a:srgbClr val="E4DFD5"/>
                </a:solidFill>
                <a:latin typeface="Georgia" pitchFamily="34" charset="0"/>
                <a:ea typeface="Georgia" pitchFamily="34" charset="-122"/>
                <a:cs typeface="Georgia" pitchFamily="34" charset="-120"/>
              </a:rPr>
              <a:t>“</a:t>
            </a:r>
            <a:endParaRPr lang="en-US" sz="12200" dirty="0"/>
          </a:p>
        </p:txBody>
      </p:sp>
      <p:sp>
        <p:nvSpPr>
          <p:cNvPr id="3" name="Text 1"/>
          <p:cNvSpPr/>
          <p:nvPr/>
        </p:nvSpPr>
        <p:spPr>
          <a:xfrm>
            <a:off x="1554480" y="1371600"/>
            <a:ext cx="9960559"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WHERE THE ‘NEVER’ LIVES</a:t>
            </a:r>
            <a:endParaRPr lang="en-US" sz="1150" dirty="0"/>
          </a:p>
        </p:txBody>
      </p:sp>
      <p:sp>
        <p:nvSpPr>
          <p:cNvPr id="4" name="Text 2"/>
          <p:cNvSpPr/>
          <p:nvPr/>
        </p:nvSpPr>
        <p:spPr>
          <a:xfrm>
            <a:off x="1554480" y="1783080"/>
            <a:ext cx="9594799" cy="2743200"/>
          </a:xfrm>
          <a:prstGeom prst="rect">
            <a:avLst/>
          </a:prstGeom>
          <a:noFill/>
          <a:ln/>
        </p:spPr>
        <p:txBody>
          <a:bodyPr wrap="square" rtlCol="0" anchor="t"/>
          <a:lstStyle/>
          <a:p>
            <a:pPr indent="0" marL="0">
              <a:lnSpc>
                <a:spcPct val="115000"/>
              </a:lnSpc>
              <a:buNone/>
            </a:pPr>
            <a:r>
              <a:rPr lang="en-US" sz="2350" b="1" i="1" dirty="0">
                <a:solidFill>
                  <a:srgbClr val="1B1A18"/>
                </a:solidFill>
                <a:latin typeface="Georgia" pitchFamily="34" charset="0"/>
                <a:ea typeface="Georgia" pitchFamily="34" charset="-122"/>
                <a:cs typeface="Georgia" pitchFamily="34" charset="-120"/>
              </a:rPr>
              <a:t>Whatever must never happen cannot be entrusted to a component whose defining property is that its behaviour is not categorical.</a:t>
            </a:r>
            <a:endParaRPr lang="en-US" sz="2350" dirty="0"/>
          </a:p>
        </p:txBody>
      </p:sp>
      <p:sp>
        <p:nvSpPr>
          <p:cNvPr id="5" name="Text 3"/>
          <p:cNvSpPr/>
          <p:nvPr/>
        </p:nvSpPr>
        <p:spPr>
          <a:xfrm>
            <a:off x="1572768" y="4937760"/>
            <a:ext cx="9594799" cy="457200"/>
          </a:xfrm>
          <a:prstGeom prst="rect">
            <a:avLst/>
          </a:prstGeom>
          <a:noFill/>
          <a:ln/>
        </p:spPr>
        <p:txBody>
          <a:bodyPr wrap="square" rtlCol="0" anchor="ctr"/>
          <a:lstStyle/>
          <a:p>
            <a:pPr indent="0" marL="0">
              <a:buNone/>
            </a:pPr>
            <a:r>
              <a:rPr lang="en-US" sz="1300" dirty="0">
                <a:solidFill>
                  <a:srgbClr val="6E6A62"/>
                </a:solidFill>
                <a:latin typeface="Georgia" pitchFamily="34" charset="0"/>
                <a:ea typeface="Georgia" pitchFamily="34" charset="-122"/>
                <a:cs typeface="Georgia" pitchFamily="34" charset="-120"/>
              </a:rPr>
              <a:t>— Chapter 9</a:t>
            </a:r>
            <a:endParaRPr lang="en-US" sz="13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FLOOR AND THE POSTURE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Positional enforcement</a:t>
            </a:r>
            <a:endParaRPr lang="en-US" sz="24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44475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floor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The non-negotiables, identical at every door, enforced beneath every tenant-specific posture.</a:t>
            </a:r>
            <a:endParaRPr lang="en-US" sz="1450" dirty="0"/>
          </a:p>
        </p:txBody>
      </p:sp>
      <p:sp>
        <p:nvSpPr>
          <p:cNvPr id="7" name="Shape 5"/>
          <p:cNvSpPr/>
          <p:nvPr/>
        </p:nvSpPr>
        <p:spPr>
          <a:xfrm>
            <a:off x="566928" y="3246120"/>
            <a:ext cx="457200" cy="457200"/>
          </a:xfrm>
          <a:prstGeom prst="ellipse">
            <a:avLst/>
          </a:prstGeom>
          <a:solidFill>
            <a:srgbClr val="1B1A18"/>
          </a:solidFill>
          <a:ln/>
        </p:spPr>
      </p:sp>
      <p:sp>
        <p:nvSpPr>
          <p:cNvPr id="8" name="Text 6"/>
          <p:cNvSpPr/>
          <p:nvPr/>
        </p:nvSpPr>
        <p:spPr>
          <a:xfrm>
            <a:off x="566928" y="32461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3191256"/>
            <a:ext cx="10280599" cy="144475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posture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What varies by tenant/domain — allowed above the floor, never able to lower it.</a:t>
            </a:r>
            <a:endParaRPr lang="en-US" sz="1450" dirty="0"/>
          </a:p>
        </p:txBody>
      </p:sp>
      <p:sp>
        <p:nvSpPr>
          <p:cNvPr id="10" name="Shape 8"/>
          <p:cNvSpPr/>
          <p:nvPr/>
        </p:nvSpPr>
        <p:spPr>
          <a:xfrm>
            <a:off x="566928" y="4800600"/>
            <a:ext cx="457200" cy="457200"/>
          </a:xfrm>
          <a:prstGeom prst="ellipse">
            <a:avLst/>
          </a:prstGeom>
          <a:solidFill>
            <a:srgbClr val="1B1A18"/>
          </a:solidFill>
          <a:ln/>
        </p:spPr>
      </p:sp>
      <p:sp>
        <p:nvSpPr>
          <p:cNvPr id="11" name="Text 9"/>
          <p:cNvSpPr/>
          <p:nvPr/>
        </p:nvSpPr>
        <p:spPr>
          <a:xfrm>
            <a:off x="566928" y="48006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4745736"/>
            <a:ext cx="10280599" cy="144475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address test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Name one ‘never’; point to its physical enforcement point; disqualify on the word ‘prompt’.</a:t>
            </a:r>
            <a:endParaRPr lang="en-US" sz="1450" dirty="0"/>
          </a:p>
        </p:txBody>
      </p:sp>
      <p:sp>
        <p:nvSpPr>
          <p:cNvPr id="13" name="Text 11"/>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4" name="Text 12"/>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DERIVATION LAB</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Lab 6 — The address test</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1</a:t>
            </a:r>
            <a:endParaRPr lang="en-US" sz="1200" dirty="0"/>
          </a:p>
        </p:txBody>
      </p:sp>
      <p:sp>
        <p:nvSpPr>
          <p:cNvPr id="7" name="Text 5"/>
          <p:cNvSpPr/>
          <p:nvPr/>
        </p:nvSpPr>
        <p:spPr>
          <a:xfrm>
            <a:off x="1143000" y="1920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For a supplied non-negotiable, locate (or design) the structural gate that enforces it.</a:t>
            </a:r>
            <a:endParaRPr lang="en-US" sz="1400" dirty="0"/>
          </a:p>
        </p:txBody>
      </p:sp>
      <p:sp>
        <p:nvSpPr>
          <p:cNvPr id="8" name="Shape 6"/>
          <p:cNvSpPr/>
          <p:nvPr/>
        </p:nvSpPr>
        <p:spPr>
          <a:xfrm>
            <a:off x="566928" y="3489960"/>
            <a:ext cx="420624" cy="420624"/>
          </a:xfrm>
          <a:prstGeom prst="ellipse">
            <a:avLst/>
          </a:prstGeom>
          <a:solidFill>
            <a:srgbClr val="8A8378"/>
          </a:solidFill>
          <a:ln/>
        </p:spPr>
      </p:sp>
      <p:sp>
        <p:nvSpPr>
          <p:cNvPr id="9" name="Text 7"/>
          <p:cNvSpPr/>
          <p:nvPr/>
        </p:nvSpPr>
        <p:spPr>
          <a:xfrm>
            <a:off x="566928" y="3489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1143000" y="3444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Take a vendor-style ‘we instruct the model not to…’ claim and write why it fails.</a:t>
            </a:r>
            <a:endParaRPr lang="en-US" sz="1400" dirty="0"/>
          </a:p>
        </p:txBody>
      </p:sp>
      <p:sp>
        <p:nvSpPr>
          <p:cNvPr id="11" name="Shape 9"/>
          <p:cNvSpPr/>
          <p:nvPr/>
        </p:nvSpPr>
        <p:spPr>
          <a:xfrm>
            <a:off x="566928" y="5013960"/>
            <a:ext cx="420624" cy="420624"/>
          </a:xfrm>
          <a:prstGeom prst="ellipse">
            <a:avLst/>
          </a:prstGeom>
          <a:solidFill>
            <a:srgbClr val="8A8378"/>
          </a:solidFill>
          <a:ln/>
        </p:spPr>
      </p:sp>
      <p:sp>
        <p:nvSpPr>
          <p:cNvPr id="12" name="Text 10"/>
          <p:cNvSpPr/>
          <p:nvPr/>
        </p:nvSpPr>
        <p:spPr>
          <a:xfrm>
            <a:off x="566928" y="5013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3</a:t>
            </a:r>
            <a:endParaRPr lang="en-US" sz="1200" dirty="0"/>
          </a:p>
        </p:txBody>
      </p:sp>
      <p:sp>
        <p:nvSpPr>
          <p:cNvPr id="13" name="Text 11"/>
          <p:cNvSpPr/>
          <p:nvPr/>
        </p:nvSpPr>
        <p:spPr>
          <a:xfrm>
            <a:off x="1143000" y="4968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Distinguish the floor from the posture for a two-tenant example.</a:t>
            </a:r>
            <a:endParaRPr lang="en-US" sz="140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7</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Trust at the seams; decisions at configuration time</a:t>
            </a:r>
            <a:endParaRPr lang="en-US" sz="22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Concatenation at the seams creates the origin problem: what does the structure know about where a fragment came from, and what may that class influence? We also separate configuration-time decisions (bound under authority, in advance) from runtime. Problem Set 3 is set.</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Define origin and scope-by-construction</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Apply the expressibility test for isolation</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Separate configuration-time from runtime decisions</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ORIGIN IS THE MISSING DIMENSION</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Trust at the seams</a:t>
            </a:r>
            <a:endParaRPr lang="en-US" sz="24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060704" cy="310896"/>
          </a:xfrm>
          <a:prstGeom prst="roundRect">
            <a:avLst>
              <a:gd name="adj" fmla="val 50000"/>
            </a:avLst>
          </a:prstGeom>
          <a:solidFill>
            <a:srgbClr val="1B1A18"/>
          </a:solidFill>
          <a:ln/>
        </p:spPr>
      </p:sp>
      <p:sp>
        <p:nvSpPr>
          <p:cNvPr id="6" name="Text 4"/>
          <p:cNvSpPr/>
          <p:nvPr/>
        </p:nvSpPr>
        <p:spPr>
          <a:xfrm>
            <a:off x="795528" y="1892808"/>
            <a:ext cx="1060704"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Origin</a:t>
            </a:r>
            <a:endParaRPr lang="en-US" sz="950" dirty="0"/>
          </a:p>
        </p:txBody>
      </p:sp>
      <p:sp>
        <p:nvSpPr>
          <p:cNvPr id="7" name="Text 5"/>
          <p:cNvSpPr/>
          <p:nvPr/>
        </p:nvSpPr>
        <p:spPr>
          <a:xfrm>
            <a:off x="795528" y="229514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Where did this come from?</a:t>
            </a:r>
            <a:endParaRPr lang="en-US" sz="1450" dirty="0"/>
          </a:p>
        </p:txBody>
      </p:sp>
      <p:sp>
        <p:nvSpPr>
          <p:cNvPr id="8" name="Text 6"/>
          <p:cNvSpPr/>
          <p:nvPr/>
        </p:nvSpPr>
        <p:spPr>
          <a:xfrm>
            <a:off x="795528" y="275234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The structure must know a fragment’s provenance and constrain what that class of input is permitted to influence.</a:t>
            </a:r>
            <a:endParaRPr lang="en-US" sz="115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6461608" y="1892808"/>
            <a:ext cx="2569464" cy="310896"/>
          </a:xfrm>
          <a:prstGeom prst="roundRect">
            <a:avLst>
              <a:gd name="adj" fmla="val 50000"/>
            </a:avLst>
          </a:prstGeom>
          <a:solidFill>
            <a:srgbClr val="1B1A18"/>
          </a:solidFill>
          <a:ln/>
        </p:spPr>
      </p:sp>
      <p:sp>
        <p:nvSpPr>
          <p:cNvPr id="11" name="Text 9"/>
          <p:cNvSpPr/>
          <p:nvPr/>
        </p:nvSpPr>
        <p:spPr>
          <a:xfrm>
            <a:off x="6461608" y="1892808"/>
            <a:ext cx="2569464"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Scope by construction</a:t>
            </a:r>
            <a:endParaRPr lang="en-US" sz="950" dirty="0"/>
          </a:p>
        </p:txBody>
      </p:sp>
      <p:sp>
        <p:nvSpPr>
          <p:cNvPr id="12" name="Text 10"/>
          <p:cNvSpPr/>
          <p:nvPr/>
        </p:nvSpPr>
        <p:spPr>
          <a:xfrm>
            <a:off x="6461608" y="229514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Impossible, not discouraged</a:t>
            </a:r>
            <a:endParaRPr lang="en-US" sz="1450" dirty="0"/>
          </a:p>
        </p:txBody>
      </p:sp>
      <p:sp>
        <p:nvSpPr>
          <p:cNvPr id="13" name="Text 11"/>
          <p:cNvSpPr/>
          <p:nvPr/>
        </p:nvSpPr>
        <p:spPr>
          <a:xfrm>
            <a:off x="6461608" y="275234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The out-of-bounds action cannot be expressed in the structure — the isolation is a property of the shape, not a rule in a prompt.</a:t>
            </a:r>
            <a:endParaRPr lang="en-US" sz="115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795528" y="4315968"/>
            <a:ext cx="2368296" cy="310896"/>
          </a:xfrm>
          <a:prstGeom prst="roundRect">
            <a:avLst>
              <a:gd name="adj" fmla="val 50000"/>
            </a:avLst>
          </a:prstGeom>
          <a:solidFill>
            <a:srgbClr val="1B1A18"/>
          </a:solidFill>
          <a:ln/>
        </p:spPr>
      </p:sp>
      <p:sp>
        <p:nvSpPr>
          <p:cNvPr id="16" name="Text 14"/>
          <p:cNvSpPr/>
          <p:nvPr/>
        </p:nvSpPr>
        <p:spPr>
          <a:xfrm>
            <a:off x="795528" y="4315968"/>
            <a:ext cx="2368296"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Expressibility test</a:t>
            </a:r>
            <a:endParaRPr lang="en-US" sz="950" dirty="0"/>
          </a:p>
        </p:txBody>
      </p:sp>
      <p:sp>
        <p:nvSpPr>
          <p:cNvPr id="17" name="Text 15"/>
          <p:cNvSpPr/>
          <p:nvPr/>
        </p:nvSpPr>
        <p:spPr>
          <a:xfrm>
            <a:off x="795528" y="471830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Have them write it</a:t>
            </a:r>
            <a:endParaRPr lang="en-US" sz="1450" dirty="0"/>
          </a:p>
        </p:txBody>
      </p:sp>
      <p:sp>
        <p:nvSpPr>
          <p:cNvPr id="18" name="Text 16"/>
          <p:cNvSpPr/>
          <p:nvPr/>
        </p:nvSpPr>
        <p:spPr>
          <a:xfrm>
            <a:off x="795528" y="517550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Ask engineers to write the statement that would cross tenants. If they can express it, isolation is not by construction.</a:t>
            </a:r>
            <a:endParaRPr lang="en-US" sz="1150" dirty="0"/>
          </a:p>
        </p:txBody>
      </p:sp>
      <p:sp>
        <p:nvSpPr>
          <p:cNvPr id="19" name="Shape 17"/>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6461608" y="4315968"/>
            <a:ext cx="2651760" cy="310896"/>
          </a:xfrm>
          <a:prstGeom prst="roundRect">
            <a:avLst>
              <a:gd name="adj" fmla="val 50000"/>
            </a:avLst>
          </a:prstGeom>
          <a:solidFill>
            <a:srgbClr val="1B1A18"/>
          </a:solidFill>
          <a:ln/>
        </p:spPr>
      </p:sp>
      <p:sp>
        <p:nvSpPr>
          <p:cNvPr id="21" name="Text 19"/>
          <p:cNvSpPr/>
          <p:nvPr/>
        </p:nvSpPr>
        <p:spPr>
          <a:xfrm>
            <a:off x="6461608" y="4315968"/>
            <a:ext cx="2651760"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Configuration vs runtime</a:t>
            </a:r>
            <a:endParaRPr lang="en-US" sz="950" dirty="0"/>
          </a:p>
        </p:txBody>
      </p:sp>
      <p:sp>
        <p:nvSpPr>
          <p:cNvPr id="22" name="Text 20"/>
          <p:cNvSpPr/>
          <p:nvPr/>
        </p:nvSpPr>
        <p:spPr>
          <a:xfrm>
            <a:off x="6461608" y="471830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Decide in advance</a:t>
            </a:r>
            <a:endParaRPr lang="en-US" sz="1450" dirty="0"/>
          </a:p>
        </p:txBody>
      </p:sp>
      <p:sp>
        <p:nvSpPr>
          <p:cNvPr id="23" name="Text 21"/>
          <p:cNvSpPr/>
          <p:nvPr/>
        </p:nvSpPr>
        <p:spPr>
          <a:xfrm>
            <a:off x="6461608" y="517550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Which model runs, what an agent may do — bound at configuration time under authority, not ‘let the model decide’ at runtime.</a:t>
            </a:r>
            <a:endParaRPr lang="en-US" sz="1150" dirty="0"/>
          </a:p>
        </p:txBody>
      </p:sp>
      <p:sp>
        <p:nvSpPr>
          <p:cNvPr id="24" name="Text 2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25" name="Text 2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PROBLEM SET 3 · SET</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Lab 7 — Origin &amp; expressibility</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1</a:t>
            </a:r>
            <a:endParaRPr lang="en-US" sz="1200" dirty="0"/>
          </a:p>
        </p:txBody>
      </p:sp>
      <p:sp>
        <p:nvSpPr>
          <p:cNvPr id="7" name="Text 5"/>
          <p:cNvSpPr/>
          <p:nvPr/>
        </p:nvSpPr>
        <p:spPr>
          <a:xfrm>
            <a:off x="1143000" y="1920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For a supplied multi-source pipeline, tag each input’s origin class and its permitted influence.</a:t>
            </a:r>
            <a:endParaRPr lang="en-US" sz="1400" dirty="0"/>
          </a:p>
        </p:txBody>
      </p:sp>
      <p:sp>
        <p:nvSpPr>
          <p:cNvPr id="8" name="Shape 6"/>
          <p:cNvSpPr/>
          <p:nvPr/>
        </p:nvSpPr>
        <p:spPr>
          <a:xfrm>
            <a:off x="566928" y="3489960"/>
            <a:ext cx="420624" cy="420624"/>
          </a:xfrm>
          <a:prstGeom prst="ellipse">
            <a:avLst/>
          </a:prstGeom>
          <a:solidFill>
            <a:srgbClr val="8A8378"/>
          </a:solidFill>
          <a:ln/>
        </p:spPr>
      </p:sp>
      <p:sp>
        <p:nvSpPr>
          <p:cNvPr id="9" name="Text 7"/>
          <p:cNvSpPr/>
          <p:nvPr/>
        </p:nvSpPr>
        <p:spPr>
          <a:xfrm>
            <a:off x="566928" y="3489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1143000" y="3444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Run the expressibility test: try to write the cross-tenant statement; show why the structure forbids it.</a:t>
            </a:r>
            <a:endParaRPr lang="en-US" sz="1400" dirty="0"/>
          </a:p>
        </p:txBody>
      </p:sp>
      <p:sp>
        <p:nvSpPr>
          <p:cNvPr id="11" name="Shape 9"/>
          <p:cNvSpPr/>
          <p:nvPr/>
        </p:nvSpPr>
        <p:spPr>
          <a:xfrm>
            <a:off x="566928" y="5013960"/>
            <a:ext cx="420624" cy="420624"/>
          </a:xfrm>
          <a:prstGeom prst="ellipse">
            <a:avLst/>
          </a:prstGeom>
          <a:solidFill>
            <a:srgbClr val="8A8378"/>
          </a:solidFill>
          <a:ln/>
        </p:spPr>
      </p:sp>
      <p:sp>
        <p:nvSpPr>
          <p:cNvPr id="12" name="Text 10"/>
          <p:cNvSpPr/>
          <p:nvPr/>
        </p:nvSpPr>
        <p:spPr>
          <a:xfrm>
            <a:off x="566928" y="5013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3</a:t>
            </a:r>
            <a:endParaRPr lang="en-US" sz="1200" dirty="0"/>
          </a:p>
        </p:txBody>
      </p:sp>
      <p:sp>
        <p:nvSpPr>
          <p:cNvPr id="13" name="Text 11"/>
          <p:cNvSpPr/>
          <p:nvPr/>
        </p:nvSpPr>
        <p:spPr>
          <a:xfrm>
            <a:off x="1143000" y="4968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Classify three decisions as configuration-time or runtime, and justify.</a:t>
            </a:r>
            <a:endParaRPr lang="en-US" sz="140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371600" cy="310896"/>
          </a:xfrm>
          <a:prstGeom prst="roundRect">
            <a:avLst>
              <a:gd name="adj" fmla="val 50000"/>
            </a:avLst>
          </a:prstGeom>
          <a:solidFill>
            <a:srgbClr val="8A8378"/>
          </a:solidFill>
          <a:ln/>
        </p:spPr>
      </p:sp>
      <p:sp>
        <p:nvSpPr>
          <p:cNvPr id="3" name="Text 1"/>
          <p:cNvSpPr/>
          <p:nvPr/>
        </p:nvSpPr>
        <p:spPr>
          <a:xfrm>
            <a:off x="566928" y="2148840"/>
            <a:ext cx="137160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PART IV</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Memory and Context</a:t>
            </a:r>
            <a:endParaRPr lang="en-US" sz="3400" dirty="0"/>
          </a:p>
        </p:txBody>
      </p:sp>
      <p:sp>
        <p:nvSpPr>
          <p:cNvPr id="5" name="Text 3"/>
          <p:cNvSpPr/>
          <p:nvPr/>
        </p:nvSpPr>
        <p:spPr>
          <a:xfrm>
            <a:off x="566928" y="365760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How an enterprise’s meaning and knowledge must be kept — and why memory becomes a security surface the moment it has machine readers and motivated authors.</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8</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Context is not data; content and its store</a:t>
            </a:r>
            <a:endParaRPr lang="en-US" sz="22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We formalise why no schema carries meaning, anatomise a meaning error, and derive why content belongs in the store suited to its shape. The consequence-record case analysis is due this week.</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Explain why the schema cannot carry meaning</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Anatomise a meaning error and the reconstruction tax</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Argue for store-by-shape</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ERROR THAT VALIDATES</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Context is not data</a:t>
            </a:r>
            <a:endParaRPr lang="en-US" sz="24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No field for ‘why’.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The landscape moves data; almost nothing moves significance. Data survives every hop; context, by default, none.</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meaning error.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The payload arrives intact and signifies the wrong thing — invisible to every data-quality programme.</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reconstruction tax.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Standing meetings, clarifying emails, the tenure premium — the cost of re-attaching stripped meaning, daily.</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Store by shape.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Forcing all knowledge into one shape destroys structure the enterprise later pays to rebuild.</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CASE ANALYSIS · DUE</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Lab 8 — Anatomy of a meaning error</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1</a:t>
            </a:r>
            <a:endParaRPr lang="en-US" sz="1200" dirty="0"/>
          </a:p>
        </p:txBody>
      </p:sp>
      <p:sp>
        <p:nvSpPr>
          <p:cNvPr id="7" name="Text 5"/>
          <p:cNvSpPr/>
          <p:nvPr/>
        </p:nvSpPr>
        <p:spPr>
          <a:xfrm>
            <a:off x="1143000" y="1920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Take a real export and list what its schema cannot carry.</a:t>
            </a:r>
            <a:endParaRPr lang="en-US" sz="1400" dirty="0"/>
          </a:p>
        </p:txBody>
      </p:sp>
      <p:sp>
        <p:nvSpPr>
          <p:cNvPr id="8" name="Shape 6"/>
          <p:cNvSpPr/>
          <p:nvPr/>
        </p:nvSpPr>
        <p:spPr>
          <a:xfrm>
            <a:off x="566928" y="3489960"/>
            <a:ext cx="420624" cy="420624"/>
          </a:xfrm>
          <a:prstGeom prst="ellipse">
            <a:avLst/>
          </a:prstGeom>
          <a:solidFill>
            <a:srgbClr val="8A8378"/>
          </a:solidFill>
          <a:ln/>
        </p:spPr>
      </p:sp>
      <p:sp>
        <p:nvSpPr>
          <p:cNvPr id="9" name="Text 7"/>
          <p:cNvSpPr/>
          <p:nvPr/>
        </p:nvSpPr>
        <p:spPr>
          <a:xfrm>
            <a:off x="566928" y="3489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1143000" y="3444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Trace a meaning error end-to-end and price its reconstruction tax.</a:t>
            </a:r>
            <a:endParaRPr lang="en-US" sz="1400" dirty="0"/>
          </a:p>
        </p:txBody>
      </p:sp>
      <p:sp>
        <p:nvSpPr>
          <p:cNvPr id="11" name="Shape 9"/>
          <p:cNvSpPr/>
          <p:nvPr/>
        </p:nvSpPr>
        <p:spPr>
          <a:xfrm>
            <a:off x="566928" y="5013960"/>
            <a:ext cx="420624" cy="420624"/>
          </a:xfrm>
          <a:prstGeom prst="ellipse">
            <a:avLst/>
          </a:prstGeom>
          <a:solidFill>
            <a:srgbClr val="8A8378"/>
          </a:solidFill>
          <a:ln/>
        </p:spPr>
      </p:sp>
      <p:sp>
        <p:nvSpPr>
          <p:cNvPr id="12" name="Text 10"/>
          <p:cNvSpPr/>
          <p:nvPr/>
        </p:nvSpPr>
        <p:spPr>
          <a:xfrm>
            <a:off x="566928" y="5013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3</a:t>
            </a:r>
            <a:endParaRPr lang="en-US" sz="1200" dirty="0"/>
          </a:p>
        </p:txBody>
      </p:sp>
      <p:sp>
        <p:nvSpPr>
          <p:cNvPr id="13" name="Text 11"/>
          <p:cNvSpPr/>
          <p:nvPr/>
        </p:nvSpPr>
        <p:spPr>
          <a:xfrm>
            <a:off x="1143000" y="4968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Choose the right store for three kinds of knowledge and justify each by its shape.</a:t>
            </a:r>
            <a:endParaRPr lang="en-US" sz="140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9</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Durable memory; memory as an attack surface</a:t>
            </a:r>
            <a:endParaRPr lang="en-US" sz="22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Durability requires ceremony to write and provenance to trust. Once memory has machine consumers and motivated authors, a single poisoned entry becomes a time-shifted attack with reach and attribution. We derive the defence.</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Explain ‘durability requires ceremony’ and whose-memory</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Rank memory as an attacker’s target</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Derive the defence: gated write + provenance</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FROM HYGIENE TO SURVIVAL</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Memory under two pressures</a:t>
            </a:r>
            <a:endParaRPr lang="en-US" sz="24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261872" cy="310896"/>
          </a:xfrm>
          <a:prstGeom prst="roundRect">
            <a:avLst>
              <a:gd name="adj" fmla="val 50000"/>
            </a:avLst>
          </a:prstGeom>
          <a:solidFill>
            <a:srgbClr val="1B1A18"/>
          </a:solidFill>
          <a:ln/>
        </p:spPr>
      </p:sp>
      <p:sp>
        <p:nvSpPr>
          <p:cNvPr id="6" name="Text 4"/>
          <p:cNvSpPr/>
          <p:nvPr/>
        </p:nvSpPr>
        <p:spPr>
          <a:xfrm>
            <a:off x="795528" y="1892808"/>
            <a:ext cx="1261872"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Ceremony</a:t>
            </a:r>
            <a:endParaRPr lang="en-US" sz="950" dirty="0"/>
          </a:p>
        </p:txBody>
      </p:sp>
      <p:sp>
        <p:nvSpPr>
          <p:cNvPr id="7" name="Text 5"/>
          <p:cNvSpPr/>
          <p:nvPr/>
        </p:nvSpPr>
        <p:spPr>
          <a:xfrm>
            <a:off x="795528" y="229514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Durability requires ceremony</a:t>
            </a:r>
            <a:endParaRPr lang="en-US" sz="1450" dirty="0"/>
          </a:p>
        </p:txBody>
      </p:sp>
      <p:sp>
        <p:nvSpPr>
          <p:cNvPr id="8" name="Text 6"/>
          <p:cNvSpPr/>
          <p:nvPr/>
        </p:nvSpPr>
        <p:spPr>
          <a:xfrm>
            <a:off x="795528" y="275234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Memory anything can write is not memory. A durable write is gated, attributed, and reversible.</a:t>
            </a:r>
            <a:endParaRPr lang="en-US" sz="115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6461608" y="1892808"/>
            <a:ext cx="1664208" cy="310896"/>
          </a:xfrm>
          <a:prstGeom prst="roundRect">
            <a:avLst>
              <a:gd name="adj" fmla="val 50000"/>
            </a:avLst>
          </a:prstGeom>
          <a:solidFill>
            <a:srgbClr val="1B1A18"/>
          </a:solidFill>
          <a:ln/>
        </p:spPr>
      </p:sp>
      <p:sp>
        <p:nvSpPr>
          <p:cNvPr id="11" name="Text 9"/>
          <p:cNvSpPr/>
          <p:nvPr/>
        </p:nvSpPr>
        <p:spPr>
          <a:xfrm>
            <a:off x="6461608" y="1892808"/>
            <a:ext cx="166420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Whose memory</a:t>
            </a:r>
            <a:endParaRPr lang="en-US" sz="950" dirty="0"/>
          </a:p>
        </p:txBody>
      </p:sp>
      <p:sp>
        <p:nvSpPr>
          <p:cNvPr id="12" name="Text 10"/>
          <p:cNvSpPr/>
          <p:nvPr/>
        </p:nvSpPr>
        <p:spPr>
          <a:xfrm>
            <a:off x="6461608" y="229514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The second axis</a:t>
            </a:r>
            <a:endParaRPr lang="en-US" sz="1450" dirty="0"/>
          </a:p>
        </p:txBody>
      </p:sp>
      <p:sp>
        <p:nvSpPr>
          <p:cNvPr id="13" name="Text 11"/>
          <p:cNvSpPr/>
          <p:nvPr/>
        </p:nvSpPr>
        <p:spPr>
          <a:xfrm>
            <a:off x="6461608" y="275234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Personal, team, and institutional memory differ in who may write and who must trust — a gradient of durability.</a:t>
            </a:r>
            <a:endParaRPr lang="en-US" sz="115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795528" y="4315968"/>
            <a:ext cx="1463040" cy="310896"/>
          </a:xfrm>
          <a:prstGeom prst="roundRect">
            <a:avLst>
              <a:gd name="adj" fmla="val 50000"/>
            </a:avLst>
          </a:prstGeom>
          <a:solidFill>
            <a:srgbClr val="8A8378"/>
          </a:solidFill>
          <a:ln/>
        </p:spPr>
      </p:sp>
      <p:sp>
        <p:nvSpPr>
          <p:cNvPr id="16" name="Text 14"/>
          <p:cNvSpPr/>
          <p:nvPr/>
        </p:nvSpPr>
        <p:spPr>
          <a:xfrm>
            <a:off x="795528" y="4315968"/>
            <a:ext cx="1463040"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The target</a:t>
            </a:r>
            <a:endParaRPr lang="en-US" sz="950" dirty="0"/>
          </a:p>
        </p:txBody>
      </p:sp>
      <p:sp>
        <p:nvSpPr>
          <p:cNvPr id="17" name="Text 15"/>
          <p:cNvSpPr/>
          <p:nvPr/>
        </p:nvSpPr>
        <p:spPr>
          <a:xfrm>
            <a:off x="795528" y="471830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Persistence, reach, attribution</a:t>
            </a:r>
            <a:endParaRPr lang="en-US" sz="1450" dirty="0"/>
          </a:p>
        </p:txBody>
      </p:sp>
      <p:sp>
        <p:nvSpPr>
          <p:cNvPr id="18" name="Text 16"/>
          <p:cNvSpPr/>
          <p:nvPr/>
        </p:nvSpPr>
        <p:spPr>
          <a:xfrm>
            <a:off x="795528" y="517550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Poison memory once and every future reader inherits it; the attack is time-shifted and hard to attribute.</a:t>
            </a:r>
            <a:endParaRPr lang="en-US" sz="1150" dirty="0"/>
          </a:p>
        </p:txBody>
      </p:sp>
      <p:sp>
        <p:nvSpPr>
          <p:cNvPr id="19" name="Shape 17"/>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6461608" y="4315968"/>
            <a:ext cx="1563624" cy="310896"/>
          </a:xfrm>
          <a:prstGeom prst="roundRect">
            <a:avLst>
              <a:gd name="adj" fmla="val 50000"/>
            </a:avLst>
          </a:prstGeom>
          <a:solidFill>
            <a:srgbClr val="1B1A18"/>
          </a:solidFill>
          <a:ln/>
        </p:spPr>
      </p:sp>
      <p:sp>
        <p:nvSpPr>
          <p:cNvPr id="21" name="Text 19"/>
          <p:cNvSpPr/>
          <p:nvPr/>
        </p:nvSpPr>
        <p:spPr>
          <a:xfrm>
            <a:off x="6461608" y="4315968"/>
            <a:ext cx="1563624"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The defence</a:t>
            </a:r>
            <a:endParaRPr lang="en-US" sz="950" dirty="0"/>
          </a:p>
        </p:txBody>
      </p:sp>
      <p:sp>
        <p:nvSpPr>
          <p:cNvPr id="22" name="Text 20"/>
          <p:cNvSpPr/>
          <p:nvPr/>
        </p:nvSpPr>
        <p:spPr>
          <a:xfrm>
            <a:off x="6461608" y="471830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Gated write + provenance</a:t>
            </a:r>
            <a:endParaRPr lang="en-US" sz="1450" dirty="0"/>
          </a:p>
        </p:txBody>
      </p:sp>
      <p:sp>
        <p:nvSpPr>
          <p:cNvPr id="23" name="Text 21"/>
          <p:cNvSpPr/>
          <p:nvPr/>
        </p:nvSpPr>
        <p:spPr>
          <a:xfrm>
            <a:off x="6461608" y="517550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Trust follows origin: a reader can tell a ceremonied fact from an unverified fragment, by construction.</a:t>
            </a:r>
            <a:endParaRPr lang="en-US" sz="1150" dirty="0"/>
          </a:p>
        </p:txBody>
      </p:sp>
      <p:sp>
        <p:nvSpPr>
          <p:cNvPr id="24" name="Text 2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25" name="Text 2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DERIVATION LAB</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Lab 9 — Write-ceremony design</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1</a:t>
            </a:r>
            <a:endParaRPr lang="en-US" sz="1200" dirty="0"/>
          </a:p>
        </p:txBody>
      </p:sp>
      <p:sp>
        <p:nvSpPr>
          <p:cNvPr id="7" name="Text 5"/>
          <p:cNvSpPr/>
          <p:nvPr/>
        </p:nvSpPr>
        <p:spPr>
          <a:xfrm>
            <a:off x="1143000" y="1920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Design a write-ceremony for one class of institutional memory: who may write, under what authority.</a:t>
            </a:r>
            <a:endParaRPr lang="en-US" sz="1400" dirty="0"/>
          </a:p>
        </p:txBody>
      </p:sp>
      <p:sp>
        <p:nvSpPr>
          <p:cNvPr id="8" name="Shape 6"/>
          <p:cNvSpPr/>
          <p:nvPr/>
        </p:nvSpPr>
        <p:spPr>
          <a:xfrm>
            <a:off x="566928" y="3489960"/>
            <a:ext cx="420624" cy="420624"/>
          </a:xfrm>
          <a:prstGeom prst="ellipse">
            <a:avLst/>
          </a:prstGeom>
          <a:solidFill>
            <a:srgbClr val="8A8378"/>
          </a:solidFill>
          <a:ln/>
        </p:spPr>
      </p:sp>
      <p:sp>
        <p:nvSpPr>
          <p:cNvPr id="9" name="Text 7"/>
          <p:cNvSpPr/>
          <p:nvPr/>
        </p:nvSpPr>
        <p:spPr>
          <a:xfrm>
            <a:off x="566928" y="3489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1143000" y="3444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Attach a provenance scheme that lets a later reader assign trust.</a:t>
            </a:r>
            <a:endParaRPr lang="en-US" sz="1400" dirty="0"/>
          </a:p>
        </p:txBody>
      </p:sp>
      <p:sp>
        <p:nvSpPr>
          <p:cNvPr id="11" name="Shape 9"/>
          <p:cNvSpPr/>
          <p:nvPr/>
        </p:nvSpPr>
        <p:spPr>
          <a:xfrm>
            <a:off x="566928" y="5013960"/>
            <a:ext cx="420624" cy="420624"/>
          </a:xfrm>
          <a:prstGeom prst="ellipse">
            <a:avLst/>
          </a:prstGeom>
          <a:solidFill>
            <a:srgbClr val="8A8378"/>
          </a:solidFill>
          <a:ln/>
        </p:spPr>
      </p:sp>
      <p:sp>
        <p:nvSpPr>
          <p:cNvPr id="12" name="Text 10"/>
          <p:cNvSpPr/>
          <p:nvPr/>
        </p:nvSpPr>
        <p:spPr>
          <a:xfrm>
            <a:off x="566928" y="5013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3</a:t>
            </a:r>
            <a:endParaRPr lang="en-US" sz="1200" dirty="0"/>
          </a:p>
        </p:txBody>
      </p:sp>
      <p:sp>
        <p:nvSpPr>
          <p:cNvPr id="13" name="Text 11"/>
          <p:cNvSpPr/>
          <p:nvPr/>
        </p:nvSpPr>
        <p:spPr>
          <a:xfrm>
            <a:off x="1143000" y="4968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Show how the design defeats a specified time-shifted poisoning attack.</a:t>
            </a:r>
            <a:endParaRPr lang="en-US" sz="140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371600" cy="310896"/>
          </a:xfrm>
          <a:prstGeom prst="roundRect">
            <a:avLst>
              <a:gd name="adj" fmla="val 50000"/>
            </a:avLst>
          </a:prstGeom>
          <a:solidFill>
            <a:srgbClr val="8A8378"/>
          </a:solidFill>
          <a:ln/>
        </p:spPr>
      </p:sp>
      <p:sp>
        <p:nvSpPr>
          <p:cNvPr id="3" name="Text 1"/>
          <p:cNvSpPr/>
          <p:nvPr/>
        </p:nvSpPr>
        <p:spPr>
          <a:xfrm>
            <a:off x="566928" y="2148840"/>
            <a:ext cx="137160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PART V</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Strategic Consequences</a:t>
            </a:r>
            <a:endParaRPr lang="en-US" sz="3400" dirty="0"/>
          </a:p>
        </p:txBody>
      </p:sp>
      <p:sp>
        <p:nvSpPr>
          <p:cNvPr id="5" name="Text 3"/>
          <p:cNvSpPr/>
          <p:nvPr/>
        </p:nvSpPr>
        <p:spPr>
          <a:xfrm>
            <a:off x="566928" y="365760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Following the laws to where boards and regulators live: isolation, sovereignty, governance at volume, cost, and the neutral infrastructure that can hold the crossings.</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10</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Isolation and sovereignty as construction</a:t>
            </a:r>
            <a:endParaRPr lang="en-US" sz="22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Isolation is a behaviour that must become a construction; sovereignty is the ability to say no to any single party, read architecturally as the partition. We run the dependency census and the substitution test. Problem Set 3 is due.</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Distinguish isolation-as-behaviour from isolation-as-construction</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Define sovereignty as structure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Run a dependency census and substitution test</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PRECONDITION FOR SHARING</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Isolation: two readings</a:t>
            </a:r>
            <a:endParaRPr lang="en-US" sz="2450" dirty="0"/>
          </a:p>
        </p:txBody>
      </p:sp>
      <p:sp>
        <p:nvSpPr>
          <p:cNvPr id="4" name="Shape 2"/>
          <p:cNvSpPr/>
          <p:nvPr/>
        </p:nvSpPr>
        <p:spPr>
          <a:xfrm>
            <a:off x="566928" y="1737360"/>
            <a:ext cx="5368900" cy="4480560"/>
          </a:xfrm>
          <a:prstGeom prst="roundRect">
            <a:avLst>
              <a:gd name="adj" fmla="val 1633"/>
            </a:avLst>
          </a:prstGeom>
          <a:solidFill>
            <a:srgbClr val="F4F2EE"/>
          </a:solidFill>
          <a:ln/>
        </p:spPr>
      </p:sp>
      <p:sp>
        <p:nvSpPr>
          <p:cNvPr id="5" name="Shape 3"/>
          <p:cNvSpPr/>
          <p:nvPr/>
        </p:nvSpPr>
        <p:spPr>
          <a:xfrm>
            <a:off x="566928" y="1737360"/>
            <a:ext cx="5368900" cy="548640"/>
          </a:xfrm>
          <a:prstGeom prst="roundRect">
            <a:avLst>
              <a:gd name="adj" fmla="val 13333"/>
            </a:avLst>
          </a:prstGeom>
          <a:solidFill>
            <a:srgbClr val="8A8378"/>
          </a:solidFill>
          <a:ln/>
        </p:spPr>
      </p:sp>
      <p:sp>
        <p:nvSpPr>
          <p:cNvPr id="6" name="Text 4"/>
          <p:cNvSpPr/>
          <p:nvPr/>
        </p:nvSpPr>
        <p:spPr>
          <a:xfrm>
            <a:off x="795528" y="1737360"/>
            <a:ext cx="4911700" cy="548640"/>
          </a:xfrm>
          <a:prstGeom prst="rect">
            <a:avLst/>
          </a:prstGeom>
          <a:noFill/>
          <a:ln/>
        </p:spPr>
        <p:txBody>
          <a:bodyPr wrap="square"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Isolation as behaviour</a:t>
            </a:r>
            <a:endParaRPr lang="en-US" sz="1450" dirty="0"/>
          </a:p>
        </p:txBody>
      </p:sp>
      <p:sp>
        <p:nvSpPr>
          <p:cNvPr id="7" name="Text 5"/>
          <p:cNvSpPr/>
          <p:nvPr/>
        </p:nvSpPr>
        <p:spPr>
          <a:xfrm>
            <a:off x="82296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Enforced by rules the components are asked to follow</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Holds ‘usually’ — Axiom 2 applies</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A cross-tenant statement is expressible</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Breach is discouraged, not impossible</a:t>
            </a:r>
            <a:endParaRPr lang="en-US" sz="1200" dirty="0"/>
          </a:p>
        </p:txBody>
      </p:sp>
      <p:sp>
        <p:nvSpPr>
          <p:cNvPr id="8" name="Shape 6"/>
          <p:cNvSpPr/>
          <p:nvPr/>
        </p:nvSpPr>
        <p:spPr>
          <a:xfrm>
            <a:off x="6255868" y="1737360"/>
            <a:ext cx="5368900" cy="4480560"/>
          </a:xfrm>
          <a:prstGeom prst="roundRect">
            <a:avLst>
              <a:gd name="adj" fmla="val 1633"/>
            </a:avLst>
          </a:prstGeom>
          <a:solidFill>
            <a:srgbClr val="EBE7DF"/>
          </a:solidFill>
          <a:ln/>
        </p:spPr>
      </p:sp>
      <p:sp>
        <p:nvSpPr>
          <p:cNvPr id="9" name="Shape 7"/>
          <p:cNvSpPr/>
          <p:nvPr/>
        </p:nvSpPr>
        <p:spPr>
          <a:xfrm>
            <a:off x="6255868" y="1737360"/>
            <a:ext cx="5368900" cy="548640"/>
          </a:xfrm>
          <a:prstGeom prst="roundRect">
            <a:avLst>
              <a:gd name="adj" fmla="val 13333"/>
            </a:avLst>
          </a:prstGeom>
          <a:solidFill>
            <a:srgbClr val="33302B"/>
          </a:solidFill>
          <a:ln/>
        </p:spPr>
      </p:sp>
      <p:sp>
        <p:nvSpPr>
          <p:cNvPr id="10" name="Text 8"/>
          <p:cNvSpPr/>
          <p:nvPr/>
        </p:nvSpPr>
        <p:spPr>
          <a:xfrm>
            <a:off x="6484468" y="1737360"/>
            <a:ext cx="4911700" cy="548640"/>
          </a:xfrm>
          <a:prstGeom prst="rect">
            <a:avLst/>
          </a:prstGeom>
          <a:noFill/>
          <a:ln/>
        </p:spPr>
        <p:txBody>
          <a:bodyPr wrap="square" rtlCol="0" anchor="ctr"/>
          <a:lstStyle/>
          <a:p>
            <a:pPr indent="0" marL="0">
              <a:buNone/>
            </a:pPr>
            <a:r>
              <a:rPr lang="en-US" sz="1450" b="1" dirty="0">
                <a:solidFill>
                  <a:srgbClr val="FFFFFF"/>
                </a:solidFill>
                <a:latin typeface="Georgia" pitchFamily="34" charset="0"/>
                <a:ea typeface="Georgia" pitchFamily="34" charset="-122"/>
                <a:cs typeface="Georgia" pitchFamily="34" charset="-120"/>
              </a:rPr>
              <a:t>Isolation as construction</a:t>
            </a:r>
            <a:endParaRPr lang="en-US" sz="1450" dirty="0"/>
          </a:p>
        </p:txBody>
      </p:sp>
      <p:sp>
        <p:nvSpPr>
          <p:cNvPr id="11" name="Text 9"/>
          <p:cNvSpPr/>
          <p:nvPr/>
        </p:nvSpPr>
        <p:spPr>
          <a:xfrm>
            <a:off x="6511900" y="2468880"/>
            <a:ext cx="4856836" cy="3566160"/>
          </a:xfrm>
          <a:prstGeom prst="rect">
            <a:avLst/>
          </a:prstGeom>
          <a:noFill/>
          <a:ln/>
        </p:spPr>
        <p:txBody>
          <a:bodyPr wrap="square" rtlCol="0" anchor="t"/>
          <a:lstStyle/>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Enforced by the shape of the structure</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The cross-tenant statement cannot be expressed</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Passes the expressibility test</a:t>
            </a:r>
            <a:endParaRPr lang="en-US" sz="1200" dirty="0"/>
          </a:p>
          <a:p>
            <a:pPr marL="177800" indent="-177800">
              <a:lnSpc>
                <a:spcPct val="115000"/>
              </a:lnSpc>
              <a:spcAft>
                <a:spcPts val="900"/>
              </a:spcAft>
              <a:buSzPct val="100000"/>
              <a:buChar char="•"/>
            </a:pPr>
            <a:r>
              <a:rPr lang="en-US" sz="1200" dirty="0">
                <a:solidFill>
                  <a:srgbClr val="33302B"/>
                </a:solidFill>
                <a:latin typeface="Georgia" pitchFamily="34" charset="0"/>
                <a:ea typeface="Georgia" pitchFamily="34" charset="-122"/>
                <a:cs typeface="Georgia" pitchFamily="34" charset="-120"/>
              </a:rPr>
              <a:t>Breach is structurally impossible</a:t>
            </a:r>
            <a:endParaRPr lang="en-US" sz="1200" dirty="0"/>
          </a:p>
        </p:txBody>
      </p:sp>
      <p:sp>
        <p:nvSpPr>
          <p:cNvPr id="12" name="Text 10"/>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3" name="Text 11"/>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ABILITY TO SAY NO</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Sovereignty as structure</a:t>
            </a:r>
            <a:endParaRPr lang="en-US" sz="2450" dirty="0"/>
          </a:p>
        </p:txBody>
      </p:sp>
      <p:sp>
        <p:nvSpPr>
          <p:cNvPr id="4" name="Shape 2"/>
          <p:cNvSpPr/>
          <p:nvPr/>
        </p:nvSpPr>
        <p:spPr>
          <a:xfrm>
            <a:off x="566928" y="1691640"/>
            <a:ext cx="457200" cy="457200"/>
          </a:xfrm>
          <a:prstGeom prst="ellipse">
            <a:avLst/>
          </a:prstGeom>
          <a:solidFill>
            <a:srgbClr val="8A837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Read politically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The ability to say no to any single party — vendor, model provider, jurisdiction.</a:t>
            </a:r>
            <a:endParaRPr lang="en-US" sz="1450" dirty="0"/>
          </a:p>
        </p:txBody>
      </p:sp>
      <p:sp>
        <p:nvSpPr>
          <p:cNvPr id="7" name="Shape 5"/>
          <p:cNvSpPr/>
          <p:nvPr/>
        </p:nvSpPr>
        <p:spPr>
          <a:xfrm>
            <a:off x="566928" y="2857500"/>
            <a:ext cx="457200" cy="457200"/>
          </a:xfrm>
          <a:prstGeom prst="ellipse">
            <a:avLst/>
          </a:prstGeom>
          <a:solidFill>
            <a:srgbClr val="8A837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Read architecturally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The partition: no property depends on any one replaceable component.</a:t>
            </a:r>
            <a:endParaRPr lang="en-US" sz="1450" dirty="0"/>
          </a:p>
        </p:txBody>
      </p:sp>
      <p:sp>
        <p:nvSpPr>
          <p:cNvPr id="10" name="Shape 8"/>
          <p:cNvSpPr/>
          <p:nvPr/>
        </p:nvSpPr>
        <p:spPr>
          <a:xfrm>
            <a:off x="566928" y="4023360"/>
            <a:ext cx="457200" cy="457200"/>
          </a:xfrm>
          <a:prstGeom prst="ellipse">
            <a:avLst/>
          </a:prstGeom>
          <a:solidFill>
            <a:srgbClr val="8A837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dependency census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List the parties whose change forces you to change — the runtime leash.</a:t>
            </a:r>
            <a:endParaRPr lang="en-US" sz="1450" dirty="0"/>
          </a:p>
        </p:txBody>
      </p:sp>
      <p:sp>
        <p:nvSpPr>
          <p:cNvPr id="13" name="Shape 11"/>
          <p:cNvSpPr/>
          <p:nvPr/>
        </p:nvSpPr>
        <p:spPr>
          <a:xfrm>
            <a:off x="566928" y="5189220"/>
            <a:ext cx="457200" cy="457200"/>
          </a:xfrm>
          <a:prstGeom prst="ellipse">
            <a:avLst/>
          </a:prstGeom>
          <a:solidFill>
            <a:srgbClr val="8A837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substitution test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For each, the cost of saying no. If the cost is ‘cannot’, sovereignty is already lost.</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5">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PROBLEM SET 3 · DUE</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Lab 10 — Dependency census</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1</a:t>
            </a:r>
            <a:endParaRPr lang="en-US" sz="1200" dirty="0"/>
          </a:p>
        </p:txBody>
      </p:sp>
      <p:sp>
        <p:nvSpPr>
          <p:cNvPr id="7" name="Text 5"/>
          <p:cNvSpPr/>
          <p:nvPr/>
        </p:nvSpPr>
        <p:spPr>
          <a:xfrm>
            <a:off x="1143000" y="1920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Build a dependency census for a supplied architecture; mark each as replaceable or load-bearing.</a:t>
            </a:r>
            <a:endParaRPr lang="en-US" sz="1400" dirty="0"/>
          </a:p>
        </p:txBody>
      </p:sp>
      <p:sp>
        <p:nvSpPr>
          <p:cNvPr id="8" name="Shape 6"/>
          <p:cNvSpPr/>
          <p:nvPr/>
        </p:nvSpPr>
        <p:spPr>
          <a:xfrm>
            <a:off x="566928" y="3489960"/>
            <a:ext cx="420624" cy="420624"/>
          </a:xfrm>
          <a:prstGeom prst="ellipse">
            <a:avLst/>
          </a:prstGeom>
          <a:solidFill>
            <a:srgbClr val="8A8378"/>
          </a:solidFill>
          <a:ln/>
        </p:spPr>
      </p:sp>
      <p:sp>
        <p:nvSpPr>
          <p:cNvPr id="9" name="Text 7"/>
          <p:cNvSpPr/>
          <p:nvPr/>
        </p:nvSpPr>
        <p:spPr>
          <a:xfrm>
            <a:off x="566928" y="3489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1143000" y="3444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Run the substitution test on the two hardest dependencies.</a:t>
            </a:r>
            <a:endParaRPr lang="en-US" sz="1400" dirty="0"/>
          </a:p>
        </p:txBody>
      </p:sp>
      <p:sp>
        <p:nvSpPr>
          <p:cNvPr id="11" name="Shape 9"/>
          <p:cNvSpPr/>
          <p:nvPr/>
        </p:nvSpPr>
        <p:spPr>
          <a:xfrm>
            <a:off x="566928" y="5013960"/>
            <a:ext cx="420624" cy="420624"/>
          </a:xfrm>
          <a:prstGeom prst="ellipse">
            <a:avLst/>
          </a:prstGeom>
          <a:solidFill>
            <a:srgbClr val="8A8378"/>
          </a:solidFill>
          <a:ln/>
        </p:spPr>
      </p:sp>
      <p:sp>
        <p:nvSpPr>
          <p:cNvPr id="12" name="Text 10"/>
          <p:cNvSpPr/>
          <p:nvPr/>
        </p:nvSpPr>
        <p:spPr>
          <a:xfrm>
            <a:off x="566928" y="5013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3</a:t>
            </a:r>
            <a:endParaRPr lang="en-US" sz="1200" dirty="0"/>
          </a:p>
        </p:txBody>
      </p:sp>
      <p:sp>
        <p:nvSpPr>
          <p:cNvPr id="13" name="Text 11"/>
          <p:cNvSpPr/>
          <p:nvPr/>
        </p:nvSpPr>
        <p:spPr>
          <a:xfrm>
            <a:off x="1143000" y="4968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State one change that would move a load-bearing dependency onto the variant side.</a:t>
            </a:r>
            <a:endParaRPr lang="en-US" sz="140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11</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Governance that survives volume; the meter and the ledger</a:t>
            </a:r>
            <a:endParaRPr lang="en-US" sz="22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Governance must survive when transactions are machine-numerous: the artefact of proof is a product, produced at execution time. Cost and accountability merge in the meter and the ledger — per-action records that yield a defensible invoice.</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Explain governance-at-volume and evidence-by-construction</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Apply the last-month test</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Apply the two-invoices test</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ARTEFACT AS DELIVERABLE</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Evidence at volume</a:t>
            </a:r>
            <a:endParaRPr lang="en-US" sz="2450" dirty="0"/>
          </a:p>
        </p:txBody>
      </p:sp>
      <p:sp>
        <p:nvSpPr>
          <p:cNvPr id="4" name="Shape 2"/>
          <p:cNvSpPr/>
          <p:nvPr/>
        </p:nvSpPr>
        <p:spPr>
          <a:xfrm>
            <a:off x="566928" y="1691640"/>
            <a:ext cx="457200" cy="457200"/>
          </a:xfrm>
          <a:prstGeom prst="ellipse">
            <a:avLst/>
          </a:prstGeom>
          <a:solidFill>
            <a:srgbClr val="1B1A18"/>
          </a:solidFill>
          <a:ln/>
        </p:spPr>
      </p:sp>
      <p:sp>
        <p:nvSpPr>
          <p:cNvPr id="5" name="Text 3"/>
          <p:cNvSpPr/>
          <p:nvPr/>
        </p:nvSpPr>
        <p:spPr>
          <a:xfrm>
            <a:off x="566928" y="169164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234440" y="163677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auditor’s question is always the same.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Who set this rule, which boundary enforced it, what happened at each transaction.</a:t>
            </a:r>
            <a:endParaRPr lang="en-US" sz="1450" dirty="0"/>
          </a:p>
        </p:txBody>
      </p:sp>
      <p:sp>
        <p:nvSpPr>
          <p:cNvPr id="7" name="Shape 5"/>
          <p:cNvSpPr/>
          <p:nvPr/>
        </p:nvSpPr>
        <p:spPr>
          <a:xfrm>
            <a:off x="566928" y="2857500"/>
            <a:ext cx="457200" cy="457200"/>
          </a:xfrm>
          <a:prstGeom prst="ellipse">
            <a:avLst/>
          </a:prstGeom>
          <a:solidFill>
            <a:srgbClr val="1B1A18"/>
          </a:solidFill>
          <a:ln/>
        </p:spPr>
      </p:sp>
      <p:sp>
        <p:nvSpPr>
          <p:cNvPr id="8" name="Text 6"/>
          <p:cNvSpPr/>
          <p:nvPr/>
        </p:nvSpPr>
        <p:spPr>
          <a:xfrm>
            <a:off x="566928" y="285750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234440" y="280263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Evidence is a product, not a report.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Complete by construction, verifiable by someone who distrusts the keeper.</a:t>
            </a:r>
            <a:endParaRPr lang="en-US" sz="1450" dirty="0"/>
          </a:p>
        </p:txBody>
      </p:sp>
      <p:sp>
        <p:nvSpPr>
          <p:cNvPr id="10" name="Shape 8"/>
          <p:cNvSpPr/>
          <p:nvPr/>
        </p:nvSpPr>
        <p:spPr>
          <a:xfrm>
            <a:off x="566928" y="4023360"/>
            <a:ext cx="457200" cy="457200"/>
          </a:xfrm>
          <a:prstGeom prst="ellipse">
            <a:avLst/>
          </a:prstGeom>
          <a:solidFill>
            <a:srgbClr val="1B1A18"/>
          </a:solidFill>
          <a:ln/>
        </p:spPr>
      </p:sp>
      <p:sp>
        <p:nvSpPr>
          <p:cNvPr id="11" name="Text 9"/>
          <p:cNvSpPr/>
          <p:nvPr/>
        </p:nvSpPr>
        <p:spPr>
          <a:xfrm>
            <a:off x="566928" y="402336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234440" y="396849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last-month test.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Pick one transaction; produce full attribution, including the rule version in force, by query.</a:t>
            </a:r>
            <a:endParaRPr lang="en-US" sz="1450" dirty="0"/>
          </a:p>
        </p:txBody>
      </p:sp>
      <p:sp>
        <p:nvSpPr>
          <p:cNvPr id="13" name="Shape 11"/>
          <p:cNvSpPr/>
          <p:nvPr/>
        </p:nvSpPr>
        <p:spPr>
          <a:xfrm>
            <a:off x="566928" y="5189220"/>
            <a:ext cx="457200" cy="457200"/>
          </a:xfrm>
          <a:prstGeom prst="ellipse">
            <a:avLst/>
          </a:prstGeom>
          <a:solidFill>
            <a:srgbClr val="1B1A18"/>
          </a:solidFill>
          <a:ln/>
        </p:spPr>
      </p:sp>
      <p:sp>
        <p:nvSpPr>
          <p:cNvPr id="14" name="Text 12"/>
          <p:cNvSpPr/>
          <p:nvPr/>
        </p:nvSpPr>
        <p:spPr>
          <a:xfrm>
            <a:off x="566928" y="5189220"/>
            <a:ext cx="4572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234440" y="5134356"/>
            <a:ext cx="10280599" cy="1056132"/>
          </a:xfrm>
          <a:prstGeom prst="rect">
            <a:avLst/>
          </a:prstGeom>
          <a:noFill/>
          <a:ln/>
        </p:spPr>
        <p:txBody>
          <a:bodyPr wrap="square" rtlCol="0" anchor="t"/>
          <a:lstStyle/>
          <a:p>
            <a:pPr indent="0" marL="0">
              <a:lnSpc>
                <a:spcPct val="112000"/>
              </a:lnSpc>
              <a:buNone/>
            </a:pPr>
            <a:r>
              <a:rPr lang="en-US" sz="1450" b="1" dirty="0">
                <a:solidFill>
                  <a:srgbClr val="33302B"/>
                </a:solidFill>
                <a:latin typeface="Georgia" pitchFamily="34" charset="0"/>
                <a:ea typeface="Georgia" pitchFamily="34" charset="-122"/>
                <a:cs typeface="Georgia" pitchFamily="34" charset="-120"/>
              </a:rPr>
              <a:t>The two-invoices test.   </a:t>
            </a:r>
            <a:pPr indent="0" marL="0">
              <a:lnSpc>
                <a:spcPct val="112000"/>
              </a:lnSpc>
              <a:buNone/>
            </a:pPr>
            <a:r>
              <a:rPr lang="en-US" sz="1250" dirty="0">
                <a:solidFill>
                  <a:srgbClr val="6E6A62"/>
                </a:solidFill>
                <a:latin typeface="Georgia" pitchFamily="34" charset="0"/>
                <a:ea typeface="Georgia" pitchFamily="34" charset="-122"/>
                <a:cs typeface="Georgia" pitchFamily="34" charset="-120"/>
              </a:rPr>
              <a:t>One agent, one month: cost and consumption per action, from execution-time records.</a:t>
            </a:r>
            <a:endParaRPr lang="en-US" sz="1450" dirty="0"/>
          </a:p>
        </p:txBody>
      </p:sp>
      <p:sp>
        <p:nvSpPr>
          <p:cNvPr id="16" name="Text 1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7" name="Text 1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8">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DERIVATION LAB</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Lab 11 — Last-month &amp; two-invoices</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1</a:t>
            </a:r>
            <a:endParaRPr lang="en-US" sz="1200" dirty="0"/>
          </a:p>
        </p:txBody>
      </p:sp>
      <p:sp>
        <p:nvSpPr>
          <p:cNvPr id="7" name="Text 5"/>
          <p:cNvSpPr/>
          <p:nvPr/>
        </p:nvSpPr>
        <p:spPr>
          <a:xfrm>
            <a:off x="1143000" y="1920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For a supplied log model, attempt full attribution of one transaction by query; note every gap.</a:t>
            </a:r>
            <a:endParaRPr lang="en-US" sz="1400" dirty="0"/>
          </a:p>
        </p:txBody>
      </p:sp>
      <p:sp>
        <p:nvSpPr>
          <p:cNvPr id="8" name="Shape 6"/>
          <p:cNvSpPr/>
          <p:nvPr/>
        </p:nvSpPr>
        <p:spPr>
          <a:xfrm>
            <a:off x="566928" y="3489960"/>
            <a:ext cx="420624" cy="420624"/>
          </a:xfrm>
          <a:prstGeom prst="ellipse">
            <a:avLst/>
          </a:prstGeom>
          <a:solidFill>
            <a:srgbClr val="8A8378"/>
          </a:solidFill>
          <a:ln/>
        </p:spPr>
      </p:sp>
      <p:sp>
        <p:nvSpPr>
          <p:cNvPr id="9" name="Text 7"/>
          <p:cNvSpPr/>
          <p:nvPr/>
        </p:nvSpPr>
        <p:spPr>
          <a:xfrm>
            <a:off x="566928" y="3489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1143000" y="3444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Produce a per-action cost/consumption statement for one agent-month.</a:t>
            </a:r>
            <a:endParaRPr lang="en-US" sz="1400" dirty="0"/>
          </a:p>
        </p:txBody>
      </p:sp>
      <p:sp>
        <p:nvSpPr>
          <p:cNvPr id="11" name="Shape 9"/>
          <p:cNvSpPr/>
          <p:nvPr/>
        </p:nvSpPr>
        <p:spPr>
          <a:xfrm>
            <a:off x="566928" y="5013960"/>
            <a:ext cx="420624" cy="420624"/>
          </a:xfrm>
          <a:prstGeom prst="ellipse">
            <a:avLst/>
          </a:prstGeom>
          <a:solidFill>
            <a:srgbClr val="8A8378"/>
          </a:solidFill>
          <a:ln/>
        </p:spPr>
      </p:sp>
      <p:sp>
        <p:nvSpPr>
          <p:cNvPr id="12" name="Text 10"/>
          <p:cNvSpPr/>
          <p:nvPr/>
        </p:nvSpPr>
        <p:spPr>
          <a:xfrm>
            <a:off x="566928" y="5013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3</a:t>
            </a:r>
            <a:endParaRPr lang="en-US" sz="1200" dirty="0"/>
          </a:p>
        </p:txBody>
      </p:sp>
      <p:sp>
        <p:nvSpPr>
          <p:cNvPr id="13" name="Text 11"/>
          <p:cNvSpPr/>
          <p:nvPr/>
        </p:nvSpPr>
        <p:spPr>
          <a:xfrm>
            <a:off x="1143000" y="4968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Identify what must be captured at execution time to make both possible.</a:t>
            </a:r>
            <a:endParaRPr lang="en-US" sz="140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9">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12</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Infrastructure that outlives; preservation is not stasis</a:t>
            </a:r>
            <a:endParaRPr lang="en-US" sz="22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What holds the invariants cannot be a party to the game it referees — so it must be neutral infrastructure, built from replaceable parts. And preservation is not stasis: the invariants may change, but deliberately and on evidence. We study the honesty clause that separates a preserved architecture from a calcified one.</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Explain ‘a party cannot be its own referee’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State the meta-rule and its three readings</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Distinguish preserved from calcified</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WHAT CAN HOLD THE CROSSINGS</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neutral layer</a:t>
            </a:r>
            <a:endParaRPr lang="en-US" sz="2450" dirty="0"/>
          </a:p>
        </p:txBody>
      </p:sp>
      <p:sp>
        <p:nvSpPr>
          <p:cNvPr id="4" name="Shape 2"/>
          <p:cNvSpPr/>
          <p:nvPr/>
        </p:nvSpPr>
        <p:spPr>
          <a:xfrm>
            <a:off x="566928" y="1691640"/>
            <a:ext cx="5391760"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960120" cy="310896"/>
          </a:xfrm>
          <a:prstGeom prst="roundRect">
            <a:avLst>
              <a:gd name="adj" fmla="val 50000"/>
            </a:avLst>
          </a:prstGeom>
          <a:solidFill>
            <a:srgbClr val="1B1A18"/>
          </a:solidFill>
          <a:ln/>
        </p:spPr>
      </p:sp>
      <p:sp>
        <p:nvSpPr>
          <p:cNvPr id="6" name="Text 4"/>
          <p:cNvSpPr/>
          <p:nvPr/>
        </p:nvSpPr>
        <p:spPr>
          <a:xfrm>
            <a:off x="795528" y="1892808"/>
            <a:ext cx="960120"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Ch 20</a:t>
            </a:r>
            <a:endParaRPr lang="en-US" sz="950" dirty="0"/>
          </a:p>
        </p:txBody>
      </p:sp>
      <p:sp>
        <p:nvSpPr>
          <p:cNvPr id="7" name="Text 5"/>
          <p:cNvSpPr/>
          <p:nvPr/>
        </p:nvSpPr>
        <p:spPr>
          <a:xfrm>
            <a:off x="795528" y="229514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Applications execute; infrastructure preserves</a:t>
            </a:r>
            <a:endParaRPr lang="en-US" sz="1450" dirty="0"/>
          </a:p>
        </p:txBody>
      </p:sp>
      <p:sp>
        <p:nvSpPr>
          <p:cNvPr id="8" name="Text 6"/>
          <p:cNvSpPr/>
          <p:nvPr/>
        </p:nvSpPr>
        <p:spPr>
          <a:xfrm>
            <a:off x="795528" y="275234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The crossings belong to no application; only a neutral layer, owned by neither participant, can hold them.</a:t>
            </a:r>
            <a:endParaRPr lang="en-US" sz="1150" dirty="0"/>
          </a:p>
        </p:txBody>
      </p:sp>
      <p:sp>
        <p:nvSpPr>
          <p:cNvPr id="9" name="Shape 7"/>
          <p:cNvSpPr/>
          <p:nvPr/>
        </p:nvSpPr>
        <p:spPr>
          <a:xfrm>
            <a:off x="6233008" y="1691640"/>
            <a:ext cx="5391760"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6461608" y="1892808"/>
            <a:ext cx="960120" cy="310896"/>
          </a:xfrm>
          <a:prstGeom prst="roundRect">
            <a:avLst>
              <a:gd name="adj" fmla="val 50000"/>
            </a:avLst>
          </a:prstGeom>
          <a:solidFill>
            <a:srgbClr val="1B1A18"/>
          </a:solidFill>
          <a:ln/>
        </p:spPr>
      </p:sp>
      <p:sp>
        <p:nvSpPr>
          <p:cNvPr id="11" name="Text 9"/>
          <p:cNvSpPr/>
          <p:nvPr/>
        </p:nvSpPr>
        <p:spPr>
          <a:xfrm>
            <a:off x="6461608" y="1892808"/>
            <a:ext cx="960120"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Ch 20</a:t>
            </a:r>
            <a:endParaRPr lang="en-US" sz="950" dirty="0"/>
          </a:p>
        </p:txBody>
      </p:sp>
      <p:sp>
        <p:nvSpPr>
          <p:cNvPr id="12" name="Text 10"/>
          <p:cNvSpPr/>
          <p:nvPr/>
        </p:nvSpPr>
        <p:spPr>
          <a:xfrm>
            <a:off x="6461608" y="229514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A party cannot be its own referee</a:t>
            </a:r>
            <a:endParaRPr lang="en-US" sz="1450" dirty="0"/>
          </a:p>
        </p:txBody>
      </p:sp>
      <p:sp>
        <p:nvSpPr>
          <p:cNvPr id="13" name="Text 11"/>
          <p:cNvSpPr/>
          <p:nvPr/>
        </p:nvSpPr>
        <p:spPr>
          <a:xfrm>
            <a:off x="6461608" y="275234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Whatever holds the invariants must have no stake among the coordinated — or the guarantee is compromised.</a:t>
            </a:r>
            <a:endParaRPr lang="en-US" sz="1150" dirty="0"/>
          </a:p>
        </p:txBody>
      </p:sp>
      <p:sp>
        <p:nvSpPr>
          <p:cNvPr id="14" name="Shape 12"/>
          <p:cNvSpPr/>
          <p:nvPr/>
        </p:nvSpPr>
        <p:spPr>
          <a:xfrm>
            <a:off x="566928" y="4114800"/>
            <a:ext cx="5391760"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795528" y="4315968"/>
            <a:ext cx="960120" cy="310896"/>
          </a:xfrm>
          <a:prstGeom prst="roundRect">
            <a:avLst>
              <a:gd name="adj" fmla="val 50000"/>
            </a:avLst>
          </a:prstGeom>
          <a:solidFill>
            <a:srgbClr val="1B1A18"/>
          </a:solidFill>
          <a:ln/>
        </p:spPr>
      </p:sp>
      <p:sp>
        <p:nvSpPr>
          <p:cNvPr id="16" name="Text 14"/>
          <p:cNvSpPr/>
          <p:nvPr/>
        </p:nvSpPr>
        <p:spPr>
          <a:xfrm>
            <a:off x="795528" y="4315968"/>
            <a:ext cx="960120"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Ch 21</a:t>
            </a:r>
            <a:endParaRPr lang="en-US" sz="950" dirty="0"/>
          </a:p>
        </p:txBody>
      </p:sp>
      <p:sp>
        <p:nvSpPr>
          <p:cNvPr id="17" name="Text 15"/>
          <p:cNvSpPr/>
          <p:nvPr/>
        </p:nvSpPr>
        <p:spPr>
          <a:xfrm>
            <a:off x="795528" y="471830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Preservation is not stasis</a:t>
            </a:r>
            <a:endParaRPr lang="en-US" sz="1450" dirty="0"/>
          </a:p>
        </p:txBody>
      </p:sp>
      <p:sp>
        <p:nvSpPr>
          <p:cNvPr id="18" name="Text 16"/>
          <p:cNvSpPr/>
          <p:nvPr/>
        </p:nvSpPr>
        <p:spPr>
          <a:xfrm>
            <a:off x="795528" y="517550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The honesty clause: invariants may change, but rarely, deliberately, and gated on evidence — not on demand.</a:t>
            </a:r>
            <a:endParaRPr lang="en-US" sz="1150" dirty="0"/>
          </a:p>
        </p:txBody>
      </p:sp>
      <p:sp>
        <p:nvSpPr>
          <p:cNvPr id="19" name="Shape 17"/>
          <p:cNvSpPr/>
          <p:nvPr/>
        </p:nvSpPr>
        <p:spPr>
          <a:xfrm>
            <a:off x="6233008" y="4114800"/>
            <a:ext cx="5391760"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6461608" y="4315968"/>
            <a:ext cx="859536" cy="310896"/>
          </a:xfrm>
          <a:prstGeom prst="roundRect">
            <a:avLst>
              <a:gd name="adj" fmla="val 50000"/>
            </a:avLst>
          </a:prstGeom>
          <a:solidFill>
            <a:srgbClr val="8A8378"/>
          </a:solidFill>
          <a:ln/>
        </p:spPr>
      </p:sp>
      <p:sp>
        <p:nvSpPr>
          <p:cNvPr id="21" name="Text 19"/>
          <p:cNvSpPr/>
          <p:nvPr/>
        </p:nvSpPr>
        <p:spPr>
          <a:xfrm>
            <a:off x="6461608" y="4315968"/>
            <a:ext cx="859536"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Meta</a:t>
            </a:r>
            <a:endParaRPr lang="en-US" sz="950" dirty="0"/>
          </a:p>
        </p:txBody>
      </p:sp>
      <p:sp>
        <p:nvSpPr>
          <p:cNvPr id="22" name="Text 20"/>
          <p:cNvSpPr/>
          <p:nvPr/>
        </p:nvSpPr>
        <p:spPr>
          <a:xfrm>
            <a:off x="6461608" y="4718304"/>
            <a:ext cx="4934560"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Every component replaceable; no property ever</a:t>
            </a:r>
            <a:endParaRPr lang="en-US" sz="1450" dirty="0"/>
          </a:p>
        </p:txBody>
      </p:sp>
      <p:sp>
        <p:nvSpPr>
          <p:cNvPr id="23" name="Text 21"/>
          <p:cNvSpPr/>
          <p:nvPr/>
        </p:nvSpPr>
        <p:spPr>
          <a:xfrm>
            <a:off x="6461608" y="5175504"/>
            <a:ext cx="4934560"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Read as sovereignty, as the partition, and as the evaluator’s final question — one rule each time.</a:t>
            </a:r>
            <a:endParaRPr lang="en-US" sz="1150" dirty="0"/>
          </a:p>
        </p:txBody>
      </p:sp>
      <p:sp>
        <p:nvSpPr>
          <p:cNvPr id="24" name="Text 2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25" name="Text 2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1">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DERIVATION LAB</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Lab 12 — Preserved or calcified?</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1</a:t>
            </a:r>
            <a:endParaRPr lang="en-US" sz="1200" dirty="0"/>
          </a:p>
        </p:txBody>
      </p:sp>
      <p:sp>
        <p:nvSpPr>
          <p:cNvPr id="7" name="Text 5"/>
          <p:cNvSpPr/>
          <p:nvPr/>
        </p:nvSpPr>
        <p:spPr>
          <a:xfrm>
            <a:off x="1143000" y="1920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For a supplied change history, classify each change as variant-absorbed or invariant-mutating.</a:t>
            </a:r>
            <a:endParaRPr lang="en-US" sz="1400" dirty="0"/>
          </a:p>
        </p:txBody>
      </p:sp>
      <p:sp>
        <p:nvSpPr>
          <p:cNvPr id="8" name="Shape 6"/>
          <p:cNvSpPr/>
          <p:nvPr/>
        </p:nvSpPr>
        <p:spPr>
          <a:xfrm>
            <a:off x="566928" y="3489960"/>
            <a:ext cx="420624" cy="420624"/>
          </a:xfrm>
          <a:prstGeom prst="ellipse">
            <a:avLst/>
          </a:prstGeom>
          <a:solidFill>
            <a:srgbClr val="8A8378"/>
          </a:solidFill>
          <a:ln/>
        </p:spPr>
      </p:sp>
      <p:sp>
        <p:nvSpPr>
          <p:cNvPr id="9" name="Text 7"/>
          <p:cNvSpPr/>
          <p:nvPr/>
        </p:nvSpPr>
        <p:spPr>
          <a:xfrm>
            <a:off x="566928" y="3489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1143000" y="3444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Judge whether the system is preserved or calcified, and defend the verdict.</a:t>
            </a:r>
            <a:endParaRPr lang="en-US" sz="1400" dirty="0"/>
          </a:p>
        </p:txBody>
      </p:sp>
      <p:sp>
        <p:nvSpPr>
          <p:cNvPr id="11" name="Shape 9"/>
          <p:cNvSpPr/>
          <p:nvPr/>
        </p:nvSpPr>
        <p:spPr>
          <a:xfrm>
            <a:off x="566928" y="5013960"/>
            <a:ext cx="420624" cy="420624"/>
          </a:xfrm>
          <a:prstGeom prst="ellipse">
            <a:avLst/>
          </a:prstGeom>
          <a:solidFill>
            <a:srgbClr val="8A8378"/>
          </a:solidFill>
          <a:ln/>
        </p:spPr>
      </p:sp>
      <p:sp>
        <p:nvSpPr>
          <p:cNvPr id="12" name="Text 10"/>
          <p:cNvSpPr/>
          <p:nvPr/>
        </p:nvSpPr>
        <p:spPr>
          <a:xfrm>
            <a:off x="566928" y="5013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3</a:t>
            </a:r>
            <a:endParaRPr lang="en-US" sz="1200" dirty="0"/>
          </a:p>
        </p:txBody>
      </p:sp>
      <p:sp>
        <p:nvSpPr>
          <p:cNvPr id="13" name="Text 11"/>
          <p:cNvSpPr/>
          <p:nvPr/>
        </p:nvSpPr>
        <p:spPr>
          <a:xfrm>
            <a:off x="1143000" y="4968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Name the ‘referee’ in the architecture and test it against the neutrality requirement.</a:t>
            </a:r>
            <a:endParaRPr lang="en-US" sz="140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2">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566928" y="2148840"/>
            <a:ext cx="1371600" cy="310896"/>
          </a:xfrm>
          <a:prstGeom prst="roundRect">
            <a:avLst>
              <a:gd name="adj" fmla="val 50000"/>
            </a:avLst>
          </a:prstGeom>
          <a:solidFill>
            <a:srgbClr val="8A8378"/>
          </a:solidFill>
          <a:ln/>
        </p:spPr>
      </p:sp>
      <p:sp>
        <p:nvSpPr>
          <p:cNvPr id="3" name="Text 1"/>
          <p:cNvSpPr/>
          <p:nvPr/>
        </p:nvSpPr>
        <p:spPr>
          <a:xfrm>
            <a:off x="566928" y="2148840"/>
            <a:ext cx="1371600" cy="310896"/>
          </a:xfrm>
          <a:prstGeom prst="rect">
            <a:avLst/>
          </a:prstGeom>
          <a:noFill/>
          <a:ln/>
        </p:spPr>
        <p:txBody>
          <a:bodyPr wrap="square" rtlCol="0" anchor="ctr"/>
          <a:lstStyle/>
          <a:p>
            <a:pPr algn="ctr" indent="0" marL="0">
              <a:buNone/>
            </a:pPr>
            <a:r>
              <a:rPr lang="en-US" sz="1050" b="1" spc="50" kern="0" dirty="0">
                <a:solidFill>
                  <a:srgbClr val="1B1A18"/>
                </a:solidFill>
                <a:latin typeface="Georgia" pitchFamily="34" charset="0"/>
                <a:ea typeface="Georgia" pitchFamily="34" charset="-122"/>
                <a:cs typeface="Georgia" pitchFamily="34" charset="-120"/>
              </a:rPr>
              <a:t>PART VI</a:t>
            </a:r>
            <a:endParaRPr lang="en-US" sz="1150" dirty="0"/>
          </a:p>
        </p:txBody>
      </p:sp>
      <p:sp>
        <p:nvSpPr>
          <p:cNvPr id="4" name="Text 2"/>
          <p:cNvSpPr/>
          <p:nvPr/>
        </p:nvSpPr>
        <p:spPr>
          <a:xfrm>
            <a:off x="566928" y="2606040"/>
            <a:ext cx="10515600" cy="100584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Practice</a:t>
            </a:r>
            <a:endParaRPr lang="en-US" sz="3400" dirty="0"/>
          </a:p>
        </p:txBody>
      </p:sp>
      <p:sp>
        <p:nvSpPr>
          <p:cNvPr id="5" name="Text 3"/>
          <p:cNvSpPr/>
          <p:nvPr/>
        </p:nvSpPr>
        <p:spPr>
          <a:xfrm>
            <a:off x="566928" y="3657600"/>
            <a:ext cx="10058400" cy="118872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The instrument that makes the reader nobody’s dupe — the evaluation protocol — and the custody rules the law generates. Capstone proposals are defended.</a:t>
            </a:r>
            <a:endParaRPr lang="en-US" sz="14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3">
    <p:bg>
      <p:bgPr>
        <a:solidFill>
          <a:srgbClr val="F4F2EE"/>
        </a:solidFill>
      </p:bgPr>
    </p:bg>
    <p:spTree>
      <p:nvGrpSpPr>
        <p:cNvPr id="1" name=""/>
        <p:cNvGrpSpPr/>
        <p:nvPr/>
      </p:nvGrpSpPr>
      <p:grpSpPr>
        <a:xfrm>
          <a:off x="0" y="0"/>
          <a:ext cx="0" cy="0"/>
          <a:chOff x="0" y="0"/>
          <a:chExt cx="0" cy="0"/>
        </a:xfrm>
      </p:grpSpPr>
      <p:sp>
        <p:nvSpPr>
          <p:cNvPr id="2" name="Shape 0"/>
          <p:cNvSpPr/>
          <p:nvPr/>
        </p:nvSpPr>
        <p:spPr>
          <a:xfrm>
            <a:off x="0" y="0"/>
            <a:ext cx="12191695" cy="1783080"/>
          </a:xfrm>
          <a:prstGeom prst="rect">
            <a:avLst/>
          </a:prstGeom>
          <a:solidFill>
            <a:srgbClr val="1B1A18"/>
          </a:solidFill>
          <a:ln/>
        </p:spPr>
      </p:sp>
      <p:sp>
        <p:nvSpPr>
          <p:cNvPr id="3" name="Shape 1"/>
          <p:cNvSpPr/>
          <p:nvPr/>
        </p:nvSpPr>
        <p:spPr>
          <a:xfrm>
            <a:off x="566928" y="457200"/>
            <a:ext cx="868680" cy="868680"/>
          </a:xfrm>
          <a:prstGeom prst="ellipse">
            <a:avLst/>
          </a:prstGeom>
          <a:solidFill>
            <a:srgbClr val="8A8378"/>
          </a:solidFill>
          <a:ln/>
        </p:spPr>
      </p:sp>
      <p:sp>
        <p:nvSpPr>
          <p:cNvPr id="4" name="Text 2"/>
          <p:cNvSpPr/>
          <p:nvPr/>
        </p:nvSpPr>
        <p:spPr>
          <a:xfrm>
            <a:off x="566928" y="457200"/>
            <a:ext cx="868680" cy="868680"/>
          </a:xfrm>
          <a:prstGeom prst="rect">
            <a:avLst/>
          </a:prstGeom>
          <a:noFill/>
          <a:ln/>
        </p:spPr>
        <p:txBody>
          <a:bodyPr wrap="square" rtlCol="0" anchor="ctr"/>
          <a:lstStyle/>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WK</a:t>
            </a:r>
            <a:endParaRPr lang="en-US" sz="1400" dirty="0"/>
          </a:p>
          <a:p>
            <a:pPr algn="ctr" indent="0" marL="0">
              <a:lnSpc>
                <a:spcPct val="90000"/>
              </a:lnSpc>
              <a:buNone/>
            </a:pPr>
            <a:r>
              <a:rPr lang="en-US" sz="1400" b="1" dirty="0">
                <a:solidFill>
                  <a:srgbClr val="1B1A18"/>
                </a:solidFill>
                <a:latin typeface="Georgia" pitchFamily="34" charset="0"/>
                <a:ea typeface="Georgia" pitchFamily="34" charset="-122"/>
                <a:cs typeface="Georgia" pitchFamily="34" charset="-120"/>
              </a:rPr>
              <a:t>13</a:t>
            </a:r>
            <a:endParaRPr lang="en-US" sz="1400" dirty="0"/>
          </a:p>
        </p:txBody>
      </p:sp>
      <p:sp>
        <p:nvSpPr>
          <p:cNvPr id="5" name="Text 3"/>
          <p:cNvSpPr/>
          <p:nvPr/>
        </p:nvSpPr>
        <p:spPr>
          <a:xfrm>
            <a:off x="1600200" y="457200"/>
            <a:ext cx="10058400" cy="86868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The evaluation protocol and the custody rules</a:t>
            </a:r>
            <a:endParaRPr lang="en-US" sz="2250" dirty="0"/>
          </a:p>
        </p:txBody>
      </p:sp>
      <p:sp>
        <p:nvSpPr>
          <p:cNvPr id="6" name="Text 4"/>
          <p:cNvSpPr/>
          <p:nvPr/>
        </p:nvSpPr>
        <p:spPr>
          <a:xfrm>
            <a:off x="566928" y="2103120"/>
            <a:ext cx="4572000"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THIS WEEK</a:t>
            </a:r>
            <a:endParaRPr lang="en-US" sz="1150" dirty="0"/>
          </a:p>
        </p:txBody>
      </p:sp>
      <p:sp>
        <p:nvSpPr>
          <p:cNvPr id="7" name="Text 5"/>
          <p:cNvSpPr/>
          <p:nvPr/>
        </p:nvSpPr>
        <p:spPr>
          <a:xfrm>
            <a:off x="566928" y="2468880"/>
            <a:ext cx="6492240" cy="3291840"/>
          </a:xfrm>
          <a:prstGeom prst="rect">
            <a:avLst/>
          </a:prstGeom>
          <a:noFill/>
          <a:ln/>
        </p:spPr>
        <p:txBody>
          <a:bodyPr wrap="square" rtlCol="0" anchor="t"/>
          <a:lstStyle/>
          <a:p>
            <a:pPr indent="0" marL="0">
              <a:lnSpc>
                <a:spcPct val="130000"/>
              </a:lnSpc>
              <a:buNone/>
            </a:pPr>
            <a:r>
              <a:rPr lang="en-US" sz="1400" dirty="0">
                <a:solidFill>
                  <a:srgbClr val="33302B"/>
                </a:solidFill>
                <a:latin typeface="Georgia" pitchFamily="34" charset="0"/>
                <a:ea typeface="Georgia" pitchFamily="34" charset="-122"/>
                <a:cs typeface="Georgia" pitchFamily="34" charset="-120"/>
              </a:rPr>
              <a:t>We assemble the nine tests into an evaluation protocol an architect can run in a working day, and close on the six custody rules and the rule above them. The session ends with capstone presentations and defence — peers run the protocol against each proposal.</a:t>
            </a:r>
            <a:endParaRPr lang="en-US" sz="1400" dirty="0"/>
          </a:p>
        </p:txBody>
      </p:sp>
      <p:sp>
        <p:nvSpPr>
          <p:cNvPr id="8" name="Shape 6"/>
          <p:cNvSpPr/>
          <p:nvPr/>
        </p:nvSpPr>
        <p:spPr>
          <a:xfrm>
            <a:off x="7452360" y="2103120"/>
            <a:ext cx="4172407" cy="3840480"/>
          </a:xfrm>
          <a:prstGeom prst="roundRect">
            <a:avLst>
              <a:gd name="adj" fmla="val 2381"/>
            </a:avLst>
          </a:prstGeom>
          <a:solidFill>
            <a:srgbClr val="FFFFFF"/>
          </a:solidFill>
          <a:ln w="12700">
            <a:solidFill>
              <a:srgbClr val="EBE7DF"/>
            </a:solidFill>
            <a:prstDash val="solid"/>
          </a:ln>
        </p:spPr>
      </p:sp>
      <p:sp>
        <p:nvSpPr>
          <p:cNvPr id="9" name="Text 7"/>
          <p:cNvSpPr/>
          <p:nvPr/>
        </p:nvSpPr>
        <p:spPr>
          <a:xfrm>
            <a:off x="7680960" y="2286000"/>
            <a:ext cx="3840480" cy="365760"/>
          </a:xfrm>
          <a:prstGeom prst="rect">
            <a:avLst/>
          </a:prstGeom>
          <a:noFill/>
          <a:ln/>
        </p:spPr>
        <p:txBody>
          <a:bodyPr wrap="square" rtlCol="0" anchor="ctr"/>
          <a:lstStyle/>
          <a:p>
            <a:pPr indent="0" marL="0">
              <a:buNone/>
            </a:pPr>
            <a:r>
              <a:rPr lang="en-US" sz="1300" b="1" dirty="0">
                <a:solidFill>
                  <a:srgbClr val="1B1A18"/>
                </a:solidFill>
                <a:latin typeface="Georgia" pitchFamily="34" charset="0"/>
                <a:ea typeface="Georgia" pitchFamily="34" charset="-122"/>
                <a:cs typeface="Georgia" pitchFamily="34" charset="-120"/>
              </a:rPr>
              <a:t>By the end you can…</a:t>
            </a:r>
            <a:endParaRPr lang="en-US" sz="1300" dirty="0"/>
          </a:p>
        </p:txBody>
      </p:sp>
      <p:sp>
        <p:nvSpPr>
          <p:cNvPr id="10" name="Text 8"/>
          <p:cNvSpPr/>
          <p:nvPr/>
        </p:nvSpPr>
        <p:spPr>
          <a:xfrm>
            <a:off x="7680960" y="2697480"/>
            <a:ext cx="3703320" cy="3108960"/>
          </a:xfrm>
          <a:prstGeom prst="rect">
            <a:avLst/>
          </a:prstGeom>
          <a:noFill/>
          <a:ln/>
        </p:spPr>
        <p:txBody>
          <a:bodyPr wrap="square" rtlCol="0" anchor="t"/>
          <a:lstStyle/>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Run the nine-test protocol against an architecture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Recall the six custody rules and the meta-rule</a:t>
            </a:r>
            <a:endParaRPr lang="en-US" sz="1150" dirty="0"/>
          </a:p>
          <a:p>
            <a:pPr marL="177800" indent="-177800">
              <a:lnSpc>
                <a:spcPct val="110000"/>
              </a:lnSpc>
              <a:spcAft>
                <a:spcPts val="800"/>
              </a:spcAft>
              <a:buSzPct val="100000"/>
              <a:buChar char="•"/>
            </a:pPr>
            <a:r>
              <a:rPr lang="en-US" sz="1150" dirty="0">
                <a:solidFill>
                  <a:srgbClr val="33302B"/>
                </a:solidFill>
                <a:latin typeface="Georgia" pitchFamily="34" charset="0"/>
                <a:ea typeface="Georgia" pitchFamily="34" charset="-122"/>
                <a:cs typeface="Georgia" pitchFamily="34" charset="-120"/>
              </a:rPr>
              <a:t>Defend a custody-architecture proposal under adversarial testing</a:t>
            </a:r>
            <a:endParaRPr lang="en-US" sz="1150" dirty="0"/>
          </a:p>
        </p:txBody>
      </p:sp>
      <p:sp>
        <p:nvSpPr>
          <p:cNvPr id="11" name="Text 9"/>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2" name="Text 10"/>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4">
    <p:bg>
      <p:bgPr>
        <a:solidFill>
          <a:srgbClr val="F4F2EE"/>
        </a:solidFill>
      </p:bgPr>
    </p:bg>
    <p:spTree>
      <p:nvGrpSpPr>
        <p:cNvPr id="1" name=""/>
        <p:cNvGrpSpPr/>
        <p:nvPr/>
      </p:nvGrpSpPr>
      <p:grpSpPr>
        <a:xfrm>
          <a:off x="0" y="0"/>
          <a:ext cx="0" cy="0"/>
          <a:chOff x="0" y="0"/>
          <a:chExt cx="0" cy="0"/>
        </a:xfrm>
      </p:grpSpPr>
      <p:sp>
        <p:nvSpPr>
          <p:cNvPr id="2" name="Text 0"/>
          <p:cNvSpPr/>
          <p:nvPr/>
        </p:nvSpPr>
        <p:spPr>
          <a:xfrm>
            <a:off x="521208" y="548640"/>
            <a:ext cx="1828800" cy="1463040"/>
          </a:xfrm>
          <a:prstGeom prst="rect">
            <a:avLst/>
          </a:prstGeom>
          <a:noFill/>
          <a:ln/>
        </p:spPr>
        <p:txBody>
          <a:bodyPr wrap="square" rtlCol="0" anchor="ctr"/>
          <a:lstStyle/>
          <a:p>
            <a:pPr indent="0" marL="0">
              <a:buNone/>
            </a:pPr>
            <a:r>
              <a:rPr lang="en-US" sz="12200" b="1" dirty="0">
                <a:solidFill>
                  <a:srgbClr val="E4DFD5"/>
                </a:solidFill>
                <a:latin typeface="Georgia" pitchFamily="34" charset="0"/>
                <a:ea typeface="Georgia" pitchFamily="34" charset="-122"/>
                <a:cs typeface="Georgia" pitchFamily="34" charset="-120"/>
              </a:rPr>
              <a:t>“</a:t>
            </a:r>
            <a:endParaRPr lang="en-US" sz="12200" dirty="0"/>
          </a:p>
        </p:txBody>
      </p:sp>
      <p:sp>
        <p:nvSpPr>
          <p:cNvPr id="3" name="Text 1"/>
          <p:cNvSpPr/>
          <p:nvPr/>
        </p:nvSpPr>
        <p:spPr>
          <a:xfrm>
            <a:off x="1554480" y="1371600"/>
            <a:ext cx="9960559" cy="320040"/>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THE EVALUATION PROTOCOL</a:t>
            </a:r>
            <a:endParaRPr lang="en-US" sz="1150" dirty="0"/>
          </a:p>
        </p:txBody>
      </p:sp>
      <p:sp>
        <p:nvSpPr>
          <p:cNvPr id="4" name="Text 2"/>
          <p:cNvSpPr/>
          <p:nvPr/>
        </p:nvSpPr>
        <p:spPr>
          <a:xfrm>
            <a:off x="1554480" y="1783080"/>
            <a:ext cx="9594799" cy="2743200"/>
          </a:xfrm>
          <a:prstGeom prst="rect">
            <a:avLst/>
          </a:prstGeom>
          <a:noFill/>
          <a:ln/>
        </p:spPr>
        <p:txBody>
          <a:bodyPr wrap="square" rtlCol="0" anchor="t"/>
          <a:lstStyle/>
          <a:p>
            <a:pPr indent="0" marL="0">
              <a:lnSpc>
                <a:spcPct val="115000"/>
              </a:lnSpc>
              <a:buNone/>
            </a:pPr>
            <a:r>
              <a:rPr lang="en-US" sz="2350" b="1" i="1" dirty="0">
                <a:solidFill>
                  <a:srgbClr val="1B1A18"/>
                </a:solidFill>
                <a:latin typeface="Georgia" pitchFamily="34" charset="0"/>
                <a:ea typeface="Georgia" pitchFamily="34" charset="-122"/>
                <a:cs typeface="Georgia" pitchFamily="34" charset="-120"/>
              </a:rPr>
              <a:t>Show the crossing, and show what survives it. Everything else in the protocol is this question, factored.</a:t>
            </a:r>
            <a:endParaRPr lang="en-US" sz="2350" dirty="0"/>
          </a:p>
        </p:txBody>
      </p:sp>
      <p:sp>
        <p:nvSpPr>
          <p:cNvPr id="5" name="Text 3"/>
          <p:cNvSpPr/>
          <p:nvPr/>
        </p:nvSpPr>
        <p:spPr>
          <a:xfrm>
            <a:off x="1572768" y="4937760"/>
            <a:ext cx="9594799" cy="457200"/>
          </a:xfrm>
          <a:prstGeom prst="rect">
            <a:avLst/>
          </a:prstGeom>
          <a:noFill/>
          <a:ln/>
        </p:spPr>
        <p:txBody>
          <a:bodyPr wrap="square" rtlCol="0" anchor="ctr"/>
          <a:lstStyle/>
          <a:p>
            <a:pPr indent="0" marL="0">
              <a:buNone/>
            </a:pPr>
            <a:r>
              <a:rPr lang="en-US" sz="1300" dirty="0">
                <a:solidFill>
                  <a:srgbClr val="6E6A62"/>
                </a:solidFill>
                <a:latin typeface="Georgia" pitchFamily="34" charset="0"/>
                <a:ea typeface="Georgia" pitchFamily="34" charset="-122"/>
                <a:cs typeface="Georgia" pitchFamily="34" charset="-120"/>
              </a:rPr>
              <a:t>— Chapter 22</a:t>
            </a:r>
            <a:endParaRPr lang="en-US" sz="1300" dirty="0"/>
          </a:p>
        </p:txBody>
      </p:sp>
      <p:sp>
        <p:nvSpPr>
          <p:cNvPr id="6" name="Text 4"/>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7" name="Text 5"/>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rtlCol="0" anchor="ctr"/>
          <a:lstStyle/>
          <a:p>
            <a:pPr indent="0" marL="0">
              <a:buNone/>
            </a:pPr>
            <a:r>
              <a:rPr lang="en-US" sz="1050" b="1" spc="100" kern="0" dirty="0">
                <a:solidFill>
                  <a:srgbClr val="8A8378"/>
                </a:solidFill>
                <a:latin typeface="Georgia" pitchFamily="34" charset="0"/>
                <a:ea typeface="Georgia" pitchFamily="34" charset="-122"/>
                <a:cs typeface="Georgia" pitchFamily="34" charset="-120"/>
              </a:rPr>
              <a:t>NO SOURCE CODE · NO GOODWILL · A DEMONSTRATION</a:t>
            </a:r>
            <a:endParaRPr lang="en-US" sz="1150" dirty="0"/>
          </a:p>
        </p:txBody>
      </p:sp>
      <p:sp>
        <p:nvSpPr>
          <p:cNvPr id="3" name="Text 1"/>
          <p:cNvSpPr/>
          <p:nvPr/>
        </p:nvSpPr>
        <p:spPr>
          <a:xfrm>
            <a:off x="566928" y="749808"/>
            <a:ext cx="11057839" cy="822960"/>
          </a:xfrm>
          <a:prstGeom prst="rect">
            <a:avLst/>
          </a:prstGeom>
          <a:noFill/>
          <a:ln/>
        </p:spPr>
        <p:txBody>
          <a:bodyPr wrap="square" rtlCol="0" anchor="ctr"/>
          <a:lstStyle/>
          <a:p>
            <a:pPr indent="0" marL="0">
              <a:buNone/>
            </a:pPr>
            <a:r>
              <a:rPr lang="en-US" sz="2450" b="1" dirty="0">
                <a:solidFill>
                  <a:srgbClr val="1B1A18"/>
                </a:solidFill>
                <a:latin typeface="Georgia" pitchFamily="34" charset="0"/>
                <a:ea typeface="Georgia" pitchFamily="34" charset="-122"/>
                <a:cs typeface="Georgia" pitchFamily="34" charset="-120"/>
              </a:rPr>
              <a:t>The nine-test protocol</a:t>
            </a:r>
            <a:endParaRPr lang="en-US" sz="2450" dirty="0"/>
          </a:p>
        </p:txBody>
      </p:sp>
      <p:sp>
        <p:nvSpPr>
          <p:cNvPr id="4" name="Shape 2"/>
          <p:cNvSpPr/>
          <p:nvPr/>
        </p:nvSpPr>
        <p:spPr>
          <a:xfrm>
            <a:off x="566928" y="1691640"/>
            <a:ext cx="3503066" cy="2148840"/>
          </a:xfrm>
          <a:prstGeom prst="roundRect">
            <a:avLst>
              <a:gd name="adj" fmla="val 3404"/>
            </a:avLst>
          </a:prstGeom>
          <a:solidFill>
            <a:srgbClr val="F4F2EE"/>
          </a:solidFill>
          <a:ln w="12700">
            <a:solidFill>
              <a:srgbClr val="EBE7DF"/>
            </a:solidFill>
            <a:prstDash val="solid"/>
          </a:ln>
        </p:spPr>
      </p:sp>
      <p:sp>
        <p:nvSpPr>
          <p:cNvPr id="5" name="Shape 3"/>
          <p:cNvSpPr/>
          <p:nvPr/>
        </p:nvSpPr>
        <p:spPr>
          <a:xfrm>
            <a:off x="795528" y="1892808"/>
            <a:ext cx="1764792" cy="310896"/>
          </a:xfrm>
          <a:prstGeom prst="roundRect">
            <a:avLst>
              <a:gd name="adj" fmla="val 50000"/>
            </a:avLst>
          </a:prstGeom>
          <a:solidFill>
            <a:srgbClr val="1B1A18"/>
          </a:solidFill>
          <a:ln/>
        </p:spPr>
      </p:sp>
      <p:sp>
        <p:nvSpPr>
          <p:cNvPr id="6" name="Text 4"/>
          <p:cNvSpPr/>
          <p:nvPr/>
        </p:nvSpPr>
        <p:spPr>
          <a:xfrm>
            <a:off x="795528" y="1892808"/>
            <a:ext cx="1764792"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Specification</a:t>
            </a:r>
            <a:endParaRPr lang="en-US" sz="950" dirty="0"/>
          </a:p>
        </p:txBody>
      </p:sp>
      <p:sp>
        <p:nvSpPr>
          <p:cNvPr id="7" name="Text 5"/>
          <p:cNvSpPr/>
          <p:nvPr/>
        </p:nvSpPr>
        <p:spPr>
          <a:xfrm>
            <a:off x="795528" y="2295144"/>
            <a:ext cx="3045866"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Show the crossing</a:t>
            </a:r>
            <a:endParaRPr lang="en-US" sz="1450" dirty="0"/>
          </a:p>
        </p:txBody>
      </p:sp>
      <p:sp>
        <p:nvSpPr>
          <p:cNvPr id="8" name="Text 6"/>
          <p:cNvSpPr/>
          <p:nvPr/>
        </p:nvSpPr>
        <p:spPr>
          <a:xfrm>
            <a:off x="795528"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Walk real work across a real boundary, live; inspect what arrives with it.</a:t>
            </a:r>
            <a:endParaRPr lang="en-US" sz="1150" dirty="0"/>
          </a:p>
        </p:txBody>
      </p:sp>
      <p:sp>
        <p:nvSpPr>
          <p:cNvPr id="9" name="Shape 7"/>
          <p:cNvSpPr/>
          <p:nvPr/>
        </p:nvSpPr>
        <p:spPr>
          <a:xfrm>
            <a:off x="4344314" y="1691640"/>
            <a:ext cx="3503066" cy="2148840"/>
          </a:xfrm>
          <a:prstGeom prst="roundRect">
            <a:avLst>
              <a:gd name="adj" fmla="val 3404"/>
            </a:avLst>
          </a:prstGeom>
          <a:solidFill>
            <a:srgbClr val="F4F2EE"/>
          </a:solidFill>
          <a:ln w="12700">
            <a:solidFill>
              <a:srgbClr val="EBE7DF"/>
            </a:solidFill>
            <a:prstDash val="solid"/>
          </a:ln>
        </p:spPr>
      </p:sp>
      <p:sp>
        <p:nvSpPr>
          <p:cNvPr id="10" name="Shape 8"/>
          <p:cNvSpPr/>
          <p:nvPr/>
        </p:nvSpPr>
        <p:spPr>
          <a:xfrm>
            <a:off x="4572914" y="1892808"/>
            <a:ext cx="1362456" cy="310896"/>
          </a:xfrm>
          <a:prstGeom prst="roundRect">
            <a:avLst>
              <a:gd name="adj" fmla="val 50000"/>
            </a:avLst>
          </a:prstGeom>
          <a:solidFill>
            <a:srgbClr val="1B1A18"/>
          </a:solidFill>
          <a:ln/>
        </p:spPr>
      </p:sp>
      <p:sp>
        <p:nvSpPr>
          <p:cNvPr id="11" name="Text 9"/>
          <p:cNvSpPr/>
          <p:nvPr/>
        </p:nvSpPr>
        <p:spPr>
          <a:xfrm>
            <a:off x="4572914" y="1892808"/>
            <a:ext cx="1362456"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Partition</a:t>
            </a:r>
            <a:endParaRPr lang="en-US" sz="950" dirty="0"/>
          </a:p>
        </p:txBody>
      </p:sp>
      <p:sp>
        <p:nvSpPr>
          <p:cNvPr id="12" name="Text 10"/>
          <p:cNvSpPr/>
          <p:nvPr/>
        </p:nvSpPr>
        <p:spPr>
          <a:xfrm>
            <a:off x="4572914" y="2295144"/>
            <a:ext cx="3045866"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Onboarding + where-proven</a:t>
            </a:r>
            <a:endParaRPr lang="en-US" sz="1450" dirty="0"/>
          </a:p>
        </p:txBody>
      </p:sp>
      <p:sp>
        <p:nvSpPr>
          <p:cNvPr id="13" name="Text 11"/>
          <p:cNvSpPr/>
          <p:nvPr/>
        </p:nvSpPr>
        <p:spPr>
          <a:xfrm>
            <a:off x="4572914"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New tenant → rows or releases? Where does a new agent prove itself?</a:t>
            </a:r>
            <a:endParaRPr lang="en-US" sz="1150" dirty="0"/>
          </a:p>
        </p:txBody>
      </p:sp>
      <p:sp>
        <p:nvSpPr>
          <p:cNvPr id="14" name="Shape 12"/>
          <p:cNvSpPr/>
          <p:nvPr/>
        </p:nvSpPr>
        <p:spPr>
          <a:xfrm>
            <a:off x="8121701" y="1691640"/>
            <a:ext cx="3503066" cy="2148840"/>
          </a:xfrm>
          <a:prstGeom prst="roundRect">
            <a:avLst>
              <a:gd name="adj" fmla="val 3404"/>
            </a:avLst>
          </a:prstGeom>
          <a:solidFill>
            <a:srgbClr val="F4F2EE"/>
          </a:solidFill>
          <a:ln w="12700">
            <a:solidFill>
              <a:srgbClr val="EBE7DF"/>
            </a:solidFill>
            <a:prstDash val="solid"/>
          </a:ln>
        </p:spPr>
      </p:sp>
      <p:sp>
        <p:nvSpPr>
          <p:cNvPr id="15" name="Shape 13"/>
          <p:cNvSpPr/>
          <p:nvPr/>
        </p:nvSpPr>
        <p:spPr>
          <a:xfrm>
            <a:off x="8350301" y="1892808"/>
            <a:ext cx="960120" cy="310896"/>
          </a:xfrm>
          <a:prstGeom prst="roundRect">
            <a:avLst>
              <a:gd name="adj" fmla="val 50000"/>
            </a:avLst>
          </a:prstGeom>
          <a:solidFill>
            <a:srgbClr val="1B1A18"/>
          </a:solidFill>
          <a:ln/>
        </p:spPr>
      </p:sp>
      <p:sp>
        <p:nvSpPr>
          <p:cNvPr id="16" name="Text 14"/>
          <p:cNvSpPr/>
          <p:nvPr/>
        </p:nvSpPr>
        <p:spPr>
          <a:xfrm>
            <a:off x="8350301" y="1892808"/>
            <a:ext cx="960120"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Floor</a:t>
            </a:r>
            <a:endParaRPr lang="en-US" sz="950" dirty="0"/>
          </a:p>
        </p:txBody>
      </p:sp>
      <p:sp>
        <p:nvSpPr>
          <p:cNvPr id="17" name="Text 15"/>
          <p:cNvSpPr/>
          <p:nvPr/>
        </p:nvSpPr>
        <p:spPr>
          <a:xfrm>
            <a:off x="8350301" y="2295144"/>
            <a:ext cx="3045866"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Address test</a:t>
            </a:r>
            <a:endParaRPr lang="en-US" sz="1450" dirty="0"/>
          </a:p>
        </p:txBody>
      </p:sp>
      <p:sp>
        <p:nvSpPr>
          <p:cNvPr id="18" name="Text 16"/>
          <p:cNvSpPr/>
          <p:nvPr/>
        </p:nvSpPr>
        <p:spPr>
          <a:xfrm>
            <a:off x="8350301" y="275234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One non-negotiable; its physical enforcement point; disqualify on ‘prompt’.</a:t>
            </a:r>
            <a:endParaRPr lang="en-US" sz="1150" dirty="0"/>
          </a:p>
        </p:txBody>
      </p:sp>
      <p:sp>
        <p:nvSpPr>
          <p:cNvPr id="19" name="Shape 17"/>
          <p:cNvSpPr/>
          <p:nvPr/>
        </p:nvSpPr>
        <p:spPr>
          <a:xfrm>
            <a:off x="566928" y="4114800"/>
            <a:ext cx="3503066" cy="2148840"/>
          </a:xfrm>
          <a:prstGeom prst="roundRect">
            <a:avLst>
              <a:gd name="adj" fmla="val 3404"/>
            </a:avLst>
          </a:prstGeom>
          <a:solidFill>
            <a:srgbClr val="F4F2EE"/>
          </a:solidFill>
          <a:ln w="12700">
            <a:solidFill>
              <a:srgbClr val="EBE7DF"/>
            </a:solidFill>
            <a:prstDash val="solid"/>
          </a:ln>
        </p:spPr>
      </p:sp>
      <p:sp>
        <p:nvSpPr>
          <p:cNvPr id="20" name="Shape 18"/>
          <p:cNvSpPr/>
          <p:nvPr/>
        </p:nvSpPr>
        <p:spPr>
          <a:xfrm>
            <a:off x="795528" y="4315968"/>
            <a:ext cx="960120" cy="310896"/>
          </a:xfrm>
          <a:prstGeom prst="roundRect">
            <a:avLst>
              <a:gd name="adj" fmla="val 50000"/>
            </a:avLst>
          </a:prstGeom>
          <a:solidFill>
            <a:srgbClr val="1B1A18"/>
          </a:solidFill>
          <a:ln/>
        </p:spPr>
      </p:sp>
      <p:sp>
        <p:nvSpPr>
          <p:cNvPr id="21" name="Text 19"/>
          <p:cNvSpPr/>
          <p:nvPr/>
        </p:nvSpPr>
        <p:spPr>
          <a:xfrm>
            <a:off x="795528" y="4315968"/>
            <a:ext cx="960120"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Trust</a:t>
            </a:r>
            <a:endParaRPr lang="en-US" sz="950" dirty="0"/>
          </a:p>
        </p:txBody>
      </p:sp>
      <p:sp>
        <p:nvSpPr>
          <p:cNvPr id="22" name="Text 20"/>
          <p:cNvSpPr/>
          <p:nvPr/>
        </p:nvSpPr>
        <p:spPr>
          <a:xfrm>
            <a:off x="795528" y="4718304"/>
            <a:ext cx="3045866"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Expressibility + origin</a:t>
            </a:r>
            <a:endParaRPr lang="en-US" sz="1450" dirty="0"/>
          </a:p>
        </p:txBody>
      </p:sp>
      <p:sp>
        <p:nvSpPr>
          <p:cNvPr id="23" name="Text 21"/>
          <p:cNvSpPr/>
          <p:nvPr/>
        </p:nvSpPr>
        <p:spPr>
          <a:xfrm>
            <a:off x="795528"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Write the cross-tenant statement; what does the structure know about origin?</a:t>
            </a:r>
            <a:endParaRPr lang="en-US" sz="1150" dirty="0"/>
          </a:p>
        </p:txBody>
      </p:sp>
      <p:sp>
        <p:nvSpPr>
          <p:cNvPr id="24" name="Shape 22"/>
          <p:cNvSpPr/>
          <p:nvPr/>
        </p:nvSpPr>
        <p:spPr>
          <a:xfrm>
            <a:off x="4344314" y="4114800"/>
            <a:ext cx="3503066" cy="2148840"/>
          </a:xfrm>
          <a:prstGeom prst="roundRect">
            <a:avLst>
              <a:gd name="adj" fmla="val 3404"/>
            </a:avLst>
          </a:prstGeom>
          <a:solidFill>
            <a:srgbClr val="F4F2EE"/>
          </a:solidFill>
          <a:ln w="12700">
            <a:solidFill>
              <a:srgbClr val="EBE7DF"/>
            </a:solidFill>
            <a:prstDash val="solid"/>
          </a:ln>
        </p:spPr>
      </p:sp>
      <p:sp>
        <p:nvSpPr>
          <p:cNvPr id="25" name="Shape 23"/>
          <p:cNvSpPr/>
          <p:nvPr/>
        </p:nvSpPr>
        <p:spPr>
          <a:xfrm>
            <a:off x="4572914" y="4315968"/>
            <a:ext cx="1261872" cy="310896"/>
          </a:xfrm>
          <a:prstGeom prst="roundRect">
            <a:avLst>
              <a:gd name="adj" fmla="val 50000"/>
            </a:avLst>
          </a:prstGeom>
          <a:solidFill>
            <a:srgbClr val="1B1A18"/>
          </a:solidFill>
          <a:ln/>
        </p:spPr>
      </p:sp>
      <p:sp>
        <p:nvSpPr>
          <p:cNvPr id="26" name="Text 24"/>
          <p:cNvSpPr/>
          <p:nvPr/>
        </p:nvSpPr>
        <p:spPr>
          <a:xfrm>
            <a:off x="4572914" y="4315968"/>
            <a:ext cx="1261872"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External</a:t>
            </a:r>
            <a:endParaRPr lang="en-US" sz="950" dirty="0"/>
          </a:p>
        </p:txBody>
      </p:sp>
      <p:sp>
        <p:nvSpPr>
          <p:cNvPr id="27" name="Text 25"/>
          <p:cNvSpPr/>
          <p:nvPr/>
        </p:nvSpPr>
        <p:spPr>
          <a:xfrm>
            <a:off x="4572914" y="4718304"/>
            <a:ext cx="3045866"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Dependency + substitution</a:t>
            </a:r>
            <a:endParaRPr lang="en-US" sz="1450" dirty="0"/>
          </a:p>
        </p:txBody>
      </p:sp>
      <p:sp>
        <p:nvSpPr>
          <p:cNvPr id="28" name="Text 26"/>
          <p:cNvSpPr/>
          <p:nvPr/>
        </p:nvSpPr>
        <p:spPr>
          <a:xfrm>
            <a:off x="4572914"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The runtime leash list; the cost of saying no to any party.</a:t>
            </a:r>
            <a:endParaRPr lang="en-US" sz="1150" dirty="0"/>
          </a:p>
        </p:txBody>
      </p:sp>
      <p:sp>
        <p:nvSpPr>
          <p:cNvPr id="29" name="Shape 27"/>
          <p:cNvSpPr/>
          <p:nvPr/>
        </p:nvSpPr>
        <p:spPr>
          <a:xfrm>
            <a:off x="8121701" y="4114800"/>
            <a:ext cx="3503066" cy="2148840"/>
          </a:xfrm>
          <a:prstGeom prst="roundRect">
            <a:avLst>
              <a:gd name="adj" fmla="val 3404"/>
            </a:avLst>
          </a:prstGeom>
          <a:solidFill>
            <a:srgbClr val="F4F2EE"/>
          </a:solidFill>
          <a:ln w="12700">
            <a:solidFill>
              <a:srgbClr val="EBE7DF"/>
            </a:solidFill>
            <a:prstDash val="solid"/>
          </a:ln>
        </p:spPr>
      </p:sp>
      <p:sp>
        <p:nvSpPr>
          <p:cNvPr id="30" name="Shape 28"/>
          <p:cNvSpPr/>
          <p:nvPr/>
        </p:nvSpPr>
        <p:spPr>
          <a:xfrm>
            <a:off x="8350301" y="4315968"/>
            <a:ext cx="2167128" cy="310896"/>
          </a:xfrm>
          <a:prstGeom prst="roundRect">
            <a:avLst>
              <a:gd name="adj" fmla="val 50000"/>
            </a:avLst>
          </a:prstGeom>
          <a:solidFill>
            <a:srgbClr val="1B1A18"/>
          </a:solidFill>
          <a:ln/>
        </p:spPr>
      </p:sp>
      <p:sp>
        <p:nvSpPr>
          <p:cNvPr id="31" name="Text 29"/>
          <p:cNvSpPr/>
          <p:nvPr/>
        </p:nvSpPr>
        <p:spPr>
          <a:xfrm>
            <a:off x="8350301" y="4315968"/>
            <a:ext cx="2167128" cy="310896"/>
          </a:xfrm>
          <a:prstGeom prst="rect">
            <a:avLst/>
          </a:prstGeom>
          <a:noFill/>
          <a:ln/>
        </p:spPr>
        <p:txBody>
          <a:bodyPr wrap="square" rtlCol="0" anchor="ctr"/>
          <a:lstStyle/>
          <a:p>
            <a:pPr algn="ctr" indent="0" marL="0">
              <a:buNone/>
            </a:pPr>
            <a:r>
              <a:rPr lang="en-US" sz="850" b="1" spc="50" kern="0" dirty="0">
                <a:solidFill>
                  <a:srgbClr val="FFFFFF"/>
                </a:solidFill>
                <a:latin typeface="Georgia" pitchFamily="34" charset="0"/>
                <a:ea typeface="Georgia" pitchFamily="34" charset="-122"/>
                <a:cs typeface="Georgia" pitchFamily="34" charset="-120"/>
              </a:rPr>
              <a:t>Evidence &amp; nature</a:t>
            </a:r>
            <a:endParaRPr lang="en-US" sz="950" dirty="0"/>
          </a:p>
        </p:txBody>
      </p:sp>
      <p:sp>
        <p:nvSpPr>
          <p:cNvPr id="32" name="Text 30"/>
          <p:cNvSpPr/>
          <p:nvPr/>
        </p:nvSpPr>
        <p:spPr>
          <a:xfrm>
            <a:off x="8350301" y="4718304"/>
            <a:ext cx="3045866" cy="548640"/>
          </a:xfrm>
          <a:prstGeom prst="rect">
            <a:avLst/>
          </a:prstGeom>
          <a:noFill/>
          <a:ln/>
        </p:spPr>
        <p:txBody>
          <a:bodyPr wrap="square" rtlCol="0" anchor="ctr"/>
          <a:lstStyle/>
          <a:p>
            <a:pPr indent="0" marL="0">
              <a:buNone/>
            </a:pPr>
            <a:r>
              <a:rPr lang="en-US" sz="1450" b="1" dirty="0">
                <a:solidFill>
                  <a:srgbClr val="1B1A18"/>
                </a:solidFill>
                <a:latin typeface="Georgia" pitchFamily="34" charset="0"/>
                <a:ea typeface="Georgia" pitchFamily="34" charset="-122"/>
                <a:cs typeface="Georgia" pitchFamily="34" charset="-120"/>
              </a:rPr>
              <a:t>Last-month · two-invoices · outlive</a:t>
            </a:r>
            <a:endParaRPr lang="en-US" sz="1450" dirty="0"/>
          </a:p>
        </p:txBody>
      </p:sp>
      <p:sp>
        <p:nvSpPr>
          <p:cNvPr id="33" name="Text 31"/>
          <p:cNvSpPr/>
          <p:nvPr/>
        </p:nvSpPr>
        <p:spPr>
          <a:xfrm>
            <a:off x="8350301" y="5175504"/>
            <a:ext cx="3045866" cy="960120"/>
          </a:xfrm>
          <a:prstGeom prst="rect">
            <a:avLst/>
          </a:prstGeom>
          <a:noFill/>
          <a:ln/>
        </p:spPr>
        <p:txBody>
          <a:bodyPr wrap="square" rtlCol="0" anchor="t"/>
          <a:lstStyle/>
          <a:p>
            <a:pPr indent="0" marL="0">
              <a:lnSpc>
                <a:spcPct val="112000"/>
              </a:lnSpc>
              <a:buNone/>
            </a:pPr>
            <a:r>
              <a:rPr lang="en-US" sz="1150" dirty="0">
                <a:solidFill>
                  <a:srgbClr val="33302B"/>
                </a:solidFill>
                <a:latin typeface="Georgia" pitchFamily="34" charset="0"/>
                <a:ea typeface="Georgia" pitchFamily="34" charset="-122"/>
                <a:cs typeface="Georgia" pitchFamily="34" charset="-120"/>
              </a:rPr>
              <a:t>Attribution by query; per-action cost; the referee and turnover questions.</a:t>
            </a:r>
            <a:endParaRPr lang="en-US" sz="1150" dirty="0"/>
          </a:p>
        </p:txBody>
      </p:sp>
      <p:sp>
        <p:nvSpPr>
          <p:cNvPr id="34" name="Text 3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35" name="Text 3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6">
    <p:bg>
      <p:bgPr>
        <a:solidFill>
          <a:srgbClr val="33302B"/>
        </a:solidFill>
      </p:bgPr>
    </p:bg>
    <p:spTree>
      <p:nvGrpSpPr>
        <p:cNvPr id="1" name=""/>
        <p:cNvGrpSpPr/>
        <p:nvPr/>
      </p:nvGrpSpPr>
      <p:grpSpPr>
        <a:xfrm>
          <a:off x="0" y="0"/>
          <a:ext cx="0" cy="0"/>
          <a:chOff x="0" y="0"/>
          <a:chExt cx="0" cy="0"/>
        </a:xfrm>
      </p:grpSpPr>
      <p:sp>
        <p:nvSpPr>
          <p:cNvPr id="2" name="Shape 0"/>
          <p:cNvSpPr/>
          <p:nvPr/>
        </p:nvSpPr>
        <p:spPr>
          <a:xfrm>
            <a:off x="566928" y="502920"/>
            <a:ext cx="2011680" cy="310896"/>
          </a:xfrm>
          <a:prstGeom prst="roundRect">
            <a:avLst>
              <a:gd name="adj" fmla="val 50000"/>
            </a:avLst>
          </a:prstGeom>
          <a:solidFill>
            <a:srgbClr val="8A8378"/>
          </a:solidFill>
          <a:ln/>
        </p:spPr>
      </p:sp>
      <p:sp>
        <p:nvSpPr>
          <p:cNvPr id="3" name="Text 1"/>
          <p:cNvSpPr/>
          <p:nvPr/>
        </p:nvSpPr>
        <p:spPr>
          <a:xfrm>
            <a:off x="566928" y="50292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CAPSTONE · DEFEND</a:t>
            </a:r>
            <a:endParaRPr lang="en-US" sz="1050" dirty="0"/>
          </a:p>
        </p:txBody>
      </p:sp>
      <p:sp>
        <p:nvSpPr>
          <p:cNvPr id="4" name="Text 2"/>
          <p:cNvSpPr/>
          <p:nvPr/>
        </p:nvSpPr>
        <p:spPr>
          <a:xfrm>
            <a:off x="566928" y="960120"/>
            <a:ext cx="11057839" cy="731520"/>
          </a:xfrm>
          <a:prstGeom prst="rect">
            <a:avLst/>
          </a:prstGeom>
          <a:noFill/>
          <a:ln/>
        </p:spPr>
        <p:txBody>
          <a:bodyPr wrap="square" rtlCol="0" anchor="ctr"/>
          <a:lstStyle/>
          <a:p>
            <a:pPr indent="0" marL="0">
              <a:buNone/>
            </a:pPr>
            <a:r>
              <a:rPr lang="en-US" sz="2250" b="1" dirty="0">
                <a:solidFill>
                  <a:srgbClr val="FFFFFF"/>
                </a:solidFill>
                <a:latin typeface="Georgia" pitchFamily="34" charset="0"/>
                <a:ea typeface="Georgia" pitchFamily="34" charset="-122"/>
                <a:cs typeface="Georgia" pitchFamily="34" charset="-120"/>
              </a:rPr>
              <a:t>Capstone defence</a:t>
            </a:r>
            <a:endParaRPr lang="en-US" sz="2250" dirty="0"/>
          </a:p>
        </p:txBody>
      </p:sp>
      <p:sp>
        <p:nvSpPr>
          <p:cNvPr id="5" name="Shape 3"/>
          <p:cNvSpPr/>
          <p:nvPr/>
        </p:nvSpPr>
        <p:spPr>
          <a:xfrm>
            <a:off x="566928" y="1965960"/>
            <a:ext cx="420624" cy="420624"/>
          </a:xfrm>
          <a:prstGeom prst="ellipse">
            <a:avLst/>
          </a:prstGeom>
          <a:solidFill>
            <a:srgbClr val="8A8378"/>
          </a:solidFill>
          <a:ln/>
        </p:spPr>
      </p:sp>
      <p:sp>
        <p:nvSpPr>
          <p:cNvPr id="6" name="Text 4"/>
          <p:cNvSpPr/>
          <p:nvPr/>
        </p:nvSpPr>
        <p:spPr>
          <a:xfrm>
            <a:off x="566928" y="1965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1</a:t>
            </a:r>
            <a:endParaRPr lang="en-US" sz="1200" dirty="0"/>
          </a:p>
        </p:txBody>
      </p:sp>
      <p:sp>
        <p:nvSpPr>
          <p:cNvPr id="7" name="Text 5"/>
          <p:cNvSpPr/>
          <p:nvPr/>
        </p:nvSpPr>
        <p:spPr>
          <a:xfrm>
            <a:off x="1143000" y="1920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Present your custody-architecture proposal: the domain’s ‘nevers’, the crossings, and where each property is enforced.</a:t>
            </a:r>
            <a:endParaRPr lang="en-US" sz="1400" dirty="0"/>
          </a:p>
        </p:txBody>
      </p:sp>
      <p:sp>
        <p:nvSpPr>
          <p:cNvPr id="8" name="Shape 6"/>
          <p:cNvSpPr/>
          <p:nvPr/>
        </p:nvSpPr>
        <p:spPr>
          <a:xfrm>
            <a:off x="566928" y="3489960"/>
            <a:ext cx="420624" cy="420624"/>
          </a:xfrm>
          <a:prstGeom prst="ellipse">
            <a:avLst/>
          </a:prstGeom>
          <a:solidFill>
            <a:srgbClr val="8A8378"/>
          </a:solidFill>
          <a:ln/>
        </p:spPr>
      </p:sp>
      <p:sp>
        <p:nvSpPr>
          <p:cNvPr id="9" name="Text 7"/>
          <p:cNvSpPr/>
          <p:nvPr/>
        </p:nvSpPr>
        <p:spPr>
          <a:xfrm>
            <a:off x="566928" y="3489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2</a:t>
            </a:r>
            <a:endParaRPr lang="en-US" sz="1200" dirty="0"/>
          </a:p>
        </p:txBody>
      </p:sp>
      <p:sp>
        <p:nvSpPr>
          <p:cNvPr id="10" name="Text 8"/>
          <p:cNvSpPr/>
          <p:nvPr/>
        </p:nvSpPr>
        <p:spPr>
          <a:xfrm>
            <a:off x="1143000" y="3444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Peers run the nine-test protocol against it, live.</a:t>
            </a:r>
            <a:endParaRPr lang="en-US" sz="1400" dirty="0"/>
          </a:p>
        </p:txBody>
      </p:sp>
      <p:sp>
        <p:nvSpPr>
          <p:cNvPr id="11" name="Shape 9"/>
          <p:cNvSpPr/>
          <p:nvPr/>
        </p:nvSpPr>
        <p:spPr>
          <a:xfrm>
            <a:off x="566928" y="5013960"/>
            <a:ext cx="420624" cy="420624"/>
          </a:xfrm>
          <a:prstGeom prst="ellipse">
            <a:avLst/>
          </a:prstGeom>
          <a:solidFill>
            <a:srgbClr val="8A8378"/>
          </a:solidFill>
          <a:ln/>
        </p:spPr>
      </p:sp>
      <p:sp>
        <p:nvSpPr>
          <p:cNvPr id="12" name="Text 10"/>
          <p:cNvSpPr/>
          <p:nvPr/>
        </p:nvSpPr>
        <p:spPr>
          <a:xfrm>
            <a:off x="566928" y="5013960"/>
            <a:ext cx="420624" cy="420624"/>
          </a:xfrm>
          <a:prstGeom prst="rect">
            <a:avLst/>
          </a:prstGeom>
          <a:noFill/>
          <a:ln/>
        </p:spPr>
        <p:txBody>
          <a:bodyPr wrap="square" rtlCol="0" anchor="ctr"/>
          <a:lstStyle/>
          <a:p>
            <a:pPr algn="ctr" indent="0" marL="0">
              <a:buNone/>
            </a:pPr>
            <a:r>
              <a:rPr lang="en-US" sz="1200" b="1" dirty="0">
                <a:solidFill>
                  <a:srgbClr val="1B1A18"/>
                </a:solidFill>
                <a:latin typeface="Georgia" pitchFamily="34" charset="0"/>
                <a:ea typeface="Georgia" pitchFamily="34" charset="-122"/>
                <a:cs typeface="Georgia" pitchFamily="34" charset="-120"/>
              </a:rPr>
              <a:t>3</a:t>
            </a:r>
            <a:endParaRPr lang="en-US" sz="1200" dirty="0"/>
          </a:p>
        </p:txBody>
      </p:sp>
      <p:sp>
        <p:nvSpPr>
          <p:cNvPr id="13" name="Text 11"/>
          <p:cNvSpPr/>
          <p:nvPr/>
        </p:nvSpPr>
        <p:spPr>
          <a:xfrm>
            <a:off x="1143000" y="4968240"/>
            <a:ext cx="10372039" cy="1432560"/>
          </a:xfrm>
          <a:prstGeom prst="rect">
            <a:avLst/>
          </a:prstGeom>
          <a:noFill/>
          <a:ln/>
        </p:spPr>
        <p:txBody>
          <a:bodyPr wrap="square" rtlCol="0" anchor="t"/>
          <a:lstStyle/>
          <a:p>
            <a:pPr indent="0" marL="0">
              <a:lnSpc>
                <a:spcPct val="115000"/>
              </a:lnSpc>
              <a:buNone/>
            </a:pPr>
            <a:r>
              <a:rPr lang="en-US" sz="1400" dirty="0">
                <a:solidFill>
                  <a:srgbClr val="E4DFD5"/>
                </a:solidFill>
                <a:latin typeface="Georgia" pitchFamily="34" charset="0"/>
                <a:ea typeface="Georgia" pitchFamily="34" charset="-122"/>
                <a:cs typeface="Georgia" pitchFamily="34" charset="-120"/>
              </a:rPr>
              <a:t>Respond to the hardest objection — and name where your design is genuinely weakest.</a:t>
            </a:r>
            <a:endParaRPr lang="en-US" sz="1400" dirty="0"/>
          </a:p>
        </p:txBody>
      </p:sp>
      <p:sp>
        <p:nvSpPr>
          <p:cNvPr id="14" name="Text 12"/>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15" name="Text 13"/>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7">
    <p:bg>
      <p:bgPr>
        <a:solidFill>
          <a:srgbClr val="1B1A18"/>
        </a:solidFill>
      </p:bgPr>
    </p:bg>
    <p:spTree>
      <p:nvGrpSpPr>
        <p:cNvPr id="1" name=""/>
        <p:cNvGrpSpPr/>
        <p:nvPr/>
      </p:nvGrpSpPr>
      <p:grpSpPr>
        <a:xfrm>
          <a:off x="0" y="0"/>
          <a:ext cx="0" cy="0"/>
          <a:chOff x="0" y="0"/>
          <a:chExt cx="0" cy="0"/>
        </a:xfrm>
      </p:grpSpPr>
      <p:sp>
        <p:nvSpPr>
          <p:cNvPr id="2" name="Shape 0"/>
          <p:cNvSpPr/>
          <p:nvPr/>
        </p:nvSpPr>
        <p:spPr>
          <a:xfrm>
            <a:off x="-1371600" y="3657600"/>
            <a:ext cx="4572000" cy="4572000"/>
          </a:xfrm>
          <a:prstGeom prst="ellipse">
            <a:avLst/>
          </a:prstGeom>
          <a:solidFill>
            <a:srgbClr val="33302B"/>
          </a:solidFill>
          <a:ln/>
        </p:spPr>
      </p:sp>
      <p:sp>
        <p:nvSpPr>
          <p:cNvPr id="3" name="Shape 1"/>
          <p:cNvSpPr/>
          <p:nvPr/>
        </p:nvSpPr>
        <p:spPr>
          <a:xfrm>
            <a:off x="566928" y="1280160"/>
            <a:ext cx="2011680" cy="310896"/>
          </a:xfrm>
          <a:prstGeom prst="roundRect">
            <a:avLst>
              <a:gd name="adj" fmla="val 50000"/>
            </a:avLst>
          </a:prstGeom>
          <a:solidFill>
            <a:srgbClr val="8A8378"/>
          </a:solidFill>
          <a:ln/>
        </p:spPr>
      </p:sp>
      <p:sp>
        <p:nvSpPr>
          <p:cNvPr id="4" name="Text 2"/>
          <p:cNvSpPr/>
          <p:nvPr/>
        </p:nvSpPr>
        <p:spPr>
          <a:xfrm>
            <a:off x="566928" y="1280160"/>
            <a:ext cx="2011680" cy="310896"/>
          </a:xfrm>
          <a:prstGeom prst="rect">
            <a:avLst/>
          </a:prstGeom>
          <a:noFill/>
          <a:ln/>
        </p:spPr>
        <p:txBody>
          <a:bodyPr wrap="square" rtlCol="0" anchor="ctr"/>
          <a:lstStyle/>
          <a:p>
            <a:pPr algn="ctr" indent="0" marL="0">
              <a:buNone/>
            </a:pPr>
            <a:r>
              <a:rPr lang="en-US" sz="950" b="1" spc="50" kern="0" dirty="0">
                <a:solidFill>
                  <a:srgbClr val="1B1A18"/>
                </a:solidFill>
                <a:latin typeface="Georgia" pitchFamily="34" charset="0"/>
                <a:ea typeface="Georgia" pitchFamily="34" charset="-122"/>
                <a:cs typeface="Georgia" pitchFamily="34" charset="-120"/>
              </a:rPr>
              <a:t>THE RULE ABOVE THE RULES</a:t>
            </a:r>
            <a:endParaRPr lang="en-US" sz="1050" dirty="0"/>
          </a:p>
        </p:txBody>
      </p:sp>
      <p:sp>
        <p:nvSpPr>
          <p:cNvPr id="5" name="Text 3"/>
          <p:cNvSpPr/>
          <p:nvPr/>
        </p:nvSpPr>
        <p:spPr>
          <a:xfrm>
            <a:off x="566928" y="1828800"/>
            <a:ext cx="10789920" cy="1645920"/>
          </a:xfrm>
          <a:prstGeom prst="rect">
            <a:avLst/>
          </a:prstGeom>
          <a:noFill/>
          <a:ln/>
        </p:spPr>
        <p:txBody>
          <a:bodyPr wrap="square" rtlCol="0" anchor="ctr"/>
          <a:lstStyle/>
          <a:p>
            <a:pPr indent="0" marL="0">
              <a:lnSpc>
                <a:spcPct val="110000"/>
              </a:lnSpc>
              <a:buNone/>
            </a:pPr>
            <a:r>
              <a:rPr lang="en-US" sz="3000" b="1" i="1" dirty="0">
                <a:solidFill>
                  <a:srgbClr val="FFFFFF"/>
                </a:solidFill>
                <a:latin typeface="Georgia" pitchFamily="34" charset="0"/>
                <a:ea typeface="Georgia" pitchFamily="34" charset="-122"/>
                <a:cs typeface="Georgia" pitchFamily="34" charset="-120"/>
              </a:rPr>
              <a:t>“Every component must be replaceable,</a:t>
            </a:r>
            <a:endParaRPr lang="en-US" sz="3000" dirty="0"/>
          </a:p>
          <a:p>
            <a:pPr indent="0" marL="0">
              <a:lnSpc>
                <a:spcPct val="110000"/>
              </a:lnSpc>
              <a:buNone/>
            </a:pPr>
            <a:r>
              <a:rPr lang="en-US" sz="3000" b="1" i="1" dirty="0">
                <a:solidFill>
                  <a:srgbClr val="FFFFFF"/>
                </a:solidFill>
                <a:latin typeface="Georgia" pitchFamily="34" charset="0"/>
                <a:ea typeface="Georgia" pitchFamily="34" charset="-122"/>
                <a:cs typeface="Georgia" pitchFamily="34" charset="-120"/>
              </a:rPr>
              <a:t>and no property ever may be.”</a:t>
            </a:r>
            <a:endParaRPr lang="en-US" sz="3000" dirty="0"/>
          </a:p>
        </p:txBody>
      </p:sp>
      <p:sp>
        <p:nvSpPr>
          <p:cNvPr id="6" name="Text 4"/>
          <p:cNvSpPr/>
          <p:nvPr/>
        </p:nvSpPr>
        <p:spPr>
          <a:xfrm>
            <a:off x="566928" y="3840480"/>
            <a:ext cx="9875520" cy="914400"/>
          </a:xfrm>
          <a:prstGeom prst="rect">
            <a:avLst/>
          </a:prstGeom>
          <a:noFill/>
          <a:ln/>
        </p:spPr>
        <p:txBody>
          <a:bodyPr wrap="square" rtlCol="0" anchor="ctr"/>
          <a:lstStyle/>
          <a:p>
            <a:pPr indent="0" marL="0">
              <a:lnSpc>
                <a:spcPct val="125000"/>
              </a:lnSpc>
              <a:buNone/>
            </a:pPr>
            <a:r>
              <a:rPr lang="en-US" sz="1400" dirty="0">
                <a:solidFill>
                  <a:srgbClr val="E4DFD5"/>
                </a:solidFill>
                <a:latin typeface="Georgia" pitchFamily="34" charset="0"/>
                <a:ea typeface="Georgia" pitchFamily="34" charset="-122"/>
                <a:cs typeface="Georgia" pitchFamily="34" charset="-120"/>
              </a:rPr>
              <a:t>Judge every claimant — starting with the one whose vocabulary matches best — by what survives the crossing.</a:t>
            </a:r>
            <a:endParaRPr lang="en-US" sz="1400" dirty="0"/>
          </a:p>
        </p:txBody>
      </p:sp>
      <p:sp>
        <p:nvSpPr>
          <p:cNvPr id="7" name="Text 5"/>
          <p:cNvSpPr/>
          <p:nvPr/>
        </p:nvSpPr>
        <p:spPr>
          <a:xfrm>
            <a:off x="566928" y="6473952"/>
            <a:ext cx="9960559" cy="274320"/>
          </a:xfrm>
          <a:prstGeom prst="rect">
            <a:avLst/>
          </a:prstGeom>
          <a:noFill/>
          <a:ln/>
        </p:spPr>
        <p:txBody>
          <a:bodyPr wrap="square" rtlCol="0" anchor="ctr"/>
          <a:lstStyle/>
          <a:p>
            <a:pPr algn="l" indent="0" marL="0">
              <a:buNone/>
            </a:pPr>
            <a:r>
              <a:rPr lang="en-US" sz="900" i="1" dirty="0">
                <a:solidFill>
                  <a:srgbClr val="6E6A62"/>
                </a:solidFill>
                <a:latin typeface="Georgia" pitchFamily="34" charset="0"/>
                <a:ea typeface="Georgia" pitchFamily="34" charset="-122"/>
                <a:cs typeface="Georgia" pitchFamily="34" charset="-120"/>
              </a:rPr>
              <a:t>What the Structure Does Not Carry</a:t>
            </a:r>
            <a:pPr algn="l" indent="0" marL="0">
              <a:buNone/>
            </a:pPr>
            <a:r>
              <a:rPr lang="en-US" sz="900" dirty="0">
                <a:solidFill>
                  <a:srgbClr val="6E6A62"/>
                </a:solidFill>
                <a:latin typeface="Georgia" pitchFamily="34" charset="0"/>
                <a:ea typeface="Georgia" pitchFamily="34" charset="-122"/>
                <a:cs typeface="Georgia" pitchFamily="34" charset="-120"/>
              </a:rPr>
              <a:t>  ·  MSc — Custody Architecture for Agentic Enterprises</a:t>
            </a:r>
            <a:endParaRPr lang="en-US" sz="900" dirty="0"/>
          </a:p>
        </p:txBody>
      </p:sp>
      <p:sp>
        <p:nvSpPr>
          <p:cNvPr id="8" name="Text 6"/>
          <p:cNvSpPr/>
          <p:nvPr/>
        </p:nvSpPr>
        <p:spPr>
          <a:xfrm>
            <a:off x="10710367" y="6473952"/>
            <a:ext cx="914400" cy="274320"/>
          </a:xfrm>
          <a:prstGeom prst="rect">
            <a:avLst/>
          </a:prstGeom>
          <a:noFill/>
          <a:ln/>
        </p:spPr>
        <p:txBody>
          <a:bodyPr wrap="square" rtlCol="0" anchor="ctr"/>
          <a:lstStyle/>
          <a:p>
            <a:pPr algn="r" indent="0" marL="0">
              <a:buNone/>
            </a:pPr>
            <a:r>
              <a:rPr lang="en-US" sz="900" dirty="0">
                <a:solidFill>
                  <a:srgbClr val="6E6A62"/>
                </a:solidFill>
                <a:latin typeface="Georgia" pitchFamily="34" charset="0"/>
                <a:ea typeface="Georgia" pitchFamily="34" charset="-122"/>
                <a:cs typeface="Georgia" pitchFamily="34" charset="-120"/>
              </a:rPr>
              <a:t>59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2026-08-16T05:26:10Z</dcterms:created>
  <dcterms:modified xsi:type="dcterms:W3CDTF">2026-08-16T05:26:10Z</dcterms:modified>
</cp:coreProperties>
</file>