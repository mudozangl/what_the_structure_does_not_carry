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50"/>
    <p:restoredTop sz="8895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5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5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5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5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opener. Frame the shift as a governance question, not a technology-adoption decision: when agents initiate, approve, and act, the board's questions are about accountability, control, exposure, and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 — The board-level problem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Surveys are testimony, not adjudication — but the direction is unambiguous. Frame failure as a custody problem, not a model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2 — The six properties as governance obligations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six as governance obligations, then have the room map them onto their own firm's risk register.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3 — Why the model can’t be the control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4 — Accountability &amp; audit: evidence as a product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the individual vendor-evaluation memo here; due before Session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5 — Sovereignty as structure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6 — Isolation, tenancy, and the boundaries of trust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7 — Governance that survives volume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Ideal session for a guest regulator or auditor.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8 — The economics: the meter and the ledger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9 — Infrastructure decisions boards actually make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10 — Change without calcification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11 — Nine questions to put to any vendor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protocol live against a sample vendor pitch; the vendor-evaluation memo is due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12 — The custody rules &amp; the board playbook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6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33302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3108960" cy="3108960"/>
          </a:xfrm>
          <a:prstGeom prst="ellipse">
            <a:avLst/>
          </a:prstGeom>
          <a:solidFill>
            <a:srgbClr val="3A3630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051560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5156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MBA / EXECUTIVE EDUCATION  ·  SESSIONS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600200"/>
            <a:ext cx="9326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Governing the</a:t>
            </a:r>
            <a:endParaRPr lang="en-US" sz="4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Enterprise</a:t>
            </a:r>
            <a:endParaRPr lang="en-US" sz="4150" dirty="0"/>
          </a:p>
        </p:txBody>
      </p:sp>
      <p:sp>
        <p:nvSpPr>
          <p:cNvPr id="7" name="Text 5"/>
          <p:cNvSpPr/>
          <p:nvPr/>
        </p:nvSpPr>
        <p:spPr>
          <a:xfrm>
            <a:off x="566928" y="36118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Accountability, Sovereignty, and Cost When Machines Join the Workforce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5120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2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12-session elective (or 6 executive modules), built on the book
</a:t>
            </a:r>
            <a:pPr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2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Georg Zangl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488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4884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The Law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arrival of agentic AI is a governance question before it is a technology one — and the six properties every board is now accountable for keeping in custody.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board-level problem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transformation removes the people who quietly carried judgement between systems, the function unravels — quarters later, at the board. We open with that pattern, then face two facts at once: the technology works, and deployments fail at unprecedented rates. The resolution: these are custody failures, not AI failures.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leave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 agentic AI as a governance question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Recognise the ‘invisible layer’ your firm depends on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failure statistics without the hype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EXPERIMENT, ALREADY RUN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breaks when the carriers leave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 looks flawless.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process documented, every system unchanged, every interface test green; savings booked.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85750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857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80263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the queues grow.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Exceptions, then error rates, then an incident that reaches the board.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02336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96849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tasks moved; the carriers did not.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in the documentation ever named what the people carried.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518922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5189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513435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run the same subtraction — on purpose, at scale.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carry, nothing will.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 RECORD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Phoenix Pay System (Canada)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5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$4.3B</a:t>
            </a:r>
            <a:endParaRPr lang="en-US" sz="565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cumulative spend against a $2.2B original remediation projection; ~250,000 pay transactions still outstanding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3949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C4B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 General of Canada (2017–2018); Senate Committee on National Finance (2018); PSPC figures (2026).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1965960"/>
            <a:ext cx="4858207" cy="3794760"/>
          </a:xfrm>
          <a:prstGeom prst="roundRect">
            <a:avLst>
              <a:gd name="adj" fmla="val 2410"/>
            </a:avLst>
          </a:prstGeom>
          <a:solidFill>
            <a:srgbClr val="33302B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2167128"/>
            <a:ext cx="4401007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payroll consolidation eliminated ~700 experienced pay advisers whose judgement the system quietly relied on.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property: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and accountability — the carriers were removed before the structure could carry what they held.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lesson: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business case that assumes the invisible layer away is a business case that fails.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TECHNOLOGY WORKS — AND DEPLOYMENTS FAIL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failure statistics, read plainly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92808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92808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 NANDA 2025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29514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275234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GenAI pilots showed no measurable return, on $30–40B of spend (300+ deployments reviewed).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608" y="1892808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1892808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Gartner 2025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61608" y="229514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40%+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1608" y="275234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agentic-AI projects expected to be cancelled by end-2027.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1480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431596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315968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S&amp;P Global 2025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" y="471830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95528" y="517550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companies abandoning most AI initiatives — up from 17% a year earlier.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411480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1608" y="4315968"/>
            <a:ext cx="2066544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21" name="Text 19"/>
          <p:cNvSpPr/>
          <p:nvPr/>
        </p:nvSpPr>
        <p:spPr>
          <a:xfrm>
            <a:off x="6461608" y="4315968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CrowdStrike 2026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61608" y="471830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90+ orgs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61608" y="517550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 by prompt-injection in 2025; AI-enabled adversary operations up 89% year on year.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 — Session 1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in your organisation would work unravel if the most experienced people left, even though every system kept running?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251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firm’s last AI pilot: was its business case implicitly funded by the invisible layer? What was never named?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properties as governance obligations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law of the course: enterprise architecture is the custody of organisational properties under movement. Six properties constitute the obligation. This session translates each into a board-level risk and maps them onto the firm’s existing risk register.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leave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custody law in board terms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six properties and their board-level risk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the six onto your firm’s risk register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CUSTODY OF WHAT, EXACTLY?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properties, as governance obligations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9280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92808"/>
            <a:ext cx="557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meaning of the work. Board risk: decisions on data whose significance was lost in transit.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4314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914" y="189280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914" y="1892808"/>
            <a:ext cx="557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914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914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may decide, within which limits. Board risk: actions taken with authority no one conferred.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1701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0301" y="189280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16" name="Text 14"/>
          <p:cNvSpPr/>
          <p:nvPr/>
        </p:nvSpPr>
        <p:spPr>
          <a:xfrm>
            <a:off x="8350301" y="1892808"/>
            <a:ext cx="557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50301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0301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answers. Board risk: no defensible attribution when the regulator asks.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431596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4315968"/>
            <a:ext cx="557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5528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5528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actions align. Board risk: each unit correct, the enterprise jointly wrong.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4314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914" y="431596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914" y="4315968"/>
            <a:ext cx="557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914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coherence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914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non-negotiables. Board risk: a rule that holds at some doors and not others.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21701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0301" y="431596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1" name="Text 29"/>
          <p:cNvSpPr/>
          <p:nvPr/>
        </p:nvSpPr>
        <p:spPr>
          <a:xfrm>
            <a:off x="8350301" y="4315968"/>
            <a:ext cx="557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50301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memory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50301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firm knows. Board risk: knowledge — and its provenance — leaving with people.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 RECORD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Maersk / NotPetya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5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$250–300M</a:t>
            </a:r>
            <a:endParaRPr lang="en-US" sz="565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in days; ~4,000 servers and 45,000 PCs rebuilt in ten days; ~80% of volume moved by hand meanwhile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3949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C4B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Maersk interim report (Aug 2017); J.H. Snabe, World Economic Forum (Jan 2018); A. Greenberg, Wired / Sandworm.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1965960"/>
            <a:ext cx="4858207" cy="3794760"/>
          </a:xfrm>
          <a:prstGeom prst="roundRect">
            <a:avLst>
              <a:gd name="adj" fmla="val 2410"/>
            </a:avLst>
          </a:prstGeom>
          <a:solidFill>
            <a:srgbClr val="33302B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2167128"/>
            <a:ext cx="4401007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malware wiped the global network; recovery hinged on a single surviving domain controller in Ghana.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properties: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coordination, coherence, and institutional memory — and the human layer that carried the firm for ten days.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lesson: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properties are what the enterprise is; the systems are equipment. Continuity lived in people and one lucky replica.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THE SIX ON THE RISK REGISTER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property to board obligation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owner.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property needs a board-visible owner — today most have none, because crossings have no owner.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19125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evidence.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each, what would you show a regulator? If the answer is ‘an investigation’, the property is not in custody.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80060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74573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failure signature.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to recognise a missing property by its damage — the meaning error, the unauthorised action, the lost ‘why’.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 — Session 2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your top three operational-risk entries. Which of the six properties is really at stake in each?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251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property does your firm currently have no owner for — and who should it be?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488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4884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B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Control, Accountability &amp; Trust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guarantee lives, who answers for the machine’s actions, and how trust is bounded when agents meet the outside world.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model can’t be the control point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Executives are told better models will make deployments safe. This session separates two things that sound alike: making the model behave (alignment) and guaranteeing it cannot do the forbidden thing (architecture). The four axioms force the conclusion that a hard rule cannot live inside a probabilistic model.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leave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the four axioms to a board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alignment from architecture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why ‘a system prompt is a request’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QUESTIONS THAT DECIDE THE DEAL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axioms, for decision-makers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9280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92808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Determinism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29514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are modal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275234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regulated domain, a ‘never’ must hold always and be provable after the fact — not 99.9% of the 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608" y="1892808"/>
            <a:ext cx="216712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1892808"/>
            <a:ext cx="2167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Probabilistic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61608" y="229514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holds ‘usually’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1608" y="275234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input, different output; adversarial input, arbitrary output. Instruction is not guarantee.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1480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4315968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315968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Variance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" y="471830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independent clocks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95528" y="517550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Models, regulations, tenants, and domains change on schedules you do not control.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411480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1608" y="4315968"/>
            <a:ext cx="216712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21" name="Text 19"/>
          <p:cNvSpPr/>
          <p:nvPr/>
        </p:nvSpPr>
        <p:spPr>
          <a:xfrm>
            <a:off x="6461608" y="4315968"/>
            <a:ext cx="2167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Audit primacy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61608" y="471830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is a product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61608" y="517550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cannot be audited cannot be deployed — and evidence cannot be retrofitted.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486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0" b="1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200" dirty="0"/>
          </a:p>
        </p:txBody>
      </p:sp>
      <p:sp>
        <p:nvSpPr>
          <p:cNvPr id="3" name="Text 1"/>
          <p:cNvSpPr/>
          <p:nvPr/>
        </p:nvSpPr>
        <p:spPr>
          <a:xfrm>
            <a:off x="1554480" y="1371600"/>
            <a:ext cx="99605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 vs 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554480" y="1783080"/>
            <a:ext cx="9594799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50" b="1" i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well-trained employee, and a door that locks. Enterprises need both — and only one of them is architecture.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572768" y="4937760"/>
            <a:ext cx="95947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 distinction the board must hold (Chapters 5 &amp; 9)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 RECORD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Canada / Moffatt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5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Airline liable</a:t>
            </a:r>
            <a:endParaRPr lang="en-US" sz="565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its chatbot’s misrepresentation; the ‘separate entity’ defence was called a remarkable submission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3949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C4B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Moffatt v. Air Canada, 2024 BCCRT 149 (Civil Resolution Tribunal of British Columbia, 14 Feb 2024), para 27.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1965960"/>
            <a:ext cx="4858207" cy="3794760"/>
          </a:xfrm>
          <a:prstGeom prst="roundRect">
            <a:avLst>
              <a:gd name="adj" fmla="val 2410"/>
            </a:avLst>
          </a:prstGeom>
          <a:solidFill>
            <a:srgbClr val="33302B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2167128"/>
            <a:ext cx="4401007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airline’s chatbot invented a refund policy; a tribunal held the airline responsible for what its agent said.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property: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 and accountability — the enterprise answers for its agent; the model’s words were the firm’s words.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lesson: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‘the AI said it’ is not a defence. If an agent can say it, the enterprise is liable for 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 — Session 3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in your firm is a hard rule currently ‘enforced’ only by instructing a model or a person? What would enforce it structurally?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251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one of your agents made a costly misstatement tomorrow, who is liable — and can you prove what it was told?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S4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 &amp; audit: evidence as a product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regulated environments the artefact of proof — who set the rule, which boundary enforced it, what happened at each transaction — is not documentation about the system; it is a product of it. This session shows why evidence assembled after the fact is custody that has already failed.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leave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evidence-by-construction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the last-month test to your firm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why audit cannot be a later roadmap item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PRIMACY IN PRACTICE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is a product, not a report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auditor’s question is always the same.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set this rule, which boundary enforced it, what happened at each transaction, what was blocked and why.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19125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exists at the transaction, or not at all.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Attribution not captured at the moment of action is not captured — evidence cannot be retrofitted.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80060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74573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last-month test.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transaction; produce full attribution — including the rule version in force — by query, verified by a sceptic.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 RECORD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AUSTRAC v Commonwealth Bank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5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A$700M</a:t>
            </a:r>
            <a:endParaRPr lang="en-US" sz="565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civil penalty; 53,506 late threshold-transaction reports (~A$625M in value) from a single systems error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3949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C4B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AUSTRAC civil proceedings (filed 3 Aug 2017); A$700M penalty approved 4 Jun 2018; APRA Prudential Inquiry (2018).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1965960"/>
            <a:ext cx="4858207" cy="3794760"/>
          </a:xfrm>
          <a:prstGeom prst="roundRect">
            <a:avLst>
              <a:gd name="adj" fmla="val 2410"/>
            </a:avLst>
          </a:prstGeom>
          <a:solidFill>
            <a:srgbClr val="33302B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2167128"/>
            <a:ext cx="4401007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coding error meant tens of thousands of required reports were never filed on time.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property: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coherence and accountability — a non-negotiable reporting rule that the structure did not enforce or evidence.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lesson: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systems error, categorical liability. The regulator asks what you can prove, not what you intended.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 RECORD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Citibank / Revlon wire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5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$893M</a:t>
            </a:r>
            <a:endParaRPr lang="en-US" sz="565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 when $7.8M was intended; a $400M regulatory penalty for risk-management and controls deficiencies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3949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C4B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re Citibank Aug 11 2020 Wire Transfers, 520 F.Supp.3d 390; 49 F.4th 42 (2d Cir. 2022); OCC penalty (Oct 2020).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1965960"/>
            <a:ext cx="4858207" cy="3794760"/>
          </a:xfrm>
          <a:prstGeom prst="roundRect">
            <a:avLst>
              <a:gd name="adj" fmla="val 2410"/>
            </a:avLst>
          </a:prstGeom>
          <a:solidFill>
            <a:srgbClr val="33302B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2167128"/>
            <a:ext cx="4401007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confusing interface and a suppressed-payment control led to an accidental near-billion-dollar transfer.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property: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and coherence — meaning and control did not travel with the action at the boundary.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lesson: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controls that depend on a human reading a screen correctly are not controls.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 — Session 4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last-month test in your head: could your firm fully attribute one transaction — with the rule version in force — by query?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251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are you deferring ‘evidence’ to a later phase? What happens at the audit that phase never reaches?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S5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Sovereignty as structure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Sovereignty is the word of the decade, and this session gives it a precise, architectural meaning: the ability to say ‘no’ to any single party — a vendor, a model provider, a jurisdiction. We run the dependency census and the substitution test on a familiar stack.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leave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sovereignty as the ability to say no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 dependency census and substitution test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Distinguish a dependency you manage from one that manages you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ABILITY TO SAY NO TO ANY SINGLE PARTY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Sovereignty, made precise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politically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ability to say no to any single vendor, provider, or jurisdiction without the enterprise breaking.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857500"/>
            <a:ext cx="457200" cy="45720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857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80263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architecturally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partition — no property may depend on a component you cannot replace.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023360"/>
            <a:ext cx="457200" cy="45720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96849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dependency census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the parties whose unilateral change would force you to change. That is your runtime leash.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5189220"/>
            <a:ext cx="457200" cy="45720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5189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513435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substitution test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each, the cost of saying no. If the honest answer is ‘we cannot’, that sovereignty is already gone.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 RECORD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Schrems II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5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~5,300 orgs</a:t>
            </a:r>
            <a:endParaRPr lang="en-US" sz="565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relying on a data-transfer framework the EU’s top court invalidated overnight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3949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C4B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CJEU Case C-311/18, Schrems (16 Jul 2020); French Senate sovereignty inquiry testimony (10 Jun 2025).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1965960"/>
            <a:ext cx="4858207" cy="3794760"/>
          </a:xfrm>
          <a:prstGeom prst="roundRect">
            <a:avLst>
              <a:gd name="adj" fmla="val 2410"/>
            </a:avLst>
          </a:prstGeom>
          <a:solidFill>
            <a:srgbClr val="33302B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2167128"/>
            <a:ext cx="4401007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CJEU struck down the EU–US transfer framework; thousands of firms lost their legal basis for a data flow at a stroke.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property: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sovereignty — a load-bearing dependency on a single jurisdictional arrangement, outside the firm’s control.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lesson: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sworn testimony (2025), a major provider could not guarantee data would never leave a jurisdiction. Assume you cannot say no — then fix 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 — Session 5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one provider your firm could not say ‘no’ to within 90 days. Which property is hostage to that?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251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court or a government changed the rules of one dependency tomorrow, which of your operations would stop?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S6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Isolation, tenancy, and the boundaries of trust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agents meet untrusted input and shared platforms, isolation stops being a policy and must become a construction. This session looks at what happens when a boundary that was assumed holds only ‘usually’, and how origin — where a fragment came from — is the missing dimension of trust.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leave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Distinguish isolation as behaviour from isolation as construction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why prompt injection is a governance risk, not a bug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the origin question of any integration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PRECONDITION FOR SHARING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Isolation: policy vs construction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68900" cy="4480560"/>
          </a:xfrm>
          <a:prstGeom prst="roundRect">
            <a:avLst>
              <a:gd name="adj" fmla="val 1633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37360"/>
            <a:ext cx="5368900" cy="548640"/>
          </a:xfrm>
          <a:prstGeom prst="roundRect">
            <a:avLst>
              <a:gd name="adj" fmla="val 13333"/>
            </a:avLst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37360"/>
            <a:ext cx="49117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Isolation as behaviour (policy)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56836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Components are asked to stay in their lane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Holds ‘usually’ — until a crafted input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cross-boundary action is expressible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Breach is discouraged, not impossible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5868" y="1737360"/>
            <a:ext cx="5368900" cy="4480560"/>
          </a:xfrm>
          <a:prstGeom prst="roundRect">
            <a:avLst>
              <a:gd name="adj" fmla="val 1633"/>
            </a:avLst>
          </a:prstGeom>
          <a:solidFill>
            <a:srgbClr val="EBE7DF"/>
          </a:solidFill>
          <a:ln/>
        </p:spPr>
      </p:sp>
      <p:sp>
        <p:nvSpPr>
          <p:cNvPr id="9" name="Shape 7"/>
          <p:cNvSpPr/>
          <p:nvPr/>
        </p:nvSpPr>
        <p:spPr>
          <a:xfrm>
            <a:off x="6255868" y="1737360"/>
            <a:ext cx="5368900" cy="548640"/>
          </a:xfrm>
          <a:prstGeom prst="roundRect">
            <a:avLst>
              <a:gd name="adj" fmla="val 13333"/>
            </a:avLst>
          </a:prstGeom>
          <a:solidFill>
            <a:srgbClr val="33302B"/>
          </a:solidFill>
          <a:ln/>
        </p:spPr>
      </p:sp>
      <p:sp>
        <p:nvSpPr>
          <p:cNvPr id="10" name="Text 8"/>
          <p:cNvSpPr/>
          <p:nvPr/>
        </p:nvSpPr>
        <p:spPr>
          <a:xfrm>
            <a:off x="6484468" y="1737360"/>
            <a:ext cx="49117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Isolation as construction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11900" y="2468880"/>
            <a:ext cx="4856836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structure’s shape forbids the crossing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cross-boundary action cannot be expressed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Passes the ‘write the statement’ test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Breach is structurally impossible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 RECORD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chatbot breach (Mar 2023)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5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1.2%</a:t>
            </a:r>
            <a:endParaRPr lang="en-US" sz="565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subscribers had payment-related details exposed; a national regulator suspended the 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3949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C4B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post-mortem (24 Mar 2023); Garante suspension (31 Mar 2023); OWASP LLM01; EchoLeak CVE-2025-32711 (2025).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1965960"/>
            <a:ext cx="4858207" cy="3794760"/>
          </a:xfrm>
          <a:prstGeom prst="roundRect">
            <a:avLst>
              <a:gd name="adj" fmla="val 2410"/>
            </a:avLst>
          </a:prstGeom>
          <a:solidFill>
            <a:srgbClr val="33302B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2167128"/>
            <a:ext cx="4401007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library bug exposed other users’ conversation titles and some payment details during a nine-hour window.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property: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isolation and coherence — a tenancy boundary that held until it didn’t, and a regulator that stopped the service.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lesson: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injection ranks first on the OWASP LLM risk list; zero-click exfiltration (EchoLeak, 2025) and workplace-assistant leaks are documented, not hypothetical.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 — Session 6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one AI system you run, could an engineer write the statement that would cross a tenant or trust boundary? If yes, isolation is only a policy.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251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untrusted input reaches your agents — and what is that input currently permitted to influence?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488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4884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Volume, Cost &amp; Infrastructure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governance, cost, and infrastructure must look like when the machine workforce acts at a volume no human layer can absorb.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S7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that survives volume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designed for human-scale transaction counts breaks when the actors are machine-numerous. This session studies the gravest consequence record in the course — a governance failure sustained for years at volume — and derives what surviving governance requires.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leave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why volume changes the governance problem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the human cost of governance that did not survive volume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what evidence-at-volume requires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 RECORD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Post Office / Horizon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5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900+</a:t>
            </a:r>
            <a:endParaRPr lang="en-US" sz="565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prosecuted and 236 imprisoned on faulty system evidence; ~£1,628M in redress to 12,900+ claimants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3949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C4B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Hamilton &amp; Others v Post Office Ltd [2021] EWCA Crim 577; Post Office (Horizon) Offences Act 2024; Horizon Inquiry (2025); DBT redress data (2026).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1965960"/>
            <a:ext cx="4858207" cy="3794760"/>
          </a:xfrm>
          <a:prstGeom prst="roundRect">
            <a:avLst>
              <a:gd name="adj" fmla="val 2410"/>
            </a:avLst>
          </a:prstGeom>
          <a:solidFill>
            <a:srgbClr val="33302B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2167128"/>
            <a:ext cx="4401007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accounting system’s errors were treated as ground truth; the organisation prosecuted its own subpostmasters for shortfalls the system invented.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properties: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accountability, coherence, and institutional memory — evidence that could not be trusted, defended for years at scale.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lesson: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catastrophic governance failure of the era required no AI — only unaccountable system evidence, believed at volume.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ARTEFACT AS DELIVERABLE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governance-at-volume requires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question, machine-many times.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regulator’s question doesn’t change; only the number of transactions it can be asked about.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19125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complete by construction.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Verifiable by someone who distrusts the keeper — not assembled by the party being audited.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80060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74573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evidence is not automatically true.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record that cannot be independently trusted is testimony wearing evidence’s clothes.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 — Session 7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your firm treat a system’s output as ground truth without independent, trustworthy evidence behind it?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251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your agent population issued a million decisions this month, could you defend any single one to a hostile auditor?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S8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economics: the meter and the ledger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work has a cost problem and an accountability problem, and they are the same problem: consumption and attribution must be measurable per action. This session looks at real 2026 cost overruns and derives the two-invoices test boards should demand.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leave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the meter (cost) and the ledger (accountability) as one problem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the two-invoices test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the repricing and concentration risks in AI spend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 RECORD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Uber’s AI-coding overrun (2026)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5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gone by April</a:t>
            </a:r>
            <a:endParaRPr lang="en-US" sz="565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full-year AI-coding budget exhausted in ~one quarter; $500–$2,000 per engineer per month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3949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C4B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Information (Apr 2026); Fortune interview with COO A. Macdonald (26 May 2026); FinOps ‘State of FinOps 2026’.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1965960"/>
            <a:ext cx="4858207" cy="3794760"/>
          </a:xfrm>
          <a:prstGeom prst="roundRect">
            <a:avLst>
              <a:gd name="adj" fmla="val 2410"/>
            </a:avLst>
          </a:prstGeom>
          <a:solidFill>
            <a:srgbClr val="33302B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2167128"/>
            <a:ext cx="4401007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jumped from ~a third to over four-fifths of ~5,000 engineers in a month; spend outran the plan almost immediately.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tell: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president/COO said he could not link the spend to features shipped — cost without a ledger of value.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lesson: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cannot state cost and value per action, you are not governing the spend — you are absorbing 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METER AND LEDGER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picture boards face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92808"/>
            <a:ext cx="1764792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92808"/>
            <a:ext cx="1764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29514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Repricing risk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275234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vendor renewal repriced 4–5× prior cost (Priceline, 2026). An architecture married to one provider is repriced by strangers.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608" y="189280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189280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61608" y="229514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AI-cost management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1608" y="275234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Practitioners managing AI spend rose 31% → 63% → 98% across 2024–26 (FinOps). Most enterprises exceeded projections.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1480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4315968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315968"/>
            <a:ext cx="1261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" y="471830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invoices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95528" y="517550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agent, one month: cost and consumption per action, from execution-time records. Demand it before you deploy.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411480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1608" y="4315968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21" name="Text 19"/>
          <p:cNvSpPr/>
          <p:nvPr/>
        </p:nvSpPr>
        <p:spPr>
          <a:xfrm>
            <a:off x="6461608" y="4315968"/>
            <a:ext cx="1261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link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61608" y="471830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↔ value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61608" y="517550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ledger connects an action’s cost to the decision it served — the missing half of every AI budget conversation.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 — Session 8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your firm produce a two-invoices statement — cost and consumption per action — for one agent, one month?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251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single provider, if it doubled its price at renewal, would most distort your economics? What is your alternative?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S9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decisions boards actually make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Beneath the applications sits the layer that holds the crossings. This session argues that a party cannot be its own referee: whatever holds the invariants must be neutral and built from replaceable parts — and shows what happens when a single point of update fails everywhere at once.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leave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‘a party cannot be its own referee’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systemic risk from a single update path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neutrality and replaceability requirements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 RECORD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CrowdStrike outage (Jul 2024)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5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8.5M devices</a:t>
            </a:r>
            <a:endParaRPr lang="en-US" sz="565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 worldwide from one update; ~$5.4B in Fortune-500 losses; one airline cancelled ~7,000 flights over five days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39496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 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C4B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CrowdStrike post-incident review (2024); Microsoft device estimate; Parametrix loss analysis (Jul 2024); Delta SEC filing (Aug 2024).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1965960"/>
            <a:ext cx="4858207" cy="3794760"/>
          </a:xfrm>
          <a:prstGeom prst="roundRect">
            <a:avLst>
              <a:gd name="adj" fmla="val 2410"/>
            </a:avLst>
          </a:prstGeom>
          <a:solidFill>
            <a:srgbClr val="33302B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2167128"/>
            <a:ext cx="4401007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content update with one extra field than the sensor expected crashed machines globally; the fix shipped 79 minutes later — too late.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properties: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coherence and infrastructure neutrality — a single update path, trusted everywhere, failed everywhere at once.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lesson: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concentration in the layer beneath your applications is systemic risk. Ask who can change everything at once.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EXECUTE; INFRASTRUCTURE PRESERVES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hold the crossings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party cannot be its own referee.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Whatever holds the invariants must have no stake among the parties it coordinates.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19125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from replaceable parts.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Neutral infrastructure that is itself swappable — so no property depends on any one component.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80060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74573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board question.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Who, today, can change your enterprise’s behaviour everywhere at once — and should anyone be able to?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 — Session 9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a single point in your stack whose failure or change would propagate everywhere at once. Is that acceptable?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251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referees your most critical crossings — and do they have a commercial stake in the outcome?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488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4884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Change, Evaluation &amp; the Playbook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change what must change without ossifying, the nine questions that make you nobody’s dupe, and the governance playbook you take back to the board.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S10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without calcification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objection to a custody architecture is that it will freeze the firm. This session answers it: preservation is not stasis. The invariants may change — but deliberately, on evidence, through a legitimate channel — which is exactly the discipline that separates a durable enterprise from a paralysed 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leave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Rebut ‘custody means we can never change’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honesty clause for invariant change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preservation apart from calcification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HONESTY CLAUSE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Preserved, or calcified?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68900" cy="4480560"/>
          </a:xfrm>
          <a:prstGeom prst="roundRect">
            <a:avLst>
              <a:gd name="adj" fmla="val 1633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737360"/>
            <a:ext cx="5368900" cy="548640"/>
          </a:xfrm>
          <a:prstGeom prst="roundRect">
            <a:avLst>
              <a:gd name="adj" fmla="val 13333"/>
            </a:avLst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37360"/>
            <a:ext cx="49117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Calcified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56836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Invariants can never change — or change on any Tuesday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is feared or uncontrolled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firm cannot adopt a better way safely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becomes paralysis or theatre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5868" y="1737360"/>
            <a:ext cx="5368900" cy="4480560"/>
          </a:xfrm>
          <a:prstGeom prst="roundRect">
            <a:avLst>
              <a:gd name="adj" fmla="val 1633"/>
            </a:avLst>
          </a:prstGeom>
          <a:solidFill>
            <a:srgbClr val="EBE7DF"/>
          </a:solidFill>
          <a:ln/>
        </p:spPr>
      </p:sp>
      <p:sp>
        <p:nvSpPr>
          <p:cNvPr id="9" name="Shape 7"/>
          <p:cNvSpPr/>
          <p:nvPr/>
        </p:nvSpPr>
        <p:spPr>
          <a:xfrm>
            <a:off x="6255868" y="1737360"/>
            <a:ext cx="5368900" cy="548640"/>
          </a:xfrm>
          <a:prstGeom prst="roundRect">
            <a:avLst>
              <a:gd name="adj" fmla="val 13333"/>
            </a:avLst>
          </a:prstGeom>
          <a:solidFill>
            <a:srgbClr val="33302B"/>
          </a:solidFill>
          <a:ln/>
        </p:spPr>
      </p:sp>
      <p:sp>
        <p:nvSpPr>
          <p:cNvPr id="10" name="Text 8"/>
          <p:cNvSpPr/>
          <p:nvPr/>
        </p:nvSpPr>
        <p:spPr>
          <a:xfrm>
            <a:off x="6484468" y="1737360"/>
            <a:ext cx="49117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11900" y="2468880"/>
            <a:ext cx="4856836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 change is absorbed as data (variants)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Invariant change is rare, deliberate, evidence-gated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model or rule is adopted as an administered act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firm changes without reopening every guarantee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 THE BOARD OWNS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Governing change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invariant?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non-negotiables and the machinery that enforces them — changed only deliberately, on evidence.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19125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variant?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Rules, models, configuration — changed by authority and data, recorded and reversible.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80060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74573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may move the line?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something across the partition is a governed act with an owner — not a quiet engineering choice.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discussion — Session 10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to a control in your firm that has calcified into theatre. What would ‘preserved, not calcified’ look like instead?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251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currently decides — often invisibly — what is invariant vs changeable in your systems?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questions to put to any vendor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session executives ask for by name: a vendor-neutral protocol you can run against any platform, in a working day, with no source code and no goodwill. Each question demands a demonstration against structure — the kind a slide cannot answer.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leave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nine-test evaluation protocol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demonstrations, not decks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protocol into your due-diligence checklist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486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0" b="1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200" dirty="0"/>
          </a:p>
        </p:txBody>
      </p:sp>
      <p:sp>
        <p:nvSpPr>
          <p:cNvPr id="3" name="Text 1"/>
          <p:cNvSpPr/>
          <p:nvPr/>
        </p:nvSpPr>
        <p:spPr>
          <a:xfrm>
            <a:off x="1554480" y="1371600"/>
            <a:ext cx="99605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EVALUATION PROTOCOL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554480" y="1783080"/>
            <a:ext cx="9594799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50" b="1" i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the crossing, and show what survives it. Everything else in the protocol is this one question, factored.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572768" y="4937760"/>
            <a:ext cx="95947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 single-clause specification (Chapter 22)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SOURCE CODE · NO GOODWILL · A DEMONSTRATION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nine tests, as due diligence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92808"/>
            <a:ext cx="1764792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92808"/>
            <a:ext cx="1764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the crossing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real work across a real boundary, live; inspect what arrives with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4314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914" y="1892808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914" y="1892808"/>
            <a:ext cx="1362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914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+ where-proven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914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tenant/regulation → rows or a release? Where does a new agent prove itself?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1701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0301" y="189280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6" name="Text 14"/>
          <p:cNvSpPr/>
          <p:nvPr/>
        </p:nvSpPr>
        <p:spPr>
          <a:xfrm>
            <a:off x="8350301" y="189280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50301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Address test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0301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non-negotiable; its physical enforcement point; disqualify on the word ‘prompt’.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431596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431596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5528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Expressibility + origin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5528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they write the cross-tenant statement? What does the structure know about origin?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4314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914" y="4315968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914" y="4315968"/>
            <a:ext cx="1261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914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+ substitution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914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runtime leash list; the cost of saying no to any single party.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21701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0301" y="4315968"/>
            <a:ext cx="216712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31" name="Text 29"/>
          <p:cNvSpPr/>
          <p:nvPr/>
        </p:nvSpPr>
        <p:spPr>
          <a:xfrm>
            <a:off x="8350301" y="4315968"/>
            <a:ext cx="2167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&amp; nature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50301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Last-month · two-invoices · outlive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50301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Attribution by query; per-action cost; the referee and turnover questions.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EXERCISE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exercise — Session 11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a real vendor deck. Which single demonstration would you demand first — and what would ‘pass’ look like?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251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of the nine tests is your own organisation least able to pass right now?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S12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custody rules &amp; the board playbook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close by turning the whole course into something you can act on: six custody rules, one rule above them, and the governance playbook your team presents to a panel playing the board. This is where the vocabulary becomes a decision.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leave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the six custody rules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rule above the rules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 a board-ready governance playbook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 PROPERTY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custody rules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92808"/>
            <a:ext cx="116128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92808"/>
            <a:ext cx="1161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 more than you transport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travels with the work, or the destination invents its own.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4314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914" y="1892808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914" y="1892808"/>
            <a:ext cx="1362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914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Rights are data, enforced at the boundary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914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 implied by app permissions is authority you no longer own.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1701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0301" y="1892808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6" name="Text 14"/>
          <p:cNvSpPr/>
          <p:nvPr/>
        </p:nvSpPr>
        <p:spPr>
          <a:xfrm>
            <a:off x="8350301" y="1892808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50301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 is a by-product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0301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attribution needs investigation, custody has already failed.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4315968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4315968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5528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invariants at the seams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5528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Whatever merely connects does not coordinate.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4314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914" y="4315968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914" y="4315968"/>
            <a:ext cx="1362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Coherence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914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Non-negotiables above the systems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914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Enforced at every crossing; no component may opt out.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21701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0301" y="4315968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31" name="Text 29"/>
          <p:cNvSpPr/>
          <p:nvPr/>
        </p:nvSpPr>
        <p:spPr>
          <a:xfrm>
            <a:off x="8350301" y="4315968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50301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Ceremony to write, provenance to trust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50301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anything can write is not memory.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BRIEFINGS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presentations — Session 12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team presents its governance playbook to the ‘board’ panel: the non-negotiables, the required evidence, the sovereignty position, and the vendor tests.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251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43000" y="4206240"/>
            <a:ext cx="1037203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panel probes: would these tests actually be enforced — and what would it cost to enforce them?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33302B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128016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BOARD’S ONE RULE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10789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“Every component must be replaceable,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no property ever may be.”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commercially, it is the evaluator’s final question. Read for the board, it is the difference between owning your enterprise and renting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MBA / Exec — Governing the Agentic Enterprise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2026-08-16T06:05:45Z</dcterms:created>
  <dcterms:modified xsi:type="dcterms:W3CDTF">2026-08-16T06:05:45Z</dcterms:modified>
</cp:coreProperties>
</file>