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A18"/>
        </a:solidFill>
      </p:bgPr>
    </p:bg>
    <p:spTree>
      <p:nvGrpSpPr>
        <p:cNvPr id="1" name=""/>
        <p:cNvGrpSpPr/>
        <p:nvPr/>
      </p:nvGrpSpPr>
      <p:grpSpPr>
        <a:xfrm>
          <a:off x="0" y="0"/>
          <a:ext cx="0" cy="0"/>
          <a:chOff x="0" y="0"/>
          <a:chExt cx="0" cy="0"/>
        </a:xfrm>
      </p:grpSpPr>
      <p:sp>
        <p:nvSpPr>
          <p:cNvPr id="2" name="Shape 0"/>
          <p:cNvSpPr/>
          <p:nvPr/>
        </p:nvSpPr>
        <p:spPr>
          <a:xfrm>
            <a:off x="8869680" y="-1463040"/>
            <a:ext cx="4754880" cy="4754880"/>
          </a:xfrm>
          <a:prstGeom prst="ellipse">
            <a:avLst/>
          </a:prstGeom>
          <a:solidFill>
            <a:srgbClr val="33302B"/>
          </a:solidFill>
          <a:ln/>
        </p:spPr>
      </p:sp>
      <p:sp>
        <p:nvSpPr>
          <p:cNvPr id="3" name="Shape 1"/>
          <p:cNvSpPr/>
          <p:nvPr/>
        </p:nvSpPr>
        <p:spPr>
          <a:xfrm>
            <a:off x="10241280" y="4023360"/>
            <a:ext cx="3108960" cy="3108960"/>
          </a:xfrm>
          <a:prstGeom prst="ellipse">
            <a:avLst/>
          </a:prstGeom>
          <a:solidFill>
            <a:srgbClr val="3A3630"/>
          </a:solidFill>
          <a:ln/>
        </p:spPr>
      </p:sp>
      <p:sp>
        <p:nvSpPr>
          <p:cNvPr id="4" name="Shape 2"/>
          <p:cNvSpPr/>
          <p:nvPr/>
        </p:nvSpPr>
        <p:spPr>
          <a:xfrm>
            <a:off x="566928" y="1051560"/>
            <a:ext cx="4617720" cy="310896"/>
          </a:xfrm>
          <a:prstGeom prst="roundRect">
            <a:avLst>
              <a:gd name="adj" fmla="val 47059"/>
            </a:avLst>
          </a:prstGeom>
          <a:solidFill>
            <a:srgbClr val="8A8378"/>
          </a:solidFill>
          <a:ln/>
        </p:spPr>
      </p:sp>
      <p:sp>
        <p:nvSpPr>
          <p:cNvPr id="5" name="Text 3"/>
          <p:cNvSpPr/>
          <p:nvPr/>
        </p:nvSpPr>
        <p:spPr>
          <a:xfrm>
            <a:off x="566928" y="1051560"/>
            <a:ext cx="4617720" cy="310896"/>
          </a:xfrm>
          <a:prstGeom prst="rect">
            <a:avLst/>
          </a:prstGeom>
          <a:noFill/>
          <a:ln/>
        </p:spPr>
        <p:txBody>
          <a:bodyPr wrap="square" rtlCol="0" anchor="ctr"/>
          <a:lstStyle/>
          <a:p>
            <a:pPr algn="ctr" indent="0" marL="0">
              <a:buNone/>
            </a:pPr>
            <a:r>
              <a:rPr lang="en-US" sz="950" b="1" spc="60" kern="0" dirty="0">
                <a:solidFill>
                  <a:srgbClr val="1B1A18"/>
                </a:solidFill>
                <a:latin typeface="Georgia" pitchFamily="34" charset="0"/>
                <a:ea typeface="Georgia" pitchFamily="34" charset="-122"/>
                <a:cs typeface="Georgia" pitchFamily="34" charset="-120"/>
              </a:rPr>
              <a:t>PROFESSIONAL CERTIFICATE  ·  FINANCIAL SERVICES</a:t>
            </a:r>
            <a:endParaRPr lang="en-US" sz="950" dirty="0"/>
          </a:p>
        </p:txBody>
      </p:sp>
      <p:sp>
        <p:nvSpPr>
          <p:cNvPr id="6" name="Text 4"/>
          <p:cNvSpPr/>
          <p:nvPr/>
        </p:nvSpPr>
        <p:spPr>
          <a:xfrm>
            <a:off x="566928" y="1600200"/>
            <a:ext cx="8778240" cy="1920240"/>
          </a:xfrm>
          <a:prstGeom prst="rect">
            <a:avLst/>
          </a:prstGeom>
          <a:noFill/>
          <a:ln/>
        </p:spPr>
        <p:txBody>
          <a:bodyPr wrap="square" rtlCol="0" anchor="ctr"/>
          <a:lstStyle/>
          <a:p>
            <a:pPr indent="0" marL="0">
              <a:lnSpc>
                <a:spcPts val="4600"/>
              </a:lnSpc>
              <a:buNone/>
            </a:pPr>
            <a:r>
              <a:rPr lang="en-US" sz="4300" b="1" dirty="0">
                <a:solidFill>
                  <a:srgbClr val="FFFFFF"/>
                </a:solidFill>
                <a:latin typeface="Georgia" pitchFamily="34" charset="0"/>
                <a:ea typeface="Georgia" pitchFamily="34" charset="-122"/>
                <a:cs typeface="Georgia" pitchFamily="34" charset="-120"/>
              </a:rPr>
              <a:t>Custody in the</a:t>
            </a:r>
            <a:endParaRPr lang="en-US" sz="4300" dirty="0"/>
          </a:p>
          <a:p>
            <a:pPr indent="0" marL="0">
              <a:lnSpc>
                <a:spcPts val="4600"/>
              </a:lnSpc>
              <a:buNone/>
            </a:pPr>
            <a:r>
              <a:rPr lang="en-US" sz="4300" b="1" dirty="0">
                <a:solidFill>
                  <a:srgbClr val="FFFFFF"/>
                </a:solidFill>
                <a:latin typeface="Georgia" pitchFamily="34" charset="0"/>
                <a:ea typeface="Georgia" pitchFamily="34" charset="-122"/>
                <a:cs typeface="Georgia" pitchFamily="34" charset="-120"/>
              </a:rPr>
              <a:t>Regulated Institution</a:t>
            </a:r>
            <a:endParaRPr lang="en-US" sz="4300" dirty="0"/>
          </a:p>
        </p:txBody>
      </p:sp>
      <p:sp>
        <p:nvSpPr>
          <p:cNvPr id="7" name="Text 5"/>
          <p:cNvSpPr/>
          <p:nvPr/>
        </p:nvSpPr>
        <p:spPr>
          <a:xfrm>
            <a:off x="566928" y="3611880"/>
            <a:ext cx="8778240" cy="548640"/>
          </a:xfrm>
          <a:prstGeom prst="rect">
            <a:avLst/>
          </a:prstGeom>
          <a:noFill/>
          <a:ln/>
        </p:spPr>
        <p:txBody>
          <a:bodyPr wrap="square" rtlCol="0" anchor="ctr"/>
          <a:lstStyle/>
          <a:p>
            <a:pPr indent="0" marL="0">
              <a:buNone/>
            </a:pPr>
            <a:r>
              <a:rPr lang="en-US" sz="2050" i="1" dirty="0">
                <a:solidFill>
                  <a:srgbClr val="E4DFD5"/>
                </a:solidFill>
                <a:latin typeface="Georgia" pitchFamily="34" charset="0"/>
                <a:ea typeface="Georgia" pitchFamily="34" charset="-122"/>
                <a:cs typeface="Georgia" pitchFamily="34" charset="-120"/>
              </a:rPr>
              <a:t>Governing Agentic AI Across the Three Lines of Defence</a:t>
            </a:r>
            <a:endParaRPr lang="en-US" sz="2050" dirty="0"/>
          </a:p>
        </p:txBody>
      </p:sp>
      <p:sp>
        <p:nvSpPr>
          <p:cNvPr id="8" name="Text 6"/>
          <p:cNvSpPr/>
          <p:nvPr/>
        </p:nvSpPr>
        <p:spPr>
          <a:xfrm>
            <a:off x="566928" y="5029200"/>
            <a:ext cx="10058400" cy="822960"/>
          </a:xfrm>
          <a:prstGeom prst="rect">
            <a:avLst/>
          </a:prstGeom>
          <a:noFill/>
          <a:ln/>
        </p:spPr>
        <p:txBody>
          <a:bodyPr wrap="square" rtlCol="0" anchor="ctr"/>
          <a:lstStyle/>
          <a:p>
            <a:pPr indent="0" marL="0">
              <a:lnSpc>
                <a:spcPts val="2000"/>
              </a:lnSpc>
              <a:buNone/>
            </a:pPr>
            <a:r>
              <a:rPr lang="en-US" sz="1300" dirty="0">
                <a:solidFill>
                  <a:srgbClr val="D6D2C9"/>
                </a:solidFill>
                <a:latin typeface="Georgia" pitchFamily="34" charset="0"/>
                <a:ea typeface="Georgia" pitchFamily="34" charset="-122"/>
                <a:cs typeface="Georgia" pitchFamily="34" charset="-120"/>
              </a:rPr>
              <a:t>A six-week cohort programme built on the book
</a:t>
            </a:r>
            <a:pPr indent="0" marL="0">
              <a:lnSpc>
                <a:spcPts val="2000"/>
              </a:lnSpc>
              <a:buNone/>
            </a:pPr>
            <a:r>
              <a:rPr lang="en-US" sz="1300" b="1" i="1" dirty="0">
                <a:solidFill>
                  <a:srgbClr val="FFFFFF"/>
                </a:solidFill>
                <a:latin typeface="Georgia" pitchFamily="34" charset="0"/>
                <a:ea typeface="Georgia" pitchFamily="34" charset="-122"/>
                <a:cs typeface="Georgia" pitchFamily="34" charset="-120"/>
              </a:rPr>
              <a:t>What the Structure Does Not Carry</a:t>
            </a:r>
            <a:pPr indent="0" marL="0">
              <a:lnSpc>
                <a:spcPts val="2000"/>
              </a:lnSpc>
              <a:buNone/>
            </a:pPr>
            <a:r>
              <a:rPr lang="en-US" sz="1300" dirty="0">
                <a:solidFill>
                  <a:srgbClr val="D6D2C9"/>
                </a:solidFill>
                <a:latin typeface="Georgia" pitchFamily="34" charset="0"/>
                <a:ea typeface="Georgia" pitchFamily="34" charset="-122"/>
                <a:cs typeface="Georgia" pitchFamily="34" charset="-120"/>
              </a:rPr>
              <a:t>  ·  Georg Zangl  ·  Foreword by Egbert U. Imomoh  ·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55096" cy="292608"/>
          </a:xfrm>
          <a:prstGeom prst="rect">
            <a:avLst/>
          </a:prstGeom>
          <a:noFill/>
          <a:ln/>
        </p:spPr>
        <p:txBody>
          <a:bodyPr wrap="square" rtlCol="0" anchor="ctr"/>
          <a:lstStyle/>
          <a:p>
            <a:pPr indent="0" marL="0">
              <a:buNone/>
            </a:pPr>
            <a:r>
              <a:rPr lang="en-US" sz="1050" b="1" spc="120" kern="0" dirty="0">
                <a:solidFill>
                  <a:srgbClr val="8A8378"/>
                </a:solidFill>
                <a:latin typeface="Georgia" pitchFamily="34" charset="0"/>
                <a:ea typeface="Georgia" pitchFamily="34" charset="-122"/>
                <a:cs typeface="Georgia" pitchFamily="34" charset="-120"/>
              </a:rPr>
              <a:t>HOW THIS COURSE WORKS</a:t>
            </a:r>
            <a:endParaRPr lang="en-US" sz="1050" dirty="0"/>
          </a:p>
        </p:txBody>
      </p:sp>
      <p:sp>
        <p:nvSpPr>
          <p:cNvPr id="3" name="Text 1"/>
          <p:cNvSpPr/>
          <p:nvPr/>
        </p:nvSpPr>
        <p:spPr>
          <a:xfrm>
            <a:off x="566928" y="749808"/>
            <a:ext cx="11055096" cy="822960"/>
          </a:xfrm>
          <a:prstGeom prst="rect">
            <a:avLst/>
          </a:prstGeom>
          <a:noFill/>
          <a:ln/>
        </p:spPr>
        <p:txBody>
          <a:bodyPr wrap="square" rtlCol="0" anchor="t"/>
          <a:lstStyle/>
          <a:p>
            <a:pPr indent="0" marL="0">
              <a:buNone/>
            </a:pPr>
            <a:r>
              <a:rPr lang="en-US" sz="2550" b="1" dirty="0">
                <a:solidFill>
                  <a:srgbClr val="1B1A18"/>
                </a:solidFill>
                <a:latin typeface="Georgia" pitchFamily="34" charset="0"/>
                <a:ea typeface="Georgia" pitchFamily="34" charset="-122"/>
                <a:cs typeface="Georgia" pitchFamily="34" charset="-120"/>
              </a:rPr>
              <a:t>Six modules, five exercises, one assessment</a:t>
            </a:r>
            <a:endParaRPr lang="en-US" sz="2550" dirty="0"/>
          </a:p>
        </p:txBody>
      </p:sp>
      <p:sp>
        <p:nvSpPr>
          <p:cNvPr id="4" name="Shape 2"/>
          <p:cNvSpPr/>
          <p:nvPr/>
        </p:nvSpPr>
        <p:spPr>
          <a:xfrm>
            <a:off x="566928" y="1691640"/>
            <a:ext cx="457200" cy="457200"/>
          </a:xfrm>
          <a:prstGeom prst="ellipse">
            <a:avLst/>
          </a:prstGeom>
          <a:solidFill>
            <a:srgbClr val="1B1A18"/>
          </a:solidFill>
          <a:ln/>
        </p:spPr>
      </p:sp>
      <p:sp>
        <p:nvSpPr>
          <p:cNvPr id="5" name="Text 3"/>
          <p:cNvSpPr/>
          <p:nvPr/>
        </p:nvSpPr>
        <p:spPr>
          <a:xfrm>
            <a:off x="566928" y="169164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1</a:t>
            </a:r>
            <a:endParaRPr lang="en-US" sz="1400" dirty="0"/>
          </a:p>
        </p:txBody>
      </p:sp>
      <p:sp>
        <p:nvSpPr>
          <p:cNvPr id="6" name="Text 4"/>
          <p:cNvSpPr/>
          <p:nvPr/>
        </p:nvSpPr>
        <p:spPr>
          <a:xfrm>
            <a:off x="1234440" y="1636776"/>
            <a:ext cx="10277856" cy="1024128"/>
          </a:xfrm>
          <a:prstGeom prst="rect">
            <a:avLst/>
          </a:prstGeom>
          <a:noFill/>
          <a:ln/>
        </p:spPr>
        <p:txBody>
          <a:bodyPr wrap="square" rtlCol="0" anchor="t"/>
          <a:lstStyle/>
          <a:p>
            <a:pPr indent="0" marL="0">
              <a:lnSpc>
                <a:spcPts val="2200"/>
              </a:lnSpc>
              <a:buNone/>
            </a:pPr>
            <a:r>
              <a:rPr lang="en-US" sz="1500" b="1" dirty="0">
                <a:solidFill>
                  <a:srgbClr val="33302B"/>
                </a:solidFill>
                <a:latin typeface="Georgia" pitchFamily="34" charset="0"/>
                <a:ea typeface="Georgia" pitchFamily="34" charset="-122"/>
                <a:cs typeface="Georgia" pitchFamily="34" charset="-120"/>
              </a:rPr>
              <a:t>Six weeks, one session each.   </a:t>
            </a:r>
            <a:pPr indent="0" marL="0">
              <a:lnSpc>
                <a:spcPts val="2200"/>
              </a:lnSpc>
              <a:buNone/>
            </a:pPr>
            <a:r>
              <a:rPr lang="en-US" sz="1500" dirty="0">
                <a:solidFill>
                  <a:srgbClr val="6E6A62"/>
                </a:solidFill>
                <a:latin typeface="Georgia" pitchFamily="34" charset="0"/>
                <a:ea typeface="Georgia" pitchFamily="34" charset="-122"/>
                <a:cs typeface="Georgia" pitchFamily="34" charset="-120"/>
              </a:rPr>
              <a:t>Two and a half hours live, plus an applied exercise performed inside your own institution between sessions.</a:t>
            </a:r>
            <a:endParaRPr lang="en-US" sz="1500" dirty="0"/>
          </a:p>
        </p:txBody>
      </p:sp>
      <p:sp>
        <p:nvSpPr>
          <p:cNvPr id="7" name="Shape 5"/>
          <p:cNvSpPr/>
          <p:nvPr/>
        </p:nvSpPr>
        <p:spPr>
          <a:xfrm>
            <a:off x="566928" y="2857500"/>
            <a:ext cx="457200" cy="457200"/>
          </a:xfrm>
          <a:prstGeom prst="ellipse">
            <a:avLst/>
          </a:prstGeom>
          <a:solidFill>
            <a:srgbClr val="1B1A18"/>
          </a:solidFill>
          <a:ln/>
        </p:spPr>
      </p:sp>
      <p:sp>
        <p:nvSpPr>
          <p:cNvPr id="8" name="Text 6"/>
          <p:cNvSpPr/>
          <p:nvPr/>
        </p:nvSpPr>
        <p:spPr>
          <a:xfrm>
            <a:off x="566928" y="285750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2</a:t>
            </a:r>
            <a:endParaRPr lang="en-US" sz="1400" dirty="0"/>
          </a:p>
        </p:txBody>
      </p:sp>
      <p:sp>
        <p:nvSpPr>
          <p:cNvPr id="9" name="Text 7"/>
          <p:cNvSpPr/>
          <p:nvPr/>
        </p:nvSpPr>
        <p:spPr>
          <a:xfrm>
            <a:off x="1234440" y="2802636"/>
            <a:ext cx="10277856" cy="1024128"/>
          </a:xfrm>
          <a:prstGeom prst="rect">
            <a:avLst/>
          </a:prstGeom>
          <a:noFill/>
          <a:ln/>
        </p:spPr>
        <p:txBody>
          <a:bodyPr wrap="square" rtlCol="0" anchor="t"/>
          <a:lstStyle/>
          <a:p>
            <a:pPr indent="0" marL="0">
              <a:lnSpc>
                <a:spcPts val="2200"/>
              </a:lnSpc>
              <a:buNone/>
            </a:pPr>
            <a:r>
              <a:rPr lang="en-US" sz="1500" b="1" dirty="0">
                <a:solidFill>
                  <a:srgbClr val="33302B"/>
                </a:solidFill>
                <a:latin typeface="Georgia" pitchFamily="34" charset="0"/>
                <a:ea typeface="Georgia" pitchFamily="34" charset="-122"/>
                <a:cs typeface="Georgia" pitchFamily="34" charset="-120"/>
              </a:rPr>
              <a:t>Nothing new to adopt.   </a:t>
            </a:r>
            <a:pPr indent="0" marL="0">
              <a:lnSpc>
                <a:spcPts val="2200"/>
              </a:lnSpc>
              <a:buNone/>
            </a:pPr>
            <a:r>
              <a:rPr lang="en-US" sz="1500" dirty="0">
                <a:solidFill>
                  <a:srgbClr val="6E6A62"/>
                </a:solidFill>
                <a:latin typeface="Georgia" pitchFamily="34" charset="0"/>
                <a:ea typeface="Georgia" pitchFamily="34" charset="-122"/>
                <a:cs typeface="Georgia" pitchFamily="34" charset="-120"/>
              </a:rPr>
              <a:t>Five of the six properties are already required by instruments you hold. The work is finding the ones that have become unowned.</a:t>
            </a:r>
            <a:endParaRPr lang="en-US" sz="1500" dirty="0"/>
          </a:p>
        </p:txBody>
      </p:sp>
      <p:sp>
        <p:nvSpPr>
          <p:cNvPr id="10" name="Shape 8"/>
          <p:cNvSpPr/>
          <p:nvPr/>
        </p:nvSpPr>
        <p:spPr>
          <a:xfrm>
            <a:off x="566928" y="4023360"/>
            <a:ext cx="457200" cy="457200"/>
          </a:xfrm>
          <a:prstGeom prst="ellipse">
            <a:avLst/>
          </a:prstGeom>
          <a:solidFill>
            <a:srgbClr val="1B1A18"/>
          </a:solidFill>
          <a:ln/>
        </p:spPr>
      </p:sp>
      <p:sp>
        <p:nvSpPr>
          <p:cNvPr id="11" name="Text 9"/>
          <p:cNvSpPr/>
          <p:nvPr/>
        </p:nvSpPr>
        <p:spPr>
          <a:xfrm>
            <a:off x="566928" y="402336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3</a:t>
            </a:r>
            <a:endParaRPr lang="en-US" sz="1400" dirty="0"/>
          </a:p>
        </p:txBody>
      </p:sp>
      <p:sp>
        <p:nvSpPr>
          <p:cNvPr id="12" name="Text 10"/>
          <p:cNvSpPr/>
          <p:nvPr/>
        </p:nvSpPr>
        <p:spPr>
          <a:xfrm>
            <a:off x="1234440" y="3968496"/>
            <a:ext cx="10277856" cy="1024128"/>
          </a:xfrm>
          <a:prstGeom prst="rect">
            <a:avLst/>
          </a:prstGeom>
          <a:noFill/>
          <a:ln/>
        </p:spPr>
        <p:txBody>
          <a:bodyPr wrap="square" rtlCol="0" anchor="t"/>
          <a:lstStyle/>
          <a:p>
            <a:pPr indent="0" marL="0">
              <a:lnSpc>
                <a:spcPts val="2200"/>
              </a:lnSpc>
              <a:buNone/>
            </a:pPr>
            <a:r>
              <a:rPr lang="en-US" sz="1500" b="1" dirty="0">
                <a:solidFill>
                  <a:srgbClr val="33302B"/>
                </a:solidFill>
                <a:latin typeface="Georgia" pitchFamily="34" charset="0"/>
                <a:ea typeface="Georgia" pitchFamily="34" charset="-122"/>
                <a:cs typeface="Georgia" pitchFamily="34" charset="-120"/>
              </a:rPr>
              <a:t>No technical prerequisite.   </a:t>
            </a:r>
            <a:pPr indent="0" marL="0">
              <a:lnSpc>
                <a:spcPts val="2200"/>
              </a:lnSpc>
              <a:buNone/>
            </a:pPr>
            <a:r>
              <a:rPr lang="en-US" sz="1500" dirty="0">
                <a:solidFill>
                  <a:srgbClr val="6E6A62"/>
                </a:solidFill>
                <a:latin typeface="Georgia" pitchFamily="34" charset="0"/>
                <a:ea typeface="Georgia" pitchFamily="34" charset="-122"/>
                <a:cs typeface="Georgia" pitchFamily="34" charset="-120"/>
              </a:rPr>
              <a:t>No source code, no model weights, no training data is needed for any exercise — which is also why they run against a vendor-hosted system.</a:t>
            </a:r>
            <a:endParaRPr lang="en-US" sz="1500" dirty="0"/>
          </a:p>
        </p:txBody>
      </p:sp>
      <p:sp>
        <p:nvSpPr>
          <p:cNvPr id="13" name="Shape 11"/>
          <p:cNvSpPr/>
          <p:nvPr/>
        </p:nvSpPr>
        <p:spPr>
          <a:xfrm>
            <a:off x="566928" y="5189220"/>
            <a:ext cx="457200" cy="457200"/>
          </a:xfrm>
          <a:prstGeom prst="ellipse">
            <a:avLst/>
          </a:prstGeom>
          <a:solidFill>
            <a:srgbClr val="1B1A18"/>
          </a:solidFill>
          <a:ln/>
        </p:spPr>
      </p:sp>
      <p:sp>
        <p:nvSpPr>
          <p:cNvPr id="14" name="Text 12"/>
          <p:cNvSpPr/>
          <p:nvPr/>
        </p:nvSpPr>
        <p:spPr>
          <a:xfrm>
            <a:off x="566928" y="518922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4</a:t>
            </a:r>
            <a:endParaRPr lang="en-US" sz="1400" dirty="0"/>
          </a:p>
        </p:txBody>
      </p:sp>
      <p:sp>
        <p:nvSpPr>
          <p:cNvPr id="15" name="Text 13"/>
          <p:cNvSpPr/>
          <p:nvPr/>
        </p:nvSpPr>
        <p:spPr>
          <a:xfrm>
            <a:off x="1234440" y="5134356"/>
            <a:ext cx="10277856" cy="1024128"/>
          </a:xfrm>
          <a:prstGeom prst="rect">
            <a:avLst/>
          </a:prstGeom>
          <a:noFill/>
          <a:ln/>
        </p:spPr>
        <p:txBody>
          <a:bodyPr wrap="square" rtlCol="0" anchor="t"/>
          <a:lstStyle/>
          <a:p>
            <a:pPr indent="0" marL="0">
              <a:lnSpc>
                <a:spcPts val="2200"/>
              </a:lnSpc>
              <a:buNone/>
            </a:pPr>
            <a:r>
              <a:rPr lang="en-US" sz="1500" b="1" dirty="0">
                <a:solidFill>
                  <a:srgbClr val="33302B"/>
                </a:solidFill>
                <a:latin typeface="Georgia" pitchFamily="34" charset="0"/>
                <a:ea typeface="Georgia" pitchFamily="34" charset="-122"/>
                <a:cs typeface="Georgia" pitchFamily="34" charset="-120"/>
              </a:rPr>
              <a:t>The capstone is written in your language.   </a:t>
            </a:r>
            <a:pPr indent="0" marL="0">
              <a:lnSpc>
                <a:spcPts val="2200"/>
              </a:lnSpc>
              <a:buNone/>
            </a:pPr>
            <a:r>
              <a:rPr lang="en-US" sz="1500" dirty="0">
                <a:solidFill>
                  <a:srgbClr val="6E6A62"/>
                </a:solidFill>
                <a:latin typeface="Georgia" pitchFamily="34" charset="0"/>
                <a:ea typeface="Georgia" pitchFamily="34" charset="-122"/>
                <a:cs typeface="Georgia" pitchFamily="34" charset="-120"/>
              </a:rPr>
              <a:t>Control owners, enforcement points, evidence of operating effectiveness. Not the vocabulary of this course.</a:t>
            </a:r>
            <a:endParaRPr lang="en-US" sz="1500" dirty="0"/>
          </a:p>
        </p:txBody>
      </p:sp>
      <p:sp>
        <p:nvSpPr>
          <p:cNvPr id="16" name="Text 14"/>
          <p:cNvSpPr/>
          <p:nvPr/>
        </p:nvSpPr>
        <p:spPr>
          <a:xfrm>
            <a:off x="566928" y="6473952"/>
            <a:ext cx="9957816" cy="274320"/>
          </a:xfrm>
          <a:prstGeom prst="rect">
            <a:avLst/>
          </a:prstGeom>
          <a:noFill/>
          <a:ln/>
        </p:spPr>
        <p:txBody>
          <a:bodyPr wrap="square" rtlCol="0" anchor="ctr"/>
          <a:lstStyle/>
          <a:p>
            <a:pPr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indent="0" marL="0">
              <a:buNone/>
            </a:pPr>
            <a:r>
              <a:rPr lang="en-US" sz="900" dirty="0">
                <a:solidFill>
                  <a:srgbClr val="6E6A62"/>
                </a:solidFill>
                <a:latin typeface="Georgia" pitchFamily="34" charset="0"/>
                <a:ea typeface="Georgia" pitchFamily="34" charset="-122"/>
                <a:cs typeface="Georgia" pitchFamily="34" charset="-120"/>
              </a:rPr>
              <a:t>  ·  PCERT-FS — Custody in the Regulated Institution</a:t>
            </a:r>
            <a:endParaRPr lang="en-US" sz="900" dirty="0"/>
          </a:p>
        </p:txBody>
      </p:sp>
      <p:sp>
        <p:nvSpPr>
          <p:cNvPr id="17" name="Text 15"/>
          <p:cNvSpPr/>
          <p:nvPr/>
        </p:nvSpPr>
        <p:spPr>
          <a:xfrm>
            <a:off x="10707624"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55096" cy="292608"/>
          </a:xfrm>
          <a:prstGeom prst="rect">
            <a:avLst/>
          </a:prstGeom>
          <a:noFill/>
          <a:ln/>
        </p:spPr>
        <p:txBody>
          <a:bodyPr wrap="square" rtlCol="0" anchor="ctr"/>
          <a:lstStyle/>
          <a:p>
            <a:pPr indent="0" marL="0">
              <a:buNone/>
            </a:pPr>
            <a:r>
              <a:rPr lang="en-US" sz="1050" b="1" spc="120" kern="0" dirty="0">
                <a:solidFill>
                  <a:srgbClr val="8A8378"/>
                </a:solidFill>
                <a:latin typeface="Georgia" pitchFamily="34" charset="0"/>
                <a:ea typeface="Georgia" pitchFamily="34" charset="-122"/>
                <a:cs typeface="Georgia" pitchFamily="34" charset="-120"/>
              </a:rPr>
              <a:t>THE PREMISE</a:t>
            </a:r>
            <a:endParaRPr lang="en-US" sz="1050" dirty="0"/>
          </a:p>
        </p:txBody>
      </p:sp>
      <p:sp>
        <p:nvSpPr>
          <p:cNvPr id="3" name="Text 1"/>
          <p:cNvSpPr/>
          <p:nvPr/>
        </p:nvSpPr>
        <p:spPr>
          <a:xfrm>
            <a:off x="566928" y="749808"/>
            <a:ext cx="11055096" cy="822960"/>
          </a:xfrm>
          <a:prstGeom prst="rect">
            <a:avLst/>
          </a:prstGeom>
          <a:noFill/>
          <a:ln/>
        </p:spPr>
        <p:txBody>
          <a:bodyPr wrap="square" rtlCol="0" anchor="t"/>
          <a:lstStyle/>
          <a:p>
            <a:pPr indent="0" marL="0">
              <a:buNone/>
            </a:pPr>
            <a:endParaRPr lang="en-US" sz="2550" dirty="0"/>
          </a:p>
        </p:txBody>
      </p:sp>
      <p:sp>
        <p:nvSpPr>
          <p:cNvPr id="4" name="Shape 2"/>
          <p:cNvSpPr/>
          <p:nvPr/>
        </p:nvSpPr>
        <p:spPr>
          <a:xfrm>
            <a:off x="566928" y="2148840"/>
            <a:ext cx="54864" cy="2103120"/>
          </a:xfrm>
          <a:prstGeom prst="rect">
            <a:avLst/>
          </a:prstGeom>
          <a:solidFill>
            <a:srgbClr val="8A8378"/>
          </a:solidFill>
          <a:ln/>
        </p:spPr>
      </p:sp>
      <p:sp>
        <p:nvSpPr>
          <p:cNvPr id="5" name="Text 3"/>
          <p:cNvSpPr/>
          <p:nvPr/>
        </p:nvSpPr>
        <p:spPr>
          <a:xfrm>
            <a:off x="877824" y="2103120"/>
            <a:ext cx="10332720" cy="2194560"/>
          </a:xfrm>
          <a:prstGeom prst="rect">
            <a:avLst/>
          </a:prstGeom>
          <a:noFill/>
          <a:ln/>
        </p:spPr>
        <p:txBody>
          <a:bodyPr wrap="square" rtlCol="0" anchor="ctr"/>
          <a:lstStyle/>
          <a:p>
            <a:pPr indent="0" marL="0">
              <a:lnSpc>
                <a:spcPts val="3800"/>
              </a:lnSpc>
              <a:buNone/>
            </a:pPr>
            <a:r>
              <a:rPr lang="en-US" sz="2700" b="1" dirty="0">
                <a:solidFill>
                  <a:srgbClr val="1B1A18"/>
                </a:solidFill>
                <a:latin typeface="Georgia" pitchFamily="34" charset="0"/>
                <a:ea typeface="Georgia" pitchFamily="34" charset="-122"/>
                <a:cs typeface="Georgia" pitchFamily="34" charset="-120"/>
              </a:rPr>
              <a:t>This sector has been doing boundary control for a century — and is about to automate across boundaries it never specified.</a:t>
            </a:r>
            <a:endParaRPr lang="en-US" sz="2700" dirty="0"/>
          </a:p>
        </p:txBody>
      </p:sp>
      <p:sp>
        <p:nvSpPr>
          <p:cNvPr id="6" name="Text 4"/>
          <p:cNvSpPr/>
          <p:nvPr/>
        </p:nvSpPr>
        <p:spPr>
          <a:xfrm>
            <a:off x="877824" y="4480560"/>
            <a:ext cx="10332720" cy="731520"/>
          </a:xfrm>
          <a:prstGeom prst="rect">
            <a:avLst/>
          </a:prstGeom>
          <a:noFill/>
          <a:ln/>
        </p:spPr>
        <p:txBody>
          <a:bodyPr wrap="square" rtlCol="0" anchor="ctr"/>
          <a:lstStyle/>
          <a:p>
            <a:pPr indent="0" marL="0">
              <a:lnSpc>
                <a:spcPts val="2200"/>
              </a:lnSpc>
              <a:buNone/>
            </a:pPr>
            <a:r>
              <a:rPr lang="en-US" sz="1350" i="1" dirty="0">
                <a:solidFill>
                  <a:srgbClr val="6E6A62"/>
                </a:solidFill>
                <a:latin typeface="Georgia" pitchFamily="34" charset="0"/>
                <a:ea typeface="Georgia" pitchFamily="34" charset="-122"/>
                <a:cs typeface="Georgia" pitchFamily="34" charset="-120"/>
              </a:rPr>
              <a:t>Segregation of duties. Four eyes. Three-way match. Approval thresholds. Reconciliation. Every one of them is a rule about what must be true when work passes from one party to another.</a:t>
            </a:r>
            <a:endParaRPr lang="en-US" sz="1350" dirty="0"/>
          </a:p>
        </p:txBody>
      </p:sp>
      <p:sp>
        <p:nvSpPr>
          <p:cNvPr id="7" name="Text 5"/>
          <p:cNvSpPr/>
          <p:nvPr/>
        </p:nvSpPr>
        <p:spPr>
          <a:xfrm>
            <a:off x="566928" y="6473952"/>
            <a:ext cx="9957816" cy="274320"/>
          </a:xfrm>
          <a:prstGeom prst="rect">
            <a:avLst/>
          </a:prstGeom>
          <a:noFill/>
          <a:ln/>
        </p:spPr>
        <p:txBody>
          <a:bodyPr wrap="square" rtlCol="0" anchor="ctr"/>
          <a:lstStyle/>
          <a:p>
            <a:pPr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indent="0" marL="0">
              <a:buNone/>
            </a:pPr>
            <a:r>
              <a:rPr lang="en-US" sz="900" dirty="0">
                <a:solidFill>
                  <a:srgbClr val="6E6A62"/>
                </a:solidFill>
                <a:latin typeface="Georgia" pitchFamily="34" charset="0"/>
                <a:ea typeface="Georgia" pitchFamily="34" charset="-122"/>
                <a:cs typeface="Georgia" pitchFamily="34" charset="-120"/>
              </a:rPr>
              <a:t>  ·  PCERT-FS — Custody in the Regulated Institution</a:t>
            </a:r>
            <a:endParaRPr lang="en-US" sz="900" dirty="0"/>
          </a:p>
        </p:txBody>
      </p:sp>
      <p:sp>
        <p:nvSpPr>
          <p:cNvPr id="8" name="Text 6"/>
          <p:cNvSpPr/>
          <p:nvPr/>
        </p:nvSpPr>
        <p:spPr>
          <a:xfrm>
            <a:off x="10707624"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1A18"/>
        </a:solidFill>
      </p:bgPr>
    </p:bg>
    <p:spTree>
      <p:nvGrpSpPr>
        <p:cNvPr id="1" name=""/>
        <p:cNvGrpSpPr/>
        <p:nvPr/>
      </p:nvGrpSpPr>
      <p:grpSpPr>
        <a:xfrm>
          <a:off x="0" y="0"/>
          <a:ext cx="0" cy="0"/>
          <a:chOff x="0" y="0"/>
          <a:chExt cx="0" cy="0"/>
        </a:xfrm>
      </p:grpSpPr>
      <p:sp>
        <p:nvSpPr>
          <p:cNvPr id="2" name="Shape 0"/>
          <p:cNvSpPr/>
          <p:nvPr/>
        </p:nvSpPr>
        <p:spPr>
          <a:xfrm>
            <a:off x="566928" y="2148840"/>
            <a:ext cx="1554480" cy="310896"/>
          </a:xfrm>
          <a:prstGeom prst="roundRect">
            <a:avLst>
              <a:gd name="adj" fmla="val 47059"/>
            </a:avLst>
          </a:prstGeom>
          <a:solidFill>
            <a:srgbClr val="8A8378"/>
          </a:solidFill>
          <a:ln/>
        </p:spPr>
      </p:sp>
      <p:sp>
        <p:nvSpPr>
          <p:cNvPr id="3" name="Text 1"/>
          <p:cNvSpPr/>
          <p:nvPr/>
        </p:nvSpPr>
        <p:spPr>
          <a:xfrm>
            <a:off x="566928" y="2148840"/>
            <a:ext cx="1554480" cy="310896"/>
          </a:xfrm>
          <a:prstGeom prst="rect">
            <a:avLst/>
          </a:prstGeom>
          <a:noFill/>
          <a:ln/>
        </p:spPr>
        <p:txBody>
          <a:bodyPr wrap="square" rtlCol="0" anchor="ctr"/>
          <a:lstStyle/>
          <a:p>
            <a:pPr algn="ctr" indent="0" marL="0">
              <a:buNone/>
            </a:pPr>
            <a:r>
              <a:rPr lang="en-US" sz="1050" b="1" spc="60" kern="0" dirty="0">
                <a:solidFill>
                  <a:srgbClr val="1B1A18"/>
                </a:solidFill>
                <a:latin typeface="Georgia" pitchFamily="34" charset="0"/>
                <a:ea typeface="Georgia" pitchFamily="34" charset="-122"/>
                <a:cs typeface="Georgia" pitchFamily="34" charset="-120"/>
              </a:rPr>
              <a:t>MODULE 1</a:t>
            </a:r>
            <a:endParaRPr lang="en-US" sz="1050" dirty="0"/>
          </a:p>
        </p:txBody>
      </p:sp>
      <p:sp>
        <p:nvSpPr>
          <p:cNvPr id="4" name="Text 2"/>
          <p:cNvSpPr/>
          <p:nvPr/>
        </p:nvSpPr>
        <p:spPr>
          <a:xfrm>
            <a:off x="566928" y="2606040"/>
            <a:ext cx="10515600" cy="1005840"/>
          </a:xfrm>
          <a:prstGeom prst="rect">
            <a:avLst/>
          </a:prstGeom>
          <a:noFill/>
          <a:ln/>
        </p:spPr>
        <p:txBody>
          <a:bodyPr wrap="square" rtlCol="0" anchor="ctr"/>
          <a:lstStyle/>
          <a:p>
            <a:pPr indent="0" marL="0">
              <a:buNone/>
            </a:pPr>
            <a:r>
              <a:rPr lang="en-US" sz="3550" b="1" dirty="0">
                <a:solidFill>
                  <a:srgbClr val="FFFFFF"/>
                </a:solidFill>
                <a:latin typeface="Georgia" pitchFamily="34" charset="0"/>
                <a:ea typeface="Georgia" pitchFamily="34" charset="-122"/>
                <a:cs typeface="Georgia" pitchFamily="34" charset="-120"/>
              </a:rPr>
              <a:t>The Crossing as the Unit</a:t>
            </a:r>
            <a:endParaRPr lang="en-US" sz="3550" dirty="0"/>
          </a:p>
        </p:txBody>
      </p:sp>
      <p:sp>
        <p:nvSpPr>
          <p:cNvPr id="5" name="Text 3"/>
          <p:cNvSpPr/>
          <p:nvPr/>
        </p:nvSpPr>
        <p:spPr>
          <a:xfrm>
            <a:off x="566928" y="3657600"/>
            <a:ext cx="9875520" cy="1097280"/>
          </a:xfrm>
          <a:prstGeom prst="rect">
            <a:avLst/>
          </a:prstGeom>
          <a:noFill/>
          <a:ln/>
        </p:spPr>
        <p:txBody>
          <a:bodyPr wrap="square" rtlCol="0" anchor="ctr"/>
          <a:lstStyle/>
          <a:p>
            <a:pPr indent="0" marL="0">
              <a:lnSpc>
                <a:spcPts val="2400"/>
              </a:lnSpc>
              <a:buNone/>
            </a:pPr>
            <a:r>
              <a:rPr lang="en-US" sz="1500" dirty="0">
                <a:solidFill>
                  <a:srgbClr val="E4DFD5"/>
                </a:solidFill>
                <a:latin typeface="Georgia" pitchFamily="34" charset="0"/>
                <a:ea typeface="Georgia" pitchFamily="34" charset="-122"/>
                <a:cs typeface="Georgia" pitchFamily="34" charset="-120"/>
              </a:rPr>
              <a:t>Obligations attach to systems. Failures happen between them. Part I and Chapter 4.</a:t>
            </a:r>
            <a:endParaRPr lang="en-US" sz="1500" dirty="0"/>
          </a:p>
        </p:txBody>
      </p:sp>
      <p:sp>
        <p:nvSpPr>
          <p:cNvPr id="6" name="Text 4"/>
          <p:cNvSpPr/>
          <p:nvPr/>
        </p:nvSpPr>
        <p:spPr>
          <a:xfrm>
            <a:off x="566928" y="6473952"/>
            <a:ext cx="9957816" cy="274320"/>
          </a:xfrm>
          <a:prstGeom prst="rect">
            <a:avLst/>
          </a:prstGeom>
          <a:noFill/>
          <a:ln/>
        </p:spPr>
        <p:txBody>
          <a:bodyPr wrap="square" rtlCol="0" anchor="ctr"/>
          <a:lstStyle/>
          <a:p>
            <a:pPr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indent="0" marL="0">
              <a:buNone/>
            </a:pPr>
            <a:r>
              <a:rPr lang="en-US" sz="900" dirty="0">
                <a:solidFill>
                  <a:srgbClr val="6E6A62"/>
                </a:solidFill>
                <a:latin typeface="Georgia" pitchFamily="34" charset="0"/>
                <a:ea typeface="Georgia" pitchFamily="34" charset="-122"/>
                <a:cs typeface="Georgia" pitchFamily="34" charset="-120"/>
              </a:rPr>
              <a:t>  ·  PCERT-FS — Custody in the Regulated Institution</a:t>
            </a:r>
            <a:endParaRPr lang="en-US" sz="900" dirty="0"/>
          </a:p>
        </p:txBody>
      </p:sp>
      <p:sp>
        <p:nvSpPr>
          <p:cNvPr id="7" name="Text 5"/>
          <p:cNvSpPr/>
          <p:nvPr/>
        </p:nvSpPr>
        <p:spPr>
          <a:xfrm>
            <a:off x="10707624"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55096" cy="292608"/>
          </a:xfrm>
          <a:prstGeom prst="rect">
            <a:avLst/>
          </a:prstGeom>
          <a:noFill/>
          <a:ln/>
        </p:spPr>
        <p:txBody>
          <a:bodyPr wrap="square" rtlCol="0" anchor="ctr"/>
          <a:lstStyle/>
          <a:p>
            <a:pPr indent="0" marL="0">
              <a:buNone/>
            </a:pPr>
            <a:r>
              <a:rPr lang="en-US" sz="1050" b="1" spc="120" kern="0" dirty="0">
                <a:solidFill>
                  <a:srgbClr val="8A8378"/>
                </a:solidFill>
                <a:latin typeface="Georgia" pitchFamily="34" charset="0"/>
                <a:ea typeface="Georgia" pitchFamily="34" charset="-122"/>
                <a:cs typeface="Georgia" pitchFamily="34" charset="-120"/>
              </a:rPr>
              <a:t>WHERE THE OBLIGATION GOES</a:t>
            </a:r>
            <a:endParaRPr lang="en-US" sz="1050" dirty="0"/>
          </a:p>
        </p:txBody>
      </p:sp>
      <p:sp>
        <p:nvSpPr>
          <p:cNvPr id="3" name="Text 1"/>
          <p:cNvSpPr/>
          <p:nvPr/>
        </p:nvSpPr>
        <p:spPr>
          <a:xfrm>
            <a:off x="566928" y="749808"/>
            <a:ext cx="11055096" cy="822960"/>
          </a:xfrm>
          <a:prstGeom prst="rect">
            <a:avLst/>
          </a:prstGeom>
          <a:noFill/>
          <a:ln/>
        </p:spPr>
        <p:txBody>
          <a:bodyPr wrap="square" rtlCol="0" anchor="t"/>
          <a:lstStyle/>
          <a:p>
            <a:pPr indent="0" marL="0">
              <a:buNone/>
            </a:pPr>
            <a:r>
              <a:rPr lang="en-US" sz="2550" b="1" dirty="0">
                <a:solidFill>
                  <a:srgbClr val="1B1A18"/>
                </a:solidFill>
                <a:latin typeface="Georgia" pitchFamily="34" charset="0"/>
                <a:ea typeface="Georgia" pitchFamily="34" charset="-122"/>
                <a:cs typeface="Georgia" pitchFamily="34" charset="-120"/>
              </a:rPr>
              <a:t>A limit of four hundred, in three systems</a:t>
            </a:r>
            <a:endParaRPr lang="en-US" sz="2550" dirty="0"/>
          </a:p>
        </p:txBody>
      </p:sp>
      <p:sp>
        <p:nvSpPr>
          <p:cNvPr id="4" name="Shape 2"/>
          <p:cNvSpPr/>
          <p:nvPr/>
        </p:nvSpPr>
        <p:spPr>
          <a:xfrm>
            <a:off x="566928" y="1691640"/>
            <a:ext cx="457200" cy="457200"/>
          </a:xfrm>
          <a:prstGeom prst="ellipse">
            <a:avLst/>
          </a:prstGeom>
          <a:solidFill>
            <a:srgbClr val="1B1A18"/>
          </a:solidFill>
          <a:ln/>
        </p:spPr>
      </p:sp>
      <p:sp>
        <p:nvSpPr>
          <p:cNvPr id="5" name="Text 3"/>
          <p:cNvSpPr/>
          <p:nvPr/>
        </p:nvSpPr>
        <p:spPr>
          <a:xfrm>
            <a:off x="566928" y="169164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1</a:t>
            </a:r>
            <a:endParaRPr lang="en-US" sz="1400" dirty="0"/>
          </a:p>
        </p:txBody>
      </p:sp>
      <p:sp>
        <p:nvSpPr>
          <p:cNvPr id="6" name="Text 4"/>
          <p:cNvSpPr/>
          <p:nvPr/>
        </p:nvSpPr>
        <p:spPr>
          <a:xfrm>
            <a:off x="1234440" y="1636776"/>
            <a:ext cx="10277856" cy="1024128"/>
          </a:xfrm>
          <a:prstGeom prst="rect">
            <a:avLst/>
          </a:prstGeom>
          <a:noFill/>
          <a:ln/>
        </p:spPr>
        <p:txBody>
          <a:bodyPr wrap="square" rtlCol="0" anchor="t"/>
          <a:lstStyle/>
          <a:p>
            <a:pPr indent="0" marL="0">
              <a:lnSpc>
                <a:spcPts val="2200"/>
              </a:lnSpc>
              <a:buNone/>
            </a:pPr>
            <a:r>
              <a:rPr lang="en-US" sz="1500" b="1" dirty="0">
                <a:solidFill>
                  <a:srgbClr val="33302B"/>
                </a:solidFill>
                <a:latin typeface="Georgia" pitchFamily="34" charset="0"/>
                <a:ea typeface="Georgia" pitchFamily="34" charset="-122"/>
                <a:cs typeface="Georgia" pitchFamily="34" charset="-120"/>
              </a:rPr>
              <a:t>One agent originates the request.   </a:t>
            </a:r>
            <a:pPr indent="0" marL="0">
              <a:lnSpc>
                <a:spcPts val="2200"/>
              </a:lnSpc>
              <a:buNone/>
            </a:pPr>
            <a:r>
              <a:rPr lang="en-US" sz="1500" dirty="0">
                <a:solidFill>
                  <a:srgbClr val="6E6A62"/>
                </a:solidFill>
                <a:latin typeface="Georgia" pitchFamily="34" charset="0"/>
                <a:ea typeface="Georgia" pitchFamily="34" charset="-122"/>
                <a:cs typeface="Georgia" pitchFamily="34" charset="-120"/>
              </a:rPr>
              <a:t>In the planning system, correctly, within its own scope.</a:t>
            </a:r>
            <a:endParaRPr lang="en-US" sz="1500" dirty="0"/>
          </a:p>
        </p:txBody>
      </p:sp>
      <p:sp>
        <p:nvSpPr>
          <p:cNvPr id="7" name="Shape 5"/>
          <p:cNvSpPr/>
          <p:nvPr/>
        </p:nvSpPr>
        <p:spPr>
          <a:xfrm>
            <a:off x="566928" y="2857500"/>
            <a:ext cx="457200" cy="457200"/>
          </a:xfrm>
          <a:prstGeom prst="ellipse">
            <a:avLst/>
          </a:prstGeom>
          <a:solidFill>
            <a:srgbClr val="1B1A18"/>
          </a:solidFill>
          <a:ln/>
        </p:spPr>
      </p:sp>
      <p:sp>
        <p:nvSpPr>
          <p:cNvPr id="8" name="Text 6"/>
          <p:cNvSpPr/>
          <p:nvPr/>
        </p:nvSpPr>
        <p:spPr>
          <a:xfrm>
            <a:off x="566928" y="285750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2</a:t>
            </a:r>
            <a:endParaRPr lang="en-US" sz="1400" dirty="0"/>
          </a:p>
        </p:txBody>
      </p:sp>
      <p:sp>
        <p:nvSpPr>
          <p:cNvPr id="9" name="Text 7"/>
          <p:cNvSpPr/>
          <p:nvPr/>
        </p:nvSpPr>
        <p:spPr>
          <a:xfrm>
            <a:off x="1234440" y="2802636"/>
            <a:ext cx="10277856" cy="1024128"/>
          </a:xfrm>
          <a:prstGeom prst="rect">
            <a:avLst/>
          </a:prstGeom>
          <a:noFill/>
          <a:ln/>
        </p:spPr>
        <p:txBody>
          <a:bodyPr wrap="square" rtlCol="0" anchor="t"/>
          <a:lstStyle/>
          <a:p>
            <a:pPr indent="0" marL="0">
              <a:lnSpc>
                <a:spcPts val="2200"/>
              </a:lnSpc>
              <a:buNone/>
            </a:pPr>
            <a:r>
              <a:rPr lang="en-US" sz="1500" b="1" dirty="0">
                <a:solidFill>
                  <a:srgbClr val="33302B"/>
                </a:solidFill>
                <a:latin typeface="Georgia" pitchFamily="34" charset="0"/>
                <a:ea typeface="Georgia" pitchFamily="34" charset="-122"/>
                <a:cs typeface="Georgia" pitchFamily="34" charset="-120"/>
              </a:rPr>
              <a:t>A second evaluates it against a retrieved policy.   </a:t>
            </a:r>
            <a:pPr indent="0" marL="0">
              <a:lnSpc>
                <a:spcPts val="2200"/>
              </a:lnSpc>
              <a:buNone/>
            </a:pPr>
            <a:r>
              <a:rPr lang="en-US" sz="1500" dirty="0">
                <a:solidFill>
                  <a:srgbClr val="6E6A62"/>
                </a:solidFill>
                <a:latin typeface="Georgia" pitchFamily="34" charset="0"/>
                <a:ea typeface="Georgia" pitchFamily="34" charset="-122"/>
                <a:cs typeface="Georgia" pitchFamily="34" charset="-120"/>
              </a:rPr>
              <a:t>Correctly again. The policy said four hundred.</a:t>
            </a:r>
            <a:endParaRPr lang="en-US" sz="1500" dirty="0"/>
          </a:p>
        </p:txBody>
      </p:sp>
      <p:sp>
        <p:nvSpPr>
          <p:cNvPr id="10" name="Shape 8"/>
          <p:cNvSpPr/>
          <p:nvPr/>
        </p:nvSpPr>
        <p:spPr>
          <a:xfrm>
            <a:off x="566928" y="4023360"/>
            <a:ext cx="457200" cy="457200"/>
          </a:xfrm>
          <a:prstGeom prst="ellipse">
            <a:avLst/>
          </a:prstGeom>
          <a:solidFill>
            <a:srgbClr val="1B1A18"/>
          </a:solidFill>
          <a:ln/>
        </p:spPr>
      </p:sp>
      <p:sp>
        <p:nvSpPr>
          <p:cNvPr id="11" name="Text 9"/>
          <p:cNvSpPr/>
          <p:nvPr/>
        </p:nvSpPr>
        <p:spPr>
          <a:xfrm>
            <a:off x="566928" y="402336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3</a:t>
            </a:r>
            <a:endParaRPr lang="en-US" sz="1400" dirty="0"/>
          </a:p>
        </p:txBody>
      </p:sp>
      <p:sp>
        <p:nvSpPr>
          <p:cNvPr id="12" name="Text 10"/>
          <p:cNvSpPr/>
          <p:nvPr/>
        </p:nvSpPr>
        <p:spPr>
          <a:xfrm>
            <a:off x="1234440" y="3968496"/>
            <a:ext cx="10277856" cy="1024128"/>
          </a:xfrm>
          <a:prstGeom prst="rect">
            <a:avLst/>
          </a:prstGeom>
          <a:noFill/>
          <a:ln/>
        </p:spPr>
        <p:txBody>
          <a:bodyPr wrap="square" rtlCol="0" anchor="t"/>
          <a:lstStyle/>
          <a:p>
            <a:pPr indent="0" marL="0">
              <a:lnSpc>
                <a:spcPts val="2200"/>
              </a:lnSpc>
              <a:buNone/>
            </a:pPr>
            <a:r>
              <a:rPr lang="en-US" sz="1500" b="1" dirty="0">
                <a:solidFill>
                  <a:srgbClr val="33302B"/>
                </a:solidFill>
                <a:latin typeface="Georgia" pitchFamily="34" charset="0"/>
                <a:ea typeface="Georgia" pitchFamily="34" charset="-122"/>
                <a:cs typeface="Georgia" pitchFamily="34" charset="-120"/>
              </a:rPr>
              <a:t>A third submits it through an integration written years ago.   </a:t>
            </a:r>
            <a:pPr indent="0" marL="0">
              <a:lnSpc>
                <a:spcPts val="2200"/>
              </a:lnSpc>
              <a:buNone/>
            </a:pPr>
            <a:r>
              <a:rPr lang="en-US" sz="1500" dirty="0">
                <a:solidFill>
                  <a:srgbClr val="6E6A62"/>
                </a:solidFill>
                <a:latin typeface="Georgia" pitchFamily="34" charset="0"/>
                <a:ea typeface="Georgia" pitchFamily="34" charset="-122"/>
                <a:cs typeface="Georgia" pitchFamily="34" charset="-120"/>
              </a:rPr>
              <a:t>The figure arrives as a number. The condition that made it a ceiling rather than a budget was never carried.</a:t>
            </a:r>
            <a:endParaRPr lang="en-US" sz="1500" dirty="0"/>
          </a:p>
        </p:txBody>
      </p:sp>
      <p:sp>
        <p:nvSpPr>
          <p:cNvPr id="13" name="Shape 11"/>
          <p:cNvSpPr/>
          <p:nvPr/>
        </p:nvSpPr>
        <p:spPr>
          <a:xfrm>
            <a:off x="566928" y="5189220"/>
            <a:ext cx="457200" cy="457200"/>
          </a:xfrm>
          <a:prstGeom prst="ellipse">
            <a:avLst/>
          </a:prstGeom>
          <a:solidFill>
            <a:srgbClr val="1B1A18"/>
          </a:solidFill>
          <a:ln/>
        </p:spPr>
      </p:sp>
      <p:sp>
        <p:nvSpPr>
          <p:cNvPr id="14" name="Text 12"/>
          <p:cNvSpPr/>
          <p:nvPr/>
        </p:nvSpPr>
        <p:spPr>
          <a:xfrm>
            <a:off x="566928" y="518922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4</a:t>
            </a:r>
            <a:endParaRPr lang="en-US" sz="1400" dirty="0"/>
          </a:p>
        </p:txBody>
      </p:sp>
      <p:sp>
        <p:nvSpPr>
          <p:cNvPr id="15" name="Text 13"/>
          <p:cNvSpPr/>
          <p:nvPr/>
        </p:nvSpPr>
        <p:spPr>
          <a:xfrm>
            <a:off x="1234440" y="5134356"/>
            <a:ext cx="10277856" cy="1024128"/>
          </a:xfrm>
          <a:prstGeom prst="rect">
            <a:avLst/>
          </a:prstGeom>
          <a:noFill/>
          <a:ln/>
        </p:spPr>
        <p:txBody>
          <a:bodyPr wrap="square" rtlCol="0" anchor="t"/>
          <a:lstStyle/>
          <a:p>
            <a:pPr indent="0" marL="0">
              <a:lnSpc>
                <a:spcPts val="2200"/>
              </a:lnSpc>
              <a:buNone/>
            </a:pPr>
            <a:r>
              <a:rPr lang="en-US" sz="1500" b="1" dirty="0">
                <a:solidFill>
                  <a:srgbClr val="33302B"/>
                </a:solidFill>
                <a:latin typeface="Georgia" pitchFamily="34" charset="0"/>
                <a:ea typeface="Georgia" pitchFamily="34" charset="-122"/>
                <a:cs typeface="Georgia" pitchFamily="34" charset="-120"/>
              </a:rPr>
              <a:t>Nothing malfunctioned.   </a:t>
            </a:r>
            <a:pPr indent="0" marL="0">
              <a:lnSpc>
                <a:spcPts val="2200"/>
              </a:lnSpc>
              <a:buNone/>
            </a:pPr>
            <a:r>
              <a:rPr lang="en-US" sz="1500" dirty="0">
                <a:solidFill>
                  <a:srgbClr val="6E6A62"/>
                </a:solidFill>
                <a:latin typeface="Georgia" pitchFamily="34" charset="0"/>
                <a:ea typeface="Georgia" pitchFamily="34" charset="-122"/>
                <a:cs typeface="Georgia" pitchFamily="34" charset="-120"/>
              </a:rPr>
              <a:t>Every component met its specification. The obligation was satisfied nowhere, because it had been assigned to nothing.</a:t>
            </a:r>
            <a:endParaRPr lang="en-US" sz="1500" dirty="0"/>
          </a:p>
        </p:txBody>
      </p:sp>
      <p:sp>
        <p:nvSpPr>
          <p:cNvPr id="16" name="Text 14"/>
          <p:cNvSpPr/>
          <p:nvPr/>
        </p:nvSpPr>
        <p:spPr>
          <a:xfrm>
            <a:off x="566928" y="6473952"/>
            <a:ext cx="9957816" cy="274320"/>
          </a:xfrm>
          <a:prstGeom prst="rect">
            <a:avLst/>
          </a:prstGeom>
          <a:noFill/>
          <a:ln/>
        </p:spPr>
        <p:txBody>
          <a:bodyPr wrap="square" rtlCol="0" anchor="ctr"/>
          <a:lstStyle/>
          <a:p>
            <a:pPr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indent="0" marL="0">
              <a:buNone/>
            </a:pPr>
            <a:r>
              <a:rPr lang="en-US" sz="900" dirty="0">
                <a:solidFill>
                  <a:srgbClr val="6E6A62"/>
                </a:solidFill>
                <a:latin typeface="Georgia" pitchFamily="34" charset="0"/>
                <a:ea typeface="Georgia" pitchFamily="34" charset="-122"/>
                <a:cs typeface="Georgia" pitchFamily="34" charset="-120"/>
              </a:rPr>
              <a:t>  ·  PCERT-FS — Custody in the Regulated Institution</a:t>
            </a:r>
            <a:endParaRPr lang="en-US" sz="900" dirty="0"/>
          </a:p>
        </p:txBody>
      </p:sp>
      <p:sp>
        <p:nvSpPr>
          <p:cNvPr id="17" name="Text 15"/>
          <p:cNvSpPr/>
          <p:nvPr/>
        </p:nvSpPr>
        <p:spPr>
          <a:xfrm>
            <a:off x="10707624"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55096" cy="292608"/>
          </a:xfrm>
          <a:prstGeom prst="rect">
            <a:avLst/>
          </a:prstGeom>
          <a:noFill/>
          <a:ln/>
        </p:spPr>
        <p:txBody>
          <a:bodyPr wrap="square" rtlCol="0" anchor="ctr"/>
          <a:lstStyle/>
          <a:p>
            <a:pPr indent="0" marL="0">
              <a:buNone/>
            </a:pPr>
            <a:r>
              <a:rPr lang="en-US" sz="1050" b="1" spc="120" kern="0" dirty="0">
                <a:solidFill>
                  <a:srgbClr val="8A8378"/>
                </a:solidFill>
                <a:latin typeface="Georgia" pitchFamily="34" charset="0"/>
                <a:ea typeface="Georgia" pitchFamily="34" charset="-122"/>
                <a:cs typeface="Georgia" pitchFamily="34" charset="-120"/>
              </a:rPr>
              <a:t>THE SAME CROSSING, TWICE</a:t>
            </a:r>
            <a:endParaRPr lang="en-US" sz="1050" dirty="0"/>
          </a:p>
        </p:txBody>
      </p:sp>
      <p:sp>
        <p:nvSpPr>
          <p:cNvPr id="3" name="Text 1"/>
          <p:cNvSpPr/>
          <p:nvPr/>
        </p:nvSpPr>
        <p:spPr>
          <a:xfrm>
            <a:off x="566928" y="749808"/>
            <a:ext cx="11055096" cy="822960"/>
          </a:xfrm>
          <a:prstGeom prst="rect">
            <a:avLst/>
          </a:prstGeom>
          <a:noFill/>
          <a:ln/>
        </p:spPr>
        <p:txBody>
          <a:bodyPr wrap="square" rtlCol="0" anchor="t"/>
          <a:lstStyle/>
          <a:p>
            <a:pPr indent="0" marL="0">
              <a:buNone/>
            </a:pPr>
            <a:r>
              <a:rPr lang="en-US" sz="2550" b="1" dirty="0">
                <a:solidFill>
                  <a:srgbClr val="1B1A18"/>
                </a:solidFill>
                <a:latin typeface="Georgia" pitchFamily="34" charset="0"/>
                <a:ea typeface="Georgia" pitchFamily="34" charset="-122"/>
                <a:cs typeface="Georgia" pitchFamily="34" charset="-120"/>
              </a:rPr>
              <a:t>What the diagram records, and what the work needs</a:t>
            </a:r>
            <a:endParaRPr lang="en-US" sz="2550" dirty="0"/>
          </a:p>
        </p:txBody>
      </p:sp>
      <p:sp>
        <p:nvSpPr>
          <p:cNvPr id="4" name="Shape 2"/>
          <p:cNvSpPr/>
          <p:nvPr/>
        </p:nvSpPr>
        <p:spPr>
          <a:xfrm>
            <a:off x="566928" y="1737360"/>
            <a:ext cx="5367528" cy="4480560"/>
          </a:xfrm>
          <a:prstGeom prst="rect">
            <a:avLst/>
          </a:prstGeom>
          <a:solidFill>
            <a:srgbClr val="F4F2EE"/>
          </a:solidFill>
          <a:ln/>
        </p:spPr>
      </p:sp>
      <p:sp>
        <p:nvSpPr>
          <p:cNvPr id="5" name="Shape 3"/>
          <p:cNvSpPr/>
          <p:nvPr/>
        </p:nvSpPr>
        <p:spPr>
          <a:xfrm>
            <a:off x="566928" y="1737360"/>
            <a:ext cx="5367528" cy="548640"/>
          </a:xfrm>
          <a:prstGeom prst="rect">
            <a:avLst/>
          </a:prstGeom>
          <a:solidFill>
            <a:srgbClr val="8A8378"/>
          </a:solidFill>
          <a:ln/>
        </p:spPr>
      </p:sp>
      <p:sp>
        <p:nvSpPr>
          <p:cNvPr id="6" name="Text 4"/>
          <p:cNvSpPr/>
          <p:nvPr/>
        </p:nvSpPr>
        <p:spPr>
          <a:xfrm>
            <a:off x="795528" y="1737360"/>
            <a:ext cx="4910328" cy="548640"/>
          </a:xfrm>
          <a:prstGeom prst="rect">
            <a:avLst/>
          </a:prstGeom>
          <a:noFill/>
          <a:ln/>
        </p:spPr>
        <p:txBody>
          <a:bodyPr wrap="square"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What the integration carries</a:t>
            </a:r>
            <a:endParaRPr lang="en-US" sz="1500" dirty="0"/>
          </a:p>
        </p:txBody>
      </p:sp>
      <p:sp>
        <p:nvSpPr>
          <p:cNvPr id="7" name="Text 5"/>
          <p:cNvSpPr/>
          <p:nvPr/>
        </p:nvSpPr>
        <p:spPr>
          <a:xfrm>
            <a:off x="822960" y="2468880"/>
            <a:ext cx="4855464" cy="3566160"/>
          </a:xfrm>
          <a:prstGeom prst="rect">
            <a:avLst/>
          </a:prstGeom>
          <a:noFill/>
          <a:ln/>
        </p:spPr>
        <p:txBody>
          <a:bodyPr wrap="square" rtlCol="0" anchor="t"/>
          <a:lstStyle/>
          <a:p>
            <a:pPr marL="177800" indent="-177800">
              <a:lnSpc>
                <a:spcPts val="2100"/>
              </a:lnSpc>
              <a:spcAft>
                <a:spcPts val="900"/>
              </a:spcAft>
              <a:buSzPct val="100000"/>
              <a:buChar char="•"/>
            </a:pPr>
            <a:r>
              <a:rPr lang="en-US" sz="1250" dirty="0">
                <a:solidFill>
                  <a:srgbClr val="33302B"/>
                </a:solidFill>
                <a:latin typeface="Georgia" pitchFamily="34" charset="0"/>
                <a:ea typeface="Georgia" pitchFamily="34" charset="-122"/>
                <a:cs typeface="Georgia" pitchFamily="34" charset="-120"/>
              </a:rPr>
              <a:t>The value: four hundred</a:t>
            </a:r>
            <a:endParaRPr lang="en-US" sz="1250" dirty="0"/>
          </a:p>
          <a:p>
            <a:pPr marL="177800" indent="-177800">
              <a:lnSpc>
                <a:spcPts val="2100"/>
              </a:lnSpc>
              <a:spcAft>
                <a:spcPts val="900"/>
              </a:spcAft>
              <a:buSzPct val="100000"/>
              <a:buChar char="•"/>
            </a:pPr>
            <a:r>
              <a:rPr lang="en-US" sz="1250" dirty="0">
                <a:solidFill>
                  <a:srgbClr val="33302B"/>
                </a:solidFill>
                <a:latin typeface="Georgia" pitchFamily="34" charset="0"/>
                <a:ea typeface="Georgia" pitchFamily="34" charset="-122"/>
                <a:cs typeface="Georgia" pitchFamily="34" charset="-120"/>
              </a:rPr>
              <a:t>The requester and the timestamp</a:t>
            </a:r>
            <a:endParaRPr lang="en-US" sz="1250" dirty="0"/>
          </a:p>
          <a:p>
            <a:pPr marL="177800" indent="-177800">
              <a:lnSpc>
                <a:spcPts val="2100"/>
              </a:lnSpc>
              <a:spcAft>
                <a:spcPts val="900"/>
              </a:spcAft>
              <a:buSzPct val="100000"/>
              <a:buChar char="•"/>
            </a:pPr>
            <a:r>
              <a:rPr lang="en-US" sz="1250" dirty="0">
                <a:solidFill>
                  <a:srgbClr val="33302B"/>
                </a:solidFill>
                <a:latin typeface="Georgia" pitchFamily="34" charset="0"/>
                <a:ea typeface="Georgia" pitchFamily="34" charset="-122"/>
                <a:cs typeface="Georgia" pitchFamily="34" charset="-120"/>
              </a:rPr>
              <a:t>The account it posts against</a:t>
            </a:r>
            <a:endParaRPr lang="en-US" sz="1250" dirty="0"/>
          </a:p>
          <a:p>
            <a:pPr marL="177800" indent="-177800">
              <a:lnSpc>
                <a:spcPts val="2100"/>
              </a:lnSpc>
              <a:spcAft>
                <a:spcPts val="900"/>
              </a:spcAft>
              <a:buSzPct val="100000"/>
              <a:buChar char="•"/>
            </a:pPr>
            <a:r>
              <a:rPr lang="en-US" sz="1250" dirty="0">
                <a:solidFill>
                  <a:srgbClr val="33302B"/>
                </a:solidFill>
                <a:latin typeface="Georgia" pitchFamily="34" charset="0"/>
                <a:ea typeface="Georgia" pitchFamily="34" charset="-122"/>
                <a:cs typeface="Georgia" pitchFamily="34" charset="-120"/>
              </a:rPr>
              <a:t>A status code on completion</a:t>
            </a:r>
            <a:endParaRPr lang="en-US" sz="1250" dirty="0"/>
          </a:p>
        </p:txBody>
      </p:sp>
      <p:sp>
        <p:nvSpPr>
          <p:cNvPr id="8" name="Shape 6"/>
          <p:cNvSpPr/>
          <p:nvPr/>
        </p:nvSpPr>
        <p:spPr>
          <a:xfrm>
            <a:off x="6254496" y="1737360"/>
            <a:ext cx="5367528" cy="4480560"/>
          </a:xfrm>
          <a:prstGeom prst="rect">
            <a:avLst/>
          </a:prstGeom>
          <a:solidFill>
            <a:srgbClr val="EBE7DF"/>
          </a:solidFill>
          <a:ln/>
        </p:spPr>
      </p:sp>
      <p:sp>
        <p:nvSpPr>
          <p:cNvPr id="9" name="Shape 7"/>
          <p:cNvSpPr/>
          <p:nvPr/>
        </p:nvSpPr>
        <p:spPr>
          <a:xfrm>
            <a:off x="6254496" y="1737360"/>
            <a:ext cx="5367528" cy="548640"/>
          </a:xfrm>
          <a:prstGeom prst="rect">
            <a:avLst/>
          </a:prstGeom>
          <a:solidFill>
            <a:srgbClr val="33302B"/>
          </a:solidFill>
          <a:ln/>
        </p:spPr>
      </p:sp>
      <p:sp>
        <p:nvSpPr>
          <p:cNvPr id="10" name="Text 8"/>
          <p:cNvSpPr/>
          <p:nvPr/>
        </p:nvSpPr>
        <p:spPr>
          <a:xfrm>
            <a:off x="6483096" y="1737360"/>
            <a:ext cx="4910328" cy="548640"/>
          </a:xfrm>
          <a:prstGeom prst="rect">
            <a:avLst/>
          </a:prstGeom>
          <a:noFill/>
          <a:ln/>
        </p:spPr>
        <p:txBody>
          <a:bodyPr wrap="square"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What the obligation required</a:t>
            </a:r>
            <a:endParaRPr lang="en-US" sz="1500" dirty="0"/>
          </a:p>
        </p:txBody>
      </p:sp>
      <p:sp>
        <p:nvSpPr>
          <p:cNvPr id="11" name="Text 9"/>
          <p:cNvSpPr/>
          <p:nvPr/>
        </p:nvSpPr>
        <p:spPr>
          <a:xfrm>
            <a:off x="6510528" y="2468880"/>
            <a:ext cx="4855464" cy="3566160"/>
          </a:xfrm>
          <a:prstGeom prst="rect">
            <a:avLst/>
          </a:prstGeom>
          <a:noFill/>
          <a:ln/>
        </p:spPr>
        <p:txBody>
          <a:bodyPr wrap="square" rtlCol="0" anchor="t"/>
          <a:lstStyle/>
          <a:p>
            <a:pPr marL="177800" indent="-177800">
              <a:lnSpc>
                <a:spcPts val="2100"/>
              </a:lnSpc>
              <a:spcAft>
                <a:spcPts val="900"/>
              </a:spcAft>
              <a:buSzPct val="100000"/>
              <a:buChar char="•"/>
            </a:pPr>
            <a:r>
              <a:rPr lang="en-US" sz="1250" dirty="0">
                <a:solidFill>
                  <a:srgbClr val="33302B"/>
                </a:solidFill>
                <a:latin typeface="Georgia" pitchFamily="34" charset="0"/>
                <a:ea typeface="Georgia" pitchFamily="34" charset="-122"/>
                <a:cs typeface="Georgia" pitchFamily="34" charset="-120"/>
              </a:rPr>
              <a:t>That four hundred is a ceiling, not a target</a:t>
            </a:r>
            <a:endParaRPr lang="en-US" sz="1250" dirty="0"/>
          </a:p>
          <a:p>
            <a:pPr marL="177800" indent="-177800">
              <a:lnSpc>
                <a:spcPts val="2100"/>
              </a:lnSpc>
              <a:spcAft>
                <a:spcPts val="900"/>
              </a:spcAft>
              <a:buSzPct val="100000"/>
              <a:buChar char="•"/>
            </a:pPr>
            <a:r>
              <a:rPr lang="en-US" sz="1250" dirty="0">
                <a:solidFill>
                  <a:srgbClr val="33302B"/>
                </a:solidFill>
                <a:latin typeface="Georgia" pitchFamily="34" charset="0"/>
                <a:ea typeface="Georgia" pitchFamily="34" charset="-122"/>
                <a:cs typeface="Georgia" pitchFamily="34" charset="-120"/>
              </a:rPr>
              <a:t>The authority under which it may be exceeded</a:t>
            </a:r>
            <a:endParaRPr lang="en-US" sz="1250" dirty="0"/>
          </a:p>
          <a:p>
            <a:pPr marL="177800" indent="-177800">
              <a:lnSpc>
                <a:spcPts val="2100"/>
              </a:lnSpc>
              <a:spcAft>
                <a:spcPts val="900"/>
              </a:spcAft>
              <a:buSzPct val="100000"/>
              <a:buChar char="•"/>
            </a:pPr>
            <a:r>
              <a:rPr lang="en-US" sz="1250" dirty="0">
                <a:solidFill>
                  <a:srgbClr val="33302B"/>
                </a:solidFill>
                <a:latin typeface="Georgia" pitchFamily="34" charset="0"/>
                <a:ea typeface="Georgia" pitchFamily="34" charset="-122"/>
                <a:cs typeface="Georgia" pitchFamily="34" charset="-120"/>
              </a:rPr>
              <a:t>The rule version in force at this moment</a:t>
            </a:r>
            <a:endParaRPr lang="en-US" sz="1250" dirty="0"/>
          </a:p>
          <a:p>
            <a:pPr marL="177800" indent="-177800">
              <a:lnSpc>
                <a:spcPts val="2100"/>
              </a:lnSpc>
              <a:spcAft>
                <a:spcPts val="900"/>
              </a:spcAft>
              <a:buSzPct val="100000"/>
              <a:buChar char="•"/>
            </a:pPr>
            <a:r>
              <a:rPr lang="en-US" sz="1250" dirty="0">
                <a:solidFill>
                  <a:srgbClr val="33302B"/>
                </a:solidFill>
                <a:latin typeface="Georgia" pitchFamily="34" charset="0"/>
                <a:ea typeface="Georgia" pitchFamily="34" charset="-122"/>
                <a:cs typeface="Georgia" pitchFamily="34" charset="-120"/>
              </a:rPr>
              <a:t>A record generated here, not assembled later</a:t>
            </a:r>
            <a:endParaRPr lang="en-US" sz="1250" dirty="0"/>
          </a:p>
          <a:p>
            <a:pPr marL="177800" indent="-177800">
              <a:lnSpc>
                <a:spcPts val="2100"/>
              </a:lnSpc>
              <a:spcAft>
                <a:spcPts val="900"/>
              </a:spcAft>
              <a:buSzPct val="100000"/>
              <a:buChar char="•"/>
            </a:pPr>
            <a:r>
              <a:rPr lang="en-US" sz="1250" dirty="0">
                <a:solidFill>
                  <a:srgbClr val="33302B"/>
                </a:solidFill>
                <a:latin typeface="Georgia" pitchFamily="34" charset="0"/>
                <a:ea typeface="Georgia" pitchFamily="34" charset="-122"/>
                <a:cs typeface="Georgia" pitchFamily="34" charset="-120"/>
              </a:rPr>
              <a:t>A refusal if any of the above is missing</a:t>
            </a:r>
            <a:endParaRPr lang="en-US" sz="1250" dirty="0"/>
          </a:p>
        </p:txBody>
      </p:sp>
      <p:sp>
        <p:nvSpPr>
          <p:cNvPr id="12" name="Text 10"/>
          <p:cNvSpPr/>
          <p:nvPr/>
        </p:nvSpPr>
        <p:spPr>
          <a:xfrm>
            <a:off x="566928" y="6473952"/>
            <a:ext cx="9957816" cy="274320"/>
          </a:xfrm>
          <a:prstGeom prst="rect">
            <a:avLst/>
          </a:prstGeom>
          <a:noFill/>
          <a:ln/>
        </p:spPr>
        <p:txBody>
          <a:bodyPr wrap="square" rtlCol="0" anchor="ctr"/>
          <a:lstStyle/>
          <a:p>
            <a:pPr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indent="0" marL="0">
              <a:buNone/>
            </a:pPr>
            <a:r>
              <a:rPr lang="en-US" sz="900" dirty="0">
                <a:solidFill>
                  <a:srgbClr val="6E6A62"/>
                </a:solidFill>
                <a:latin typeface="Georgia" pitchFamily="34" charset="0"/>
                <a:ea typeface="Georgia" pitchFamily="34" charset="-122"/>
                <a:cs typeface="Georgia" pitchFamily="34" charset="-120"/>
              </a:rPr>
              <a:t>  ·  PCERT-FS — Custody in the Regulated Institution</a:t>
            </a:r>
            <a:endParaRPr lang="en-US" sz="900" dirty="0"/>
          </a:p>
        </p:txBody>
      </p:sp>
      <p:sp>
        <p:nvSpPr>
          <p:cNvPr id="13" name="Text 11"/>
          <p:cNvSpPr/>
          <p:nvPr/>
        </p:nvSpPr>
        <p:spPr>
          <a:xfrm>
            <a:off x="10707624"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55096" cy="292608"/>
          </a:xfrm>
          <a:prstGeom prst="rect">
            <a:avLst/>
          </a:prstGeom>
          <a:noFill/>
          <a:ln/>
        </p:spPr>
        <p:txBody>
          <a:bodyPr wrap="square" rtlCol="0" anchor="ctr"/>
          <a:lstStyle/>
          <a:p>
            <a:pPr indent="0" marL="0">
              <a:buNone/>
            </a:pPr>
            <a:r>
              <a:rPr lang="en-US" sz="1050" b="1" spc="120" kern="0" dirty="0">
                <a:solidFill>
                  <a:srgbClr val="8A8378"/>
                </a:solidFill>
                <a:latin typeface="Georgia" pitchFamily="34" charset="0"/>
                <a:ea typeface="Georgia" pitchFamily="34" charset="-122"/>
                <a:cs typeface="Georgia" pitchFamily="34" charset="-120"/>
              </a:rPr>
              <a:t>MODULE 1  ·  APPLIED EXERCISE</a:t>
            </a:r>
            <a:endParaRPr lang="en-US" sz="1050" dirty="0"/>
          </a:p>
        </p:txBody>
      </p:sp>
      <p:sp>
        <p:nvSpPr>
          <p:cNvPr id="3" name="Text 1"/>
          <p:cNvSpPr/>
          <p:nvPr/>
        </p:nvSpPr>
        <p:spPr>
          <a:xfrm>
            <a:off x="566928" y="749808"/>
            <a:ext cx="11055096" cy="822960"/>
          </a:xfrm>
          <a:prstGeom prst="rect">
            <a:avLst/>
          </a:prstGeom>
          <a:noFill/>
          <a:ln/>
        </p:spPr>
        <p:txBody>
          <a:bodyPr wrap="square" rtlCol="0" anchor="t"/>
          <a:lstStyle/>
          <a:p>
            <a:pPr indent="0" marL="0">
              <a:buNone/>
            </a:pPr>
            <a:r>
              <a:rPr lang="en-US" sz="2550" b="1" dirty="0">
                <a:solidFill>
                  <a:srgbClr val="1B1A18"/>
                </a:solidFill>
                <a:latin typeface="Georgia" pitchFamily="34" charset="0"/>
                <a:ea typeface="Georgia" pitchFamily="34" charset="-122"/>
                <a:cs typeface="Georgia" pitchFamily="34" charset="-120"/>
              </a:rPr>
              <a:t>Map the crossings in a process you own</a:t>
            </a:r>
            <a:endParaRPr lang="en-US" sz="2550" dirty="0"/>
          </a:p>
        </p:txBody>
      </p:sp>
      <p:sp>
        <p:nvSpPr>
          <p:cNvPr id="4" name="Shape 2"/>
          <p:cNvSpPr/>
          <p:nvPr/>
        </p:nvSpPr>
        <p:spPr>
          <a:xfrm>
            <a:off x="566928" y="1737360"/>
            <a:ext cx="11055096" cy="1371600"/>
          </a:xfrm>
          <a:prstGeom prst="rect">
            <a:avLst/>
          </a:prstGeom>
          <a:solidFill>
            <a:srgbClr val="F4F2EE"/>
          </a:solidFill>
          <a:ln/>
        </p:spPr>
      </p:sp>
      <p:sp>
        <p:nvSpPr>
          <p:cNvPr id="5" name="Shape 3"/>
          <p:cNvSpPr/>
          <p:nvPr/>
        </p:nvSpPr>
        <p:spPr>
          <a:xfrm>
            <a:off x="566928" y="1737360"/>
            <a:ext cx="54864" cy="1371600"/>
          </a:xfrm>
          <a:prstGeom prst="rect">
            <a:avLst/>
          </a:prstGeom>
          <a:solidFill>
            <a:srgbClr val="8A8378"/>
          </a:solidFill>
          <a:ln/>
        </p:spPr>
      </p:sp>
      <p:sp>
        <p:nvSpPr>
          <p:cNvPr id="6" name="Text 4"/>
          <p:cNvSpPr/>
          <p:nvPr/>
        </p:nvSpPr>
        <p:spPr>
          <a:xfrm>
            <a:off x="841248" y="1847088"/>
            <a:ext cx="2743200" cy="274320"/>
          </a:xfrm>
          <a:prstGeom prst="rect">
            <a:avLst/>
          </a:prstGeom>
          <a:noFill/>
          <a:ln/>
        </p:spPr>
        <p:txBody>
          <a:bodyPr wrap="square" rtlCol="0" anchor="ctr"/>
          <a:lstStyle/>
          <a:p>
            <a:pPr indent="0" marL="0">
              <a:buNone/>
            </a:pPr>
            <a:r>
              <a:rPr lang="en-US" sz="1000" b="1" spc="100" kern="0" dirty="0">
                <a:solidFill>
                  <a:srgbClr val="57534A"/>
                </a:solidFill>
                <a:latin typeface="Georgia" pitchFamily="34" charset="0"/>
                <a:ea typeface="Georgia" pitchFamily="34" charset="-122"/>
                <a:cs typeface="Georgia" pitchFamily="34" charset="-120"/>
              </a:rPr>
              <a:t>THE TASK</a:t>
            </a:r>
            <a:endParaRPr lang="en-US" sz="1000" dirty="0"/>
          </a:p>
        </p:txBody>
      </p:sp>
      <p:sp>
        <p:nvSpPr>
          <p:cNvPr id="7" name="Text 5"/>
          <p:cNvSpPr/>
          <p:nvPr/>
        </p:nvSpPr>
        <p:spPr>
          <a:xfrm>
            <a:off x="841248" y="2148840"/>
            <a:ext cx="10506456" cy="868680"/>
          </a:xfrm>
          <a:prstGeom prst="rect">
            <a:avLst/>
          </a:prstGeom>
          <a:noFill/>
          <a:ln/>
        </p:spPr>
        <p:txBody>
          <a:bodyPr wrap="square" rtlCol="0" anchor="ctr"/>
          <a:lstStyle/>
          <a:p>
            <a:pPr indent="0" marL="0">
              <a:lnSpc>
                <a:spcPts val="2100"/>
              </a:lnSpc>
              <a:buNone/>
            </a:pPr>
            <a:r>
              <a:rPr lang="en-US" sz="1350" dirty="0">
                <a:solidFill>
                  <a:srgbClr val="33302B"/>
                </a:solidFill>
                <a:latin typeface="Georgia" pitchFamily="34" charset="0"/>
                <a:ea typeface="Georgia" pitchFamily="34" charset="-122"/>
                <a:cs typeface="Georgia" pitchFamily="34" charset="-120"/>
              </a:rPr>
              <a:t>Take one process you personally own — a close step, a limit check, a payment path, an onboarding decision. Name every boundary the work passes over, and state what each boundary is specified to carry.</a:t>
            </a:r>
            <a:endParaRPr lang="en-US" sz="1350" dirty="0"/>
          </a:p>
        </p:txBody>
      </p:sp>
      <p:sp>
        <p:nvSpPr>
          <p:cNvPr id="8" name="Shape 6"/>
          <p:cNvSpPr/>
          <p:nvPr/>
        </p:nvSpPr>
        <p:spPr>
          <a:xfrm>
            <a:off x="566928" y="3273552"/>
            <a:ext cx="11055096" cy="1371600"/>
          </a:xfrm>
          <a:prstGeom prst="rect">
            <a:avLst/>
          </a:prstGeom>
          <a:solidFill>
            <a:srgbClr val="EBE7DF"/>
          </a:solidFill>
          <a:ln/>
        </p:spPr>
      </p:sp>
      <p:sp>
        <p:nvSpPr>
          <p:cNvPr id="9" name="Shape 7"/>
          <p:cNvSpPr/>
          <p:nvPr/>
        </p:nvSpPr>
        <p:spPr>
          <a:xfrm>
            <a:off x="566928" y="3273552"/>
            <a:ext cx="54864" cy="1371600"/>
          </a:xfrm>
          <a:prstGeom prst="rect">
            <a:avLst/>
          </a:prstGeom>
          <a:solidFill>
            <a:srgbClr val="8A8378"/>
          </a:solidFill>
          <a:ln/>
        </p:spPr>
      </p:sp>
      <p:sp>
        <p:nvSpPr>
          <p:cNvPr id="10" name="Text 8"/>
          <p:cNvSpPr/>
          <p:nvPr/>
        </p:nvSpPr>
        <p:spPr>
          <a:xfrm>
            <a:off x="841248" y="3383280"/>
            <a:ext cx="2743200" cy="274320"/>
          </a:xfrm>
          <a:prstGeom prst="rect">
            <a:avLst/>
          </a:prstGeom>
          <a:noFill/>
          <a:ln/>
        </p:spPr>
        <p:txBody>
          <a:bodyPr wrap="square" rtlCol="0" anchor="ctr"/>
          <a:lstStyle/>
          <a:p>
            <a:pPr indent="0" marL="0">
              <a:buNone/>
            </a:pPr>
            <a:r>
              <a:rPr lang="en-US" sz="1000" b="1" spc="100" kern="0" dirty="0">
                <a:solidFill>
                  <a:srgbClr val="57534A"/>
                </a:solidFill>
                <a:latin typeface="Georgia" pitchFamily="34" charset="0"/>
                <a:ea typeface="Georgia" pitchFamily="34" charset="-122"/>
                <a:cs typeface="Georgia" pitchFamily="34" charset="-120"/>
              </a:rPr>
              <a:t>DELIVERABLE</a:t>
            </a:r>
            <a:endParaRPr lang="en-US" sz="1000" dirty="0"/>
          </a:p>
        </p:txBody>
      </p:sp>
      <p:sp>
        <p:nvSpPr>
          <p:cNvPr id="11" name="Text 9"/>
          <p:cNvSpPr/>
          <p:nvPr/>
        </p:nvSpPr>
        <p:spPr>
          <a:xfrm>
            <a:off x="841248" y="3685032"/>
            <a:ext cx="10506456" cy="868680"/>
          </a:xfrm>
          <a:prstGeom prst="rect">
            <a:avLst/>
          </a:prstGeom>
          <a:noFill/>
          <a:ln/>
        </p:spPr>
        <p:txBody>
          <a:bodyPr wrap="square" rtlCol="0" anchor="ctr"/>
          <a:lstStyle/>
          <a:p>
            <a:pPr indent="0" marL="0">
              <a:lnSpc>
                <a:spcPts val="2100"/>
              </a:lnSpc>
              <a:buNone/>
            </a:pPr>
            <a:r>
              <a:rPr lang="en-US" sz="1350" dirty="0">
                <a:solidFill>
                  <a:srgbClr val="33302B"/>
                </a:solidFill>
                <a:latin typeface="Georgia" pitchFamily="34" charset="0"/>
                <a:ea typeface="Georgia" pitchFamily="34" charset="-122"/>
                <a:cs typeface="Georgia" pitchFamily="34" charset="-120"/>
              </a:rPr>
              <a:t>A crossing map: systems, boundaries, and the specified payload at each.</a:t>
            </a:r>
            <a:endParaRPr lang="en-US" sz="1350" dirty="0"/>
          </a:p>
        </p:txBody>
      </p:sp>
      <p:sp>
        <p:nvSpPr>
          <p:cNvPr id="12" name="Shape 10"/>
          <p:cNvSpPr/>
          <p:nvPr/>
        </p:nvSpPr>
        <p:spPr>
          <a:xfrm>
            <a:off x="566928" y="4809744"/>
            <a:ext cx="11055096" cy="1371600"/>
          </a:xfrm>
          <a:prstGeom prst="rect">
            <a:avLst/>
          </a:prstGeom>
          <a:solidFill>
            <a:srgbClr val="E4DFD5"/>
          </a:solidFill>
          <a:ln/>
        </p:spPr>
      </p:sp>
      <p:sp>
        <p:nvSpPr>
          <p:cNvPr id="13" name="Shape 11"/>
          <p:cNvSpPr/>
          <p:nvPr/>
        </p:nvSpPr>
        <p:spPr>
          <a:xfrm>
            <a:off x="566928" y="4809744"/>
            <a:ext cx="54864" cy="1371600"/>
          </a:xfrm>
          <a:prstGeom prst="rect">
            <a:avLst/>
          </a:prstGeom>
          <a:solidFill>
            <a:srgbClr val="8A8378"/>
          </a:solidFill>
          <a:ln/>
        </p:spPr>
      </p:sp>
      <p:sp>
        <p:nvSpPr>
          <p:cNvPr id="14" name="Text 12"/>
          <p:cNvSpPr/>
          <p:nvPr/>
        </p:nvSpPr>
        <p:spPr>
          <a:xfrm>
            <a:off x="841248" y="4919472"/>
            <a:ext cx="2743200" cy="274320"/>
          </a:xfrm>
          <a:prstGeom prst="rect">
            <a:avLst/>
          </a:prstGeom>
          <a:noFill/>
          <a:ln/>
        </p:spPr>
        <p:txBody>
          <a:bodyPr wrap="square" rtlCol="0" anchor="ctr"/>
          <a:lstStyle/>
          <a:p>
            <a:pPr indent="0" marL="0">
              <a:buNone/>
            </a:pPr>
            <a:r>
              <a:rPr lang="en-US" sz="1000" b="1" spc="100" kern="0" dirty="0">
                <a:solidFill>
                  <a:srgbClr val="57534A"/>
                </a:solidFill>
                <a:latin typeface="Georgia" pitchFamily="34" charset="0"/>
                <a:ea typeface="Georgia" pitchFamily="34" charset="-122"/>
                <a:cs typeface="Georgia" pitchFamily="34" charset="-120"/>
              </a:rPr>
              <a:t>MARKED ON</a:t>
            </a:r>
            <a:endParaRPr lang="en-US" sz="1000" dirty="0"/>
          </a:p>
        </p:txBody>
      </p:sp>
      <p:sp>
        <p:nvSpPr>
          <p:cNvPr id="15" name="Text 13"/>
          <p:cNvSpPr/>
          <p:nvPr/>
        </p:nvSpPr>
        <p:spPr>
          <a:xfrm>
            <a:off x="841248" y="5221224"/>
            <a:ext cx="10506456" cy="868680"/>
          </a:xfrm>
          <a:prstGeom prst="rect">
            <a:avLst/>
          </a:prstGeom>
          <a:noFill/>
          <a:ln/>
        </p:spPr>
        <p:txBody>
          <a:bodyPr wrap="square" rtlCol="0" anchor="ctr"/>
          <a:lstStyle/>
          <a:p>
            <a:pPr indent="0" marL="0">
              <a:lnSpc>
                <a:spcPts val="2100"/>
              </a:lnSpc>
              <a:buNone/>
            </a:pPr>
            <a:r>
              <a:rPr lang="en-US" sz="1350" dirty="0">
                <a:solidFill>
                  <a:srgbClr val="33302B"/>
                </a:solidFill>
                <a:latin typeface="Georgia" pitchFamily="34" charset="0"/>
                <a:ea typeface="Georgia" pitchFamily="34" charset="-122"/>
                <a:cs typeface="Georgia" pitchFamily="34" charset="-120"/>
              </a:rPr>
              <a:t>Completeness, and whether the specification is stated as observed rather than as assumed. A map drawn from an architecture diagram scores half marks.</a:t>
            </a:r>
            <a:endParaRPr lang="en-US" sz="1350" dirty="0"/>
          </a:p>
        </p:txBody>
      </p:sp>
      <p:sp>
        <p:nvSpPr>
          <p:cNvPr id="16" name="Text 14"/>
          <p:cNvSpPr/>
          <p:nvPr/>
        </p:nvSpPr>
        <p:spPr>
          <a:xfrm>
            <a:off x="566928" y="6473952"/>
            <a:ext cx="9957816" cy="274320"/>
          </a:xfrm>
          <a:prstGeom prst="rect">
            <a:avLst/>
          </a:prstGeom>
          <a:noFill/>
          <a:ln/>
        </p:spPr>
        <p:txBody>
          <a:bodyPr wrap="square" rtlCol="0" anchor="ctr"/>
          <a:lstStyle/>
          <a:p>
            <a:pPr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indent="0" marL="0">
              <a:buNone/>
            </a:pPr>
            <a:r>
              <a:rPr lang="en-US" sz="900" dirty="0">
                <a:solidFill>
                  <a:srgbClr val="6E6A62"/>
                </a:solidFill>
                <a:latin typeface="Georgia" pitchFamily="34" charset="0"/>
                <a:ea typeface="Georgia" pitchFamily="34" charset="-122"/>
                <a:cs typeface="Georgia" pitchFamily="34" charset="-120"/>
              </a:rPr>
              <a:t>  ·  PCERT-FS — Custody in the Regulated Institution</a:t>
            </a:r>
            <a:endParaRPr lang="en-US" sz="900" dirty="0"/>
          </a:p>
        </p:txBody>
      </p:sp>
      <p:sp>
        <p:nvSpPr>
          <p:cNvPr id="17" name="Text 15"/>
          <p:cNvSpPr/>
          <p:nvPr/>
        </p:nvSpPr>
        <p:spPr>
          <a:xfrm>
            <a:off x="10707624"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B1A18"/>
        </a:solidFill>
      </p:bgPr>
    </p:bg>
    <p:spTree>
      <p:nvGrpSpPr>
        <p:cNvPr id="1" name=""/>
        <p:cNvGrpSpPr/>
        <p:nvPr/>
      </p:nvGrpSpPr>
      <p:grpSpPr>
        <a:xfrm>
          <a:off x="0" y="0"/>
          <a:ext cx="0" cy="0"/>
          <a:chOff x="0" y="0"/>
          <a:chExt cx="0" cy="0"/>
        </a:xfrm>
      </p:grpSpPr>
      <p:sp>
        <p:nvSpPr>
          <p:cNvPr id="2" name="Shape 0"/>
          <p:cNvSpPr/>
          <p:nvPr/>
        </p:nvSpPr>
        <p:spPr>
          <a:xfrm>
            <a:off x="566928" y="2148840"/>
            <a:ext cx="1554480" cy="310896"/>
          </a:xfrm>
          <a:prstGeom prst="roundRect">
            <a:avLst>
              <a:gd name="adj" fmla="val 47059"/>
            </a:avLst>
          </a:prstGeom>
          <a:solidFill>
            <a:srgbClr val="8A8378"/>
          </a:solidFill>
          <a:ln/>
        </p:spPr>
      </p:sp>
      <p:sp>
        <p:nvSpPr>
          <p:cNvPr id="3" name="Text 1"/>
          <p:cNvSpPr/>
          <p:nvPr/>
        </p:nvSpPr>
        <p:spPr>
          <a:xfrm>
            <a:off x="566928" y="2148840"/>
            <a:ext cx="1554480" cy="310896"/>
          </a:xfrm>
          <a:prstGeom prst="rect">
            <a:avLst/>
          </a:prstGeom>
          <a:noFill/>
          <a:ln/>
        </p:spPr>
        <p:txBody>
          <a:bodyPr wrap="square" rtlCol="0" anchor="ctr"/>
          <a:lstStyle/>
          <a:p>
            <a:pPr algn="ctr" indent="0" marL="0">
              <a:buNone/>
            </a:pPr>
            <a:r>
              <a:rPr lang="en-US" sz="1050" b="1" spc="60" kern="0" dirty="0">
                <a:solidFill>
                  <a:srgbClr val="1B1A18"/>
                </a:solidFill>
                <a:latin typeface="Georgia" pitchFamily="34" charset="0"/>
                <a:ea typeface="Georgia" pitchFamily="34" charset="-122"/>
                <a:cs typeface="Georgia" pitchFamily="34" charset="-120"/>
              </a:rPr>
              <a:t>MODULE 2</a:t>
            </a:r>
            <a:endParaRPr lang="en-US" sz="1050" dirty="0"/>
          </a:p>
        </p:txBody>
      </p:sp>
      <p:sp>
        <p:nvSpPr>
          <p:cNvPr id="4" name="Text 2"/>
          <p:cNvSpPr/>
          <p:nvPr/>
        </p:nvSpPr>
        <p:spPr>
          <a:xfrm>
            <a:off x="566928" y="2606040"/>
            <a:ext cx="10515600" cy="1005840"/>
          </a:xfrm>
          <a:prstGeom prst="rect">
            <a:avLst/>
          </a:prstGeom>
          <a:noFill/>
          <a:ln/>
        </p:spPr>
        <p:txBody>
          <a:bodyPr wrap="square" rtlCol="0" anchor="ctr"/>
          <a:lstStyle/>
          <a:p>
            <a:pPr indent="0" marL="0">
              <a:buNone/>
            </a:pPr>
            <a:r>
              <a:rPr lang="en-US" sz="3550" b="1" dirty="0">
                <a:solidFill>
                  <a:srgbClr val="FFFFFF"/>
                </a:solidFill>
                <a:latin typeface="Georgia" pitchFamily="34" charset="0"/>
                <a:ea typeface="Georgia" pitchFamily="34" charset="-122"/>
                <a:cs typeface="Georgia" pitchFamily="34" charset="-120"/>
              </a:rPr>
              <a:t>The Six Properties Against Your Own Framework</a:t>
            </a:r>
            <a:endParaRPr lang="en-US" sz="3550" dirty="0"/>
          </a:p>
        </p:txBody>
      </p:sp>
      <p:sp>
        <p:nvSpPr>
          <p:cNvPr id="5" name="Text 3"/>
          <p:cNvSpPr/>
          <p:nvPr/>
        </p:nvSpPr>
        <p:spPr>
          <a:xfrm>
            <a:off x="566928" y="3657600"/>
            <a:ext cx="9875520" cy="1097280"/>
          </a:xfrm>
          <a:prstGeom prst="rect">
            <a:avLst/>
          </a:prstGeom>
          <a:noFill/>
          <a:ln/>
        </p:spPr>
        <p:txBody>
          <a:bodyPr wrap="square" rtlCol="0" anchor="ctr"/>
          <a:lstStyle/>
          <a:p>
            <a:pPr indent="0" marL="0">
              <a:lnSpc>
                <a:spcPts val="2400"/>
              </a:lnSpc>
              <a:buNone/>
            </a:pPr>
            <a:r>
              <a:rPr lang="en-US" sz="1500" dirty="0">
                <a:solidFill>
                  <a:srgbClr val="E4DFD5"/>
                </a:solidFill>
                <a:latin typeface="Georgia" pitchFamily="34" charset="0"/>
                <a:ea typeface="Georgia" pitchFamily="34" charset="-122"/>
                <a:cs typeface="Georgia" pitchFamily="34" charset="-120"/>
              </a:rPr>
              <a:t>What the institution already requires, and which requirement now has no owner. Chapters 4 and 6.</a:t>
            </a:r>
            <a:endParaRPr lang="en-US" sz="1500" dirty="0"/>
          </a:p>
        </p:txBody>
      </p:sp>
      <p:sp>
        <p:nvSpPr>
          <p:cNvPr id="6" name="Text 4"/>
          <p:cNvSpPr/>
          <p:nvPr/>
        </p:nvSpPr>
        <p:spPr>
          <a:xfrm>
            <a:off x="566928" y="6473952"/>
            <a:ext cx="9957816" cy="274320"/>
          </a:xfrm>
          <a:prstGeom prst="rect">
            <a:avLst/>
          </a:prstGeom>
          <a:noFill/>
          <a:ln/>
        </p:spPr>
        <p:txBody>
          <a:bodyPr wrap="square" rtlCol="0" anchor="ctr"/>
          <a:lstStyle/>
          <a:p>
            <a:pPr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indent="0" marL="0">
              <a:buNone/>
            </a:pPr>
            <a:r>
              <a:rPr lang="en-US" sz="900" dirty="0">
                <a:solidFill>
                  <a:srgbClr val="6E6A62"/>
                </a:solidFill>
                <a:latin typeface="Georgia" pitchFamily="34" charset="0"/>
                <a:ea typeface="Georgia" pitchFamily="34" charset="-122"/>
                <a:cs typeface="Georgia" pitchFamily="34" charset="-120"/>
              </a:rPr>
              <a:t>  ·  PCERT-FS — Custody in the Regulated Institution</a:t>
            </a:r>
            <a:endParaRPr lang="en-US" sz="900" dirty="0"/>
          </a:p>
        </p:txBody>
      </p:sp>
      <p:sp>
        <p:nvSpPr>
          <p:cNvPr id="7" name="Text 5"/>
          <p:cNvSpPr/>
          <p:nvPr/>
        </p:nvSpPr>
        <p:spPr>
          <a:xfrm>
            <a:off x="10707624"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55096" cy="292608"/>
          </a:xfrm>
          <a:prstGeom prst="rect">
            <a:avLst/>
          </a:prstGeom>
          <a:noFill/>
          <a:ln/>
        </p:spPr>
        <p:txBody>
          <a:bodyPr wrap="square" rtlCol="0" anchor="ctr"/>
          <a:lstStyle/>
          <a:p>
            <a:pPr indent="0" marL="0">
              <a:buNone/>
            </a:pPr>
            <a:r>
              <a:rPr lang="en-US" sz="1050" b="1" spc="120" kern="0" dirty="0">
                <a:solidFill>
                  <a:srgbClr val="8A8378"/>
                </a:solidFill>
                <a:latin typeface="Georgia" pitchFamily="34" charset="0"/>
                <a:ea typeface="Georgia" pitchFamily="34" charset="-122"/>
                <a:cs typeface="Georgia" pitchFamily="34" charset="-120"/>
              </a:rPr>
              <a:t>THE MAPPING</a:t>
            </a:r>
            <a:endParaRPr lang="en-US" sz="1050" dirty="0"/>
          </a:p>
        </p:txBody>
      </p:sp>
      <p:sp>
        <p:nvSpPr>
          <p:cNvPr id="3" name="Text 1"/>
          <p:cNvSpPr/>
          <p:nvPr/>
        </p:nvSpPr>
        <p:spPr>
          <a:xfrm>
            <a:off x="566928" y="749808"/>
            <a:ext cx="11055096" cy="822960"/>
          </a:xfrm>
          <a:prstGeom prst="rect">
            <a:avLst/>
          </a:prstGeom>
          <a:noFill/>
          <a:ln/>
        </p:spPr>
        <p:txBody>
          <a:bodyPr wrap="square" rtlCol="0" anchor="t"/>
          <a:lstStyle/>
          <a:p>
            <a:pPr indent="0" marL="0">
              <a:buNone/>
            </a:pPr>
            <a:r>
              <a:rPr lang="en-US" sz="2550" b="1" dirty="0">
                <a:solidFill>
                  <a:srgbClr val="1B1A18"/>
                </a:solidFill>
                <a:latin typeface="Georgia" pitchFamily="34" charset="0"/>
                <a:ea typeface="Georgia" pitchFamily="34" charset="-122"/>
                <a:cs typeface="Georgia" pitchFamily="34" charset="-120"/>
              </a:rPr>
              <a:t>Five properties already have a home</a:t>
            </a:r>
            <a:endParaRPr lang="en-US" sz="25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66928" y="1737360"/>
          <a:ext cx="11055096" cy="914400"/>
        </p:xfrm>
        <a:graphic>
          <a:graphicData uri="http://schemas.openxmlformats.org/drawingml/2006/table">
            <a:tbl>
              <a:tblPr/>
              <a:tblGrid>
                <a:gridCol w="1371600"/>
                <a:gridCol w="3291840"/>
                <a:gridCol w="6391656"/>
              </a:tblGrid>
              <a:tr h="0">
                <a:tc>
                  <a:txBody>
                    <a:bodyPr/>
                    <a:lstStyle/>
                    <a:p>
                      <a:pPr indent="0" marL="0">
                        <a:buNone/>
                      </a:pPr>
                      <a:r>
                        <a:rPr lang="en-US" sz="1200" b="1" dirty="0">
                          <a:solidFill>
                            <a:srgbClr val="33302B"/>
                          </a:solidFill>
                          <a:latin typeface="Georgia" pitchFamily="34" charset="0"/>
                          <a:ea typeface="Georgia" pitchFamily="34" charset="-122"/>
                          <a:cs typeface="Georgia" pitchFamily="34" charset="-120"/>
                        </a:rPr>
                        <a:t>Property</a:t>
                      </a:r>
                      <a:endParaRPr lang="en-US" sz="1200" dirty="0">
                        <a:latin typeface="Georgia" charset="0"/>
                        <a:ea typeface="Georgia" charset="0"/>
                        <a:cs typeface="Georgia" charset="0"/>
                      </a:endParaRPr>
                    </a:p>
                  </a:txBody>
                  <a:tcPr marL="82296" marR="82296" marT="82296" marB="82296" anchor="ctr">
                    <a:lnL w="6350" cap="flat" cmpd="sng" algn="ctr">
                      <a:solidFill>
                        <a:srgbClr val="D6D2C9"/>
                      </a:solidFill>
                      <a:prstDash val="solid"/>
                      <a:round/>
                      <a:headEnd type="none" w="med" len="med"/>
                      <a:tailEnd type="none" w="med" len="med"/>
                    </a:lnL>
                    <a:lnR w="6350" cap="flat" cmpd="sng" algn="ctr">
                      <a:solidFill>
                        <a:srgbClr val="D6D2C9"/>
                      </a:solidFill>
                      <a:prstDash val="solid"/>
                      <a:round/>
                      <a:headEnd type="none" w="med" len="med"/>
                      <a:tailEnd type="none" w="med" len="med"/>
                    </a:lnR>
                    <a:lnT w="6350" cap="flat" cmpd="sng" algn="ctr">
                      <a:solidFill>
                        <a:srgbClr val="D6D2C9"/>
                      </a:solidFill>
                      <a:prstDash val="solid"/>
                      <a:round/>
                      <a:headEnd type="none" w="med" len="med"/>
                      <a:tailEnd type="none" w="med" len="med"/>
                    </a:lnT>
                    <a:lnB w="6350" cap="flat" cmpd="sng" algn="ctr">
                      <a:solidFill>
                        <a:srgbClr val="D6D2C9"/>
                      </a:solidFill>
                      <a:prstDash val="solid"/>
                      <a:round/>
                      <a:headEnd type="none" w="med" len="med"/>
                      <a:tailEnd type="none" w="med" len="med"/>
                    </a:lnB>
                    <a:solidFill>
                      <a:srgbClr val="F4F2EE"/>
                    </a:solidFill>
                  </a:tcPr>
                </a:tc>
                <a:tc>
                  <a:txBody>
                    <a:bodyPr/>
                    <a:lstStyle/>
                    <a:p>
                      <a:pPr indent="0" marL="0">
                        <a:buNone/>
                      </a:pPr>
                      <a:r>
                        <a:rPr lang="en-US" sz="1200" b="1" dirty="0">
                          <a:solidFill>
                            <a:srgbClr val="33302B"/>
                          </a:solidFill>
                          <a:latin typeface="Georgia" pitchFamily="34" charset="0"/>
                          <a:ea typeface="Georgia" pitchFamily="34" charset="-122"/>
                          <a:cs typeface="Georgia" pitchFamily="34" charset="-120"/>
                        </a:rPr>
                        <a:t>What must survive the boundary</a:t>
                      </a:r>
                      <a:endParaRPr lang="en-US" sz="1200" dirty="0">
                        <a:latin typeface="Georgia" charset="0"/>
                        <a:ea typeface="Georgia" charset="0"/>
                        <a:cs typeface="Georgia" charset="0"/>
                      </a:endParaRPr>
                    </a:p>
                  </a:txBody>
                  <a:tcPr marL="82296" marR="82296" marT="82296" marB="82296" anchor="ctr">
                    <a:lnL w="6350" cap="flat" cmpd="sng" algn="ctr">
                      <a:solidFill>
                        <a:srgbClr val="D6D2C9"/>
                      </a:solidFill>
                      <a:prstDash val="solid"/>
                      <a:round/>
                      <a:headEnd type="none" w="med" len="med"/>
                      <a:tailEnd type="none" w="med" len="med"/>
                    </a:lnL>
                    <a:lnR w="6350" cap="flat" cmpd="sng" algn="ctr">
                      <a:solidFill>
                        <a:srgbClr val="D6D2C9"/>
                      </a:solidFill>
                      <a:prstDash val="solid"/>
                      <a:round/>
                      <a:headEnd type="none" w="med" len="med"/>
                      <a:tailEnd type="none" w="med" len="med"/>
                    </a:lnR>
                    <a:lnT w="6350" cap="flat" cmpd="sng" algn="ctr">
                      <a:solidFill>
                        <a:srgbClr val="D6D2C9"/>
                      </a:solidFill>
                      <a:prstDash val="solid"/>
                      <a:round/>
                      <a:headEnd type="none" w="med" len="med"/>
                      <a:tailEnd type="none" w="med" len="med"/>
                    </a:lnT>
                    <a:lnB w="6350" cap="flat" cmpd="sng" algn="ctr">
                      <a:solidFill>
                        <a:srgbClr val="D6D2C9"/>
                      </a:solidFill>
                      <a:prstDash val="solid"/>
                      <a:round/>
                      <a:headEnd type="none" w="med" len="med"/>
                      <a:tailEnd type="none" w="med" len="med"/>
                    </a:lnB>
                    <a:solidFill>
                      <a:srgbClr val="F4F2EE"/>
                    </a:solidFill>
                  </a:tcPr>
                </a:tc>
                <a:tc>
                  <a:txBody>
                    <a:bodyPr/>
                    <a:lstStyle/>
                    <a:p>
                      <a:pPr indent="0" marL="0">
                        <a:buNone/>
                      </a:pPr>
                      <a:r>
                        <a:rPr lang="en-US" sz="1200" b="1" dirty="0">
                          <a:solidFill>
                            <a:srgbClr val="33302B"/>
                          </a:solidFill>
                          <a:latin typeface="Georgia" pitchFamily="34" charset="0"/>
                          <a:ea typeface="Georgia" pitchFamily="34" charset="-122"/>
                          <a:cs typeface="Georgia" pitchFamily="34" charset="-120"/>
                        </a:rPr>
                        <a:t>The instrument that already asks</a:t>
                      </a:r>
                      <a:endParaRPr lang="en-US" sz="1200" dirty="0">
                        <a:latin typeface="Georgia" charset="0"/>
                        <a:ea typeface="Georgia" charset="0"/>
                        <a:cs typeface="Georgia" charset="0"/>
                      </a:endParaRPr>
                    </a:p>
                  </a:txBody>
                  <a:tcPr marL="82296" marR="82296" marT="82296" marB="82296" anchor="ctr">
                    <a:lnL w="6350" cap="flat" cmpd="sng" algn="ctr">
                      <a:solidFill>
                        <a:srgbClr val="D6D2C9"/>
                      </a:solidFill>
                      <a:prstDash val="solid"/>
                      <a:round/>
                      <a:headEnd type="none" w="med" len="med"/>
                      <a:tailEnd type="none" w="med" len="med"/>
                    </a:lnL>
                    <a:lnR w="6350" cap="flat" cmpd="sng" algn="ctr">
                      <a:solidFill>
                        <a:srgbClr val="D6D2C9"/>
                      </a:solidFill>
                      <a:prstDash val="solid"/>
                      <a:round/>
                      <a:headEnd type="none" w="med" len="med"/>
                      <a:tailEnd type="none" w="med" len="med"/>
                    </a:lnR>
                    <a:lnT w="6350" cap="flat" cmpd="sng" algn="ctr">
                      <a:solidFill>
                        <a:srgbClr val="D6D2C9"/>
                      </a:solidFill>
                      <a:prstDash val="solid"/>
                      <a:round/>
                      <a:headEnd type="none" w="med" len="med"/>
                      <a:tailEnd type="none" w="med" len="med"/>
                    </a:lnT>
                    <a:lnB w="6350" cap="flat" cmpd="sng" algn="ctr">
                      <a:solidFill>
                        <a:srgbClr val="D6D2C9"/>
                      </a:solidFill>
                      <a:prstDash val="solid"/>
                      <a:round/>
                      <a:headEnd type="none" w="med" len="med"/>
                      <a:tailEnd type="none" w="med" len="med"/>
                    </a:lnB>
                    <a:solidFill>
                      <a:srgbClr val="F4F2EE"/>
                    </a:solidFill>
                  </a:tcPr>
                </a:tc>
              </a:tr>
              <a:tr h="0">
                <a:tc>
                  <a:txBody>
                    <a:bodyPr/>
                    <a:lstStyle/>
                    <a:p>
                      <a:pPr indent="0" marL="0">
                        <a:buNone/>
                      </a:pPr>
                      <a:r>
                        <a:rPr lang="en-US" sz="1150" b="1" dirty="0">
                          <a:solidFill>
                            <a:srgbClr val="33302B"/>
                          </a:solidFill>
                          <a:latin typeface="Georgia" pitchFamily="34" charset="0"/>
                          <a:ea typeface="Georgia" pitchFamily="34" charset="-122"/>
                          <a:cs typeface="Georgia" pitchFamily="34" charset="-120"/>
                        </a:rPr>
                        <a:t>Context</a:t>
                      </a:r>
                      <a:endParaRPr lang="en-US" sz="1150" dirty="0">
                        <a:latin typeface="Georgia" charset="0"/>
                        <a:ea typeface="Georgia" charset="0"/>
                        <a:cs typeface="Georgia" charset="0"/>
                      </a:endParaRPr>
                    </a:p>
                  </a:txBody>
                  <a:tcPr marL="82296" marR="82296" marT="82296" marB="82296" anchor="t">
                    <a:lnL w="6350" cap="flat" cmpd="sng" algn="ctr">
                      <a:solidFill>
                        <a:srgbClr val="D6D2C9"/>
                      </a:solidFill>
                      <a:prstDash val="solid"/>
                      <a:round/>
                      <a:headEnd type="none" w="med" len="med"/>
                      <a:tailEnd type="none" w="med" len="med"/>
                    </a:lnL>
                    <a:lnR w="6350" cap="flat" cmpd="sng" algn="ctr">
                      <a:solidFill>
                        <a:srgbClr val="D6D2C9"/>
                      </a:solidFill>
                      <a:prstDash val="solid"/>
                      <a:round/>
                      <a:headEnd type="none" w="med" len="med"/>
                      <a:tailEnd type="none" w="med" len="med"/>
                    </a:lnR>
                    <a:lnT w="6350" cap="flat" cmpd="sng" algn="ctr">
                      <a:solidFill>
                        <a:srgbClr val="D6D2C9"/>
                      </a:solidFill>
                      <a:prstDash val="solid"/>
                      <a:round/>
                      <a:headEnd type="none" w="med" len="med"/>
                      <a:tailEnd type="none" w="med" len="med"/>
                    </a:lnT>
                    <a:lnB w="6350" cap="flat" cmpd="sng" algn="ctr">
                      <a:solidFill>
                        <a:srgbClr val="D6D2C9"/>
                      </a:solidFill>
                      <a:prstDash val="solid"/>
                      <a:round/>
                      <a:headEnd type="none" w="med" len="med"/>
                      <a:tailEnd type="none" w="med" len="med"/>
                    </a:lnB>
                  </a:tcPr>
                </a:tc>
                <a:tc>
                  <a:txBody>
                    <a:bodyPr/>
                    <a:lstStyle/>
                    <a:p>
                      <a:pPr indent="0" marL="0">
                        <a:buNone/>
                      </a:pPr>
                      <a:r>
                        <a:rPr lang="en-US" sz="1150" dirty="0">
                          <a:solidFill>
                            <a:srgbClr val="1B1A18"/>
                          </a:solidFill>
                          <a:latin typeface="Georgia" pitchFamily="34" charset="0"/>
                          <a:ea typeface="Georgia" pitchFamily="34" charset="-122"/>
                          <a:cs typeface="Georgia" pitchFamily="34" charset="-120"/>
                        </a:rPr>
                        <a:t>The condition that makes a value mean what it means</a:t>
                      </a:r>
                      <a:endParaRPr lang="en-US" sz="1150" dirty="0">
                        <a:latin typeface="Georgia" charset="0"/>
                        <a:ea typeface="Georgia" charset="0"/>
                        <a:cs typeface="Georgia" charset="0"/>
                      </a:endParaRPr>
                    </a:p>
                  </a:txBody>
                  <a:tcPr marL="82296" marR="82296" marT="82296" marB="82296" anchor="t">
                    <a:lnL w="6350" cap="flat" cmpd="sng" algn="ctr">
                      <a:solidFill>
                        <a:srgbClr val="D6D2C9"/>
                      </a:solidFill>
                      <a:prstDash val="solid"/>
                      <a:round/>
                      <a:headEnd type="none" w="med" len="med"/>
                      <a:tailEnd type="none" w="med" len="med"/>
                    </a:lnL>
                    <a:lnR w="6350" cap="flat" cmpd="sng" algn="ctr">
                      <a:solidFill>
                        <a:srgbClr val="D6D2C9"/>
                      </a:solidFill>
                      <a:prstDash val="solid"/>
                      <a:round/>
                      <a:headEnd type="none" w="med" len="med"/>
                      <a:tailEnd type="none" w="med" len="med"/>
                    </a:lnR>
                    <a:lnT w="6350" cap="flat" cmpd="sng" algn="ctr">
                      <a:solidFill>
                        <a:srgbClr val="D6D2C9"/>
                      </a:solidFill>
                      <a:prstDash val="solid"/>
                      <a:round/>
                      <a:headEnd type="none" w="med" len="med"/>
                      <a:tailEnd type="none" w="med" len="med"/>
                    </a:lnT>
                    <a:lnB w="6350" cap="flat" cmpd="sng" algn="ctr">
                      <a:solidFill>
                        <a:srgbClr val="D6D2C9"/>
                      </a:solidFill>
                      <a:prstDash val="solid"/>
                      <a:round/>
                      <a:headEnd type="none" w="med" len="med"/>
                      <a:tailEnd type="none" w="med" len="med"/>
                    </a:lnB>
                  </a:tcPr>
                </a:tc>
                <a:tc>
                  <a:txBody>
                    <a:bodyPr/>
                    <a:lstStyle/>
                    <a:p>
                      <a:pPr indent="0" marL="0">
                        <a:buNone/>
                      </a:pPr>
                      <a:r>
                        <a:rPr lang="en-US" sz="1150" dirty="0">
                          <a:solidFill>
                            <a:srgbClr val="1B1A18"/>
                          </a:solidFill>
                          <a:latin typeface="Georgia" pitchFamily="34" charset="0"/>
                          <a:ea typeface="Georgia" pitchFamily="34" charset="-122"/>
                          <a:cs typeface="Georgia" pitchFamily="34" charset="-120"/>
                        </a:rPr>
                        <a:t>Risk data aggregation: accuracy, completeness, lineage</a:t>
                      </a:r>
                      <a:endParaRPr lang="en-US" sz="1150" dirty="0">
                        <a:latin typeface="Georgia" charset="0"/>
                        <a:ea typeface="Georgia" charset="0"/>
                        <a:cs typeface="Georgia" charset="0"/>
                      </a:endParaRPr>
                    </a:p>
                  </a:txBody>
                  <a:tcPr marL="82296" marR="82296" marT="82296" marB="82296" anchor="t">
                    <a:lnL w="6350" cap="flat" cmpd="sng" algn="ctr">
                      <a:solidFill>
                        <a:srgbClr val="D6D2C9"/>
                      </a:solidFill>
                      <a:prstDash val="solid"/>
                      <a:round/>
                      <a:headEnd type="none" w="med" len="med"/>
                      <a:tailEnd type="none" w="med" len="med"/>
                    </a:lnL>
                    <a:lnR w="6350" cap="flat" cmpd="sng" algn="ctr">
                      <a:solidFill>
                        <a:srgbClr val="D6D2C9"/>
                      </a:solidFill>
                      <a:prstDash val="solid"/>
                      <a:round/>
                      <a:headEnd type="none" w="med" len="med"/>
                      <a:tailEnd type="none" w="med" len="med"/>
                    </a:lnR>
                    <a:lnT w="6350" cap="flat" cmpd="sng" algn="ctr">
                      <a:solidFill>
                        <a:srgbClr val="D6D2C9"/>
                      </a:solidFill>
                      <a:prstDash val="solid"/>
                      <a:round/>
                      <a:headEnd type="none" w="med" len="med"/>
                      <a:tailEnd type="none" w="med" len="med"/>
                    </a:lnT>
                    <a:lnB w="6350" cap="flat" cmpd="sng" algn="ctr">
                      <a:solidFill>
                        <a:srgbClr val="D6D2C9"/>
                      </a:solidFill>
                      <a:prstDash val="solid"/>
                      <a:round/>
                      <a:headEnd type="none" w="med" len="med"/>
                      <a:tailEnd type="none" w="med" len="med"/>
                    </a:lnB>
                  </a:tcPr>
                </a:tc>
              </a:tr>
              <a:tr h="0">
                <a:tc>
                  <a:txBody>
                    <a:bodyPr/>
                    <a:lstStyle/>
                    <a:p>
                      <a:pPr indent="0" marL="0">
                        <a:buNone/>
                      </a:pPr>
                      <a:r>
                        <a:rPr lang="en-US" sz="1150" b="1" dirty="0">
                          <a:solidFill>
                            <a:srgbClr val="33302B"/>
                          </a:solidFill>
                          <a:latin typeface="Georgia" pitchFamily="34" charset="0"/>
                          <a:ea typeface="Georgia" pitchFamily="34" charset="-122"/>
                          <a:cs typeface="Georgia" pitchFamily="34" charset="-120"/>
                        </a:rPr>
                        <a:t>Authority</a:t>
                      </a:r>
                      <a:endParaRPr lang="en-US" sz="1150" dirty="0">
                        <a:latin typeface="Georgia" charset="0"/>
                        <a:ea typeface="Georgia" charset="0"/>
                        <a:cs typeface="Georgia" charset="0"/>
                      </a:endParaRPr>
                    </a:p>
                  </a:txBody>
                  <a:tcPr marL="82296" marR="82296" marT="82296" marB="82296" anchor="t">
                    <a:lnL w="6350" cap="flat" cmpd="sng" algn="ctr">
                      <a:solidFill>
                        <a:srgbClr val="D6D2C9"/>
                      </a:solidFill>
                      <a:prstDash val="solid"/>
                      <a:round/>
                      <a:headEnd type="none" w="med" len="med"/>
                      <a:tailEnd type="none" w="med" len="med"/>
                    </a:lnL>
                    <a:lnR w="6350" cap="flat" cmpd="sng" algn="ctr">
                      <a:solidFill>
                        <a:srgbClr val="D6D2C9"/>
                      </a:solidFill>
                      <a:prstDash val="solid"/>
                      <a:round/>
                      <a:headEnd type="none" w="med" len="med"/>
                      <a:tailEnd type="none" w="med" len="med"/>
                    </a:lnR>
                    <a:lnT w="6350" cap="flat" cmpd="sng" algn="ctr">
                      <a:solidFill>
                        <a:srgbClr val="D6D2C9"/>
                      </a:solidFill>
                      <a:prstDash val="solid"/>
                      <a:round/>
                      <a:headEnd type="none" w="med" len="med"/>
                      <a:tailEnd type="none" w="med" len="med"/>
                    </a:lnT>
                    <a:lnB w="6350" cap="flat" cmpd="sng" algn="ctr">
                      <a:solidFill>
                        <a:srgbClr val="D6D2C9"/>
                      </a:solidFill>
                      <a:prstDash val="solid"/>
                      <a:round/>
                      <a:headEnd type="none" w="med" len="med"/>
                      <a:tailEnd type="none" w="med" len="med"/>
                    </a:lnB>
                  </a:tcPr>
                </a:tc>
                <a:tc>
                  <a:txBody>
                    <a:bodyPr/>
                    <a:lstStyle/>
                    <a:p>
                      <a:pPr indent="0" marL="0">
                        <a:buNone/>
                      </a:pPr>
                      <a:r>
                        <a:rPr lang="en-US" sz="1150" dirty="0">
                          <a:solidFill>
                            <a:srgbClr val="1B1A18"/>
                          </a:solidFill>
                          <a:latin typeface="Georgia" pitchFamily="34" charset="0"/>
                          <a:ea typeface="Georgia" pitchFamily="34" charset="-122"/>
                          <a:cs typeface="Georgia" pitchFamily="34" charset="-120"/>
                        </a:rPr>
                        <a:t>The decision right, consulted at the boundary</a:t>
                      </a:r>
                      <a:endParaRPr lang="en-US" sz="1150" dirty="0">
                        <a:latin typeface="Georgia" charset="0"/>
                        <a:ea typeface="Georgia" charset="0"/>
                        <a:cs typeface="Georgia" charset="0"/>
                      </a:endParaRPr>
                    </a:p>
                  </a:txBody>
                  <a:tcPr marL="82296" marR="82296" marT="82296" marB="82296" anchor="t">
                    <a:lnL w="6350" cap="flat" cmpd="sng" algn="ctr">
                      <a:solidFill>
                        <a:srgbClr val="D6D2C9"/>
                      </a:solidFill>
                      <a:prstDash val="solid"/>
                      <a:round/>
                      <a:headEnd type="none" w="med" len="med"/>
                      <a:tailEnd type="none" w="med" len="med"/>
                    </a:lnL>
                    <a:lnR w="6350" cap="flat" cmpd="sng" algn="ctr">
                      <a:solidFill>
                        <a:srgbClr val="D6D2C9"/>
                      </a:solidFill>
                      <a:prstDash val="solid"/>
                      <a:round/>
                      <a:headEnd type="none" w="med" len="med"/>
                      <a:tailEnd type="none" w="med" len="med"/>
                    </a:lnR>
                    <a:lnT w="6350" cap="flat" cmpd="sng" algn="ctr">
                      <a:solidFill>
                        <a:srgbClr val="D6D2C9"/>
                      </a:solidFill>
                      <a:prstDash val="solid"/>
                      <a:round/>
                      <a:headEnd type="none" w="med" len="med"/>
                      <a:tailEnd type="none" w="med" len="med"/>
                    </a:lnT>
                    <a:lnB w="6350" cap="flat" cmpd="sng" algn="ctr">
                      <a:solidFill>
                        <a:srgbClr val="D6D2C9"/>
                      </a:solidFill>
                      <a:prstDash val="solid"/>
                      <a:round/>
                      <a:headEnd type="none" w="med" len="med"/>
                      <a:tailEnd type="none" w="med" len="med"/>
                    </a:lnB>
                  </a:tcPr>
                </a:tc>
                <a:tc>
                  <a:txBody>
                    <a:bodyPr/>
                    <a:lstStyle/>
                    <a:p>
                      <a:pPr indent="0" marL="0">
                        <a:buNone/>
                      </a:pPr>
                      <a:r>
                        <a:rPr lang="en-US" sz="1150" dirty="0">
                          <a:solidFill>
                            <a:srgbClr val="1B1A18"/>
                          </a:solidFill>
                          <a:latin typeface="Georgia" pitchFamily="34" charset="0"/>
                          <a:ea typeface="Georgia" pitchFamily="34" charset="-122"/>
                          <a:cs typeface="Georgia" pitchFamily="34" charset="-120"/>
                        </a:rPr>
                        <a:t>Mandates and delegated authority — recorded for people, not for machines</a:t>
                      </a:r>
                      <a:endParaRPr lang="en-US" sz="1150" dirty="0">
                        <a:latin typeface="Georgia" charset="0"/>
                        <a:ea typeface="Georgia" charset="0"/>
                        <a:cs typeface="Georgia" charset="0"/>
                      </a:endParaRPr>
                    </a:p>
                  </a:txBody>
                  <a:tcPr marL="82296" marR="82296" marT="82296" marB="82296" anchor="t">
                    <a:lnL w="6350" cap="flat" cmpd="sng" algn="ctr">
                      <a:solidFill>
                        <a:srgbClr val="D6D2C9"/>
                      </a:solidFill>
                      <a:prstDash val="solid"/>
                      <a:round/>
                      <a:headEnd type="none" w="med" len="med"/>
                      <a:tailEnd type="none" w="med" len="med"/>
                    </a:lnL>
                    <a:lnR w="6350" cap="flat" cmpd="sng" algn="ctr">
                      <a:solidFill>
                        <a:srgbClr val="D6D2C9"/>
                      </a:solidFill>
                      <a:prstDash val="solid"/>
                      <a:round/>
                      <a:headEnd type="none" w="med" len="med"/>
                      <a:tailEnd type="none" w="med" len="med"/>
                    </a:lnR>
                    <a:lnT w="6350" cap="flat" cmpd="sng" algn="ctr">
                      <a:solidFill>
                        <a:srgbClr val="D6D2C9"/>
                      </a:solidFill>
                      <a:prstDash val="solid"/>
                      <a:round/>
                      <a:headEnd type="none" w="med" len="med"/>
                      <a:tailEnd type="none" w="med" len="med"/>
                    </a:lnT>
                    <a:lnB w="6350" cap="flat" cmpd="sng" algn="ctr">
                      <a:solidFill>
                        <a:srgbClr val="D6D2C9"/>
                      </a:solidFill>
                      <a:prstDash val="solid"/>
                      <a:round/>
                      <a:headEnd type="none" w="med" len="med"/>
                      <a:tailEnd type="none" w="med" len="med"/>
                    </a:lnB>
                  </a:tcPr>
                </a:tc>
              </a:tr>
              <a:tr h="0">
                <a:tc>
                  <a:txBody>
                    <a:bodyPr/>
                    <a:lstStyle/>
                    <a:p>
                      <a:pPr indent="0" marL="0">
                        <a:buNone/>
                      </a:pPr>
                      <a:r>
                        <a:rPr lang="en-US" sz="1150" b="1" dirty="0">
                          <a:solidFill>
                            <a:srgbClr val="33302B"/>
                          </a:solidFill>
                          <a:latin typeface="Georgia" pitchFamily="34" charset="0"/>
                          <a:ea typeface="Georgia" pitchFamily="34" charset="-122"/>
                          <a:cs typeface="Georgia" pitchFamily="34" charset="-120"/>
                        </a:rPr>
                        <a:t>Accountability</a:t>
                      </a:r>
                      <a:endParaRPr lang="en-US" sz="1150" dirty="0">
                        <a:latin typeface="Georgia" charset="0"/>
                        <a:ea typeface="Georgia" charset="0"/>
                        <a:cs typeface="Georgia" charset="0"/>
                      </a:endParaRPr>
                    </a:p>
                  </a:txBody>
                  <a:tcPr marL="82296" marR="82296" marT="82296" marB="82296" anchor="t">
                    <a:lnL w="6350" cap="flat" cmpd="sng" algn="ctr">
                      <a:solidFill>
                        <a:srgbClr val="D6D2C9"/>
                      </a:solidFill>
                      <a:prstDash val="solid"/>
                      <a:round/>
                      <a:headEnd type="none" w="med" len="med"/>
                      <a:tailEnd type="none" w="med" len="med"/>
                    </a:lnL>
                    <a:lnR w="6350" cap="flat" cmpd="sng" algn="ctr">
                      <a:solidFill>
                        <a:srgbClr val="D6D2C9"/>
                      </a:solidFill>
                      <a:prstDash val="solid"/>
                      <a:round/>
                      <a:headEnd type="none" w="med" len="med"/>
                      <a:tailEnd type="none" w="med" len="med"/>
                    </a:lnR>
                    <a:lnT w="6350" cap="flat" cmpd="sng" algn="ctr">
                      <a:solidFill>
                        <a:srgbClr val="D6D2C9"/>
                      </a:solidFill>
                      <a:prstDash val="solid"/>
                      <a:round/>
                      <a:headEnd type="none" w="med" len="med"/>
                      <a:tailEnd type="none" w="med" len="med"/>
                    </a:lnT>
                    <a:lnB w="6350" cap="flat" cmpd="sng" algn="ctr">
                      <a:solidFill>
                        <a:srgbClr val="D6D2C9"/>
                      </a:solidFill>
                      <a:prstDash val="solid"/>
                      <a:round/>
                      <a:headEnd type="none" w="med" len="med"/>
                      <a:tailEnd type="none" w="med" len="med"/>
                    </a:lnB>
                  </a:tcPr>
                </a:tc>
                <a:tc>
                  <a:txBody>
                    <a:bodyPr/>
                    <a:lstStyle/>
                    <a:p>
                      <a:pPr indent="0" marL="0">
                        <a:buNone/>
                      </a:pPr>
                      <a:r>
                        <a:rPr lang="en-US" sz="1150" dirty="0">
                          <a:solidFill>
                            <a:srgbClr val="1B1A18"/>
                          </a:solidFill>
                          <a:latin typeface="Georgia" pitchFamily="34" charset="0"/>
                          <a:ea typeface="Georgia" pitchFamily="34" charset="-122"/>
                          <a:cs typeface="Georgia" pitchFamily="34" charset="-120"/>
                        </a:rPr>
                        <a:t>Attribution generated at execution</a:t>
                      </a:r>
                      <a:endParaRPr lang="en-US" sz="1150" dirty="0">
                        <a:latin typeface="Georgia" charset="0"/>
                        <a:ea typeface="Georgia" charset="0"/>
                        <a:cs typeface="Georgia" charset="0"/>
                      </a:endParaRPr>
                    </a:p>
                  </a:txBody>
                  <a:tcPr marL="82296" marR="82296" marT="82296" marB="82296" anchor="t">
                    <a:lnL w="6350" cap="flat" cmpd="sng" algn="ctr">
                      <a:solidFill>
                        <a:srgbClr val="D6D2C9"/>
                      </a:solidFill>
                      <a:prstDash val="solid"/>
                      <a:round/>
                      <a:headEnd type="none" w="med" len="med"/>
                      <a:tailEnd type="none" w="med" len="med"/>
                    </a:lnL>
                    <a:lnR w="6350" cap="flat" cmpd="sng" algn="ctr">
                      <a:solidFill>
                        <a:srgbClr val="D6D2C9"/>
                      </a:solidFill>
                      <a:prstDash val="solid"/>
                      <a:round/>
                      <a:headEnd type="none" w="med" len="med"/>
                      <a:tailEnd type="none" w="med" len="med"/>
                    </a:lnR>
                    <a:lnT w="6350" cap="flat" cmpd="sng" algn="ctr">
                      <a:solidFill>
                        <a:srgbClr val="D6D2C9"/>
                      </a:solidFill>
                      <a:prstDash val="solid"/>
                      <a:round/>
                      <a:headEnd type="none" w="med" len="med"/>
                      <a:tailEnd type="none" w="med" len="med"/>
                    </a:lnT>
                    <a:lnB w="6350" cap="flat" cmpd="sng" algn="ctr">
                      <a:solidFill>
                        <a:srgbClr val="D6D2C9"/>
                      </a:solidFill>
                      <a:prstDash val="solid"/>
                      <a:round/>
                      <a:headEnd type="none" w="med" len="med"/>
                      <a:tailEnd type="none" w="med" len="med"/>
                    </a:lnB>
                  </a:tcPr>
                </a:tc>
                <a:tc>
                  <a:txBody>
                    <a:bodyPr/>
                    <a:lstStyle/>
                    <a:p>
                      <a:pPr indent="0" marL="0">
                        <a:buNone/>
                      </a:pPr>
                      <a:r>
                        <a:rPr lang="en-US" sz="1150" dirty="0">
                          <a:solidFill>
                            <a:srgbClr val="1B1A18"/>
                          </a:solidFill>
                          <a:latin typeface="Georgia" pitchFamily="34" charset="0"/>
                          <a:ea typeface="Georgia" pitchFamily="34" charset="-122"/>
                          <a:cs typeface="Georgia" pitchFamily="34" charset="-120"/>
                        </a:rPr>
                        <a:t>Audit trail and record-keeping obligations</a:t>
                      </a:r>
                      <a:endParaRPr lang="en-US" sz="1150" dirty="0">
                        <a:latin typeface="Georgia" charset="0"/>
                        <a:ea typeface="Georgia" charset="0"/>
                        <a:cs typeface="Georgia" charset="0"/>
                      </a:endParaRPr>
                    </a:p>
                  </a:txBody>
                  <a:tcPr marL="82296" marR="82296" marT="82296" marB="82296" anchor="t">
                    <a:lnL w="6350" cap="flat" cmpd="sng" algn="ctr">
                      <a:solidFill>
                        <a:srgbClr val="D6D2C9"/>
                      </a:solidFill>
                      <a:prstDash val="solid"/>
                      <a:round/>
                      <a:headEnd type="none" w="med" len="med"/>
                      <a:tailEnd type="none" w="med" len="med"/>
                    </a:lnL>
                    <a:lnR w="6350" cap="flat" cmpd="sng" algn="ctr">
                      <a:solidFill>
                        <a:srgbClr val="D6D2C9"/>
                      </a:solidFill>
                      <a:prstDash val="solid"/>
                      <a:round/>
                      <a:headEnd type="none" w="med" len="med"/>
                      <a:tailEnd type="none" w="med" len="med"/>
                    </a:lnR>
                    <a:lnT w="6350" cap="flat" cmpd="sng" algn="ctr">
                      <a:solidFill>
                        <a:srgbClr val="D6D2C9"/>
                      </a:solidFill>
                      <a:prstDash val="solid"/>
                      <a:round/>
                      <a:headEnd type="none" w="med" len="med"/>
                      <a:tailEnd type="none" w="med" len="med"/>
                    </a:lnT>
                    <a:lnB w="6350" cap="flat" cmpd="sng" algn="ctr">
                      <a:solidFill>
                        <a:srgbClr val="D6D2C9"/>
                      </a:solidFill>
                      <a:prstDash val="solid"/>
                      <a:round/>
                      <a:headEnd type="none" w="med" len="med"/>
                      <a:tailEnd type="none" w="med" len="med"/>
                    </a:lnB>
                  </a:tcPr>
                </a:tc>
              </a:tr>
              <a:tr h="0">
                <a:tc>
                  <a:txBody>
                    <a:bodyPr/>
                    <a:lstStyle/>
                    <a:p>
                      <a:pPr indent="0" marL="0">
                        <a:buNone/>
                      </a:pPr>
                      <a:r>
                        <a:rPr lang="en-US" sz="1150" b="1" dirty="0">
                          <a:solidFill>
                            <a:srgbClr val="33302B"/>
                          </a:solidFill>
                          <a:latin typeface="Georgia" pitchFamily="34" charset="0"/>
                          <a:ea typeface="Georgia" pitchFamily="34" charset="-122"/>
                          <a:cs typeface="Georgia" pitchFamily="34" charset="-120"/>
                        </a:rPr>
                        <a:t>Coordination</a:t>
                      </a:r>
                      <a:endParaRPr lang="en-US" sz="1150" dirty="0">
                        <a:latin typeface="Georgia" charset="0"/>
                        <a:ea typeface="Georgia" charset="0"/>
                        <a:cs typeface="Georgia" charset="0"/>
                      </a:endParaRPr>
                    </a:p>
                  </a:txBody>
                  <a:tcPr marL="82296" marR="82296" marT="82296" marB="82296" anchor="t">
                    <a:lnL w="6350" cap="flat" cmpd="sng" algn="ctr">
                      <a:solidFill>
                        <a:srgbClr val="D6D2C9"/>
                      </a:solidFill>
                      <a:prstDash val="solid"/>
                      <a:round/>
                      <a:headEnd type="none" w="med" len="med"/>
                      <a:tailEnd type="none" w="med" len="med"/>
                    </a:lnL>
                    <a:lnR w="6350" cap="flat" cmpd="sng" algn="ctr">
                      <a:solidFill>
                        <a:srgbClr val="D6D2C9"/>
                      </a:solidFill>
                      <a:prstDash val="solid"/>
                      <a:round/>
                      <a:headEnd type="none" w="med" len="med"/>
                      <a:tailEnd type="none" w="med" len="med"/>
                    </a:lnR>
                    <a:lnT w="6350" cap="flat" cmpd="sng" algn="ctr">
                      <a:solidFill>
                        <a:srgbClr val="D6D2C9"/>
                      </a:solidFill>
                      <a:prstDash val="solid"/>
                      <a:round/>
                      <a:headEnd type="none" w="med" len="med"/>
                      <a:tailEnd type="none" w="med" len="med"/>
                    </a:lnT>
                    <a:lnB w="6350" cap="flat" cmpd="sng" algn="ctr">
                      <a:solidFill>
                        <a:srgbClr val="D6D2C9"/>
                      </a:solidFill>
                      <a:prstDash val="solid"/>
                      <a:round/>
                      <a:headEnd type="none" w="med" len="med"/>
                      <a:tailEnd type="none" w="med" len="med"/>
                    </a:lnB>
                  </a:tcPr>
                </a:tc>
                <a:tc>
                  <a:txBody>
                    <a:bodyPr/>
                    <a:lstStyle/>
                    <a:p>
                      <a:pPr indent="0" marL="0">
                        <a:buNone/>
                      </a:pPr>
                      <a:r>
                        <a:rPr lang="en-US" sz="1150" dirty="0">
                          <a:solidFill>
                            <a:srgbClr val="1B1A18"/>
                          </a:solidFill>
                          <a:latin typeface="Georgia" pitchFamily="34" charset="0"/>
                          <a:ea typeface="Georgia" pitchFamily="34" charset="-122"/>
                          <a:cs typeface="Georgia" pitchFamily="34" charset="-120"/>
                        </a:rPr>
                        <a:t>One statement of the invariant, binding all participants</a:t>
                      </a:r>
                      <a:endParaRPr lang="en-US" sz="1150" dirty="0">
                        <a:latin typeface="Georgia" charset="0"/>
                        <a:ea typeface="Georgia" charset="0"/>
                        <a:cs typeface="Georgia" charset="0"/>
                      </a:endParaRPr>
                    </a:p>
                  </a:txBody>
                  <a:tcPr marL="82296" marR="82296" marT="82296" marB="82296" anchor="t">
                    <a:lnL w="6350" cap="flat" cmpd="sng" algn="ctr">
                      <a:solidFill>
                        <a:srgbClr val="D6D2C9"/>
                      </a:solidFill>
                      <a:prstDash val="solid"/>
                      <a:round/>
                      <a:headEnd type="none" w="med" len="med"/>
                      <a:tailEnd type="none" w="med" len="med"/>
                    </a:lnL>
                    <a:lnR w="6350" cap="flat" cmpd="sng" algn="ctr">
                      <a:solidFill>
                        <a:srgbClr val="D6D2C9"/>
                      </a:solidFill>
                      <a:prstDash val="solid"/>
                      <a:round/>
                      <a:headEnd type="none" w="med" len="med"/>
                      <a:tailEnd type="none" w="med" len="med"/>
                    </a:lnR>
                    <a:lnT w="6350" cap="flat" cmpd="sng" algn="ctr">
                      <a:solidFill>
                        <a:srgbClr val="D6D2C9"/>
                      </a:solidFill>
                      <a:prstDash val="solid"/>
                      <a:round/>
                      <a:headEnd type="none" w="med" len="med"/>
                      <a:tailEnd type="none" w="med" len="med"/>
                    </a:lnT>
                    <a:lnB w="6350" cap="flat" cmpd="sng" algn="ctr">
                      <a:solidFill>
                        <a:srgbClr val="D6D2C9"/>
                      </a:solidFill>
                      <a:prstDash val="solid"/>
                      <a:round/>
                      <a:headEnd type="none" w="med" len="med"/>
                      <a:tailEnd type="none" w="med" len="med"/>
                    </a:lnB>
                  </a:tcPr>
                </a:tc>
                <a:tc>
                  <a:txBody>
                    <a:bodyPr/>
                    <a:lstStyle/>
                    <a:p>
                      <a:pPr indent="0" marL="0">
                        <a:buNone/>
                      </a:pPr>
                      <a:r>
                        <a:rPr lang="en-US" sz="1150" dirty="0">
                          <a:solidFill>
                            <a:srgbClr val="1B1A18"/>
                          </a:solidFill>
                          <a:latin typeface="Georgia" pitchFamily="34" charset="0"/>
                          <a:ea typeface="Georgia" pitchFamily="34" charset="-122"/>
                          <a:cs typeface="Georgia" pitchFamily="34" charset="-120"/>
                        </a:rPr>
                        <a:t>Group-wide aggregation and consistent risk appetite</a:t>
                      </a:r>
                      <a:endParaRPr lang="en-US" sz="1150" dirty="0">
                        <a:latin typeface="Georgia" charset="0"/>
                        <a:ea typeface="Georgia" charset="0"/>
                        <a:cs typeface="Georgia" charset="0"/>
                      </a:endParaRPr>
                    </a:p>
                  </a:txBody>
                  <a:tcPr marL="82296" marR="82296" marT="82296" marB="82296" anchor="t">
                    <a:lnL w="6350" cap="flat" cmpd="sng" algn="ctr">
                      <a:solidFill>
                        <a:srgbClr val="D6D2C9"/>
                      </a:solidFill>
                      <a:prstDash val="solid"/>
                      <a:round/>
                      <a:headEnd type="none" w="med" len="med"/>
                      <a:tailEnd type="none" w="med" len="med"/>
                    </a:lnL>
                    <a:lnR w="6350" cap="flat" cmpd="sng" algn="ctr">
                      <a:solidFill>
                        <a:srgbClr val="D6D2C9"/>
                      </a:solidFill>
                      <a:prstDash val="solid"/>
                      <a:round/>
                      <a:headEnd type="none" w="med" len="med"/>
                      <a:tailEnd type="none" w="med" len="med"/>
                    </a:lnR>
                    <a:lnT w="6350" cap="flat" cmpd="sng" algn="ctr">
                      <a:solidFill>
                        <a:srgbClr val="D6D2C9"/>
                      </a:solidFill>
                      <a:prstDash val="solid"/>
                      <a:round/>
                      <a:headEnd type="none" w="med" len="med"/>
                      <a:tailEnd type="none" w="med" len="med"/>
                    </a:lnT>
                    <a:lnB w="6350" cap="flat" cmpd="sng" algn="ctr">
                      <a:solidFill>
                        <a:srgbClr val="D6D2C9"/>
                      </a:solidFill>
                      <a:prstDash val="solid"/>
                      <a:round/>
                      <a:headEnd type="none" w="med" len="med"/>
                      <a:tailEnd type="none" w="med" len="med"/>
                    </a:lnB>
                  </a:tcPr>
                </a:tc>
              </a:tr>
              <a:tr h="0">
                <a:tc>
                  <a:txBody>
                    <a:bodyPr/>
                    <a:lstStyle/>
                    <a:p>
                      <a:pPr indent="0" marL="0">
                        <a:buNone/>
                      </a:pPr>
                      <a:r>
                        <a:rPr lang="en-US" sz="1150" b="1" dirty="0">
                          <a:solidFill>
                            <a:srgbClr val="33302B"/>
                          </a:solidFill>
                          <a:latin typeface="Georgia" pitchFamily="34" charset="0"/>
                          <a:ea typeface="Georgia" pitchFamily="34" charset="-122"/>
                          <a:cs typeface="Georgia" pitchFamily="34" charset="-120"/>
                        </a:rPr>
                        <a:t>Coherence</a:t>
                      </a:r>
                      <a:endParaRPr lang="en-US" sz="1150" dirty="0">
                        <a:latin typeface="Georgia" charset="0"/>
                        <a:ea typeface="Georgia" charset="0"/>
                        <a:cs typeface="Georgia" charset="0"/>
                      </a:endParaRPr>
                    </a:p>
                  </a:txBody>
                  <a:tcPr marL="82296" marR="82296" marT="82296" marB="82296" anchor="t">
                    <a:lnL w="6350" cap="flat" cmpd="sng" algn="ctr">
                      <a:solidFill>
                        <a:srgbClr val="D6D2C9"/>
                      </a:solidFill>
                      <a:prstDash val="solid"/>
                      <a:round/>
                      <a:headEnd type="none" w="med" len="med"/>
                      <a:tailEnd type="none" w="med" len="med"/>
                    </a:lnL>
                    <a:lnR w="6350" cap="flat" cmpd="sng" algn="ctr">
                      <a:solidFill>
                        <a:srgbClr val="D6D2C9"/>
                      </a:solidFill>
                      <a:prstDash val="solid"/>
                      <a:round/>
                      <a:headEnd type="none" w="med" len="med"/>
                      <a:tailEnd type="none" w="med" len="med"/>
                    </a:lnR>
                    <a:lnT w="6350" cap="flat" cmpd="sng" algn="ctr">
                      <a:solidFill>
                        <a:srgbClr val="D6D2C9"/>
                      </a:solidFill>
                      <a:prstDash val="solid"/>
                      <a:round/>
                      <a:headEnd type="none" w="med" len="med"/>
                      <a:tailEnd type="none" w="med" len="med"/>
                    </a:lnT>
                    <a:lnB w="6350" cap="flat" cmpd="sng" algn="ctr">
                      <a:solidFill>
                        <a:srgbClr val="D6D2C9"/>
                      </a:solidFill>
                      <a:prstDash val="solid"/>
                      <a:round/>
                      <a:headEnd type="none" w="med" len="med"/>
                      <a:tailEnd type="none" w="med" len="med"/>
                    </a:lnB>
                  </a:tcPr>
                </a:tc>
                <a:tc>
                  <a:txBody>
                    <a:bodyPr/>
                    <a:lstStyle/>
                    <a:p>
                      <a:pPr indent="0" marL="0">
                        <a:buNone/>
                      </a:pPr>
                      <a:r>
                        <a:rPr lang="en-US" sz="1150" dirty="0">
                          <a:solidFill>
                            <a:srgbClr val="1B1A18"/>
                          </a:solidFill>
                          <a:latin typeface="Georgia" pitchFamily="34" charset="0"/>
                          <a:ea typeface="Georgia" pitchFamily="34" charset="-122"/>
                          <a:cs typeface="Georgia" pitchFamily="34" charset="-120"/>
                        </a:rPr>
                        <a:t>One enforcement point, no bypass</a:t>
                      </a:r>
                      <a:endParaRPr lang="en-US" sz="1150" dirty="0">
                        <a:latin typeface="Georgia" charset="0"/>
                        <a:ea typeface="Georgia" charset="0"/>
                        <a:cs typeface="Georgia" charset="0"/>
                      </a:endParaRPr>
                    </a:p>
                  </a:txBody>
                  <a:tcPr marL="82296" marR="82296" marT="82296" marB="82296" anchor="t">
                    <a:lnL w="6350" cap="flat" cmpd="sng" algn="ctr">
                      <a:solidFill>
                        <a:srgbClr val="D6D2C9"/>
                      </a:solidFill>
                      <a:prstDash val="solid"/>
                      <a:round/>
                      <a:headEnd type="none" w="med" len="med"/>
                      <a:tailEnd type="none" w="med" len="med"/>
                    </a:lnL>
                    <a:lnR w="6350" cap="flat" cmpd="sng" algn="ctr">
                      <a:solidFill>
                        <a:srgbClr val="D6D2C9"/>
                      </a:solidFill>
                      <a:prstDash val="solid"/>
                      <a:round/>
                      <a:headEnd type="none" w="med" len="med"/>
                      <a:tailEnd type="none" w="med" len="med"/>
                    </a:lnR>
                    <a:lnT w="6350" cap="flat" cmpd="sng" algn="ctr">
                      <a:solidFill>
                        <a:srgbClr val="D6D2C9"/>
                      </a:solidFill>
                      <a:prstDash val="solid"/>
                      <a:round/>
                      <a:headEnd type="none" w="med" len="med"/>
                      <a:tailEnd type="none" w="med" len="med"/>
                    </a:lnT>
                    <a:lnB w="6350" cap="flat" cmpd="sng" algn="ctr">
                      <a:solidFill>
                        <a:srgbClr val="D6D2C9"/>
                      </a:solidFill>
                      <a:prstDash val="solid"/>
                      <a:round/>
                      <a:headEnd type="none" w="med" len="med"/>
                      <a:tailEnd type="none" w="med" len="med"/>
                    </a:lnB>
                  </a:tcPr>
                </a:tc>
                <a:tc>
                  <a:txBody>
                    <a:bodyPr/>
                    <a:lstStyle/>
                    <a:p>
                      <a:pPr indent="0" marL="0">
                        <a:buNone/>
                      </a:pPr>
                      <a:r>
                        <a:rPr lang="en-US" sz="1150" dirty="0">
                          <a:solidFill>
                            <a:srgbClr val="1B1A18"/>
                          </a:solidFill>
                          <a:latin typeface="Georgia" pitchFamily="34" charset="0"/>
                          <a:ea typeface="Georgia" pitchFamily="34" charset="-122"/>
                          <a:cs typeface="Georgia" pitchFamily="34" charset="-120"/>
                        </a:rPr>
                        <a:t>Pre-trade controls; kill functionality; hard limits</a:t>
                      </a:r>
                      <a:endParaRPr lang="en-US" sz="1150" dirty="0">
                        <a:latin typeface="Georgia" charset="0"/>
                        <a:ea typeface="Georgia" charset="0"/>
                        <a:cs typeface="Georgia" charset="0"/>
                      </a:endParaRPr>
                    </a:p>
                  </a:txBody>
                  <a:tcPr marL="82296" marR="82296" marT="82296" marB="82296" anchor="t">
                    <a:lnL w="6350" cap="flat" cmpd="sng" algn="ctr">
                      <a:solidFill>
                        <a:srgbClr val="D6D2C9"/>
                      </a:solidFill>
                      <a:prstDash val="solid"/>
                      <a:round/>
                      <a:headEnd type="none" w="med" len="med"/>
                      <a:tailEnd type="none" w="med" len="med"/>
                    </a:lnL>
                    <a:lnR w="6350" cap="flat" cmpd="sng" algn="ctr">
                      <a:solidFill>
                        <a:srgbClr val="D6D2C9"/>
                      </a:solidFill>
                      <a:prstDash val="solid"/>
                      <a:round/>
                      <a:headEnd type="none" w="med" len="med"/>
                      <a:tailEnd type="none" w="med" len="med"/>
                    </a:lnR>
                    <a:lnT w="6350" cap="flat" cmpd="sng" algn="ctr">
                      <a:solidFill>
                        <a:srgbClr val="D6D2C9"/>
                      </a:solidFill>
                      <a:prstDash val="solid"/>
                      <a:round/>
                      <a:headEnd type="none" w="med" len="med"/>
                      <a:tailEnd type="none" w="med" len="med"/>
                    </a:lnT>
                    <a:lnB w="6350" cap="flat" cmpd="sng" algn="ctr">
                      <a:solidFill>
                        <a:srgbClr val="D6D2C9"/>
                      </a:solidFill>
                      <a:prstDash val="solid"/>
                      <a:round/>
                      <a:headEnd type="none" w="med" len="med"/>
                      <a:tailEnd type="none" w="med" len="med"/>
                    </a:lnB>
                  </a:tcPr>
                </a:tc>
              </a:tr>
              <a:tr h="0">
                <a:tc>
                  <a:txBody>
                    <a:bodyPr/>
                    <a:lstStyle/>
                    <a:p>
                      <a:pPr indent="0" marL="0">
                        <a:buNone/>
                      </a:pPr>
                      <a:r>
                        <a:rPr lang="en-US" sz="1150" b="1" dirty="0">
                          <a:solidFill>
                            <a:srgbClr val="33302B"/>
                          </a:solidFill>
                          <a:latin typeface="Georgia" pitchFamily="34" charset="0"/>
                          <a:ea typeface="Georgia" pitchFamily="34" charset="-122"/>
                          <a:cs typeface="Georgia" pitchFamily="34" charset="-120"/>
                        </a:rPr>
                        <a:t>Memory</a:t>
                      </a:r>
                      <a:endParaRPr lang="en-US" sz="1150" dirty="0">
                        <a:latin typeface="Georgia" charset="0"/>
                        <a:ea typeface="Georgia" charset="0"/>
                        <a:cs typeface="Georgia" charset="0"/>
                      </a:endParaRPr>
                    </a:p>
                  </a:txBody>
                  <a:tcPr marL="82296" marR="82296" marT="82296" marB="82296" anchor="t">
                    <a:lnL w="6350" cap="flat" cmpd="sng" algn="ctr">
                      <a:solidFill>
                        <a:srgbClr val="D6D2C9"/>
                      </a:solidFill>
                      <a:prstDash val="solid"/>
                      <a:round/>
                      <a:headEnd type="none" w="med" len="med"/>
                      <a:tailEnd type="none" w="med" len="med"/>
                    </a:lnL>
                    <a:lnR w="6350" cap="flat" cmpd="sng" algn="ctr">
                      <a:solidFill>
                        <a:srgbClr val="D6D2C9"/>
                      </a:solidFill>
                      <a:prstDash val="solid"/>
                      <a:round/>
                      <a:headEnd type="none" w="med" len="med"/>
                      <a:tailEnd type="none" w="med" len="med"/>
                    </a:lnR>
                    <a:lnT w="6350" cap="flat" cmpd="sng" algn="ctr">
                      <a:solidFill>
                        <a:srgbClr val="D6D2C9"/>
                      </a:solidFill>
                      <a:prstDash val="solid"/>
                      <a:round/>
                      <a:headEnd type="none" w="med" len="med"/>
                      <a:tailEnd type="none" w="med" len="med"/>
                    </a:lnT>
                    <a:lnB w="6350" cap="flat" cmpd="sng" algn="ctr">
                      <a:solidFill>
                        <a:srgbClr val="D6D2C9"/>
                      </a:solidFill>
                      <a:prstDash val="solid"/>
                      <a:round/>
                      <a:headEnd type="none" w="med" len="med"/>
                      <a:tailEnd type="none" w="med" len="med"/>
                    </a:lnB>
                  </a:tcPr>
                </a:tc>
                <a:tc>
                  <a:txBody>
                    <a:bodyPr/>
                    <a:lstStyle/>
                    <a:p>
                      <a:pPr indent="0" marL="0">
                        <a:buNone/>
                      </a:pPr>
                      <a:r>
                        <a:rPr lang="en-US" sz="1150" dirty="0">
                          <a:solidFill>
                            <a:srgbClr val="1B1A18"/>
                          </a:solidFill>
                          <a:latin typeface="Georgia" pitchFamily="34" charset="0"/>
                          <a:ea typeface="Georgia" pitchFamily="34" charset="-122"/>
                          <a:cs typeface="Georgia" pitchFamily="34" charset="-120"/>
                        </a:rPr>
                        <a:t>A durable record with provenance, and the ability to act without the system</a:t>
                      </a:r>
                      <a:endParaRPr lang="en-US" sz="1150" dirty="0">
                        <a:latin typeface="Georgia" charset="0"/>
                        <a:ea typeface="Georgia" charset="0"/>
                        <a:cs typeface="Georgia" charset="0"/>
                      </a:endParaRPr>
                    </a:p>
                  </a:txBody>
                  <a:tcPr marL="82296" marR="82296" marT="82296" marB="82296" anchor="t">
                    <a:lnL w="6350" cap="flat" cmpd="sng" algn="ctr">
                      <a:solidFill>
                        <a:srgbClr val="D6D2C9"/>
                      </a:solidFill>
                      <a:prstDash val="solid"/>
                      <a:round/>
                      <a:headEnd type="none" w="med" len="med"/>
                      <a:tailEnd type="none" w="med" len="med"/>
                    </a:lnL>
                    <a:lnR w="6350" cap="flat" cmpd="sng" algn="ctr">
                      <a:solidFill>
                        <a:srgbClr val="D6D2C9"/>
                      </a:solidFill>
                      <a:prstDash val="solid"/>
                      <a:round/>
                      <a:headEnd type="none" w="med" len="med"/>
                      <a:tailEnd type="none" w="med" len="med"/>
                    </a:lnR>
                    <a:lnT w="6350" cap="flat" cmpd="sng" algn="ctr">
                      <a:solidFill>
                        <a:srgbClr val="D6D2C9"/>
                      </a:solidFill>
                      <a:prstDash val="solid"/>
                      <a:round/>
                      <a:headEnd type="none" w="med" len="med"/>
                      <a:tailEnd type="none" w="med" len="med"/>
                    </a:lnT>
                    <a:lnB w="6350" cap="flat" cmpd="sng" algn="ctr">
                      <a:solidFill>
                        <a:srgbClr val="D6D2C9"/>
                      </a:solidFill>
                      <a:prstDash val="solid"/>
                      <a:round/>
                      <a:headEnd type="none" w="med" len="med"/>
                      <a:tailEnd type="none" w="med" len="med"/>
                    </a:lnB>
                  </a:tcPr>
                </a:tc>
                <a:tc>
                  <a:txBody>
                    <a:bodyPr/>
                    <a:lstStyle/>
                    <a:p>
                      <a:pPr indent="0" marL="0">
                        <a:buNone/>
                      </a:pPr>
                      <a:r>
                        <a:rPr lang="en-US" sz="1150" dirty="0">
                          <a:solidFill>
                            <a:srgbClr val="1B1A18"/>
                          </a:solidFill>
                          <a:latin typeface="Georgia" pitchFamily="34" charset="0"/>
                          <a:ea typeface="Georgia" pitchFamily="34" charset="-122"/>
                          <a:cs typeface="Georgia" pitchFamily="34" charset="-120"/>
                        </a:rPr>
                        <a:t>Retention rules and the expectation of reconstruction</a:t>
                      </a:r>
                      <a:endParaRPr lang="en-US" sz="1150" dirty="0">
                        <a:latin typeface="Georgia" charset="0"/>
                        <a:ea typeface="Georgia" charset="0"/>
                        <a:cs typeface="Georgia" charset="0"/>
                      </a:endParaRPr>
                    </a:p>
                  </a:txBody>
                  <a:tcPr marL="82296" marR="82296" marT="82296" marB="82296" anchor="t">
                    <a:lnL w="6350" cap="flat" cmpd="sng" algn="ctr">
                      <a:solidFill>
                        <a:srgbClr val="D6D2C9"/>
                      </a:solidFill>
                      <a:prstDash val="solid"/>
                      <a:round/>
                      <a:headEnd type="none" w="med" len="med"/>
                      <a:tailEnd type="none" w="med" len="med"/>
                    </a:lnL>
                    <a:lnR w="6350" cap="flat" cmpd="sng" algn="ctr">
                      <a:solidFill>
                        <a:srgbClr val="D6D2C9"/>
                      </a:solidFill>
                      <a:prstDash val="solid"/>
                      <a:round/>
                      <a:headEnd type="none" w="med" len="med"/>
                      <a:tailEnd type="none" w="med" len="med"/>
                    </a:lnR>
                    <a:lnT w="6350" cap="flat" cmpd="sng" algn="ctr">
                      <a:solidFill>
                        <a:srgbClr val="D6D2C9"/>
                      </a:solidFill>
                      <a:prstDash val="solid"/>
                      <a:round/>
                      <a:headEnd type="none" w="med" len="med"/>
                      <a:tailEnd type="none" w="med" len="med"/>
                    </a:lnT>
                    <a:lnB w="6350" cap="flat" cmpd="sng" algn="ctr">
                      <a:solidFill>
                        <a:srgbClr val="D6D2C9"/>
                      </a:solidFill>
                      <a:prstDash val="solid"/>
                      <a:round/>
                      <a:headEnd type="none" w="med" len="med"/>
                      <a:tailEnd type="none" w="med" len="med"/>
                    </a:lnB>
                  </a:tcPr>
                </a:tc>
              </a:tr>
            </a:tbl>
          </a:graphicData>
        </a:graphic>
      </p:graphicFrame>
      <p:sp>
        <p:nvSpPr>
          <p:cNvPr id="5" name="Text 2"/>
          <p:cNvSpPr/>
          <p:nvPr/>
        </p:nvSpPr>
        <p:spPr>
          <a:xfrm>
            <a:off x="566928" y="6473952"/>
            <a:ext cx="9957816" cy="274320"/>
          </a:xfrm>
          <a:prstGeom prst="rect">
            <a:avLst/>
          </a:prstGeom>
          <a:noFill/>
          <a:ln/>
        </p:spPr>
        <p:txBody>
          <a:bodyPr wrap="square" rtlCol="0" anchor="ctr"/>
          <a:lstStyle/>
          <a:p>
            <a:pPr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indent="0" marL="0">
              <a:buNone/>
            </a:pPr>
            <a:r>
              <a:rPr lang="en-US" sz="900" dirty="0">
                <a:solidFill>
                  <a:srgbClr val="6E6A62"/>
                </a:solidFill>
                <a:latin typeface="Georgia" pitchFamily="34" charset="0"/>
                <a:ea typeface="Georgia" pitchFamily="34" charset="-122"/>
                <a:cs typeface="Georgia" pitchFamily="34" charset="-120"/>
              </a:rPr>
              <a:t>  ·  PCERT-FS — Custody in the Regulated Institution</a:t>
            </a:r>
            <a:endParaRPr lang="en-US" sz="900" dirty="0"/>
          </a:p>
        </p:txBody>
      </p:sp>
      <p:sp>
        <p:nvSpPr>
          <p:cNvPr id="6" name="Text 3"/>
          <p:cNvSpPr/>
          <p:nvPr/>
        </p:nvSpPr>
        <p:spPr>
          <a:xfrm>
            <a:off x="10707624"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55096" cy="292608"/>
          </a:xfrm>
          <a:prstGeom prst="rect">
            <a:avLst/>
          </a:prstGeom>
          <a:noFill/>
          <a:ln/>
        </p:spPr>
        <p:txBody>
          <a:bodyPr wrap="square" rtlCol="0" anchor="ctr"/>
          <a:lstStyle/>
          <a:p>
            <a:pPr indent="0" marL="0">
              <a:buNone/>
            </a:pPr>
            <a:r>
              <a:rPr lang="en-US" sz="1050" b="1" spc="120" kern="0" dirty="0">
                <a:solidFill>
                  <a:srgbClr val="8A8378"/>
                </a:solidFill>
                <a:latin typeface="Georgia" pitchFamily="34" charset="0"/>
                <a:ea typeface="Georgia" pitchFamily="34" charset="-122"/>
                <a:cs typeface="Georgia" pitchFamily="34" charset="-120"/>
              </a:rPr>
              <a:t>THE PROPERTY WITH NO OWNER</a:t>
            </a:r>
            <a:endParaRPr lang="en-US" sz="1050" dirty="0"/>
          </a:p>
        </p:txBody>
      </p:sp>
      <p:sp>
        <p:nvSpPr>
          <p:cNvPr id="3" name="Text 1"/>
          <p:cNvSpPr/>
          <p:nvPr/>
        </p:nvSpPr>
        <p:spPr>
          <a:xfrm>
            <a:off x="566928" y="749808"/>
            <a:ext cx="11055096" cy="822960"/>
          </a:xfrm>
          <a:prstGeom prst="rect">
            <a:avLst/>
          </a:prstGeom>
          <a:noFill/>
          <a:ln/>
        </p:spPr>
        <p:txBody>
          <a:bodyPr wrap="square" rtlCol="0" anchor="t"/>
          <a:lstStyle/>
          <a:p>
            <a:pPr indent="0" marL="0">
              <a:buNone/>
            </a:pPr>
            <a:endParaRPr lang="en-US" sz="2550" dirty="0"/>
          </a:p>
        </p:txBody>
      </p:sp>
      <p:sp>
        <p:nvSpPr>
          <p:cNvPr id="4" name="Shape 2"/>
          <p:cNvSpPr/>
          <p:nvPr/>
        </p:nvSpPr>
        <p:spPr>
          <a:xfrm>
            <a:off x="566928" y="2148840"/>
            <a:ext cx="54864" cy="2103120"/>
          </a:xfrm>
          <a:prstGeom prst="rect">
            <a:avLst/>
          </a:prstGeom>
          <a:solidFill>
            <a:srgbClr val="8A8378"/>
          </a:solidFill>
          <a:ln/>
        </p:spPr>
      </p:sp>
      <p:sp>
        <p:nvSpPr>
          <p:cNvPr id="5" name="Text 3"/>
          <p:cNvSpPr/>
          <p:nvPr/>
        </p:nvSpPr>
        <p:spPr>
          <a:xfrm>
            <a:off x="877824" y="2103120"/>
            <a:ext cx="10332720" cy="2194560"/>
          </a:xfrm>
          <a:prstGeom prst="rect">
            <a:avLst/>
          </a:prstGeom>
          <a:noFill/>
          <a:ln/>
        </p:spPr>
        <p:txBody>
          <a:bodyPr wrap="square" rtlCol="0" anchor="ctr"/>
          <a:lstStyle/>
          <a:p>
            <a:pPr indent="0" marL="0">
              <a:lnSpc>
                <a:spcPts val="3800"/>
              </a:lnSpc>
              <a:buNone/>
            </a:pPr>
            <a:r>
              <a:rPr lang="en-US" sz="2700" b="1" dirty="0">
                <a:solidFill>
                  <a:srgbClr val="1B1A18"/>
                </a:solidFill>
                <a:latin typeface="Georgia" pitchFamily="34" charset="0"/>
                <a:ea typeface="Georgia" pitchFamily="34" charset="-122"/>
                <a:cs typeface="Georgia" pitchFamily="34" charset="-120"/>
              </a:rPr>
              <a:t>Your framework records mandates for people. Nothing in it covers a decision right that a machine must consult at a boundary.</a:t>
            </a:r>
            <a:endParaRPr lang="en-US" sz="2700" dirty="0"/>
          </a:p>
        </p:txBody>
      </p:sp>
      <p:sp>
        <p:nvSpPr>
          <p:cNvPr id="6" name="Text 4"/>
          <p:cNvSpPr/>
          <p:nvPr/>
        </p:nvSpPr>
        <p:spPr>
          <a:xfrm>
            <a:off x="877824" y="4480560"/>
            <a:ext cx="10332720" cy="731520"/>
          </a:xfrm>
          <a:prstGeom prst="rect">
            <a:avLst/>
          </a:prstGeom>
          <a:noFill/>
          <a:ln/>
        </p:spPr>
        <p:txBody>
          <a:bodyPr wrap="square" rtlCol="0" anchor="ctr"/>
          <a:lstStyle/>
          <a:p>
            <a:pPr indent="0" marL="0">
              <a:lnSpc>
                <a:spcPts val="2200"/>
              </a:lnSpc>
              <a:buNone/>
            </a:pPr>
            <a:r>
              <a:rPr lang="en-US" sz="1350" i="1" dirty="0">
                <a:solidFill>
                  <a:srgbClr val="6E6A62"/>
                </a:solidFill>
                <a:latin typeface="Georgia" pitchFamily="34" charset="0"/>
                <a:ea typeface="Georgia" pitchFamily="34" charset="-122"/>
                <a:cs typeface="Georgia" pitchFamily="34" charset="-120"/>
              </a:rPr>
              <a:t>Authority is the one property in the set with no existing instrument. Everything else you already owe.</a:t>
            </a:r>
            <a:endParaRPr lang="en-US" sz="1350" dirty="0"/>
          </a:p>
        </p:txBody>
      </p:sp>
      <p:sp>
        <p:nvSpPr>
          <p:cNvPr id="7" name="Text 5"/>
          <p:cNvSpPr/>
          <p:nvPr/>
        </p:nvSpPr>
        <p:spPr>
          <a:xfrm>
            <a:off x="566928" y="6473952"/>
            <a:ext cx="9957816" cy="274320"/>
          </a:xfrm>
          <a:prstGeom prst="rect">
            <a:avLst/>
          </a:prstGeom>
          <a:noFill/>
          <a:ln/>
        </p:spPr>
        <p:txBody>
          <a:bodyPr wrap="square" rtlCol="0" anchor="ctr"/>
          <a:lstStyle/>
          <a:p>
            <a:pPr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indent="0" marL="0">
              <a:buNone/>
            </a:pPr>
            <a:r>
              <a:rPr lang="en-US" sz="900" dirty="0">
                <a:solidFill>
                  <a:srgbClr val="6E6A62"/>
                </a:solidFill>
                <a:latin typeface="Georgia" pitchFamily="34" charset="0"/>
                <a:ea typeface="Georgia" pitchFamily="34" charset="-122"/>
                <a:cs typeface="Georgia" pitchFamily="34" charset="-120"/>
              </a:rPr>
              <a:t>  ·  PCERT-FS — Custody in the Regulated Institution</a:t>
            </a:r>
            <a:endParaRPr lang="en-US" sz="900" dirty="0"/>
          </a:p>
        </p:txBody>
      </p:sp>
      <p:sp>
        <p:nvSpPr>
          <p:cNvPr id="8" name="Text 6"/>
          <p:cNvSpPr/>
          <p:nvPr/>
        </p:nvSpPr>
        <p:spPr>
          <a:xfrm>
            <a:off x="10707624"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55096" cy="292608"/>
          </a:xfrm>
          <a:prstGeom prst="rect">
            <a:avLst/>
          </a:prstGeom>
          <a:noFill/>
          <a:ln/>
        </p:spPr>
        <p:txBody>
          <a:bodyPr wrap="square" rtlCol="0" anchor="ctr"/>
          <a:lstStyle/>
          <a:p>
            <a:pPr indent="0" marL="0">
              <a:buNone/>
            </a:pPr>
            <a:r>
              <a:rPr lang="en-US" sz="1050" b="1" spc="120" kern="0" dirty="0">
                <a:solidFill>
                  <a:srgbClr val="8A8378"/>
                </a:solidFill>
                <a:latin typeface="Georgia" pitchFamily="34" charset="0"/>
                <a:ea typeface="Georgia" pitchFamily="34" charset="-122"/>
                <a:cs typeface="Georgia" pitchFamily="34" charset="-120"/>
              </a:rPr>
              <a:t>MODULE 2  ·  APPLIED EXERCISE</a:t>
            </a:r>
            <a:endParaRPr lang="en-US" sz="1050" dirty="0"/>
          </a:p>
        </p:txBody>
      </p:sp>
      <p:sp>
        <p:nvSpPr>
          <p:cNvPr id="3" name="Text 1"/>
          <p:cNvSpPr/>
          <p:nvPr/>
        </p:nvSpPr>
        <p:spPr>
          <a:xfrm>
            <a:off x="566928" y="749808"/>
            <a:ext cx="11055096" cy="822960"/>
          </a:xfrm>
          <a:prstGeom prst="rect">
            <a:avLst/>
          </a:prstGeom>
          <a:noFill/>
          <a:ln/>
        </p:spPr>
        <p:txBody>
          <a:bodyPr wrap="square" rtlCol="0" anchor="t"/>
          <a:lstStyle/>
          <a:p>
            <a:pPr indent="0" marL="0">
              <a:buNone/>
            </a:pPr>
            <a:r>
              <a:rPr lang="en-US" sz="2550" b="1" dirty="0">
                <a:solidFill>
                  <a:srgbClr val="1B1A18"/>
                </a:solidFill>
                <a:latin typeface="Georgia" pitchFamily="34" charset="0"/>
                <a:ea typeface="Georgia" pitchFamily="34" charset="-122"/>
                <a:cs typeface="Georgia" pitchFamily="34" charset="-120"/>
              </a:rPr>
              <a:t>Map the properties to your own instruments</a:t>
            </a:r>
            <a:endParaRPr lang="en-US" sz="2550" dirty="0"/>
          </a:p>
        </p:txBody>
      </p:sp>
      <p:sp>
        <p:nvSpPr>
          <p:cNvPr id="4" name="Shape 2"/>
          <p:cNvSpPr/>
          <p:nvPr/>
        </p:nvSpPr>
        <p:spPr>
          <a:xfrm>
            <a:off x="566928" y="1737360"/>
            <a:ext cx="11055096" cy="1371600"/>
          </a:xfrm>
          <a:prstGeom prst="rect">
            <a:avLst/>
          </a:prstGeom>
          <a:solidFill>
            <a:srgbClr val="F4F2EE"/>
          </a:solidFill>
          <a:ln/>
        </p:spPr>
      </p:sp>
      <p:sp>
        <p:nvSpPr>
          <p:cNvPr id="5" name="Shape 3"/>
          <p:cNvSpPr/>
          <p:nvPr/>
        </p:nvSpPr>
        <p:spPr>
          <a:xfrm>
            <a:off x="566928" y="1737360"/>
            <a:ext cx="54864" cy="1371600"/>
          </a:xfrm>
          <a:prstGeom prst="rect">
            <a:avLst/>
          </a:prstGeom>
          <a:solidFill>
            <a:srgbClr val="8A8378"/>
          </a:solidFill>
          <a:ln/>
        </p:spPr>
      </p:sp>
      <p:sp>
        <p:nvSpPr>
          <p:cNvPr id="6" name="Text 4"/>
          <p:cNvSpPr/>
          <p:nvPr/>
        </p:nvSpPr>
        <p:spPr>
          <a:xfrm>
            <a:off x="841248" y="1847088"/>
            <a:ext cx="2743200" cy="274320"/>
          </a:xfrm>
          <a:prstGeom prst="rect">
            <a:avLst/>
          </a:prstGeom>
          <a:noFill/>
          <a:ln/>
        </p:spPr>
        <p:txBody>
          <a:bodyPr wrap="square" rtlCol="0" anchor="ctr"/>
          <a:lstStyle/>
          <a:p>
            <a:pPr indent="0" marL="0">
              <a:buNone/>
            </a:pPr>
            <a:r>
              <a:rPr lang="en-US" sz="1000" b="1" spc="100" kern="0" dirty="0">
                <a:solidFill>
                  <a:srgbClr val="57534A"/>
                </a:solidFill>
                <a:latin typeface="Georgia" pitchFamily="34" charset="0"/>
                <a:ea typeface="Georgia" pitchFamily="34" charset="-122"/>
                <a:cs typeface="Georgia" pitchFamily="34" charset="-120"/>
              </a:rPr>
              <a:t>THE TASK</a:t>
            </a:r>
            <a:endParaRPr lang="en-US" sz="1000" dirty="0"/>
          </a:p>
        </p:txBody>
      </p:sp>
      <p:sp>
        <p:nvSpPr>
          <p:cNvPr id="7" name="Text 5"/>
          <p:cNvSpPr/>
          <p:nvPr/>
        </p:nvSpPr>
        <p:spPr>
          <a:xfrm>
            <a:off x="841248" y="2148840"/>
            <a:ext cx="10506456" cy="868680"/>
          </a:xfrm>
          <a:prstGeom prst="rect">
            <a:avLst/>
          </a:prstGeom>
          <a:noFill/>
          <a:ln/>
        </p:spPr>
        <p:txBody>
          <a:bodyPr wrap="square" rtlCol="0" anchor="ctr"/>
          <a:lstStyle/>
          <a:p>
            <a:pPr indent="0" marL="0">
              <a:lnSpc>
                <a:spcPts val="2100"/>
              </a:lnSpc>
              <a:buNone/>
            </a:pPr>
            <a:r>
              <a:rPr lang="en-US" sz="1350" dirty="0">
                <a:solidFill>
                  <a:srgbClr val="33302B"/>
                </a:solidFill>
                <a:latin typeface="Georgia" pitchFamily="34" charset="0"/>
                <a:ea typeface="Georgia" pitchFamily="34" charset="-122"/>
                <a:cs typeface="Georgia" pitchFamily="34" charset="-120"/>
              </a:rPr>
              <a:t>Bring your institution’s control framework. Map each of the six properties to the instrument that already requires it, and name the owner of each.</a:t>
            </a:r>
            <a:endParaRPr lang="en-US" sz="1350" dirty="0"/>
          </a:p>
        </p:txBody>
      </p:sp>
      <p:sp>
        <p:nvSpPr>
          <p:cNvPr id="8" name="Shape 6"/>
          <p:cNvSpPr/>
          <p:nvPr/>
        </p:nvSpPr>
        <p:spPr>
          <a:xfrm>
            <a:off x="566928" y="3273552"/>
            <a:ext cx="11055096" cy="1371600"/>
          </a:xfrm>
          <a:prstGeom prst="rect">
            <a:avLst/>
          </a:prstGeom>
          <a:solidFill>
            <a:srgbClr val="EBE7DF"/>
          </a:solidFill>
          <a:ln/>
        </p:spPr>
      </p:sp>
      <p:sp>
        <p:nvSpPr>
          <p:cNvPr id="9" name="Shape 7"/>
          <p:cNvSpPr/>
          <p:nvPr/>
        </p:nvSpPr>
        <p:spPr>
          <a:xfrm>
            <a:off x="566928" y="3273552"/>
            <a:ext cx="54864" cy="1371600"/>
          </a:xfrm>
          <a:prstGeom prst="rect">
            <a:avLst/>
          </a:prstGeom>
          <a:solidFill>
            <a:srgbClr val="8A8378"/>
          </a:solidFill>
          <a:ln/>
        </p:spPr>
      </p:sp>
      <p:sp>
        <p:nvSpPr>
          <p:cNvPr id="10" name="Text 8"/>
          <p:cNvSpPr/>
          <p:nvPr/>
        </p:nvSpPr>
        <p:spPr>
          <a:xfrm>
            <a:off x="841248" y="3383280"/>
            <a:ext cx="2743200" cy="274320"/>
          </a:xfrm>
          <a:prstGeom prst="rect">
            <a:avLst/>
          </a:prstGeom>
          <a:noFill/>
          <a:ln/>
        </p:spPr>
        <p:txBody>
          <a:bodyPr wrap="square" rtlCol="0" anchor="ctr"/>
          <a:lstStyle/>
          <a:p>
            <a:pPr indent="0" marL="0">
              <a:buNone/>
            </a:pPr>
            <a:r>
              <a:rPr lang="en-US" sz="1000" b="1" spc="100" kern="0" dirty="0">
                <a:solidFill>
                  <a:srgbClr val="57534A"/>
                </a:solidFill>
                <a:latin typeface="Georgia" pitchFamily="34" charset="0"/>
                <a:ea typeface="Georgia" pitchFamily="34" charset="-122"/>
                <a:cs typeface="Georgia" pitchFamily="34" charset="-120"/>
              </a:rPr>
              <a:t>DELIVERABLE</a:t>
            </a:r>
            <a:endParaRPr lang="en-US" sz="1000" dirty="0"/>
          </a:p>
        </p:txBody>
      </p:sp>
      <p:sp>
        <p:nvSpPr>
          <p:cNvPr id="11" name="Text 9"/>
          <p:cNvSpPr/>
          <p:nvPr/>
        </p:nvSpPr>
        <p:spPr>
          <a:xfrm>
            <a:off x="841248" y="3685032"/>
            <a:ext cx="10506456" cy="868680"/>
          </a:xfrm>
          <a:prstGeom prst="rect">
            <a:avLst/>
          </a:prstGeom>
          <a:noFill/>
          <a:ln/>
        </p:spPr>
        <p:txBody>
          <a:bodyPr wrap="square" rtlCol="0" anchor="ctr"/>
          <a:lstStyle/>
          <a:p>
            <a:pPr indent="0" marL="0">
              <a:lnSpc>
                <a:spcPts val="2100"/>
              </a:lnSpc>
              <a:buNone/>
            </a:pPr>
            <a:r>
              <a:rPr lang="en-US" sz="1350" dirty="0">
                <a:solidFill>
                  <a:srgbClr val="33302B"/>
                </a:solidFill>
                <a:latin typeface="Georgia" pitchFamily="34" charset="0"/>
                <a:ea typeface="Georgia" pitchFamily="34" charset="-122"/>
                <a:cs typeface="Georgia" pitchFamily="34" charset="-120"/>
              </a:rPr>
              <a:t>A property-to-instrument map with owners named, and at least one property identified as unowned.</a:t>
            </a:r>
            <a:endParaRPr lang="en-US" sz="1350" dirty="0"/>
          </a:p>
        </p:txBody>
      </p:sp>
      <p:sp>
        <p:nvSpPr>
          <p:cNvPr id="12" name="Shape 10"/>
          <p:cNvSpPr/>
          <p:nvPr/>
        </p:nvSpPr>
        <p:spPr>
          <a:xfrm>
            <a:off x="566928" y="4809744"/>
            <a:ext cx="11055096" cy="1371600"/>
          </a:xfrm>
          <a:prstGeom prst="rect">
            <a:avLst/>
          </a:prstGeom>
          <a:solidFill>
            <a:srgbClr val="E4DFD5"/>
          </a:solidFill>
          <a:ln/>
        </p:spPr>
      </p:sp>
      <p:sp>
        <p:nvSpPr>
          <p:cNvPr id="13" name="Shape 11"/>
          <p:cNvSpPr/>
          <p:nvPr/>
        </p:nvSpPr>
        <p:spPr>
          <a:xfrm>
            <a:off x="566928" y="4809744"/>
            <a:ext cx="54864" cy="1371600"/>
          </a:xfrm>
          <a:prstGeom prst="rect">
            <a:avLst/>
          </a:prstGeom>
          <a:solidFill>
            <a:srgbClr val="8A8378"/>
          </a:solidFill>
          <a:ln/>
        </p:spPr>
      </p:sp>
      <p:sp>
        <p:nvSpPr>
          <p:cNvPr id="14" name="Text 12"/>
          <p:cNvSpPr/>
          <p:nvPr/>
        </p:nvSpPr>
        <p:spPr>
          <a:xfrm>
            <a:off x="841248" y="4919472"/>
            <a:ext cx="2743200" cy="274320"/>
          </a:xfrm>
          <a:prstGeom prst="rect">
            <a:avLst/>
          </a:prstGeom>
          <a:noFill/>
          <a:ln/>
        </p:spPr>
        <p:txBody>
          <a:bodyPr wrap="square" rtlCol="0" anchor="ctr"/>
          <a:lstStyle/>
          <a:p>
            <a:pPr indent="0" marL="0">
              <a:buNone/>
            </a:pPr>
            <a:r>
              <a:rPr lang="en-US" sz="1000" b="1" spc="100" kern="0" dirty="0">
                <a:solidFill>
                  <a:srgbClr val="57534A"/>
                </a:solidFill>
                <a:latin typeface="Georgia" pitchFamily="34" charset="0"/>
                <a:ea typeface="Georgia" pitchFamily="34" charset="-122"/>
                <a:cs typeface="Georgia" pitchFamily="34" charset="-120"/>
              </a:rPr>
              <a:t>MARKED ON</a:t>
            </a:r>
            <a:endParaRPr lang="en-US" sz="1000" dirty="0"/>
          </a:p>
        </p:txBody>
      </p:sp>
      <p:sp>
        <p:nvSpPr>
          <p:cNvPr id="15" name="Text 13"/>
          <p:cNvSpPr/>
          <p:nvPr/>
        </p:nvSpPr>
        <p:spPr>
          <a:xfrm>
            <a:off x="841248" y="5221224"/>
            <a:ext cx="10506456" cy="868680"/>
          </a:xfrm>
          <a:prstGeom prst="rect">
            <a:avLst/>
          </a:prstGeom>
          <a:noFill/>
          <a:ln/>
        </p:spPr>
        <p:txBody>
          <a:bodyPr wrap="square" rtlCol="0" anchor="ctr"/>
          <a:lstStyle/>
          <a:p>
            <a:pPr indent="0" marL="0">
              <a:lnSpc>
                <a:spcPts val="2100"/>
              </a:lnSpc>
              <a:buNone/>
            </a:pPr>
            <a:r>
              <a:rPr lang="en-US" sz="1350" dirty="0">
                <a:solidFill>
                  <a:srgbClr val="33302B"/>
                </a:solidFill>
                <a:latin typeface="Georgia" pitchFamily="34" charset="0"/>
                <a:ea typeface="Georgia" pitchFamily="34" charset="-122"/>
                <a:cs typeface="Georgia" pitchFamily="34" charset="-120"/>
              </a:rPr>
              <a:t>Correct mapping, and identification of the gap. Naming the gap is the point of the exercise, not a failure of it.</a:t>
            </a:r>
            <a:endParaRPr lang="en-US" sz="1350" dirty="0"/>
          </a:p>
        </p:txBody>
      </p:sp>
      <p:sp>
        <p:nvSpPr>
          <p:cNvPr id="16" name="Text 14"/>
          <p:cNvSpPr/>
          <p:nvPr/>
        </p:nvSpPr>
        <p:spPr>
          <a:xfrm>
            <a:off x="566928" y="6473952"/>
            <a:ext cx="9957816" cy="274320"/>
          </a:xfrm>
          <a:prstGeom prst="rect">
            <a:avLst/>
          </a:prstGeom>
          <a:noFill/>
          <a:ln/>
        </p:spPr>
        <p:txBody>
          <a:bodyPr wrap="square" rtlCol="0" anchor="ctr"/>
          <a:lstStyle/>
          <a:p>
            <a:pPr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indent="0" marL="0">
              <a:buNone/>
            </a:pPr>
            <a:r>
              <a:rPr lang="en-US" sz="900" dirty="0">
                <a:solidFill>
                  <a:srgbClr val="6E6A62"/>
                </a:solidFill>
                <a:latin typeface="Georgia" pitchFamily="34" charset="0"/>
                <a:ea typeface="Georgia" pitchFamily="34" charset="-122"/>
                <a:cs typeface="Georgia" pitchFamily="34" charset="-120"/>
              </a:rPr>
              <a:t>  ·  PCERT-FS — Custody in the Regulated Institution</a:t>
            </a:r>
            <a:endParaRPr lang="en-US" sz="900" dirty="0"/>
          </a:p>
        </p:txBody>
      </p:sp>
      <p:sp>
        <p:nvSpPr>
          <p:cNvPr id="17" name="Text 15"/>
          <p:cNvSpPr/>
          <p:nvPr/>
        </p:nvSpPr>
        <p:spPr>
          <a:xfrm>
            <a:off x="10707624"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55096" cy="292608"/>
          </a:xfrm>
          <a:prstGeom prst="rect">
            <a:avLst/>
          </a:prstGeom>
          <a:noFill/>
          <a:ln/>
        </p:spPr>
        <p:txBody>
          <a:bodyPr wrap="square" rtlCol="0" anchor="ctr"/>
          <a:lstStyle/>
          <a:p>
            <a:pPr indent="0" marL="0">
              <a:buNone/>
            </a:pPr>
            <a:r>
              <a:rPr lang="en-US" sz="1050" b="1" spc="120" kern="0" dirty="0">
                <a:solidFill>
                  <a:srgbClr val="8A8378"/>
                </a:solidFill>
                <a:latin typeface="Georgia" pitchFamily="34" charset="0"/>
                <a:ea typeface="Georgia" pitchFamily="34" charset="-122"/>
                <a:cs typeface="Georgia" pitchFamily="34" charset="-120"/>
              </a:rPr>
              <a:t>CONSEQUENCE RECORD  ·  CASE 6</a:t>
            </a:r>
            <a:endParaRPr lang="en-US" sz="1050" dirty="0"/>
          </a:p>
        </p:txBody>
      </p:sp>
      <p:sp>
        <p:nvSpPr>
          <p:cNvPr id="3" name="Text 1"/>
          <p:cNvSpPr/>
          <p:nvPr/>
        </p:nvSpPr>
        <p:spPr>
          <a:xfrm>
            <a:off x="566928" y="749808"/>
            <a:ext cx="11055096" cy="822960"/>
          </a:xfrm>
          <a:prstGeom prst="rect">
            <a:avLst/>
          </a:prstGeom>
          <a:noFill/>
          <a:ln/>
        </p:spPr>
        <p:txBody>
          <a:bodyPr wrap="square" rtlCol="0" anchor="t"/>
          <a:lstStyle/>
          <a:p>
            <a:pPr indent="0" marL="0">
              <a:buNone/>
            </a:pPr>
            <a:r>
              <a:rPr lang="en-US" sz="2550" b="1" dirty="0">
                <a:solidFill>
                  <a:srgbClr val="1B1A18"/>
                </a:solidFill>
                <a:latin typeface="Georgia" pitchFamily="34" charset="0"/>
                <a:ea typeface="Georgia" pitchFamily="34" charset="-122"/>
                <a:cs typeface="Georgia" pitchFamily="34" charset="-120"/>
              </a:rPr>
              <a:t>Risk data aggregation — the case with no incident</a:t>
            </a:r>
            <a:endParaRPr lang="en-US" sz="2550" dirty="0"/>
          </a:p>
        </p:txBody>
      </p:sp>
      <p:sp>
        <p:nvSpPr>
          <p:cNvPr id="4" name="Text 2"/>
          <p:cNvSpPr/>
          <p:nvPr/>
        </p:nvSpPr>
        <p:spPr>
          <a:xfrm>
            <a:off x="566928" y="1627632"/>
            <a:ext cx="11055096" cy="310896"/>
          </a:xfrm>
          <a:prstGeom prst="rect">
            <a:avLst/>
          </a:prstGeom>
          <a:noFill/>
          <a:ln/>
        </p:spPr>
        <p:txBody>
          <a:bodyPr wrap="square" rtlCol="0" anchor="ctr"/>
          <a:lstStyle/>
          <a:p>
            <a:pPr indent="0" marL="0">
              <a:buNone/>
            </a:pPr>
            <a:r>
              <a:rPr lang="en-US" sz="1150" i="1" dirty="0">
                <a:solidFill>
                  <a:srgbClr val="6E6A62"/>
                </a:solidFill>
                <a:latin typeface="Georgia" pitchFamily="34" charset="0"/>
                <a:ea typeface="Georgia" pitchFamily="34" charset="-122"/>
                <a:cs typeface="Georgia" pitchFamily="34" charset="-120"/>
              </a:rPr>
              <a:t>Primary source: Basel Committee principles (2013) and successive supervisory progress reviews</a:t>
            </a:r>
            <a:endParaRPr lang="en-US" sz="1150" dirty="0"/>
          </a:p>
        </p:txBody>
      </p:sp>
      <p:sp>
        <p:nvSpPr>
          <p:cNvPr id="5" name="Shape 3"/>
          <p:cNvSpPr/>
          <p:nvPr/>
        </p:nvSpPr>
        <p:spPr>
          <a:xfrm>
            <a:off x="566928" y="2057400"/>
            <a:ext cx="11055096" cy="2148840"/>
          </a:xfrm>
          <a:prstGeom prst="rect">
            <a:avLst/>
          </a:prstGeom>
          <a:solidFill>
            <a:srgbClr val="F4F2EE"/>
          </a:solidFill>
          <a:ln/>
        </p:spPr>
      </p:sp>
      <p:sp>
        <p:nvSpPr>
          <p:cNvPr id="6" name="Shape 4"/>
          <p:cNvSpPr/>
          <p:nvPr/>
        </p:nvSpPr>
        <p:spPr>
          <a:xfrm>
            <a:off x="566928" y="2057400"/>
            <a:ext cx="54864" cy="2148840"/>
          </a:xfrm>
          <a:prstGeom prst="rect">
            <a:avLst/>
          </a:prstGeom>
          <a:solidFill>
            <a:srgbClr val="8A8378"/>
          </a:solidFill>
          <a:ln/>
        </p:spPr>
      </p:sp>
      <p:sp>
        <p:nvSpPr>
          <p:cNvPr id="7" name="Text 5"/>
          <p:cNvSpPr/>
          <p:nvPr/>
        </p:nvSpPr>
        <p:spPr>
          <a:xfrm>
            <a:off x="841248" y="2212848"/>
            <a:ext cx="10506456" cy="1874520"/>
          </a:xfrm>
          <a:prstGeom prst="rect">
            <a:avLst/>
          </a:prstGeom>
          <a:noFill/>
          <a:ln/>
        </p:spPr>
        <p:txBody>
          <a:bodyPr wrap="square" rtlCol="0" anchor="ctr"/>
          <a:lstStyle/>
          <a:p>
            <a:pPr indent="0" marL="0">
              <a:lnSpc>
                <a:spcPts val="2200"/>
              </a:lnSpc>
              <a:buNone/>
            </a:pPr>
            <a:r>
              <a:rPr lang="en-US" sz="1350" dirty="0">
                <a:solidFill>
                  <a:srgbClr val="33302B"/>
                </a:solidFill>
                <a:latin typeface="Georgia" pitchFamily="34" charset="0"/>
                <a:ea typeface="Georgia" pitchFamily="34" charset="-122"/>
                <a:cs typeface="Georgia" pitchFamily="34" charset="-120"/>
              </a:rPr>
              <a:t>Principles issued in 2013 required accuracy and integrity, completeness, timeliness, adaptability and lineage. Supervisory reviews have found adoption incomplete more than a decade later — at institutions with substantial budgets and genuine intent. There is no single incident, no penalty, and no named firm.</a:t>
            </a:r>
            <a:endParaRPr lang="en-US" sz="1350" dirty="0"/>
          </a:p>
          <a:p>
            <a:pPr indent="0" marL="0">
              <a:lnSpc>
                <a:spcPts val="2200"/>
              </a:lnSpc>
              <a:buNone/>
            </a:pPr>
            <a:endParaRPr lang="en-US" sz="1350" dirty="0"/>
          </a:p>
          <a:p>
            <a:pPr indent="0" marL="0">
              <a:lnSpc>
                <a:spcPts val="2200"/>
              </a:lnSpc>
              <a:buNone/>
            </a:pPr>
            <a:r>
              <a:rPr lang="en-US" sz="1350" dirty="0">
                <a:solidFill>
                  <a:srgbClr val="33302B"/>
                </a:solidFill>
                <a:latin typeface="Georgia" pitchFamily="34" charset="0"/>
                <a:ea typeface="Georgia" pitchFamily="34" charset="-122"/>
                <a:cs typeface="Georgia" pitchFamily="34" charset="-120"/>
              </a:rPr>
              <a:t>The question for the room: why did a well-resourced industry fail for thirteen years to satisfy principles nobody disputed?</a:t>
            </a:r>
            <a:endParaRPr lang="en-US" sz="1350" dirty="0"/>
          </a:p>
        </p:txBody>
      </p:sp>
      <p:sp>
        <p:nvSpPr>
          <p:cNvPr id="8" name="Text 6"/>
          <p:cNvSpPr/>
          <p:nvPr/>
        </p:nvSpPr>
        <p:spPr>
          <a:xfrm>
            <a:off x="566928" y="4434840"/>
            <a:ext cx="11055096" cy="1463040"/>
          </a:xfrm>
          <a:prstGeom prst="rect">
            <a:avLst/>
          </a:prstGeom>
          <a:noFill/>
          <a:ln/>
        </p:spPr>
        <p:txBody>
          <a:bodyPr wrap="square" rtlCol="0" anchor="t"/>
          <a:lstStyle/>
          <a:p>
            <a:pPr indent="0" marL="0">
              <a:lnSpc>
                <a:spcPts val="2300"/>
              </a:lnSpc>
              <a:buNone/>
            </a:pPr>
            <a:r>
              <a:rPr lang="en-US" sz="1400" b="1" dirty="0">
                <a:solidFill>
                  <a:srgbClr val="33302B"/>
                </a:solidFill>
                <a:latin typeface="Georgia" pitchFamily="34" charset="0"/>
                <a:ea typeface="Georgia" pitchFamily="34" charset="-122"/>
                <a:cs typeface="Georgia" pitchFamily="34" charset="-120"/>
              </a:rPr>
              <a:t>Properties at issue.   </a:t>
            </a:r>
            <a:pPr indent="0" marL="0">
              <a:lnSpc>
                <a:spcPts val="2300"/>
              </a:lnSpc>
              <a:buNone/>
            </a:pPr>
            <a:r>
              <a:rPr lang="en-US" sz="1400" dirty="0">
                <a:solidFill>
                  <a:srgbClr val="6E6A62"/>
                </a:solidFill>
                <a:latin typeface="Georgia" pitchFamily="34" charset="0"/>
                <a:ea typeface="Georgia" pitchFamily="34" charset="-122"/>
                <a:cs typeface="Georgia" pitchFamily="34" charset="-120"/>
              </a:rPr>
              <a:t>Context and coordination, systemically. The properties were carried by people at every boundary, and the effort was invisible because it was salaried. The institution is now removing those people while the gap is still open.</a:t>
            </a:r>
            <a:endParaRPr lang="en-US" sz="1400" dirty="0"/>
          </a:p>
        </p:txBody>
      </p:sp>
      <p:sp>
        <p:nvSpPr>
          <p:cNvPr id="9" name="Text 7"/>
          <p:cNvSpPr/>
          <p:nvPr/>
        </p:nvSpPr>
        <p:spPr>
          <a:xfrm>
            <a:off x="566928" y="6473952"/>
            <a:ext cx="9957816" cy="274320"/>
          </a:xfrm>
          <a:prstGeom prst="rect">
            <a:avLst/>
          </a:prstGeom>
          <a:noFill/>
          <a:ln/>
        </p:spPr>
        <p:txBody>
          <a:bodyPr wrap="square" rtlCol="0" anchor="ctr"/>
          <a:lstStyle/>
          <a:p>
            <a:pPr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indent="0" marL="0">
              <a:buNone/>
            </a:pPr>
            <a:r>
              <a:rPr lang="en-US" sz="900" dirty="0">
                <a:solidFill>
                  <a:srgbClr val="6E6A62"/>
                </a:solidFill>
                <a:latin typeface="Georgia" pitchFamily="34" charset="0"/>
                <a:ea typeface="Georgia" pitchFamily="34" charset="-122"/>
                <a:cs typeface="Georgia" pitchFamily="34" charset="-120"/>
              </a:rPr>
              <a:t>  ·  PCERT-FS — Custody in the Regulated Institution</a:t>
            </a:r>
            <a:endParaRPr lang="en-US" sz="900" dirty="0"/>
          </a:p>
        </p:txBody>
      </p:sp>
      <p:sp>
        <p:nvSpPr>
          <p:cNvPr id="10" name="Text 8"/>
          <p:cNvSpPr/>
          <p:nvPr/>
        </p:nvSpPr>
        <p:spPr>
          <a:xfrm>
            <a:off x="10707624"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B1A18"/>
        </a:solidFill>
      </p:bgPr>
    </p:bg>
    <p:spTree>
      <p:nvGrpSpPr>
        <p:cNvPr id="1" name=""/>
        <p:cNvGrpSpPr/>
        <p:nvPr/>
      </p:nvGrpSpPr>
      <p:grpSpPr>
        <a:xfrm>
          <a:off x="0" y="0"/>
          <a:ext cx="0" cy="0"/>
          <a:chOff x="0" y="0"/>
          <a:chExt cx="0" cy="0"/>
        </a:xfrm>
      </p:grpSpPr>
      <p:sp>
        <p:nvSpPr>
          <p:cNvPr id="2" name="Shape 0"/>
          <p:cNvSpPr/>
          <p:nvPr/>
        </p:nvSpPr>
        <p:spPr>
          <a:xfrm>
            <a:off x="566928" y="2148840"/>
            <a:ext cx="1554480" cy="310896"/>
          </a:xfrm>
          <a:prstGeom prst="roundRect">
            <a:avLst>
              <a:gd name="adj" fmla="val 47059"/>
            </a:avLst>
          </a:prstGeom>
          <a:solidFill>
            <a:srgbClr val="8A8378"/>
          </a:solidFill>
          <a:ln/>
        </p:spPr>
      </p:sp>
      <p:sp>
        <p:nvSpPr>
          <p:cNvPr id="3" name="Text 1"/>
          <p:cNvSpPr/>
          <p:nvPr/>
        </p:nvSpPr>
        <p:spPr>
          <a:xfrm>
            <a:off x="566928" y="2148840"/>
            <a:ext cx="1554480" cy="310896"/>
          </a:xfrm>
          <a:prstGeom prst="rect">
            <a:avLst/>
          </a:prstGeom>
          <a:noFill/>
          <a:ln/>
        </p:spPr>
        <p:txBody>
          <a:bodyPr wrap="square" rtlCol="0" anchor="ctr"/>
          <a:lstStyle/>
          <a:p>
            <a:pPr algn="ctr" indent="0" marL="0">
              <a:buNone/>
            </a:pPr>
            <a:r>
              <a:rPr lang="en-US" sz="1050" b="1" spc="60" kern="0" dirty="0">
                <a:solidFill>
                  <a:srgbClr val="1B1A18"/>
                </a:solidFill>
                <a:latin typeface="Georgia" pitchFamily="34" charset="0"/>
                <a:ea typeface="Georgia" pitchFamily="34" charset="-122"/>
                <a:cs typeface="Georgia" pitchFamily="34" charset="-120"/>
              </a:rPr>
              <a:t>MODULE 3</a:t>
            </a:r>
            <a:endParaRPr lang="en-US" sz="1050" dirty="0"/>
          </a:p>
        </p:txBody>
      </p:sp>
      <p:sp>
        <p:nvSpPr>
          <p:cNvPr id="4" name="Text 2"/>
          <p:cNvSpPr/>
          <p:nvPr/>
        </p:nvSpPr>
        <p:spPr>
          <a:xfrm>
            <a:off x="566928" y="2606040"/>
            <a:ext cx="10515600" cy="1005840"/>
          </a:xfrm>
          <a:prstGeom prst="rect">
            <a:avLst/>
          </a:prstGeom>
          <a:noFill/>
          <a:ln/>
        </p:spPr>
        <p:txBody>
          <a:bodyPr wrap="square" rtlCol="0" anchor="ctr"/>
          <a:lstStyle/>
          <a:p>
            <a:pPr indent="0" marL="0">
              <a:buNone/>
            </a:pPr>
            <a:r>
              <a:rPr lang="en-US" sz="3550" b="1" dirty="0">
                <a:solidFill>
                  <a:srgbClr val="FFFFFF"/>
                </a:solidFill>
                <a:latin typeface="Georgia" pitchFamily="34" charset="0"/>
                <a:ea typeface="Georgia" pitchFamily="34" charset="-122"/>
                <a:cs typeface="Georgia" pitchFamily="34" charset="-120"/>
              </a:rPr>
              <a:t>Determinism, Enforcement, and Oversight</a:t>
            </a:r>
            <a:endParaRPr lang="en-US" sz="3550" dirty="0"/>
          </a:p>
        </p:txBody>
      </p:sp>
      <p:sp>
        <p:nvSpPr>
          <p:cNvPr id="5" name="Text 3"/>
          <p:cNvSpPr/>
          <p:nvPr/>
        </p:nvSpPr>
        <p:spPr>
          <a:xfrm>
            <a:off x="566928" y="3657600"/>
            <a:ext cx="9875520" cy="1097280"/>
          </a:xfrm>
          <a:prstGeom prst="rect">
            <a:avLst/>
          </a:prstGeom>
          <a:noFill/>
          <a:ln/>
        </p:spPr>
        <p:txBody>
          <a:bodyPr wrap="square" rtlCol="0" anchor="ctr"/>
          <a:lstStyle/>
          <a:p>
            <a:pPr indent="0" marL="0">
              <a:lnSpc>
                <a:spcPts val="2400"/>
              </a:lnSpc>
              <a:buNone/>
            </a:pPr>
            <a:r>
              <a:rPr lang="en-US" sz="1500" dirty="0">
                <a:solidFill>
                  <a:srgbClr val="E4DFD5"/>
                </a:solidFill>
                <a:latin typeface="Georgia" pitchFamily="34" charset="0"/>
                <a:ea typeface="Georgia" pitchFamily="34" charset="-122"/>
                <a:cs typeface="Georgia" pitchFamily="34" charset="-120"/>
              </a:rPr>
              <a:t>Where the rule physically lives, and what happens to review at volume. Chapters 5, 9 and 18.</a:t>
            </a:r>
            <a:endParaRPr lang="en-US" sz="1500" dirty="0"/>
          </a:p>
        </p:txBody>
      </p:sp>
      <p:sp>
        <p:nvSpPr>
          <p:cNvPr id="6" name="Text 4"/>
          <p:cNvSpPr/>
          <p:nvPr/>
        </p:nvSpPr>
        <p:spPr>
          <a:xfrm>
            <a:off x="566928" y="6473952"/>
            <a:ext cx="9957816" cy="274320"/>
          </a:xfrm>
          <a:prstGeom prst="rect">
            <a:avLst/>
          </a:prstGeom>
          <a:noFill/>
          <a:ln/>
        </p:spPr>
        <p:txBody>
          <a:bodyPr wrap="square" rtlCol="0" anchor="ctr"/>
          <a:lstStyle/>
          <a:p>
            <a:pPr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indent="0" marL="0">
              <a:buNone/>
            </a:pPr>
            <a:r>
              <a:rPr lang="en-US" sz="900" dirty="0">
                <a:solidFill>
                  <a:srgbClr val="6E6A62"/>
                </a:solidFill>
                <a:latin typeface="Georgia" pitchFamily="34" charset="0"/>
                <a:ea typeface="Georgia" pitchFamily="34" charset="-122"/>
                <a:cs typeface="Georgia" pitchFamily="34" charset="-120"/>
              </a:rPr>
              <a:t>  ·  PCERT-FS — Custody in the Regulated Institution</a:t>
            </a:r>
            <a:endParaRPr lang="en-US" sz="900" dirty="0"/>
          </a:p>
        </p:txBody>
      </p:sp>
      <p:sp>
        <p:nvSpPr>
          <p:cNvPr id="7" name="Text 5"/>
          <p:cNvSpPr/>
          <p:nvPr/>
        </p:nvSpPr>
        <p:spPr>
          <a:xfrm>
            <a:off x="10707624"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55096" cy="292608"/>
          </a:xfrm>
          <a:prstGeom prst="rect">
            <a:avLst/>
          </a:prstGeom>
          <a:noFill/>
          <a:ln/>
        </p:spPr>
        <p:txBody>
          <a:bodyPr wrap="square" rtlCol="0" anchor="ctr"/>
          <a:lstStyle/>
          <a:p>
            <a:pPr indent="0" marL="0">
              <a:buNone/>
            </a:pPr>
            <a:r>
              <a:rPr lang="en-US" sz="1050" b="1" spc="120" kern="0" dirty="0">
                <a:solidFill>
                  <a:srgbClr val="8A8378"/>
                </a:solidFill>
                <a:latin typeface="Georgia" pitchFamily="34" charset="0"/>
                <a:ea typeface="Georgia" pitchFamily="34" charset="-122"/>
                <a:cs typeface="Georgia" pitchFamily="34" charset="-120"/>
              </a:rPr>
              <a:t>THE TEN-SECOND TEST</a:t>
            </a:r>
            <a:endParaRPr lang="en-US" sz="1050" dirty="0"/>
          </a:p>
        </p:txBody>
      </p:sp>
      <p:sp>
        <p:nvSpPr>
          <p:cNvPr id="3" name="Text 1"/>
          <p:cNvSpPr/>
          <p:nvPr/>
        </p:nvSpPr>
        <p:spPr>
          <a:xfrm>
            <a:off x="566928" y="749808"/>
            <a:ext cx="11055096" cy="822960"/>
          </a:xfrm>
          <a:prstGeom prst="rect">
            <a:avLst/>
          </a:prstGeom>
          <a:noFill/>
          <a:ln/>
        </p:spPr>
        <p:txBody>
          <a:bodyPr wrap="square" rtlCol="0" anchor="t"/>
          <a:lstStyle/>
          <a:p>
            <a:pPr indent="0" marL="0">
              <a:buNone/>
            </a:pPr>
            <a:endParaRPr lang="en-US" sz="2550" dirty="0"/>
          </a:p>
        </p:txBody>
      </p:sp>
      <p:sp>
        <p:nvSpPr>
          <p:cNvPr id="4" name="Shape 2"/>
          <p:cNvSpPr/>
          <p:nvPr/>
        </p:nvSpPr>
        <p:spPr>
          <a:xfrm>
            <a:off x="566928" y="2148840"/>
            <a:ext cx="54864" cy="2103120"/>
          </a:xfrm>
          <a:prstGeom prst="rect">
            <a:avLst/>
          </a:prstGeom>
          <a:solidFill>
            <a:srgbClr val="8A8378"/>
          </a:solidFill>
          <a:ln/>
        </p:spPr>
      </p:sp>
      <p:sp>
        <p:nvSpPr>
          <p:cNvPr id="5" name="Text 3"/>
          <p:cNvSpPr/>
          <p:nvPr/>
        </p:nvSpPr>
        <p:spPr>
          <a:xfrm>
            <a:off x="877824" y="2103120"/>
            <a:ext cx="10332720" cy="2194560"/>
          </a:xfrm>
          <a:prstGeom prst="rect">
            <a:avLst/>
          </a:prstGeom>
          <a:noFill/>
          <a:ln/>
        </p:spPr>
        <p:txBody>
          <a:bodyPr wrap="square" rtlCol="0" anchor="ctr"/>
          <a:lstStyle/>
          <a:p>
            <a:pPr indent="0" marL="0">
              <a:lnSpc>
                <a:spcPts val="3800"/>
              </a:lnSpc>
              <a:buNone/>
            </a:pPr>
            <a:r>
              <a:rPr lang="en-US" sz="2700" b="1" dirty="0">
                <a:solidFill>
                  <a:srgbClr val="1B1A18"/>
                </a:solidFill>
                <a:latin typeface="Georgia" pitchFamily="34" charset="0"/>
                <a:ea typeface="Georgia" pitchFamily="34" charset="-122"/>
                <a:cs typeface="Georgia" pitchFamily="34" charset="-120"/>
              </a:rPr>
              <a:t>A rule that admits no exception cannot be enforced by a probabilistic component.</a:t>
            </a:r>
            <a:endParaRPr lang="en-US" sz="2700" dirty="0"/>
          </a:p>
        </p:txBody>
      </p:sp>
      <p:sp>
        <p:nvSpPr>
          <p:cNvPr id="6" name="Text 4"/>
          <p:cNvSpPr/>
          <p:nvPr/>
        </p:nvSpPr>
        <p:spPr>
          <a:xfrm>
            <a:off x="877824" y="4480560"/>
            <a:ext cx="10332720" cy="731520"/>
          </a:xfrm>
          <a:prstGeom prst="rect">
            <a:avLst/>
          </a:prstGeom>
          <a:noFill/>
          <a:ln/>
        </p:spPr>
        <p:txBody>
          <a:bodyPr wrap="square" rtlCol="0" anchor="ctr"/>
          <a:lstStyle/>
          <a:p>
            <a:pPr indent="0" marL="0">
              <a:lnSpc>
                <a:spcPts val="2200"/>
              </a:lnSpc>
              <a:buNone/>
            </a:pPr>
            <a:r>
              <a:rPr lang="en-US" sz="1350" i="1" dirty="0">
                <a:solidFill>
                  <a:srgbClr val="6E6A62"/>
                </a:solidFill>
                <a:latin typeface="Georgia" pitchFamily="34" charset="0"/>
                <a:ea typeface="Georgia" pitchFamily="34" charset="-122"/>
                <a:cs typeface="Georgia" pitchFamily="34" charset="-120"/>
              </a:rPr>
              <a:t>Must and never admit no rate. A model instructed not to do something does it less often. Less often is not never — so for every never in your policy there is exactly one question: where is it physically enforced?</a:t>
            </a:r>
            <a:endParaRPr lang="en-US" sz="1350" dirty="0"/>
          </a:p>
        </p:txBody>
      </p:sp>
      <p:sp>
        <p:nvSpPr>
          <p:cNvPr id="7" name="Text 5"/>
          <p:cNvSpPr/>
          <p:nvPr/>
        </p:nvSpPr>
        <p:spPr>
          <a:xfrm>
            <a:off x="566928" y="6473952"/>
            <a:ext cx="9957816" cy="274320"/>
          </a:xfrm>
          <a:prstGeom prst="rect">
            <a:avLst/>
          </a:prstGeom>
          <a:noFill/>
          <a:ln/>
        </p:spPr>
        <p:txBody>
          <a:bodyPr wrap="square" rtlCol="0" anchor="ctr"/>
          <a:lstStyle/>
          <a:p>
            <a:pPr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indent="0" marL="0">
              <a:buNone/>
            </a:pPr>
            <a:r>
              <a:rPr lang="en-US" sz="900" dirty="0">
                <a:solidFill>
                  <a:srgbClr val="6E6A62"/>
                </a:solidFill>
                <a:latin typeface="Georgia" pitchFamily="34" charset="0"/>
                <a:ea typeface="Georgia" pitchFamily="34" charset="-122"/>
                <a:cs typeface="Georgia" pitchFamily="34" charset="-120"/>
              </a:rPr>
              <a:t>  ·  PCERT-FS — Custody in the Regulated Institution</a:t>
            </a:r>
            <a:endParaRPr lang="en-US" sz="900" dirty="0"/>
          </a:p>
        </p:txBody>
      </p:sp>
      <p:sp>
        <p:nvSpPr>
          <p:cNvPr id="8" name="Text 6"/>
          <p:cNvSpPr/>
          <p:nvPr/>
        </p:nvSpPr>
        <p:spPr>
          <a:xfrm>
            <a:off x="10707624"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55096" cy="292608"/>
          </a:xfrm>
          <a:prstGeom prst="rect">
            <a:avLst/>
          </a:prstGeom>
          <a:noFill/>
          <a:ln/>
        </p:spPr>
        <p:txBody>
          <a:bodyPr wrap="square" rtlCol="0" anchor="ctr"/>
          <a:lstStyle/>
          <a:p>
            <a:pPr indent="0" marL="0">
              <a:buNone/>
            </a:pPr>
            <a:r>
              <a:rPr lang="en-US" sz="1050" b="1" spc="120" kern="0" dirty="0">
                <a:solidFill>
                  <a:srgbClr val="8A8378"/>
                </a:solidFill>
                <a:latin typeface="Georgia" pitchFamily="34" charset="0"/>
                <a:ea typeface="Georgia" pitchFamily="34" charset="-122"/>
                <a:cs typeface="Georgia" pitchFamily="34" charset="-120"/>
              </a:rPr>
              <a:t>WHAT COUNTS AS AN ENFORCEMENT POINT</a:t>
            </a:r>
            <a:endParaRPr lang="en-US" sz="1050" dirty="0"/>
          </a:p>
        </p:txBody>
      </p:sp>
      <p:sp>
        <p:nvSpPr>
          <p:cNvPr id="3" name="Text 1"/>
          <p:cNvSpPr/>
          <p:nvPr/>
        </p:nvSpPr>
        <p:spPr>
          <a:xfrm>
            <a:off x="566928" y="749808"/>
            <a:ext cx="11055096" cy="822960"/>
          </a:xfrm>
          <a:prstGeom prst="rect">
            <a:avLst/>
          </a:prstGeom>
          <a:noFill/>
          <a:ln/>
        </p:spPr>
        <p:txBody>
          <a:bodyPr wrap="square" rtlCol="0" anchor="t"/>
          <a:lstStyle/>
          <a:p>
            <a:pPr indent="0" marL="0">
              <a:buNone/>
            </a:pPr>
            <a:r>
              <a:rPr lang="en-US" sz="2550" b="1" dirty="0">
                <a:solidFill>
                  <a:srgbClr val="1B1A18"/>
                </a:solidFill>
                <a:latin typeface="Georgia" pitchFamily="34" charset="0"/>
                <a:ea typeface="Georgia" pitchFamily="34" charset="-122"/>
                <a:cs typeface="Georgia" pitchFamily="34" charset="-120"/>
              </a:rPr>
              <a:t>And what does not</a:t>
            </a:r>
            <a:endParaRPr lang="en-US" sz="2550" dirty="0"/>
          </a:p>
        </p:txBody>
      </p:sp>
      <p:sp>
        <p:nvSpPr>
          <p:cNvPr id="4" name="Shape 2"/>
          <p:cNvSpPr/>
          <p:nvPr/>
        </p:nvSpPr>
        <p:spPr>
          <a:xfrm>
            <a:off x="566928" y="1691640"/>
            <a:ext cx="457200" cy="457200"/>
          </a:xfrm>
          <a:prstGeom prst="ellipse">
            <a:avLst/>
          </a:prstGeom>
          <a:solidFill>
            <a:srgbClr val="1B1A18"/>
          </a:solidFill>
          <a:ln/>
        </p:spPr>
      </p:sp>
      <p:sp>
        <p:nvSpPr>
          <p:cNvPr id="5" name="Text 3"/>
          <p:cNvSpPr/>
          <p:nvPr/>
        </p:nvSpPr>
        <p:spPr>
          <a:xfrm>
            <a:off x="566928" y="169164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1</a:t>
            </a:r>
            <a:endParaRPr lang="en-US" sz="1400" dirty="0"/>
          </a:p>
        </p:txBody>
      </p:sp>
      <p:sp>
        <p:nvSpPr>
          <p:cNvPr id="6" name="Text 4"/>
          <p:cNvSpPr/>
          <p:nvPr/>
        </p:nvSpPr>
        <p:spPr>
          <a:xfrm>
            <a:off x="1234440" y="1636776"/>
            <a:ext cx="10277856" cy="1024128"/>
          </a:xfrm>
          <a:prstGeom prst="rect">
            <a:avLst/>
          </a:prstGeom>
          <a:noFill/>
          <a:ln/>
        </p:spPr>
        <p:txBody>
          <a:bodyPr wrap="square" rtlCol="0" anchor="t"/>
          <a:lstStyle/>
          <a:p>
            <a:pPr indent="0" marL="0">
              <a:lnSpc>
                <a:spcPts val="2200"/>
              </a:lnSpc>
              <a:buNone/>
            </a:pPr>
            <a:r>
              <a:rPr lang="en-US" sz="1500" b="1" dirty="0">
                <a:solidFill>
                  <a:srgbClr val="33302B"/>
                </a:solidFill>
                <a:latin typeface="Georgia" pitchFamily="34" charset="0"/>
                <a:ea typeface="Georgia" pitchFamily="34" charset="-122"/>
                <a:cs typeface="Georgia" pitchFamily="34" charset="-120"/>
              </a:rPr>
              <a:t>A place all subject work must pass through.   </a:t>
            </a:r>
            <a:pPr indent="0" marL="0">
              <a:lnSpc>
                <a:spcPts val="2200"/>
              </a:lnSpc>
              <a:buNone/>
            </a:pPr>
            <a:r>
              <a:rPr lang="en-US" sz="1500" dirty="0">
                <a:solidFill>
                  <a:srgbClr val="6E6A62"/>
                </a:solidFill>
                <a:latin typeface="Georgia" pitchFamily="34" charset="0"/>
                <a:ea typeface="Georgia" pitchFamily="34" charset="-122"/>
                <a:cs typeface="Georgia" pitchFamily="34" charset="-120"/>
              </a:rPr>
              <a:t>Named, locatable, and with no component able to reach the action around it.</a:t>
            </a:r>
            <a:endParaRPr lang="en-US" sz="1500" dirty="0"/>
          </a:p>
        </p:txBody>
      </p:sp>
      <p:sp>
        <p:nvSpPr>
          <p:cNvPr id="7" name="Shape 5"/>
          <p:cNvSpPr/>
          <p:nvPr/>
        </p:nvSpPr>
        <p:spPr>
          <a:xfrm>
            <a:off x="566928" y="2857500"/>
            <a:ext cx="457200" cy="457200"/>
          </a:xfrm>
          <a:prstGeom prst="ellipse">
            <a:avLst/>
          </a:prstGeom>
          <a:solidFill>
            <a:srgbClr val="1B1A18"/>
          </a:solidFill>
          <a:ln/>
        </p:spPr>
      </p:sp>
      <p:sp>
        <p:nvSpPr>
          <p:cNvPr id="8" name="Text 6"/>
          <p:cNvSpPr/>
          <p:nvPr/>
        </p:nvSpPr>
        <p:spPr>
          <a:xfrm>
            <a:off x="566928" y="285750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2</a:t>
            </a:r>
            <a:endParaRPr lang="en-US" sz="1400" dirty="0"/>
          </a:p>
        </p:txBody>
      </p:sp>
      <p:sp>
        <p:nvSpPr>
          <p:cNvPr id="9" name="Text 7"/>
          <p:cNvSpPr/>
          <p:nvPr/>
        </p:nvSpPr>
        <p:spPr>
          <a:xfrm>
            <a:off x="1234440" y="2802636"/>
            <a:ext cx="10277856" cy="1024128"/>
          </a:xfrm>
          <a:prstGeom prst="rect">
            <a:avLst/>
          </a:prstGeom>
          <a:noFill/>
          <a:ln/>
        </p:spPr>
        <p:txBody>
          <a:bodyPr wrap="square" rtlCol="0" anchor="t"/>
          <a:lstStyle/>
          <a:p>
            <a:pPr indent="0" marL="0">
              <a:lnSpc>
                <a:spcPts val="2200"/>
              </a:lnSpc>
              <a:buNone/>
            </a:pPr>
            <a:r>
              <a:rPr lang="en-US" sz="1500" b="1" dirty="0">
                <a:solidFill>
                  <a:srgbClr val="33302B"/>
                </a:solidFill>
                <a:latin typeface="Georgia" pitchFamily="34" charset="0"/>
                <a:ea typeface="Georgia" pitchFamily="34" charset="-122"/>
                <a:cs typeface="Georgia" pitchFamily="34" charset="-120"/>
              </a:rPr>
              <a:t>Not a system prompt or a system message.   </a:t>
            </a:r>
            <a:pPr indent="0" marL="0">
              <a:lnSpc>
                <a:spcPts val="2200"/>
              </a:lnSpc>
              <a:buNone/>
            </a:pPr>
            <a:r>
              <a:rPr lang="en-US" sz="1500" dirty="0">
                <a:solidFill>
                  <a:srgbClr val="6E6A62"/>
                </a:solidFill>
                <a:latin typeface="Georgia" pitchFamily="34" charset="0"/>
                <a:ea typeface="Georgia" pitchFamily="34" charset="-122"/>
                <a:cs typeface="Georgia" pitchFamily="34" charset="-120"/>
              </a:rPr>
              <a:t>Whatever its accuracy, its effect is statistical. Disqualify it.</a:t>
            </a:r>
            <a:endParaRPr lang="en-US" sz="1500" dirty="0"/>
          </a:p>
        </p:txBody>
      </p:sp>
      <p:sp>
        <p:nvSpPr>
          <p:cNvPr id="10" name="Shape 8"/>
          <p:cNvSpPr/>
          <p:nvPr/>
        </p:nvSpPr>
        <p:spPr>
          <a:xfrm>
            <a:off x="566928" y="4023360"/>
            <a:ext cx="457200" cy="457200"/>
          </a:xfrm>
          <a:prstGeom prst="ellipse">
            <a:avLst/>
          </a:prstGeom>
          <a:solidFill>
            <a:srgbClr val="1B1A18"/>
          </a:solidFill>
          <a:ln/>
        </p:spPr>
      </p:sp>
      <p:sp>
        <p:nvSpPr>
          <p:cNvPr id="11" name="Text 9"/>
          <p:cNvSpPr/>
          <p:nvPr/>
        </p:nvSpPr>
        <p:spPr>
          <a:xfrm>
            <a:off x="566928" y="402336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3</a:t>
            </a:r>
            <a:endParaRPr lang="en-US" sz="1400" dirty="0"/>
          </a:p>
        </p:txBody>
      </p:sp>
      <p:sp>
        <p:nvSpPr>
          <p:cNvPr id="12" name="Text 10"/>
          <p:cNvSpPr/>
          <p:nvPr/>
        </p:nvSpPr>
        <p:spPr>
          <a:xfrm>
            <a:off x="1234440" y="3968496"/>
            <a:ext cx="10277856" cy="1024128"/>
          </a:xfrm>
          <a:prstGeom prst="rect">
            <a:avLst/>
          </a:prstGeom>
          <a:noFill/>
          <a:ln/>
        </p:spPr>
        <p:txBody>
          <a:bodyPr wrap="square" rtlCol="0" anchor="t"/>
          <a:lstStyle/>
          <a:p>
            <a:pPr indent="0" marL="0">
              <a:lnSpc>
                <a:spcPts val="2200"/>
              </a:lnSpc>
              <a:buNone/>
            </a:pPr>
            <a:r>
              <a:rPr lang="en-US" sz="1500" b="1" dirty="0">
                <a:solidFill>
                  <a:srgbClr val="33302B"/>
                </a:solidFill>
                <a:latin typeface="Georgia" pitchFamily="34" charset="0"/>
                <a:ea typeface="Georgia" pitchFamily="34" charset="-122"/>
                <a:cs typeface="Georgia" pitchFamily="34" charset="-120"/>
              </a:rPr>
              <a:t>Not a guardrail model.   </a:t>
            </a:r>
            <a:pPr indent="0" marL="0">
              <a:lnSpc>
                <a:spcPts val="2200"/>
              </a:lnSpc>
              <a:buNone/>
            </a:pPr>
            <a:r>
              <a:rPr lang="en-US" sz="1500" dirty="0">
                <a:solidFill>
                  <a:srgbClr val="6E6A62"/>
                </a:solidFill>
                <a:latin typeface="Georgia" pitchFamily="34" charset="0"/>
                <a:ea typeface="Georgia" pitchFamily="34" charset="-122"/>
                <a:cs typeface="Georgia" pitchFamily="34" charset="-120"/>
              </a:rPr>
              <a:t>A second probabilistic component checking the first does not make either deterministic.</a:t>
            </a:r>
            <a:endParaRPr lang="en-US" sz="1500" dirty="0"/>
          </a:p>
        </p:txBody>
      </p:sp>
      <p:sp>
        <p:nvSpPr>
          <p:cNvPr id="13" name="Shape 11"/>
          <p:cNvSpPr/>
          <p:nvPr/>
        </p:nvSpPr>
        <p:spPr>
          <a:xfrm>
            <a:off x="566928" y="5189220"/>
            <a:ext cx="457200" cy="457200"/>
          </a:xfrm>
          <a:prstGeom prst="ellipse">
            <a:avLst/>
          </a:prstGeom>
          <a:solidFill>
            <a:srgbClr val="1B1A18"/>
          </a:solidFill>
          <a:ln/>
        </p:spPr>
      </p:sp>
      <p:sp>
        <p:nvSpPr>
          <p:cNvPr id="14" name="Text 12"/>
          <p:cNvSpPr/>
          <p:nvPr/>
        </p:nvSpPr>
        <p:spPr>
          <a:xfrm>
            <a:off x="566928" y="518922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4</a:t>
            </a:r>
            <a:endParaRPr lang="en-US" sz="1400" dirty="0"/>
          </a:p>
        </p:txBody>
      </p:sp>
      <p:sp>
        <p:nvSpPr>
          <p:cNvPr id="15" name="Text 13"/>
          <p:cNvSpPr/>
          <p:nvPr/>
        </p:nvSpPr>
        <p:spPr>
          <a:xfrm>
            <a:off x="1234440" y="5134356"/>
            <a:ext cx="10277856" cy="1024128"/>
          </a:xfrm>
          <a:prstGeom prst="rect">
            <a:avLst/>
          </a:prstGeom>
          <a:noFill/>
          <a:ln/>
        </p:spPr>
        <p:txBody>
          <a:bodyPr wrap="square" rtlCol="0" anchor="t"/>
          <a:lstStyle/>
          <a:p>
            <a:pPr indent="0" marL="0">
              <a:lnSpc>
                <a:spcPts val="2200"/>
              </a:lnSpc>
              <a:buNone/>
            </a:pPr>
            <a:r>
              <a:rPr lang="en-US" sz="1500" b="1" dirty="0">
                <a:solidFill>
                  <a:srgbClr val="33302B"/>
                </a:solidFill>
                <a:latin typeface="Georgia" pitchFamily="34" charset="0"/>
                <a:ea typeface="Georgia" pitchFamily="34" charset="-122"/>
                <a:cs typeface="Georgia" pitchFamily="34" charset="-120"/>
              </a:rPr>
              <a:t>Not an instruction in a procedure.   </a:t>
            </a:r>
            <a:pPr indent="0" marL="0">
              <a:lnSpc>
                <a:spcPts val="2200"/>
              </a:lnSpc>
              <a:buNone/>
            </a:pPr>
            <a:r>
              <a:rPr lang="en-US" sz="1500" dirty="0">
                <a:solidFill>
                  <a:srgbClr val="6E6A62"/>
                </a:solidFill>
                <a:latin typeface="Georgia" pitchFamily="34" charset="0"/>
                <a:ea typeface="Georgia" pitchFamily="34" charset="-122"/>
                <a:cs typeface="Georgia" pitchFamily="34" charset="-120"/>
              </a:rPr>
              <a:t>That is a control on people, which is a different control with a different failure mode — and it must be named as one.</a:t>
            </a:r>
            <a:endParaRPr lang="en-US" sz="1500" dirty="0"/>
          </a:p>
        </p:txBody>
      </p:sp>
      <p:sp>
        <p:nvSpPr>
          <p:cNvPr id="16" name="Text 14"/>
          <p:cNvSpPr/>
          <p:nvPr/>
        </p:nvSpPr>
        <p:spPr>
          <a:xfrm>
            <a:off x="566928" y="6473952"/>
            <a:ext cx="9957816" cy="274320"/>
          </a:xfrm>
          <a:prstGeom prst="rect">
            <a:avLst/>
          </a:prstGeom>
          <a:noFill/>
          <a:ln/>
        </p:spPr>
        <p:txBody>
          <a:bodyPr wrap="square" rtlCol="0" anchor="ctr"/>
          <a:lstStyle/>
          <a:p>
            <a:pPr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indent="0" marL="0">
              <a:buNone/>
            </a:pPr>
            <a:r>
              <a:rPr lang="en-US" sz="900" dirty="0">
                <a:solidFill>
                  <a:srgbClr val="6E6A62"/>
                </a:solidFill>
                <a:latin typeface="Georgia" pitchFamily="34" charset="0"/>
                <a:ea typeface="Georgia" pitchFamily="34" charset="-122"/>
                <a:cs typeface="Georgia" pitchFamily="34" charset="-120"/>
              </a:rPr>
              <a:t>  ·  PCERT-FS — Custody in the Regulated Institution</a:t>
            </a:r>
            <a:endParaRPr lang="en-US" sz="900" dirty="0"/>
          </a:p>
        </p:txBody>
      </p:sp>
      <p:sp>
        <p:nvSpPr>
          <p:cNvPr id="17" name="Text 15"/>
          <p:cNvSpPr/>
          <p:nvPr/>
        </p:nvSpPr>
        <p:spPr>
          <a:xfrm>
            <a:off x="10707624"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55096" cy="292608"/>
          </a:xfrm>
          <a:prstGeom prst="rect">
            <a:avLst/>
          </a:prstGeom>
          <a:noFill/>
          <a:ln/>
        </p:spPr>
        <p:txBody>
          <a:bodyPr wrap="square" rtlCol="0" anchor="ctr"/>
          <a:lstStyle/>
          <a:p>
            <a:pPr indent="0" marL="0">
              <a:buNone/>
            </a:pPr>
            <a:r>
              <a:rPr lang="en-US" sz="1050" b="1" spc="120" kern="0" dirty="0">
                <a:solidFill>
                  <a:srgbClr val="8A8378"/>
                </a:solidFill>
                <a:latin typeface="Georgia" pitchFamily="34" charset="0"/>
                <a:ea typeface="Georgia" pitchFamily="34" charset="-122"/>
                <a:cs typeface="Georgia" pitchFamily="34" charset="-120"/>
              </a:rPr>
              <a:t>HUMAN OVERSIGHT AT VOLUME</a:t>
            </a:r>
            <a:endParaRPr lang="en-US" sz="1050" dirty="0"/>
          </a:p>
        </p:txBody>
      </p:sp>
      <p:sp>
        <p:nvSpPr>
          <p:cNvPr id="3" name="Text 1"/>
          <p:cNvSpPr/>
          <p:nvPr/>
        </p:nvSpPr>
        <p:spPr>
          <a:xfrm>
            <a:off x="566928" y="749808"/>
            <a:ext cx="11055096" cy="822960"/>
          </a:xfrm>
          <a:prstGeom prst="rect">
            <a:avLst/>
          </a:prstGeom>
          <a:noFill/>
          <a:ln/>
        </p:spPr>
        <p:txBody>
          <a:bodyPr wrap="square" rtlCol="0" anchor="t"/>
          <a:lstStyle/>
          <a:p>
            <a:pPr indent="0" marL="0">
              <a:buNone/>
            </a:pPr>
            <a:r>
              <a:rPr lang="en-US" sz="2550" b="1" dirty="0">
                <a:solidFill>
                  <a:srgbClr val="1B1A18"/>
                </a:solidFill>
                <a:latin typeface="Georgia" pitchFamily="34" charset="0"/>
                <a:ea typeface="Georgia" pitchFamily="34" charset="-122"/>
                <a:cs typeface="Georgia" pitchFamily="34" charset="-120"/>
              </a:rPr>
              <a:t>How a real control becomes a recorded one</a:t>
            </a:r>
            <a:endParaRPr lang="en-US" sz="2550" dirty="0"/>
          </a:p>
        </p:txBody>
      </p:sp>
      <p:sp>
        <p:nvSpPr>
          <p:cNvPr id="4" name="Shape 2"/>
          <p:cNvSpPr/>
          <p:nvPr/>
        </p:nvSpPr>
        <p:spPr>
          <a:xfrm>
            <a:off x="566928" y="1737360"/>
            <a:ext cx="5367528" cy="4480560"/>
          </a:xfrm>
          <a:prstGeom prst="rect">
            <a:avLst/>
          </a:prstGeom>
          <a:solidFill>
            <a:srgbClr val="F4F2EE"/>
          </a:solidFill>
          <a:ln/>
        </p:spPr>
      </p:sp>
      <p:sp>
        <p:nvSpPr>
          <p:cNvPr id="5" name="Shape 3"/>
          <p:cNvSpPr/>
          <p:nvPr/>
        </p:nvSpPr>
        <p:spPr>
          <a:xfrm>
            <a:off x="566928" y="1737360"/>
            <a:ext cx="5367528" cy="548640"/>
          </a:xfrm>
          <a:prstGeom prst="rect">
            <a:avLst/>
          </a:prstGeom>
          <a:solidFill>
            <a:srgbClr val="8A8378"/>
          </a:solidFill>
          <a:ln/>
        </p:spPr>
      </p:sp>
      <p:sp>
        <p:nvSpPr>
          <p:cNvPr id="6" name="Text 4"/>
          <p:cNvSpPr/>
          <p:nvPr/>
        </p:nvSpPr>
        <p:spPr>
          <a:xfrm>
            <a:off x="795528" y="1737360"/>
            <a:ext cx="4910328" cy="548640"/>
          </a:xfrm>
          <a:prstGeom prst="rect">
            <a:avLst/>
          </a:prstGeom>
          <a:noFill/>
          <a:ln/>
        </p:spPr>
        <p:txBody>
          <a:bodyPr wrap="square"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What the control library says</a:t>
            </a:r>
            <a:endParaRPr lang="en-US" sz="1500" dirty="0"/>
          </a:p>
        </p:txBody>
      </p:sp>
      <p:sp>
        <p:nvSpPr>
          <p:cNvPr id="7" name="Text 5"/>
          <p:cNvSpPr/>
          <p:nvPr/>
        </p:nvSpPr>
        <p:spPr>
          <a:xfrm>
            <a:off x="822960" y="2468880"/>
            <a:ext cx="4855464" cy="3566160"/>
          </a:xfrm>
          <a:prstGeom prst="rect">
            <a:avLst/>
          </a:prstGeom>
          <a:noFill/>
          <a:ln/>
        </p:spPr>
        <p:txBody>
          <a:bodyPr wrap="square" rtlCol="0" anchor="t"/>
          <a:lstStyle/>
          <a:p>
            <a:pPr marL="177800" indent="-177800">
              <a:lnSpc>
                <a:spcPts val="2100"/>
              </a:lnSpc>
              <a:spcAft>
                <a:spcPts val="900"/>
              </a:spcAft>
              <a:buSzPct val="100000"/>
              <a:buChar char="•"/>
            </a:pPr>
            <a:r>
              <a:rPr lang="en-US" sz="1250" dirty="0">
                <a:solidFill>
                  <a:srgbClr val="33302B"/>
                </a:solidFill>
                <a:latin typeface="Georgia" pitchFamily="34" charset="0"/>
                <a:ea typeface="Georgia" pitchFamily="34" charset="-122"/>
                <a:cs typeface="Georgia" pitchFamily="34" charset="-120"/>
              </a:rPr>
              <a:t>Every exception is reviewed by a qualified person</a:t>
            </a:r>
            <a:endParaRPr lang="en-US" sz="1250" dirty="0"/>
          </a:p>
          <a:p>
            <a:pPr marL="177800" indent="-177800">
              <a:lnSpc>
                <a:spcPts val="2100"/>
              </a:lnSpc>
              <a:spcAft>
                <a:spcPts val="900"/>
              </a:spcAft>
              <a:buSzPct val="100000"/>
              <a:buChar char="•"/>
            </a:pPr>
            <a:r>
              <a:rPr lang="en-US" sz="1250" dirty="0">
                <a:solidFill>
                  <a:srgbClr val="33302B"/>
                </a:solidFill>
                <a:latin typeface="Georgia" pitchFamily="34" charset="0"/>
                <a:ea typeface="Georgia" pitchFamily="34" charset="-122"/>
                <a:cs typeface="Georgia" pitchFamily="34" charset="-120"/>
              </a:rPr>
              <a:t>Review occurs before action</a:t>
            </a:r>
            <a:endParaRPr lang="en-US" sz="1250" dirty="0"/>
          </a:p>
          <a:p>
            <a:pPr marL="177800" indent="-177800">
              <a:lnSpc>
                <a:spcPts val="2100"/>
              </a:lnSpc>
              <a:spcAft>
                <a:spcPts val="900"/>
              </a:spcAft>
              <a:buSzPct val="100000"/>
              <a:buChar char="•"/>
            </a:pPr>
            <a:r>
              <a:rPr lang="en-US" sz="1250" dirty="0">
                <a:solidFill>
                  <a:srgbClr val="33302B"/>
                </a:solidFill>
                <a:latin typeface="Georgia" pitchFamily="34" charset="0"/>
                <a:ea typeface="Georgia" pitchFamily="34" charset="-122"/>
                <a:cs typeface="Georgia" pitchFamily="34" charset="-120"/>
              </a:rPr>
              <a:t>The reviewer may refuse</a:t>
            </a:r>
            <a:endParaRPr lang="en-US" sz="1250" dirty="0"/>
          </a:p>
          <a:p>
            <a:pPr marL="177800" indent="-177800">
              <a:lnSpc>
                <a:spcPts val="2100"/>
              </a:lnSpc>
              <a:spcAft>
                <a:spcPts val="900"/>
              </a:spcAft>
              <a:buSzPct val="100000"/>
              <a:buChar char="•"/>
            </a:pPr>
            <a:r>
              <a:rPr lang="en-US" sz="1250" dirty="0">
                <a:solidFill>
                  <a:srgbClr val="33302B"/>
                </a:solidFill>
                <a:latin typeface="Georgia" pitchFamily="34" charset="0"/>
                <a:ea typeface="Georgia" pitchFamily="34" charset="-122"/>
                <a:cs typeface="Georgia" pitchFamily="34" charset="-120"/>
              </a:rPr>
              <a:t>The audit trail evidences oversight throughout</a:t>
            </a:r>
            <a:endParaRPr lang="en-US" sz="1250" dirty="0"/>
          </a:p>
        </p:txBody>
      </p:sp>
      <p:sp>
        <p:nvSpPr>
          <p:cNvPr id="8" name="Shape 6"/>
          <p:cNvSpPr/>
          <p:nvPr/>
        </p:nvSpPr>
        <p:spPr>
          <a:xfrm>
            <a:off x="6254496" y="1737360"/>
            <a:ext cx="5367528" cy="4480560"/>
          </a:xfrm>
          <a:prstGeom prst="rect">
            <a:avLst/>
          </a:prstGeom>
          <a:solidFill>
            <a:srgbClr val="EBE7DF"/>
          </a:solidFill>
          <a:ln/>
        </p:spPr>
      </p:sp>
      <p:sp>
        <p:nvSpPr>
          <p:cNvPr id="9" name="Shape 7"/>
          <p:cNvSpPr/>
          <p:nvPr/>
        </p:nvSpPr>
        <p:spPr>
          <a:xfrm>
            <a:off x="6254496" y="1737360"/>
            <a:ext cx="5367528" cy="548640"/>
          </a:xfrm>
          <a:prstGeom prst="rect">
            <a:avLst/>
          </a:prstGeom>
          <a:solidFill>
            <a:srgbClr val="33302B"/>
          </a:solidFill>
          <a:ln/>
        </p:spPr>
      </p:sp>
      <p:sp>
        <p:nvSpPr>
          <p:cNvPr id="10" name="Text 8"/>
          <p:cNvSpPr/>
          <p:nvPr/>
        </p:nvSpPr>
        <p:spPr>
          <a:xfrm>
            <a:off x="6483096" y="1737360"/>
            <a:ext cx="4910328" cy="548640"/>
          </a:xfrm>
          <a:prstGeom prst="rect">
            <a:avLst/>
          </a:prstGeom>
          <a:noFill/>
          <a:ln/>
        </p:spPr>
        <p:txBody>
          <a:bodyPr wrap="square"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What four thousand items a month produces</a:t>
            </a:r>
            <a:endParaRPr lang="en-US" sz="1500" dirty="0"/>
          </a:p>
        </p:txBody>
      </p:sp>
      <p:sp>
        <p:nvSpPr>
          <p:cNvPr id="11" name="Text 9"/>
          <p:cNvSpPr/>
          <p:nvPr/>
        </p:nvSpPr>
        <p:spPr>
          <a:xfrm>
            <a:off x="6510528" y="2468880"/>
            <a:ext cx="4855464" cy="3566160"/>
          </a:xfrm>
          <a:prstGeom prst="rect">
            <a:avLst/>
          </a:prstGeom>
          <a:noFill/>
          <a:ln/>
        </p:spPr>
        <p:txBody>
          <a:bodyPr wrap="square" rtlCol="0" anchor="t"/>
          <a:lstStyle/>
          <a:p>
            <a:pPr marL="177800" indent="-177800">
              <a:lnSpc>
                <a:spcPts val="2100"/>
              </a:lnSpc>
              <a:spcAft>
                <a:spcPts val="900"/>
              </a:spcAft>
              <a:buSzPct val="100000"/>
              <a:buChar char="•"/>
            </a:pPr>
            <a:r>
              <a:rPr lang="en-US" sz="1250" dirty="0">
                <a:solidFill>
                  <a:srgbClr val="33302B"/>
                </a:solidFill>
                <a:latin typeface="Georgia" pitchFamily="34" charset="0"/>
                <a:ea typeface="Georgia" pitchFamily="34" charset="-122"/>
                <a:cs typeface="Georgia" pitchFamily="34" charset="-120"/>
              </a:rPr>
              <a:t>The reviewer cannot evaluate each one</a:t>
            </a:r>
            <a:endParaRPr lang="en-US" sz="1250" dirty="0"/>
          </a:p>
          <a:p>
            <a:pPr marL="177800" indent="-177800">
              <a:lnSpc>
                <a:spcPts val="2100"/>
              </a:lnSpc>
              <a:spcAft>
                <a:spcPts val="900"/>
              </a:spcAft>
              <a:buSzPct val="100000"/>
              <a:buChar char="•"/>
            </a:pPr>
            <a:r>
              <a:rPr lang="en-US" sz="1250" dirty="0">
                <a:solidFill>
                  <a:srgbClr val="33302B"/>
                </a:solidFill>
                <a:latin typeface="Georgia" pitchFamily="34" charset="0"/>
                <a:ea typeface="Georgia" pitchFamily="34" charset="-122"/>
                <a:cs typeface="Georgia" pitchFamily="34" charset="-120"/>
              </a:rPr>
              <a:t>Refusing has a cost; approving does not</a:t>
            </a:r>
            <a:endParaRPr lang="en-US" sz="1250" dirty="0"/>
          </a:p>
          <a:p>
            <a:pPr marL="177800" indent="-177800">
              <a:lnSpc>
                <a:spcPts val="2100"/>
              </a:lnSpc>
              <a:spcAft>
                <a:spcPts val="900"/>
              </a:spcAft>
              <a:buSzPct val="100000"/>
              <a:buChar char="•"/>
            </a:pPr>
            <a:r>
              <a:rPr lang="en-US" sz="1250" dirty="0">
                <a:solidFill>
                  <a:srgbClr val="33302B"/>
                </a:solidFill>
                <a:latin typeface="Georgia" pitchFamily="34" charset="0"/>
                <a:ea typeface="Georgia" pitchFamily="34" charset="-122"/>
                <a:cs typeface="Georgia" pitchFamily="34" charset="-120"/>
              </a:rPr>
              <a:t>Review becomes approval, then a click</a:t>
            </a:r>
            <a:endParaRPr lang="en-US" sz="1250" dirty="0"/>
          </a:p>
          <a:p>
            <a:pPr marL="177800" indent="-177800">
              <a:lnSpc>
                <a:spcPts val="2100"/>
              </a:lnSpc>
              <a:spcAft>
                <a:spcPts val="900"/>
              </a:spcAft>
              <a:buSzPct val="100000"/>
              <a:buChar char="•"/>
            </a:pPr>
            <a:r>
              <a:rPr lang="en-US" sz="1250" dirty="0">
                <a:solidFill>
                  <a:srgbClr val="33302B"/>
                </a:solidFill>
                <a:latin typeface="Georgia" pitchFamily="34" charset="0"/>
                <a:ea typeface="Georgia" pitchFamily="34" charset="-122"/>
                <a:cs typeface="Georgia" pitchFamily="34" charset="-120"/>
              </a:rPr>
              <a:t>The audit trail still records oversight — correctly</a:t>
            </a:r>
            <a:endParaRPr lang="en-US" sz="1250" dirty="0"/>
          </a:p>
          <a:p>
            <a:pPr marL="177800" indent="-177800">
              <a:lnSpc>
                <a:spcPts val="2100"/>
              </a:lnSpc>
              <a:spcAft>
                <a:spcPts val="900"/>
              </a:spcAft>
              <a:buSzPct val="100000"/>
              <a:buChar char="•"/>
            </a:pPr>
            <a:r>
              <a:rPr lang="en-US" sz="1250" dirty="0">
                <a:solidFill>
                  <a:srgbClr val="33302B"/>
                </a:solidFill>
                <a:latin typeface="Georgia" pitchFamily="34" charset="0"/>
                <a:ea typeface="Georgia" pitchFamily="34" charset="-122"/>
                <a:cs typeface="Georgia" pitchFamily="34" charset="-120"/>
              </a:rPr>
              <a:t>The institution has represented a control that cannot function</a:t>
            </a:r>
            <a:endParaRPr lang="en-US" sz="1250" dirty="0"/>
          </a:p>
        </p:txBody>
      </p:sp>
      <p:sp>
        <p:nvSpPr>
          <p:cNvPr id="12" name="Text 10"/>
          <p:cNvSpPr/>
          <p:nvPr/>
        </p:nvSpPr>
        <p:spPr>
          <a:xfrm>
            <a:off x="566928" y="6473952"/>
            <a:ext cx="9957816" cy="274320"/>
          </a:xfrm>
          <a:prstGeom prst="rect">
            <a:avLst/>
          </a:prstGeom>
          <a:noFill/>
          <a:ln/>
        </p:spPr>
        <p:txBody>
          <a:bodyPr wrap="square" rtlCol="0" anchor="ctr"/>
          <a:lstStyle/>
          <a:p>
            <a:pPr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indent="0" marL="0">
              <a:buNone/>
            </a:pPr>
            <a:r>
              <a:rPr lang="en-US" sz="900" dirty="0">
                <a:solidFill>
                  <a:srgbClr val="6E6A62"/>
                </a:solidFill>
                <a:latin typeface="Georgia" pitchFamily="34" charset="0"/>
                <a:ea typeface="Georgia" pitchFamily="34" charset="-122"/>
                <a:cs typeface="Georgia" pitchFamily="34" charset="-120"/>
              </a:rPr>
              <a:t>  ·  PCERT-FS — Custody in the Regulated Institution</a:t>
            </a:r>
            <a:endParaRPr lang="en-US" sz="900" dirty="0"/>
          </a:p>
        </p:txBody>
      </p:sp>
      <p:sp>
        <p:nvSpPr>
          <p:cNvPr id="13" name="Text 11"/>
          <p:cNvSpPr/>
          <p:nvPr/>
        </p:nvSpPr>
        <p:spPr>
          <a:xfrm>
            <a:off x="10707624"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55096" cy="292608"/>
          </a:xfrm>
          <a:prstGeom prst="rect">
            <a:avLst/>
          </a:prstGeom>
          <a:noFill/>
          <a:ln/>
        </p:spPr>
        <p:txBody>
          <a:bodyPr wrap="square" rtlCol="0" anchor="ctr"/>
          <a:lstStyle/>
          <a:p>
            <a:pPr indent="0" marL="0">
              <a:buNone/>
            </a:pPr>
            <a:r>
              <a:rPr lang="en-US" sz="1050" b="1" spc="120" kern="0" dirty="0">
                <a:solidFill>
                  <a:srgbClr val="8A8378"/>
                </a:solidFill>
                <a:latin typeface="Georgia" pitchFamily="34" charset="0"/>
                <a:ea typeface="Georgia" pitchFamily="34" charset="-122"/>
                <a:cs typeface="Georgia" pitchFamily="34" charset="-120"/>
              </a:rPr>
              <a:t>THREE HONEST RESPONSES</a:t>
            </a:r>
            <a:endParaRPr lang="en-US" sz="1050" dirty="0"/>
          </a:p>
        </p:txBody>
      </p:sp>
      <p:sp>
        <p:nvSpPr>
          <p:cNvPr id="3" name="Text 1"/>
          <p:cNvSpPr/>
          <p:nvPr/>
        </p:nvSpPr>
        <p:spPr>
          <a:xfrm>
            <a:off x="566928" y="749808"/>
            <a:ext cx="11055096" cy="822960"/>
          </a:xfrm>
          <a:prstGeom prst="rect">
            <a:avLst/>
          </a:prstGeom>
          <a:noFill/>
          <a:ln/>
        </p:spPr>
        <p:txBody>
          <a:bodyPr wrap="square" rtlCol="0" anchor="t"/>
          <a:lstStyle/>
          <a:p>
            <a:pPr indent="0" marL="0">
              <a:buNone/>
            </a:pPr>
            <a:r>
              <a:rPr lang="en-US" sz="2550" b="1" dirty="0">
                <a:solidFill>
                  <a:srgbClr val="1B1A18"/>
                </a:solidFill>
                <a:latin typeface="Georgia" pitchFamily="34" charset="0"/>
                <a:ea typeface="Georgia" pitchFamily="34" charset="-122"/>
                <a:cs typeface="Georgia" pitchFamily="34" charset="-120"/>
              </a:rPr>
              <a:t>And the fourth, which is the one that ends badly</a:t>
            </a:r>
            <a:endParaRPr lang="en-US" sz="2550" dirty="0"/>
          </a:p>
        </p:txBody>
      </p:sp>
      <p:sp>
        <p:nvSpPr>
          <p:cNvPr id="4" name="Shape 2"/>
          <p:cNvSpPr/>
          <p:nvPr/>
        </p:nvSpPr>
        <p:spPr>
          <a:xfrm>
            <a:off x="566928" y="1691640"/>
            <a:ext cx="457200" cy="457200"/>
          </a:xfrm>
          <a:prstGeom prst="ellipse">
            <a:avLst/>
          </a:prstGeom>
          <a:solidFill>
            <a:srgbClr val="1B1A18"/>
          </a:solidFill>
          <a:ln/>
        </p:spPr>
      </p:sp>
      <p:sp>
        <p:nvSpPr>
          <p:cNvPr id="5" name="Text 3"/>
          <p:cNvSpPr/>
          <p:nvPr/>
        </p:nvSpPr>
        <p:spPr>
          <a:xfrm>
            <a:off x="566928" y="169164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1</a:t>
            </a:r>
            <a:endParaRPr lang="en-US" sz="1400" dirty="0"/>
          </a:p>
        </p:txBody>
      </p:sp>
      <p:sp>
        <p:nvSpPr>
          <p:cNvPr id="6" name="Text 4"/>
          <p:cNvSpPr/>
          <p:nvPr/>
        </p:nvSpPr>
        <p:spPr>
          <a:xfrm>
            <a:off x="1234440" y="1636776"/>
            <a:ext cx="10277856" cy="1024128"/>
          </a:xfrm>
          <a:prstGeom prst="rect">
            <a:avLst/>
          </a:prstGeom>
          <a:noFill/>
          <a:ln/>
        </p:spPr>
        <p:txBody>
          <a:bodyPr wrap="square" rtlCol="0" anchor="t"/>
          <a:lstStyle/>
          <a:p>
            <a:pPr indent="0" marL="0">
              <a:lnSpc>
                <a:spcPts val="2200"/>
              </a:lnSpc>
              <a:buNone/>
            </a:pPr>
            <a:r>
              <a:rPr lang="en-US" sz="1500" b="1" dirty="0">
                <a:solidFill>
                  <a:srgbClr val="33302B"/>
                </a:solidFill>
                <a:latin typeface="Georgia" pitchFamily="34" charset="0"/>
                <a:ea typeface="Georgia" pitchFamily="34" charset="-122"/>
                <a:cs typeface="Georgia" pitchFamily="34" charset="-120"/>
              </a:rPr>
              <a:t>Reduce the volume so review is real.   </a:t>
            </a:r>
            <a:pPr indent="0" marL="0">
              <a:lnSpc>
                <a:spcPts val="2200"/>
              </a:lnSpc>
              <a:buNone/>
            </a:pPr>
            <a:r>
              <a:rPr lang="en-US" sz="1500" dirty="0">
                <a:solidFill>
                  <a:srgbClr val="6E6A62"/>
                </a:solidFill>
                <a:latin typeface="Georgia" pitchFamily="34" charset="0"/>
                <a:ea typeface="Georgia" pitchFamily="34" charset="-122"/>
                <a:cs typeface="Georgia" pitchFamily="34" charset="-120"/>
              </a:rPr>
              <a:t>Sample-based review is a different control. Name it as one.</a:t>
            </a:r>
            <a:endParaRPr lang="en-US" sz="1500" dirty="0"/>
          </a:p>
        </p:txBody>
      </p:sp>
      <p:sp>
        <p:nvSpPr>
          <p:cNvPr id="7" name="Shape 5"/>
          <p:cNvSpPr/>
          <p:nvPr/>
        </p:nvSpPr>
        <p:spPr>
          <a:xfrm>
            <a:off x="566928" y="2857500"/>
            <a:ext cx="457200" cy="457200"/>
          </a:xfrm>
          <a:prstGeom prst="ellipse">
            <a:avLst/>
          </a:prstGeom>
          <a:solidFill>
            <a:srgbClr val="1B1A18"/>
          </a:solidFill>
          <a:ln/>
        </p:spPr>
      </p:sp>
      <p:sp>
        <p:nvSpPr>
          <p:cNvPr id="8" name="Text 6"/>
          <p:cNvSpPr/>
          <p:nvPr/>
        </p:nvSpPr>
        <p:spPr>
          <a:xfrm>
            <a:off x="566928" y="285750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2</a:t>
            </a:r>
            <a:endParaRPr lang="en-US" sz="1400" dirty="0"/>
          </a:p>
        </p:txBody>
      </p:sp>
      <p:sp>
        <p:nvSpPr>
          <p:cNvPr id="9" name="Text 7"/>
          <p:cNvSpPr/>
          <p:nvPr/>
        </p:nvSpPr>
        <p:spPr>
          <a:xfrm>
            <a:off x="1234440" y="2802636"/>
            <a:ext cx="10277856" cy="1024128"/>
          </a:xfrm>
          <a:prstGeom prst="rect">
            <a:avLst/>
          </a:prstGeom>
          <a:noFill/>
          <a:ln/>
        </p:spPr>
        <p:txBody>
          <a:bodyPr wrap="square" rtlCol="0" anchor="t"/>
          <a:lstStyle/>
          <a:p>
            <a:pPr indent="0" marL="0">
              <a:lnSpc>
                <a:spcPts val="2200"/>
              </a:lnSpc>
              <a:buNone/>
            </a:pPr>
            <a:r>
              <a:rPr lang="en-US" sz="1500" b="1" dirty="0">
                <a:solidFill>
                  <a:srgbClr val="33302B"/>
                </a:solidFill>
                <a:latin typeface="Georgia" pitchFamily="34" charset="0"/>
                <a:ea typeface="Georgia" pitchFamily="34" charset="-122"/>
                <a:cs typeface="Georgia" pitchFamily="34" charset="-120"/>
              </a:rPr>
              <a:t>Move enforcement into structure; supervise the structure.   </a:t>
            </a:r>
            <a:pPr indent="0" marL="0">
              <a:lnSpc>
                <a:spcPts val="2200"/>
              </a:lnSpc>
              <a:buNone/>
            </a:pPr>
            <a:r>
              <a:rPr lang="en-US" sz="1500" dirty="0">
                <a:solidFill>
                  <a:srgbClr val="6E6A62"/>
                </a:solidFill>
                <a:latin typeface="Georgia" pitchFamily="34" charset="0"/>
                <a:ea typeface="Georgia" pitchFamily="34" charset="-122"/>
                <a:cs typeface="Georgia" pitchFamily="34" charset="-120"/>
              </a:rPr>
              <a:t>The human reviews the gate, its rule set, and its exception log — not each transaction. The only option that scales.</a:t>
            </a:r>
            <a:endParaRPr lang="en-US" sz="1500" dirty="0"/>
          </a:p>
        </p:txBody>
      </p:sp>
      <p:sp>
        <p:nvSpPr>
          <p:cNvPr id="10" name="Shape 8"/>
          <p:cNvSpPr/>
          <p:nvPr/>
        </p:nvSpPr>
        <p:spPr>
          <a:xfrm>
            <a:off x="566928" y="4023360"/>
            <a:ext cx="457200" cy="457200"/>
          </a:xfrm>
          <a:prstGeom prst="ellipse">
            <a:avLst/>
          </a:prstGeom>
          <a:solidFill>
            <a:srgbClr val="1B1A18"/>
          </a:solidFill>
          <a:ln/>
        </p:spPr>
      </p:sp>
      <p:sp>
        <p:nvSpPr>
          <p:cNvPr id="11" name="Text 9"/>
          <p:cNvSpPr/>
          <p:nvPr/>
        </p:nvSpPr>
        <p:spPr>
          <a:xfrm>
            <a:off x="566928" y="402336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3</a:t>
            </a:r>
            <a:endParaRPr lang="en-US" sz="1400" dirty="0"/>
          </a:p>
        </p:txBody>
      </p:sp>
      <p:sp>
        <p:nvSpPr>
          <p:cNvPr id="12" name="Text 10"/>
          <p:cNvSpPr/>
          <p:nvPr/>
        </p:nvSpPr>
        <p:spPr>
          <a:xfrm>
            <a:off x="1234440" y="3968496"/>
            <a:ext cx="10277856" cy="1024128"/>
          </a:xfrm>
          <a:prstGeom prst="rect">
            <a:avLst/>
          </a:prstGeom>
          <a:noFill/>
          <a:ln/>
        </p:spPr>
        <p:txBody>
          <a:bodyPr wrap="square" rtlCol="0" anchor="t"/>
          <a:lstStyle/>
          <a:p>
            <a:pPr indent="0" marL="0">
              <a:lnSpc>
                <a:spcPts val="2200"/>
              </a:lnSpc>
              <a:buNone/>
            </a:pPr>
            <a:r>
              <a:rPr lang="en-US" sz="1500" b="1" dirty="0">
                <a:solidFill>
                  <a:srgbClr val="33302B"/>
                </a:solidFill>
                <a:latin typeface="Georgia" pitchFamily="34" charset="0"/>
                <a:ea typeface="Georgia" pitchFamily="34" charset="-122"/>
                <a:cs typeface="Georgia" pitchFamily="34" charset="-120"/>
              </a:rPr>
              <a:t>Accept the residual risk, with the reasoning recorded.   </a:t>
            </a:r>
            <a:pPr indent="0" marL="0">
              <a:lnSpc>
                <a:spcPts val="2200"/>
              </a:lnSpc>
              <a:buNone/>
            </a:pPr>
            <a:r>
              <a:rPr lang="en-US" sz="1500" dirty="0">
                <a:solidFill>
                  <a:srgbClr val="6E6A62"/>
                </a:solidFill>
                <a:latin typeface="Georgia" pitchFamily="34" charset="0"/>
                <a:ea typeface="Georgia" pitchFamily="34" charset="-122"/>
                <a:cs typeface="Georgia" pitchFamily="34" charset="-120"/>
              </a:rPr>
              <a:t>Least attractive, entirely legitimate, and defensible in an examination.</a:t>
            </a:r>
            <a:endParaRPr lang="en-US" sz="1500" dirty="0"/>
          </a:p>
        </p:txBody>
      </p:sp>
      <p:sp>
        <p:nvSpPr>
          <p:cNvPr id="13" name="Shape 11"/>
          <p:cNvSpPr/>
          <p:nvPr/>
        </p:nvSpPr>
        <p:spPr>
          <a:xfrm>
            <a:off x="566928" y="5189220"/>
            <a:ext cx="457200" cy="457200"/>
          </a:xfrm>
          <a:prstGeom prst="ellipse">
            <a:avLst/>
          </a:prstGeom>
          <a:solidFill>
            <a:srgbClr val="1B1A18"/>
          </a:solidFill>
          <a:ln/>
        </p:spPr>
      </p:sp>
      <p:sp>
        <p:nvSpPr>
          <p:cNvPr id="14" name="Text 12"/>
          <p:cNvSpPr/>
          <p:nvPr/>
        </p:nvSpPr>
        <p:spPr>
          <a:xfrm>
            <a:off x="566928" y="518922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4</a:t>
            </a:r>
            <a:endParaRPr lang="en-US" sz="1400" dirty="0"/>
          </a:p>
        </p:txBody>
      </p:sp>
      <p:sp>
        <p:nvSpPr>
          <p:cNvPr id="15" name="Text 13"/>
          <p:cNvSpPr/>
          <p:nvPr/>
        </p:nvSpPr>
        <p:spPr>
          <a:xfrm>
            <a:off x="1234440" y="5134356"/>
            <a:ext cx="10277856" cy="1024128"/>
          </a:xfrm>
          <a:prstGeom prst="rect">
            <a:avLst/>
          </a:prstGeom>
          <a:noFill/>
          <a:ln/>
        </p:spPr>
        <p:txBody>
          <a:bodyPr wrap="square" rtlCol="0" anchor="t"/>
          <a:lstStyle/>
          <a:p>
            <a:pPr indent="0" marL="0">
              <a:lnSpc>
                <a:spcPts val="2200"/>
              </a:lnSpc>
              <a:buNone/>
            </a:pPr>
            <a:r>
              <a:rPr lang="en-US" sz="1500" b="1" dirty="0">
                <a:solidFill>
                  <a:srgbClr val="33302B"/>
                </a:solidFill>
                <a:latin typeface="Georgia" pitchFamily="34" charset="0"/>
                <a:ea typeface="Georgia" pitchFamily="34" charset="-122"/>
                <a:cs typeface="Georgia" pitchFamily="34" charset="-120"/>
              </a:rPr>
              <a:t>Leave the fiction in the control library.   </a:t>
            </a:r>
            <a:pPr indent="0" marL="0">
              <a:lnSpc>
                <a:spcPts val="2200"/>
              </a:lnSpc>
              <a:buNone/>
            </a:pPr>
            <a:r>
              <a:rPr lang="en-US" sz="1500" dirty="0">
                <a:solidFill>
                  <a:srgbClr val="6E6A62"/>
                </a:solidFill>
                <a:latin typeface="Georgia" pitchFamily="34" charset="0"/>
                <a:ea typeface="Georgia" pitchFamily="34" charset="-122"/>
                <a:cs typeface="Georgia" pitchFamily="34" charset="-120"/>
              </a:rPr>
              <a:t>Not a response. This is the option an examiner or an incident will find for you.</a:t>
            </a:r>
            <a:endParaRPr lang="en-US" sz="1500" dirty="0"/>
          </a:p>
        </p:txBody>
      </p:sp>
      <p:sp>
        <p:nvSpPr>
          <p:cNvPr id="16" name="Text 14"/>
          <p:cNvSpPr/>
          <p:nvPr/>
        </p:nvSpPr>
        <p:spPr>
          <a:xfrm>
            <a:off x="566928" y="6473952"/>
            <a:ext cx="9957816" cy="274320"/>
          </a:xfrm>
          <a:prstGeom prst="rect">
            <a:avLst/>
          </a:prstGeom>
          <a:noFill/>
          <a:ln/>
        </p:spPr>
        <p:txBody>
          <a:bodyPr wrap="square" rtlCol="0" anchor="ctr"/>
          <a:lstStyle/>
          <a:p>
            <a:pPr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indent="0" marL="0">
              <a:buNone/>
            </a:pPr>
            <a:r>
              <a:rPr lang="en-US" sz="900" dirty="0">
                <a:solidFill>
                  <a:srgbClr val="6E6A62"/>
                </a:solidFill>
                <a:latin typeface="Georgia" pitchFamily="34" charset="0"/>
                <a:ea typeface="Georgia" pitchFamily="34" charset="-122"/>
                <a:cs typeface="Georgia" pitchFamily="34" charset="-120"/>
              </a:rPr>
              <a:t>  ·  PCERT-FS — Custody in the Regulated Institution</a:t>
            </a:r>
            <a:endParaRPr lang="en-US" sz="900" dirty="0"/>
          </a:p>
        </p:txBody>
      </p:sp>
      <p:sp>
        <p:nvSpPr>
          <p:cNvPr id="17" name="Text 15"/>
          <p:cNvSpPr/>
          <p:nvPr/>
        </p:nvSpPr>
        <p:spPr>
          <a:xfrm>
            <a:off x="10707624"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55096" cy="292608"/>
          </a:xfrm>
          <a:prstGeom prst="rect">
            <a:avLst/>
          </a:prstGeom>
          <a:noFill/>
          <a:ln/>
        </p:spPr>
        <p:txBody>
          <a:bodyPr wrap="square" rtlCol="0" anchor="ctr"/>
          <a:lstStyle/>
          <a:p>
            <a:pPr indent="0" marL="0">
              <a:buNone/>
            </a:pPr>
            <a:r>
              <a:rPr lang="en-US" sz="1050" b="1" spc="120" kern="0" dirty="0">
                <a:solidFill>
                  <a:srgbClr val="8A8378"/>
                </a:solidFill>
                <a:latin typeface="Georgia" pitchFamily="34" charset="0"/>
                <a:ea typeface="Georgia" pitchFamily="34" charset="-122"/>
                <a:cs typeface="Georgia" pitchFamily="34" charset="-120"/>
              </a:rPr>
              <a:t>MODULE 3  ·  APPLIED EXERCISE</a:t>
            </a:r>
            <a:endParaRPr lang="en-US" sz="1050" dirty="0"/>
          </a:p>
        </p:txBody>
      </p:sp>
      <p:sp>
        <p:nvSpPr>
          <p:cNvPr id="3" name="Text 1"/>
          <p:cNvSpPr/>
          <p:nvPr/>
        </p:nvSpPr>
        <p:spPr>
          <a:xfrm>
            <a:off x="566928" y="749808"/>
            <a:ext cx="11055096" cy="822960"/>
          </a:xfrm>
          <a:prstGeom prst="rect">
            <a:avLst/>
          </a:prstGeom>
          <a:noFill/>
          <a:ln/>
        </p:spPr>
        <p:txBody>
          <a:bodyPr wrap="square" rtlCol="0" anchor="t"/>
          <a:lstStyle/>
          <a:p>
            <a:pPr indent="0" marL="0">
              <a:buNone/>
            </a:pPr>
            <a:r>
              <a:rPr lang="en-US" sz="2550" b="1" dirty="0">
                <a:solidFill>
                  <a:srgbClr val="1B1A18"/>
                </a:solidFill>
                <a:latin typeface="Georgia" pitchFamily="34" charset="0"/>
                <a:ea typeface="Georgia" pitchFamily="34" charset="-122"/>
                <a:cs typeface="Georgia" pitchFamily="34" charset="-120"/>
              </a:rPr>
              <a:t>The address test, and one oversight control</a:t>
            </a:r>
            <a:endParaRPr lang="en-US" sz="2550" dirty="0"/>
          </a:p>
        </p:txBody>
      </p:sp>
      <p:sp>
        <p:nvSpPr>
          <p:cNvPr id="4" name="Shape 2"/>
          <p:cNvSpPr/>
          <p:nvPr/>
        </p:nvSpPr>
        <p:spPr>
          <a:xfrm>
            <a:off x="566928" y="1737360"/>
            <a:ext cx="11055096" cy="1371600"/>
          </a:xfrm>
          <a:prstGeom prst="rect">
            <a:avLst/>
          </a:prstGeom>
          <a:solidFill>
            <a:srgbClr val="F4F2EE"/>
          </a:solidFill>
          <a:ln/>
        </p:spPr>
      </p:sp>
      <p:sp>
        <p:nvSpPr>
          <p:cNvPr id="5" name="Shape 3"/>
          <p:cNvSpPr/>
          <p:nvPr/>
        </p:nvSpPr>
        <p:spPr>
          <a:xfrm>
            <a:off x="566928" y="1737360"/>
            <a:ext cx="54864" cy="1371600"/>
          </a:xfrm>
          <a:prstGeom prst="rect">
            <a:avLst/>
          </a:prstGeom>
          <a:solidFill>
            <a:srgbClr val="8A8378"/>
          </a:solidFill>
          <a:ln/>
        </p:spPr>
      </p:sp>
      <p:sp>
        <p:nvSpPr>
          <p:cNvPr id="6" name="Text 4"/>
          <p:cNvSpPr/>
          <p:nvPr/>
        </p:nvSpPr>
        <p:spPr>
          <a:xfrm>
            <a:off x="841248" y="1847088"/>
            <a:ext cx="2743200" cy="274320"/>
          </a:xfrm>
          <a:prstGeom prst="rect">
            <a:avLst/>
          </a:prstGeom>
          <a:noFill/>
          <a:ln/>
        </p:spPr>
        <p:txBody>
          <a:bodyPr wrap="square" rtlCol="0" anchor="ctr"/>
          <a:lstStyle/>
          <a:p>
            <a:pPr indent="0" marL="0">
              <a:buNone/>
            </a:pPr>
            <a:r>
              <a:rPr lang="en-US" sz="1000" b="1" spc="100" kern="0" dirty="0">
                <a:solidFill>
                  <a:srgbClr val="57534A"/>
                </a:solidFill>
                <a:latin typeface="Georgia" pitchFamily="34" charset="0"/>
                <a:ea typeface="Georgia" pitchFamily="34" charset="-122"/>
                <a:cs typeface="Georgia" pitchFamily="34" charset="-120"/>
              </a:rPr>
              <a:t>THE TASK</a:t>
            </a:r>
            <a:endParaRPr lang="en-US" sz="1000" dirty="0"/>
          </a:p>
        </p:txBody>
      </p:sp>
      <p:sp>
        <p:nvSpPr>
          <p:cNvPr id="7" name="Text 5"/>
          <p:cNvSpPr/>
          <p:nvPr/>
        </p:nvSpPr>
        <p:spPr>
          <a:xfrm>
            <a:off x="841248" y="2148840"/>
            <a:ext cx="10506456" cy="868680"/>
          </a:xfrm>
          <a:prstGeom prst="rect">
            <a:avLst/>
          </a:prstGeom>
          <a:noFill/>
          <a:ln/>
        </p:spPr>
        <p:txBody>
          <a:bodyPr wrap="square" rtlCol="0" anchor="ctr"/>
          <a:lstStyle/>
          <a:p>
            <a:pPr indent="0" marL="0">
              <a:lnSpc>
                <a:spcPts val="2100"/>
              </a:lnSpc>
              <a:buNone/>
            </a:pPr>
            <a:r>
              <a:rPr lang="en-US" sz="1350" dirty="0">
                <a:solidFill>
                  <a:srgbClr val="33302B"/>
                </a:solidFill>
                <a:latin typeface="Georgia" pitchFamily="34" charset="0"/>
                <a:ea typeface="Georgia" pitchFamily="34" charset="-122"/>
                <a:cs typeface="Georgia" pitchFamily="34" charset="-120"/>
              </a:rPr>
              <a:t>Name five rules in your institution that admit no exception. For each, identify where it is physically enforced. Then take one control that rests on human review and place it into one of the three responses.</a:t>
            </a:r>
            <a:endParaRPr lang="en-US" sz="1350" dirty="0"/>
          </a:p>
        </p:txBody>
      </p:sp>
      <p:sp>
        <p:nvSpPr>
          <p:cNvPr id="8" name="Shape 6"/>
          <p:cNvSpPr/>
          <p:nvPr/>
        </p:nvSpPr>
        <p:spPr>
          <a:xfrm>
            <a:off x="566928" y="3273552"/>
            <a:ext cx="11055096" cy="1371600"/>
          </a:xfrm>
          <a:prstGeom prst="rect">
            <a:avLst/>
          </a:prstGeom>
          <a:solidFill>
            <a:srgbClr val="EBE7DF"/>
          </a:solidFill>
          <a:ln/>
        </p:spPr>
      </p:sp>
      <p:sp>
        <p:nvSpPr>
          <p:cNvPr id="9" name="Shape 7"/>
          <p:cNvSpPr/>
          <p:nvPr/>
        </p:nvSpPr>
        <p:spPr>
          <a:xfrm>
            <a:off x="566928" y="3273552"/>
            <a:ext cx="54864" cy="1371600"/>
          </a:xfrm>
          <a:prstGeom prst="rect">
            <a:avLst/>
          </a:prstGeom>
          <a:solidFill>
            <a:srgbClr val="8A8378"/>
          </a:solidFill>
          <a:ln/>
        </p:spPr>
      </p:sp>
      <p:sp>
        <p:nvSpPr>
          <p:cNvPr id="10" name="Text 8"/>
          <p:cNvSpPr/>
          <p:nvPr/>
        </p:nvSpPr>
        <p:spPr>
          <a:xfrm>
            <a:off x="841248" y="3383280"/>
            <a:ext cx="2743200" cy="274320"/>
          </a:xfrm>
          <a:prstGeom prst="rect">
            <a:avLst/>
          </a:prstGeom>
          <a:noFill/>
          <a:ln/>
        </p:spPr>
        <p:txBody>
          <a:bodyPr wrap="square" rtlCol="0" anchor="ctr"/>
          <a:lstStyle/>
          <a:p>
            <a:pPr indent="0" marL="0">
              <a:buNone/>
            </a:pPr>
            <a:r>
              <a:rPr lang="en-US" sz="1000" b="1" spc="100" kern="0" dirty="0">
                <a:solidFill>
                  <a:srgbClr val="57534A"/>
                </a:solidFill>
                <a:latin typeface="Georgia" pitchFamily="34" charset="0"/>
                <a:ea typeface="Georgia" pitchFamily="34" charset="-122"/>
                <a:cs typeface="Georgia" pitchFamily="34" charset="-120"/>
              </a:rPr>
              <a:t>DELIVERABLE</a:t>
            </a:r>
            <a:endParaRPr lang="en-US" sz="1000" dirty="0"/>
          </a:p>
        </p:txBody>
      </p:sp>
      <p:sp>
        <p:nvSpPr>
          <p:cNvPr id="11" name="Text 9"/>
          <p:cNvSpPr/>
          <p:nvPr/>
        </p:nvSpPr>
        <p:spPr>
          <a:xfrm>
            <a:off x="841248" y="3685032"/>
            <a:ext cx="10506456" cy="868680"/>
          </a:xfrm>
          <a:prstGeom prst="rect">
            <a:avLst/>
          </a:prstGeom>
          <a:noFill/>
          <a:ln/>
        </p:spPr>
        <p:txBody>
          <a:bodyPr wrap="square" rtlCol="0" anchor="ctr"/>
          <a:lstStyle/>
          <a:p>
            <a:pPr indent="0" marL="0">
              <a:lnSpc>
                <a:spcPts val="2100"/>
              </a:lnSpc>
              <a:buNone/>
            </a:pPr>
            <a:r>
              <a:rPr lang="en-US" sz="1350" dirty="0">
                <a:solidFill>
                  <a:srgbClr val="33302B"/>
                </a:solidFill>
                <a:latin typeface="Georgia" pitchFamily="34" charset="0"/>
                <a:ea typeface="Georgia" pitchFamily="34" charset="-122"/>
                <a:cs typeface="Georgia" pitchFamily="34" charset="-120"/>
              </a:rPr>
              <a:t>Five rules with enforcement points located or their absence recorded, plus one oversight control classified.</a:t>
            </a:r>
            <a:endParaRPr lang="en-US" sz="1350" dirty="0"/>
          </a:p>
        </p:txBody>
      </p:sp>
      <p:sp>
        <p:nvSpPr>
          <p:cNvPr id="12" name="Shape 10"/>
          <p:cNvSpPr/>
          <p:nvPr/>
        </p:nvSpPr>
        <p:spPr>
          <a:xfrm>
            <a:off x="566928" y="4809744"/>
            <a:ext cx="11055096" cy="1371600"/>
          </a:xfrm>
          <a:prstGeom prst="rect">
            <a:avLst/>
          </a:prstGeom>
          <a:solidFill>
            <a:srgbClr val="E4DFD5"/>
          </a:solidFill>
          <a:ln/>
        </p:spPr>
      </p:sp>
      <p:sp>
        <p:nvSpPr>
          <p:cNvPr id="13" name="Shape 11"/>
          <p:cNvSpPr/>
          <p:nvPr/>
        </p:nvSpPr>
        <p:spPr>
          <a:xfrm>
            <a:off x="566928" y="4809744"/>
            <a:ext cx="54864" cy="1371600"/>
          </a:xfrm>
          <a:prstGeom prst="rect">
            <a:avLst/>
          </a:prstGeom>
          <a:solidFill>
            <a:srgbClr val="8A8378"/>
          </a:solidFill>
          <a:ln/>
        </p:spPr>
      </p:sp>
      <p:sp>
        <p:nvSpPr>
          <p:cNvPr id="14" name="Text 12"/>
          <p:cNvSpPr/>
          <p:nvPr/>
        </p:nvSpPr>
        <p:spPr>
          <a:xfrm>
            <a:off x="841248" y="4919472"/>
            <a:ext cx="2743200" cy="274320"/>
          </a:xfrm>
          <a:prstGeom prst="rect">
            <a:avLst/>
          </a:prstGeom>
          <a:noFill/>
          <a:ln/>
        </p:spPr>
        <p:txBody>
          <a:bodyPr wrap="square" rtlCol="0" anchor="ctr"/>
          <a:lstStyle/>
          <a:p>
            <a:pPr indent="0" marL="0">
              <a:buNone/>
            </a:pPr>
            <a:r>
              <a:rPr lang="en-US" sz="1000" b="1" spc="100" kern="0" dirty="0">
                <a:solidFill>
                  <a:srgbClr val="57534A"/>
                </a:solidFill>
                <a:latin typeface="Georgia" pitchFamily="34" charset="0"/>
                <a:ea typeface="Georgia" pitchFamily="34" charset="-122"/>
                <a:cs typeface="Georgia" pitchFamily="34" charset="-120"/>
              </a:rPr>
              <a:t>MARKED ON</a:t>
            </a:r>
            <a:endParaRPr lang="en-US" sz="1000" dirty="0"/>
          </a:p>
        </p:txBody>
      </p:sp>
      <p:sp>
        <p:nvSpPr>
          <p:cNvPr id="15" name="Text 13"/>
          <p:cNvSpPr/>
          <p:nvPr/>
        </p:nvSpPr>
        <p:spPr>
          <a:xfrm>
            <a:off x="841248" y="5221224"/>
            <a:ext cx="10506456" cy="868680"/>
          </a:xfrm>
          <a:prstGeom prst="rect">
            <a:avLst/>
          </a:prstGeom>
          <a:noFill/>
          <a:ln/>
        </p:spPr>
        <p:txBody>
          <a:bodyPr wrap="square" rtlCol="0" anchor="ctr"/>
          <a:lstStyle/>
          <a:p>
            <a:pPr indent="0" marL="0">
              <a:lnSpc>
                <a:spcPts val="2100"/>
              </a:lnSpc>
              <a:buNone/>
            </a:pPr>
            <a:r>
              <a:rPr lang="en-US" sz="1350" dirty="0">
                <a:solidFill>
                  <a:srgbClr val="33302B"/>
                </a:solidFill>
                <a:latin typeface="Georgia" pitchFamily="34" charset="0"/>
                <a:ea typeface="Georgia" pitchFamily="34" charset="-122"/>
                <a:cs typeface="Georgia" pitchFamily="34" charset="-120"/>
              </a:rPr>
              <a:t>Whether an enforcement point was located or its absence recorded. Any answer resolving to a model instruction must be recorded as unenforced — marking it as enforced is the most consequential error available in this course.</a:t>
            </a:r>
            <a:endParaRPr lang="en-US" sz="1350" dirty="0"/>
          </a:p>
        </p:txBody>
      </p:sp>
      <p:sp>
        <p:nvSpPr>
          <p:cNvPr id="16" name="Text 14"/>
          <p:cNvSpPr/>
          <p:nvPr/>
        </p:nvSpPr>
        <p:spPr>
          <a:xfrm>
            <a:off x="566928" y="6473952"/>
            <a:ext cx="9957816" cy="274320"/>
          </a:xfrm>
          <a:prstGeom prst="rect">
            <a:avLst/>
          </a:prstGeom>
          <a:noFill/>
          <a:ln/>
        </p:spPr>
        <p:txBody>
          <a:bodyPr wrap="square" rtlCol="0" anchor="ctr"/>
          <a:lstStyle/>
          <a:p>
            <a:pPr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indent="0" marL="0">
              <a:buNone/>
            </a:pPr>
            <a:r>
              <a:rPr lang="en-US" sz="900" dirty="0">
                <a:solidFill>
                  <a:srgbClr val="6E6A62"/>
                </a:solidFill>
                <a:latin typeface="Georgia" pitchFamily="34" charset="0"/>
                <a:ea typeface="Georgia" pitchFamily="34" charset="-122"/>
                <a:cs typeface="Georgia" pitchFamily="34" charset="-120"/>
              </a:rPr>
              <a:t>  ·  PCERT-FS — Custody in the Regulated Institution</a:t>
            </a:r>
            <a:endParaRPr lang="en-US" sz="900" dirty="0"/>
          </a:p>
        </p:txBody>
      </p:sp>
      <p:sp>
        <p:nvSpPr>
          <p:cNvPr id="17" name="Text 15"/>
          <p:cNvSpPr/>
          <p:nvPr/>
        </p:nvSpPr>
        <p:spPr>
          <a:xfrm>
            <a:off x="10707624"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55096" cy="292608"/>
          </a:xfrm>
          <a:prstGeom prst="rect">
            <a:avLst/>
          </a:prstGeom>
          <a:noFill/>
          <a:ln/>
        </p:spPr>
        <p:txBody>
          <a:bodyPr wrap="square" rtlCol="0" anchor="ctr"/>
          <a:lstStyle/>
          <a:p>
            <a:pPr indent="0" marL="0">
              <a:buNone/>
            </a:pPr>
            <a:r>
              <a:rPr lang="en-US" sz="1050" b="1" spc="120" kern="0" dirty="0">
                <a:solidFill>
                  <a:srgbClr val="8A8378"/>
                </a:solidFill>
                <a:latin typeface="Georgia" pitchFamily="34" charset="0"/>
                <a:ea typeface="Georgia" pitchFamily="34" charset="-122"/>
                <a:cs typeface="Georgia" pitchFamily="34" charset="-120"/>
              </a:rPr>
              <a:t>CONSEQUENCE RECORD  ·  CASE 1</a:t>
            </a:r>
            <a:endParaRPr lang="en-US" sz="1050" dirty="0"/>
          </a:p>
        </p:txBody>
      </p:sp>
      <p:sp>
        <p:nvSpPr>
          <p:cNvPr id="3" name="Text 1"/>
          <p:cNvSpPr/>
          <p:nvPr/>
        </p:nvSpPr>
        <p:spPr>
          <a:xfrm>
            <a:off x="566928" y="749808"/>
            <a:ext cx="11055096" cy="822960"/>
          </a:xfrm>
          <a:prstGeom prst="rect">
            <a:avLst/>
          </a:prstGeom>
          <a:noFill/>
          <a:ln/>
        </p:spPr>
        <p:txBody>
          <a:bodyPr wrap="square" rtlCol="0" anchor="t"/>
          <a:lstStyle/>
          <a:p>
            <a:pPr indent="0" marL="0">
              <a:buNone/>
            </a:pPr>
            <a:r>
              <a:rPr lang="en-US" sz="2550" b="1" dirty="0">
                <a:solidFill>
                  <a:srgbClr val="1B1A18"/>
                </a:solidFill>
                <a:latin typeface="Georgia" pitchFamily="34" charset="0"/>
                <a:ea typeface="Georgia" pitchFamily="34" charset="-122"/>
                <a:cs typeface="Georgia" pitchFamily="34" charset="-120"/>
              </a:rPr>
              <a:t>Knight Capital — a change that crossed into production</a:t>
            </a:r>
            <a:endParaRPr lang="en-US" sz="2550" dirty="0"/>
          </a:p>
        </p:txBody>
      </p:sp>
      <p:sp>
        <p:nvSpPr>
          <p:cNvPr id="4" name="Text 2"/>
          <p:cNvSpPr/>
          <p:nvPr/>
        </p:nvSpPr>
        <p:spPr>
          <a:xfrm>
            <a:off x="566928" y="1627632"/>
            <a:ext cx="11055096" cy="310896"/>
          </a:xfrm>
          <a:prstGeom prst="rect">
            <a:avLst/>
          </a:prstGeom>
          <a:noFill/>
          <a:ln/>
        </p:spPr>
        <p:txBody>
          <a:bodyPr wrap="square" rtlCol="0" anchor="ctr"/>
          <a:lstStyle/>
          <a:p>
            <a:pPr indent="0" marL="0">
              <a:buNone/>
            </a:pPr>
            <a:r>
              <a:rPr lang="en-US" sz="1150" i="1" dirty="0">
                <a:solidFill>
                  <a:srgbClr val="6E6A62"/>
                </a:solidFill>
                <a:latin typeface="Georgia" pitchFamily="34" charset="0"/>
                <a:ea typeface="Georgia" pitchFamily="34" charset="-122"/>
                <a:cs typeface="Georgia" pitchFamily="34" charset="-120"/>
              </a:rPr>
              <a:t>Primary source: US Securities and Exchange Commission administrative proceeding (2013)</a:t>
            </a:r>
            <a:endParaRPr lang="en-US" sz="1150" dirty="0"/>
          </a:p>
        </p:txBody>
      </p:sp>
      <p:sp>
        <p:nvSpPr>
          <p:cNvPr id="5" name="Shape 3"/>
          <p:cNvSpPr/>
          <p:nvPr/>
        </p:nvSpPr>
        <p:spPr>
          <a:xfrm>
            <a:off x="566928" y="2057400"/>
            <a:ext cx="11055096" cy="2148840"/>
          </a:xfrm>
          <a:prstGeom prst="rect">
            <a:avLst/>
          </a:prstGeom>
          <a:solidFill>
            <a:srgbClr val="F4F2EE"/>
          </a:solidFill>
          <a:ln/>
        </p:spPr>
      </p:sp>
      <p:sp>
        <p:nvSpPr>
          <p:cNvPr id="6" name="Shape 4"/>
          <p:cNvSpPr/>
          <p:nvPr/>
        </p:nvSpPr>
        <p:spPr>
          <a:xfrm>
            <a:off x="566928" y="2057400"/>
            <a:ext cx="54864" cy="2148840"/>
          </a:xfrm>
          <a:prstGeom prst="rect">
            <a:avLst/>
          </a:prstGeom>
          <a:solidFill>
            <a:srgbClr val="8A8378"/>
          </a:solidFill>
          <a:ln/>
        </p:spPr>
      </p:sp>
      <p:sp>
        <p:nvSpPr>
          <p:cNvPr id="7" name="Text 5"/>
          <p:cNvSpPr/>
          <p:nvPr/>
        </p:nvSpPr>
        <p:spPr>
          <a:xfrm>
            <a:off x="841248" y="2212848"/>
            <a:ext cx="10506456" cy="1874520"/>
          </a:xfrm>
          <a:prstGeom prst="rect">
            <a:avLst/>
          </a:prstGeom>
          <a:noFill/>
          <a:ln/>
        </p:spPr>
        <p:txBody>
          <a:bodyPr wrap="square" rtlCol="0" anchor="ctr"/>
          <a:lstStyle/>
          <a:p>
            <a:pPr indent="0" marL="0">
              <a:lnSpc>
                <a:spcPts val="2200"/>
              </a:lnSpc>
              <a:buNone/>
            </a:pPr>
            <a:r>
              <a:rPr lang="en-US" sz="1350" dirty="0">
                <a:solidFill>
                  <a:srgbClr val="33302B"/>
                </a:solidFill>
                <a:latin typeface="Georgia" pitchFamily="34" charset="0"/>
                <a:ea typeface="Georgia" pitchFamily="34" charset="-122"/>
                <a:cs typeface="Georgia" pitchFamily="34" charset="-120"/>
              </a:rPr>
              <a:t>In August 2012 a deployment left obsolete code active on one of eight servers. Order routing then behaved exactly as written. The firm lost approximately 460 million dollars in roughly forty-five minutes and did not survive as an independent company. The proceeding that followed addressed the absence of adequate controls and supervisory procedures around market access — not any analytical defect.</a:t>
            </a:r>
            <a:endParaRPr lang="en-US" sz="1350" dirty="0"/>
          </a:p>
          <a:p>
            <a:pPr indent="0" marL="0">
              <a:lnSpc>
                <a:spcPts val="2200"/>
              </a:lnSpc>
              <a:buNone/>
            </a:pPr>
            <a:endParaRPr lang="en-US" sz="1350" dirty="0"/>
          </a:p>
          <a:p>
            <a:pPr indent="0" marL="0">
              <a:lnSpc>
                <a:spcPts val="2200"/>
              </a:lnSpc>
              <a:buNone/>
            </a:pPr>
            <a:r>
              <a:rPr lang="en-US" sz="1350" dirty="0">
                <a:solidFill>
                  <a:srgbClr val="33302B"/>
                </a:solidFill>
                <a:latin typeface="Georgia" pitchFamily="34" charset="0"/>
                <a:ea typeface="Georgia" pitchFamily="34" charset="-122"/>
                <a:cs typeface="Georgia" pitchFamily="34" charset="-120"/>
              </a:rPr>
              <a:t>No model was wrong. A change crossed into production without the properties that would have caught it.</a:t>
            </a:r>
            <a:endParaRPr lang="en-US" sz="1350" dirty="0"/>
          </a:p>
        </p:txBody>
      </p:sp>
      <p:sp>
        <p:nvSpPr>
          <p:cNvPr id="8" name="Text 6"/>
          <p:cNvSpPr/>
          <p:nvPr/>
        </p:nvSpPr>
        <p:spPr>
          <a:xfrm>
            <a:off x="566928" y="4434840"/>
            <a:ext cx="11055096" cy="1463040"/>
          </a:xfrm>
          <a:prstGeom prst="rect">
            <a:avLst/>
          </a:prstGeom>
          <a:noFill/>
          <a:ln/>
        </p:spPr>
        <p:txBody>
          <a:bodyPr wrap="square" rtlCol="0" anchor="t"/>
          <a:lstStyle/>
          <a:p>
            <a:pPr indent="0" marL="0">
              <a:lnSpc>
                <a:spcPts val="2300"/>
              </a:lnSpc>
              <a:buNone/>
            </a:pPr>
            <a:r>
              <a:rPr lang="en-US" sz="1400" b="1" dirty="0">
                <a:solidFill>
                  <a:srgbClr val="33302B"/>
                </a:solidFill>
                <a:latin typeface="Georgia" pitchFamily="34" charset="0"/>
                <a:ea typeface="Georgia" pitchFamily="34" charset="-122"/>
                <a:cs typeface="Georgia" pitchFamily="34" charset="-120"/>
              </a:rPr>
              <a:t>Properties at issue.   </a:t>
            </a:r>
            <a:pPr indent="0" marL="0">
              <a:lnSpc>
                <a:spcPts val="2300"/>
              </a:lnSpc>
              <a:buNone/>
            </a:pPr>
            <a:r>
              <a:rPr lang="en-US" sz="1400" dirty="0">
                <a:solidFill>
                  <a:srgbClr val="6E6A62"/>
                </a:solidFill>
                <a:latin typeface="Georgia" pitchFamily="34" charset="0"/>
                <a:ea typeface="Georgia" pitchFamily="34" charset="-122"/>
                <a:cs typeface="Georgia" pitchFamily="34" charset="-120"/>
              </a:rPr>
              <a:t>Execution coherence, primarily. Also accountability — the firm could not establish quickly enough what was happening, or under whose authority the routing continued. Ask the room what procedure would have caught it, then ask whether that procedure exists where behaviour changes without a release.</a:t>
            </a:r>
            <a:endParaRPr lang="en-US" sz="1400" dirty="0"/>
          </a:p>
        </p:txBody>
      </p:sp>
      <p:sp>
        <p:nvSpPr>
          <p:cNvPr id="9" name="Text 7"/>
          <p:cNvSpPr/>
          <p:nvPr/>
        </p:nvSpPr>
        <p:spPr>
          <a:xfrm>
            <a:off x="566928" y="6473952"/>
            <a:ext cx="9957816" cy="274320"/>
          </a:xfrm>
          <a:prstGeom prst="rect">
            <a:avLst/>
          </a:prstGeom>
          <a:noFill/>
          <a:ln/>
        </p:spPr>
        <p:txBody>
          <a:bodyPr wrap="square" rtlCol="0" anchor="ctr"/>
          <a:lstStyle/>
          <a:p>
            <a:pPr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indent="0" marL="0">
              <a:buNone/>
            </a:pPr>
            <a:r>
              <a:rPr lang="en-US" sz="900" dirty="0">
                <a:solidFill>
                  <a:srgbClr val="6E6A62"/>
                </a:solidFill>
                <a:latin typeface="Georgia" pitchFamily="34" charset="0"/>
                <a:ea typeface="Georgia" pitchFamily="34" charset="-122"/>
                <a:cs typeface="Georgia" pitchFamily="34" charset="-120"/>
              </a:rPr>
              <a:t>  ·  PCERT-FS — Custody in the Regulated Institution</a:t>
            </a:r>
            <a:endParaRPr lang="en-US" sz="900" dirty="0"/>
          </a:p>
        </p:txBody>
      </p:sp>
      <p:sp>
        <p:nvSpPr>
          <p:cNvPr id="10" name="Text 8"/>
          <p:cNvSpPr/>
          <p:nvPr/>
        </p:nvSpPr>
        <p:spPr>
          <a:xfrm>
            <a:off x="10707624"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B1A18"/>
        </a:solidFill>
      </p:bgPr>
    </p:bg>
    <p:spTree>
      <p:nvGrpSpPr>
        <p:cNvPr id="1" name=""/>
        <p:cNvGrpSpPr/>
        <p:nvPr/>
      </p:nvGrpSpPr>
      <p:grpSpPr>
        <a:xfrm>
          <a:off x="0" y="0"/>
          <a:ext cx="0" cy="0"/>
          <a:chOff x="0" y="0"/>
          <a:chExt cx="0" cy="0"/>
        </a:xfrm>
      </p:grpSpPr>
      <p:sp>
        <p:nvSpPr>
          <p:cNvPr id="2" name="Shape 0"/>
          <p:cNvSpPr/>
          <p:nvPr/>
        </p:nvSpPr>
        <p:spPr>
          <a:xfrm>
            <a:off x="566928" y="2148840"/>
            <a:ext cx="1554480" cy="310896"/>
          </a:xfrm>
          <a:prstGeom prst="roundRect">
            <a:avLst>
              <a:gd name="adj" fmla="val 47059"/>
            </a:avLst>
          </a:prstGeom>
          <a:solidFill>
            <a:srgbClr val="8A8378"/>
          </a:solidFill>
          <a:ln/>
        </p:spPr>
      </p:sp>
      <p:sp>
        <p:nvSpPr>
          <p:cNvPr id="3" name="Text 1"/>
          <p:cNvSpPr/>
          <p:nvPr/>
        </p:nvSpPr>
        <p:spPr>
          <a:xfrm>
            <a:off x="566928" y="2148840"/>
            <a:ext cx="1554480" cy="310896"/>
          </a:xfrm>
          <a:prstGeom prst="rect">
            <a:avLst/>
          </a:prstGeom>
          <a:noFill/>
          <a:ln/>
        </p:spPr>
        <p:txBody>
          <a:bodyPr wrap="square" rtlCol="0" anchor="ctr"/>
          <a:lstStyle/>
          <a:p>
            <a:pPr algn="ctr" indent="0" marL="0">
              <a:buNone/>
            </a:pPr>
            <a:r>
              <a:rPr lang="en-US" sz="1050" b="1" spc="60" kern="0" dirty="0">
                <a:solidFill>
                  <a:srgbClr val="1B1A18"/>
                </a:solidFill>
                <a:latin typeface="Georgia" pitchFamily="34" charset="0"/>
                <a:ea typeface="Georgia" pitchFamily="34" charset="-122"/>
                <a:cs typeface="Georgia" pitchFamily="34" charset="-120"/>
              </a:rPr>
              <a:t>MODULE 4</a:t>
            </a:r>
            <a:endParaRPr lang="en-US" sz="1050" dirty="0"/>
          </a:p>
        </p:txBody>
      </p:sp>
      <p:sp>
        <p:nvSpPr>
          <p:cNvPr id="4" name="Text 2"/>
          <p:cNvSpPr/>
          <p:nvPr/>
        </p:nvSpPr>
        <p:spPr>
          <a:xfrm>
            <a:off x="566928" y="2606040"/>
            <a:ext cx="10515600" cy="1005840"/>
          </a:xfrm>
          <a:prstGeom prst="rect">
            <a:avLst/>
          </a:prstGeom>
          <a:noFill/>
          <a:ln/>
        </p:spPr>
        <p:txBody>
          <a:bodyPr wrap="square" rtlCol="0" anchor="ctr"/>
          <a:lstStyle/>
          <a:p>
            <a:pPr indent="0" marL="0">
              <a:buNone/>
            </a:pPr>
            <a:r>
              <a:rPr lang="en-US" sz="3550" b="1" dirty="0">
                <a:solidFill>
                  <a:srgbClr val="FFFFFF"/>
                </a:solidFill>
                <a:latin typeface="Georgia" pitchFamily="34" charset="0"/>
                <a:ea typeface="Georgia" pitchFamily="34" charset="-122"/>
                <a:cs typeface="Georgia" pitchFamily="34" charset="-120"/>
              </a:rPr>
              <a:t>Evidence</a:t>
            </a:r>
            <a:endParaRPr lang="en-US" sz="3550" dirty="0"/>
          </a:p>
        </p:txBody>
      </p:sp>
      <p:sp>
        <p:nvSpPr>
          <p:cNvPr id="5" name="Text 3"/>
          <p:cNvSpPr/>
          <p:nvPr/>
        </p:nvSpPr>
        <p:spPr>
          <a:xfrm>
            <a:off x="566928" y="3657600"/>
            <a:ext cx="9875520" cy="1097280"/>
          </a:xfrm>
          <a:prstGeom prst="rect">
            <a:avLst/>
          </a:prstGeom>
          <a:noFill/>
          <a:ln/>
        </p:spPr>
        <p:txBody>
          <a:bodyPr wrap="square" rtlCol="0" anchor="ctr"/>
          <a:lstStyle/>
          <a:p>
            <a:pPr indent="0" marL="0">
              <a:lnSpc>
                <a:spcPts val="2400"/>
              </a:lnSpc>
              <a:buNone/>
            </a:pPr>
            <a:r>
              <a:rPr lang="en-US" sz="1500" dirty="0">
                <a:solidFill>
                  <a:srgbClr val="E4DFD5"/>
                </a:solidFill>
                <a:latin typeface="Georgia" pitchFamily="34" charset="0"/>
                <a:ea typeface="Georgia" pitchFamily="34" charset="-122"/>
                <a:cs typeface="Georgia" pitchFamily="34" charset="-120"/>
              </a:rPr>
              <a:t>The record, the reconstruction, and the difference an examiner will find. Chapters 4, 12, 14, 15 and 18.</a:t>
            </a:r>
            <a:endParaRPr lang="en-US" sz="1500" dirty="0"/>
          </a:p>
        </p:txBody>
      </p:sp>
      <p:sp>
        <p:nvSpPr>
          <p:cNvPr id="6" name="Text 4"/>
          <p:cNvSpPr/>
          <p:nvPr/>
        </p:nvSpPr>
        <p:spPr>
          <a:xfrm>
            <a:off x="566928" y="6473952"/>
            <a:ext cx="9957816" cy="274320"/>
          </a:xfrm>
          <a:prstGeom prst="rect">
            <a:avLst/>
          </a:prstGeom>
          <a:noFill/>
          <a:ln/>
        </p:spPr>
        <p:txBody>
          <a:bodyPr wrap="square" rtlCol="0" anchor="ctr"/>
          <a:lstStyle/>
          <a:p>
            <a:pPr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indent="0" marL="0">
              <a:buNone/>
            </a:pPr>
            <a:r>
              <a:rPr lang="en-US" sz="900" dirty="0">
                <a:solidFill>
                  <a:srgbClr val="6E6A62"/>
                </a:solidFill>
                <a:latin typeface="Georgia" pitchFamily="34" charset="0"/>
                <a:ea typeface="Georgia" pitchFamily="34" charset="-122"/>
                <a:cs typeface="Georgia" pitchFamily="34" charset="-120"/>
              </a:rPr>
              <a:t>  ·  PCERT-FS — Custody in the Regulated Institution</a:t>
            </a:r>
            <a:endParaRPr lang="en-US" sz="900" dirty="0"/>
          </a:p>
        </p:txBody>
      </p:sp>
      <p:sp>
        <p:nvSpPr>
          <p:cNvPr id="7" name="Text 5"/>
          <p:cNvSpPr/>
          <p:nvPr/>
        </p:nvSpPr>
        <p:spPr>
          <a:xfrm>
            <a:off x="10707624"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55096" cy="292608"/>
          </a:xfrm>
          <a:prstGeom prst="rect">
            <a:avLst/>
          </a:prstGeom>
          <a:noFill/>
          <a:ln/>
        </p:spPr>
        <p:txBody>
          <a:bodyPr wrap="square" rtlCol="0" anchor="ctr"/>
          <a:lstStyle/>
          <a:p>
            <a:pPr indent="0" marL="0">
              <a:buNone/>
            </a:pPr>
            <a:r>
              <a:rPr lang="en-US" sz="1050" b="1" spc="120" kern="0" dirty="0">
                <a:solidFill>
                  <a:srgbClr val="8A8378"/>
                </a:solidFill>
                <a:latin typeface="Georgia" pitchFamily="34" charset="0"/>
                <a:ea typeface="Georgia" pitchFamily="34" charset="-122"/>
                <a:cs typeface="Georgia" pitchFamily="34" charset="-120"/>
              </a:rPr>
              <a:t>THE DISTINCTION</a:t>
            </a:r>
            <a:endParaRPr lang="en-US" sz="1050" dirty="0"/>
          </a:p>
        </p:txBody>
      </p:sp>
      <p:sp>
        <p:nvSpPr>
          <p:cNvPr id="3" name="Text 1"/>
          <p:cNvSpPr/>
          <p:nvPr/>
        </p:nvSpPr>
        <p:spPr>
          <a:xfrm>
            <a:off x="566928" y="749808"/>
            <a:ext cx="11055096" cy="822960"/>
          </a:xfrm>
          <a:prstGeom prst="rect">
            <a:avLst/>
          </a:prstGeom>
          <a:noFill/>
          <a:ln/>
        </p:spPr>
        <p:txBody>
          <a:bodyPr wrap="square" rtlCol="0" anchor="t"/>
          <a:lstStyle/>
          <a:p>
            <a:pPr indent="0" marL="0">
              <a:buNone/>
            </a:pPr>
            <a:endParaRPr lang="en-US" sz="2550" dirty="0"/>
          </a:p>
        </p:txBody>
      </p:sp>
      <p:sp>
        <p:nvSpPr>
          <p:cNvPr id="4" name="Shape 2"/>
          <p:cNvSpPr/>
          <p:nvPr/>
        </p:nvSpPr>
        <p:spPr>
          <a:xfrm>
            <a:off x="566928" y="2148840"/>
            <a:ext cx="54864" cy="2103120"/>
          </a:xfrm>
          <a:prstGeom prst="rect">
            <a:avLst/>
          </a:prstGeom>
          <a:solidFill>
            <a:srgbClr val="8A8378"/>
          </a:solidFill>
          <a:ln/>
        </p:spPr>
      </p:sp>
      <p:sp>
        <p:nvSpPr>
          <p:cNvPr id="5" name="Text 3"/>
          <p:cNvSpPr/>
          <p:nvPr/>
        </p:nvSpPr>
        <p:spPr>
          <a:xfrm>
            <a:off x="877824" y="2103120"/>
            <a:ext cx="10332720" cy="2194560"/>
          </a:xfrm>
          <a:prstGeom prst="rect">
            <a:avLst/>
          </a:prstGeom>
          <a:noFill/>
          <a:ln/>
        </p:spPr>
        <p:txBody>
          <a:bodyPr wrap="square" rtlCol="0" anchor="ctr"/>
          <a:lstStyle/>
          <a:p>
            <a:pPr indent="0" marL="0">
              <a:lnSpc>
                <a:spcPts val="3800"/>
              </a:lnSpc>
              <a:buNone/>
            </a:pPr>
            <a:r>
              <a:rPr lang="en-US" sz="2700" b="1" dirty="0">
                <a:solidFill>
                  <a:srgbClr val="1B1A18"/>
                </a:solidFill>
                <a:latin typeface="Georgia" pitchFamily="34" charset="0"/>
                <a:ea typeface="Georgia" pitchFamily="34" charset="-122"/>
                <a:cs typeface="Georgia" pitchFamily="34" charset="-120"/>
              </a:rPr>
              <a:t>A record is generated at the moment of action, or it does not exist.</a:t>
            </a:r>
            <a:endParaRPr lang="en-US" sz="2700" dirty="0"/>
          </a:p>
        </p:txBody>
      </p:sp>
      <p:sp>
        <p:nvSpPr>
          <p:cNvPr id="6" name="Text 4"/>
          <p:cNvSpPr/>
          <p:nvPr/>
        </p:nvSpPr>
        <p:spPr>
          <a:xfrm>
            <a:off x="877824" y="4480560"/>
            <a:ext cx="10332720" cy="731520"/>
          </a:xfrm>
          <a:prstGeom prst="rect">
            <a:avLst/>
          </a:prstGeom>
          <a:noFill/>
          <a:ln/>
        </p:spPr>
        <p:txBody>
          <a:bodyPr wrap="square" rtlCol="0" anchor="ctr"/>
          <a:lstStyle/>
          <a:p>
            <a:pPr indent="0" marL="0">
              <a:lnSpc>
                <a:spcPts val="2200"/>
              </a:lnSpc>
              <a:buNone/>
            </a:pPr>
            <a:r>
              <a:rPr lang="en-US" sz="1350" i="1" dirty="0">
                <a:solidFill>
                  <a:srgbClr val="6E6A62"/>
                </a:solidFill>
                <a:latin typeface="Georgia" pitchFamily="34" charset="0"/>
                <a:ea typeface="Georgia" pitchFamily="34" charset="-122"/>
                <a:cs typeface="Georgia" pitchFamily="34" charset="-120"/>
              </a:rPr>
              <a:t>Attribution assembled afterwards from separate sources is an account of the past. It may be accurate, produced in good faith, and completely inadequate as evidence of operating effectiveness.</a:t>
            </a:r>
            <a:endParaRPr lang="en-US" sz="1350" dirty="0"/>
          </a:p>
        </p:txBody>
      </p:sp>
      <p:sp>
        <p:nvSpPr>
          <p:cNvPr id="7" name="Text 5"/>
          <p:cNvSpPr/>
          <p:nvPr/>
        </p:nvSpPr>
        <p:spPr>
          <a:xfrm>
            <a:off x="566928" y="6473952"/>
            <a:ext cx="9957816" cy="274320"/>
          </a:xfrm>
          <a:prstGeom prst="rect">
            <a:avLst/>
          </a:prstGeom>
          <a:noFill/>
          <a:ln/>
        </p:spPr>
        <p:txBody>
          <a:bodyPr wrap="square" rtlCol="0" anchor="ctr"/>
          <a:lstStyle/>
          <a:p>
            <a:pPr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indent="0" marL="0">
              <a:buNone/>
            </a:pPr>
            <a:r>
              <a:rPr lang="en-US" sz="900" dirty="0">
                <a:solidFill>
                  <a:srgbClr val="6E6A62"/>
                </a:solidFill>
                <a:latin typeface="Georgia" pitchFamily="34" charset="0"/>
                <a:ea typeface="Georgia" pitchFamily="34" charset="-122"/>
                <a:cs typeface="Georgia" pitchFamily="34" charset="-120"/>
              </a:rPr>
              <a:t>  ·  PCERT-FS — Custody in the Regulated Institution</a:t>
            </a:r>
            <a:endParaRPr lang="en-US" sz="900" dirty="0"/>
          </a:p>
        </p:txBody>
      </p:sp>
      <p:sp>
        <p:nvSpPr>
          <p:cNvPr id="8" name="Text 6"/>
          <p:cNvSpPr/>
          <p:nvPr/>
        </p:nvSpPr>
        <p:spPr>
          <a:xfrm>
            <a:off x="10707624"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55096" cy="292608"/>
          </a:xfrm>
          <a:prstGeom prst="rect">
            <a:avLst/>
          </a:prstGeom>
          <a:noFill/>
          <a:ln/>
        </p:spPr>
        <p:txBody>
          <a:bodyPr wrap="square" rtlCol="0" anchor="ctr"/>
          <a:lstStyle/>
          <a:p>
            <a:pPr indent="0" marL="0">
              <a:buNone/>
            </a:pPr>
            <a:r>
              <a:rPr lang="en-US" sz="1050" b="1" spc="120" kern="0" dirty="0">
                <a:solidFill>
                  <a:srgbClr val="8A8378"/>
                </a:solidFill>
                <a:latin typeface="Georgia" pitchFamily="34" charset="0"/>
                <a:ea typeface="Georgia" pitchFamily="34" charset="-122"/>
                <a:cs typeface="Georgia" pitchFamily="34" charset="-120"/>
              </a:rPr>
              <a:t>THREE QUESTIONS FOR ANY RECORD</a:t>
            </a:r>
            <a:endParaRPr lang="en-US" sz="1050" dirty="0"/>
          </a:p>
        </p:txBody>
      </p:sp>
      <p:sp>
        <p:nvSpPr>
          <p:cNvPr id="3" name="Text 1"/>
          <p:cNvSpPr/>
          <p:nvPr/>
        </p:nvSpPr>
        <p:spPr>
          <a:xfrm>
            <a:off x="566928" y="749808"/>
            <a:ext cx="11055096" cy="822960"/>
          </a:xfrm>
          <a:prstGeom prst="rect">
            <a:avLst/>
          </a:prstGeom>
          <a:noFill/>
          <a:ln/>
        </p:spPr>
        <p:txBody>
          <a:bodyPr wrap="square" rtlCol="0" anchor="t"/>
          <a:lstStyle/>
          <a:p>
            <a:pPr indent="0" marL="0">
              <a:buNone/>
            </a:pPr>
            <a:r>
              <a:rPr lang="en-US" sz="2550" b="1" dirty="0">
                <a:solidFill>
                  <a:srgbClr val="1B1A18"/>
                </a:solidFill>
                <a:latin typeface="Georgia" pitchFamily="34" charset="0"/>
                <a:ea typeface="Georgia" pitchFamily="34" charset="-122"/>
                <a:cs typeface="Georgia" pitchFamily="34" charset="-120"/>
              </a:rPr>
              <a:t>Ask them in this order</a:t>
            </a:r>
            <a:endParaRPr lang="en-US" sz="2550" dirty="0"/>
          </a:p>
        </p:txBody>
      </p:sp>
      <p:sp>
        <p:nvSpPr>
          <p:cNvPr id="4" name="Shape 2"/>
          <p:cNvSpPr/>
          <p:nvPr/>
        </p:nvSpPr>
        <p:spPr>
          <a:xfrm>
            <a:off x="566928" y="1783080"/>
            <a:ext cx="457200" cy="457200"/>
          </a:xfrm>
          <a:prstGeom prst="ellipse">
            <a:avLst/>
          </a:prstGeom>
          <a:solidFill>
            <a:srgbClr val="1B1A18"/>
          </a:solidFill>
          <a:ln/>
        </p:spPr>
      </p:sp>
      <p:sp>
        <p:nvSpPr>
          <p:cNvPr id="5" name="Text 3"/>
          <p:cNvSpPr/>
          <p:nvPr/>
        </p:nvSpPr>
        <p:spPr>
          <a:xfrm>
            <a:off x="566928" y="178308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1</a:t>
            </a:r>
            <a:endParaRPr lang="en-US" sz="1400" dirty="0"/>
          </a:p>
        </p:txBody>
      </p:sp>
      <p:sp>
        <p:nvSpPr>
          <p:cNvPr id="6" name="Text 4"/>
          <p:cNvSpPr/>
          <p:nvPr/>
        </p:nvSpPr>
        <p:spPr>
          <a:xfrm>
            <a:off x="1234440" y="1728216"/>
            <a:ext cx="10277856" cy="1024128"/>
          </a:xfrm>
          <a:prstGeom prst="rect">
            <a:avLst/>
          </a:prstGeom>
          <a:noFill/>
          <a:ln/>
        </p:spPr>
        <p:txBody>
          <a:bodyPr wrap="square" rtlCol="0" anchor="t"/>
          <a:lstStyle/>
          <a:p>
            <a:pPr indent="0" marL="0">
              <a:lnSpc>
                <a:spcPts val="2200"/>
              </a:lnSpc>
              <a:buNone/>
            </a:pPr>
            <a:r>
              <a:rPr lang="en-US" sz="1500" b="1" dirty="0">
                <a:solidFill>
                  <a:srgbClr val="33302B"/>
                </a:solidFill>
                <a:latin typeface="Georgia" pitchFamily="34" charset="0"/>
                <a:ea typeface="Georgia" pitchFamily="34" charset="-122"/>
                <a:cs typeface="Georgia" pitchFamily="34" charset="-120"/>
              </a:rPr>
              <a:t>What was captured at execution, and what was derived later?   </a:t>
            </a:r>
            <a:pPr indent="0" marL="0">
              <a:lnSpc>
                <a:spcPts val="2200"/>
              </a:lnSpc>
              <a:buNone/>
            </a:pPr>
            <a:r>
              <a:rPr lang="en-US" sz="1500" dirty="0">
                <a:solidFill>
                  <a:srgbClr val="6E6A62"/>
                </a:solidFill>
                <a:latin typeface="Georgia" pitchFamily="34" charset="0"/>
                <a:ea typeface="Georgia" pitchFamily="34" charset="-122"/>
                <a:cs typeface="Georgia" pitchFamily="34" charset="-120"/>
              </a:rPr>
              <a:t>Require the schema, not the report. The gap between the schema and the narrative is the finding.</a:t>
            </a:r>
            <a:endParaRPr lang="en-US" sz="1500" dirty="0"/>
          </a:p>
        </p:txBody>
      </p:sp>
      <p:sp>
        <p:nvSpPr>
          <p:cNvPr id="7" name="Shape 5"/>
          <p:cNvSpPr/>
          <p:nvPr/>
        </p:nvSpPr>
        <p:spPr>
          <a:xfrm>
            <a:off x="566928" y="2990088"/>
            <a:ext cx="457200" cy="457200"/>
          </a:xfrm>
          <a:prstGeom prst="ellipse">
            <a:avLst/>
          </a:prstGeom>
          <a:solidFill>
            <a:srgbClr val="1B1A18"/>
          </a:solidFill>
          <a:ln/>
        </p:spPr>
      </p:sp>
      <p:sp>
        <p:nvSpPr>
          <p:cNvPr id="8" name="Text 6"/>
          <p:cNvSpPr/>
          <p:nvPr/>
        </p:nvSpPr>
        <p:spPr>
          <a:xfrm>
            <a:off x="566928" y="2990088"/>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2</a:t>
            </a:r>
            <a:endParaRPr lang="en-US" sz="1400" dirty="0"/>
          </a:p>
        </p:txBody>
      </p:sp>
      <p:sp>
        <p:nvSpPr>
          <p:cNvPr id="9" name="Text 7"/>
          <p:cNvSpPr/>
          <p:nvPr/>
        </p:nvSpPr>
        <p:spPr>
          <a:xfrm>
            <a:off x="1234440" y="2935224"/>
            <a:ext cx="10277856" cy="1024128"/>
          </a:xfrm>
          <a:prstGeom prst="rect">
            <a:avLst/>
          </a:prstGeom>
          <a:noFill/>
          <a:ln/>
        </p:spPr>
        <p:txBody>
          <a:bodyPr wrap="square" rtlCol="0" anchor="t"/>
          <a:lstStyle/>
          <a:p>
            <a:pPr indent="0" marL="0">
              <a:lnSpc>
                <a:spcPts val="2200"/>
              </a:lnSpc>
              <a:buNone/>
            </a:pPr>
            <a:r>
              <a:rPr lang="en-US" sz="1500" b="1" dirty="0">
                <a:solidFill>
                  <a:srgbClr val="33302B"/>
                </a:solidFill>
                <a:latin typeface="Georgia" pitchFamily="34" charset="0"/>
                <a:ea typeface="Georgia" pitchFamily="34" charset="-122"/>
                <a:cs typeface="Georgia" pitchFamily="34" charset="-120"/>
              </a:rPr>
              <a:t>Does it contain the version of the rule then in force?   </a:t>
            </a:r>
            <a:pPr indent="0" marL="0">
              <a:lnSpc>
                <a:spcPts val="2200"/>
              </a:lnSpc>
              <a:buNone/>
            </a:pPr>
            <a:r>
              <a:rPr lang="en-US" sz="1500" dirty="0">
                <a:solidFill>
                  <a:srgbClr val="6E6A62"/>
                </a:solidFill>
                <a:latin typeface="Georgia" pitchFamily="34" charset="0"/>
                <a:ea typeface="Georgia" pitchFamily="34" charset="-122"/>
                <a:cs typeface="Georgia" pitchFamily="34" charset="-120"/>
              </a:rPr>
              <a:t>A record that cannot establish which policy applied cannot establish whether it was followed.</a:t>
            </a:r>
            <a:endParaRPr lang="en-US" sz="1500" dirty="0"/>
          </a:p>
        </p:txBody>
      </p:sp>
      <p:sp>
        <p:nvSpPr>
          <p:cNvPr id="10" name="Shape 8"/>
          <p:cNvSpPr/>
          <p:nvPr/>
        </p:nvSpPr>
        <p:spPr>
          <a:xfrm>
            <a:off x="566928" y="4197096"/>
            <a:ext cx="457200" cy="457200"/>
          </a:xfrm>
          <a:prstGeom prst="ellipse">
            <a:avLst/>
          </a:prstGeom>
          <a:solidFill>
            <a:srgbClr val="1B1A18"/>
          </a:solidFill>
          <a:ln/>
        </p:spPr>
      </p:sp>
      <p:sp>
        <p:nvSpPr>
          <p:cNvPr id="11" name="Text 9"/>
          <p:cNvSpPr/>
          <p:nvPr/>
        </p:nvSpPr>
        <p:spPr>
          <a:xfrm>
            <a:off x="566928" y="4197096"/>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3</a:t>
            </a:r>
            <a:endParaRPr lang="en-US" sz="1400" dirty="0"/>
          </a:p>
        </p:txBody>
      </p:sp>
      <p:sp>
        <p:nvSpPr>
          <p:cNvPr id="12" name="Text 10"/>
          <p:cNvSpPr/>
          <p:nvPr/>
        </p:nvSpPr>
        <p:spPr>
          <a:xfrm>
            <a:off x="1234440" y="4142232"/>
            <a:ext cx="10277856" cy="1024128"/>
          </a:xfrm>
          <a:prstGeom prst="rect">
            <a:avLst/>
          </a:prstGeom>
          <a:noFill/>
          <a:ln/>
        </p:spPr>
        <p:txBody>
          <a:bodyPr wrap="square" rtlCol="0" anchor="t"/>
          <a:lstStyle/>
          <a:p>
            <a:pPr indent="0" marL="0">
              <a:lnSpc>
                <a:spcPts val="2200"/>
              </a:lnSpc>
              <a:buNone/>
            </a:pPr>
            <a:r>
              <a:rPr lang="en-US" sz="1500" b="1" dirty="0">
                <a:solidFill>
                  <a:srgbClr val="33302B"/>
                </a:solidFill>
                <a:latin typeface="Georgia" pitchFamily="34" charset="0"/>
                <a:ea typeface="Georgia" pitchFamily="34" charset="-122"/>
                <a:cs typeface="Georgia" pitchFamily="34" charset="-120"/>
              </a:rPr>
              <a:t>Can it be verified by a party who does not operate the system?   </a:t>
            </a:r>
            <a:pPr indent="0" marL="0">
              <a:lnSpc>
                <a:spcPts val="2200"/>
              </a:lnSpc>
              <a:buNone/>
            </a:pPr>
            <a:r>
              <a:rPr lang="en-US" sz="1500" dirty="0">
                <a:solidFill>
                  <a:srgbClr val="6E6A62"/>
                </a:solidFill>
                <a:latin typeface="Georgia" pitchFamily="34" charset="0"/>
                <a:ea typeface="Georgia" pitchFamily="34" charset="-122"/>
                <a:cs typeface="Georgia" pitchFamily="34" charset="-120"/>
              </a:rPr>
              <a:t>If verification requires the keeper of the record, the record is the keeper’s account.</a:t>
            </a:r>
            <a:endParaRPr lang="en-US" sz="1500" dirty="0"/>
          </a:p>
        </p:txBody>
      </p:sp>
      <p:sp>
        <p:nvSpPr>
          <p:cNvPr id="13" name="Text 11"/>
          <p:cNvSpPr/>
          <p:nvPr/>
        </p:nvSpPr>
        <p:spPr>
          <a:xfrm>
            <a:off x="566928" y="6473952"/>
            <a:ext cx="9957816" cy="274320"/>
          </a:xfrm>
          <a:prstGeom prst="rect">
            <a:avLst/>
          </a:prstGeom>
          <a:noFill/>
          <a:ln/>
        </p:spPr>
        <p:txBody>
          <a:bodyPr wrap="square" rtlCol="0" anchor="ctr"/>
          <a:lstStyle/>
          <a:p>
            <a:pPr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indent="0" marL="0">
              <a:buNone/>
            </a:pPr>
            <a:r>
              <a:rPr lang="en-US" sz="900" dirty="0">
                <a:solidFill>
                  <a:srgbClr val="6E6A62"/>
                </a:solidFill>
                <a:latin typeface="Georgia" pitchFamily="34" charset="0"/>
                <a:ea typeface="Georgia" pitchFamily="34" charset="-122"/>
                <a:cs typeface="Georgia" pitchFamily="34" charset="-120"/>
              </a:rPr>
              <a:t>  ·  PCERT-FS — Custody in the Regulated Institution</a:t>
            </a:r>
            <a:endParaRPr lang="en-US" sz="900" dirty="0"/>
          </a:p>
        </p:txBody>
      </p:sp>
      <p:sp>
        <p:nvSpPr>
          <p:cNvPr id="14" name="Text 12"/>
          <p:cNvSpPr/>
          <p:nvPr/>
        </p:nvSpPr>
        <p:spPr>
          <a:xfrm>
            <a:off x="10707624"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55096" cy="292608"/>
          </a:xfrm>
          <a:prstGeom prst="rect">
            <a:avLst/>
          </a:prstGeom>
          <a:noFill/>
          <a:ln/>
        </p:spPr>
        <p:txBody>
          <a:bodyPr wrap="square" rtlCol="0" anchor="ctr"/>
          <a:lstStyle/>
          <a:p>
            <a:pPr indent="0" marL="0">
              <a:buNone/>
            </a:pPr>
            <a:r>
              <a:rPr lang="en-US" sz="1050" b="1" spc="120" kern="0" dirty="0">
                <a:solidFill>
                  <a:srgbClr val="8A8378"/>
                </a:solidFill>
                <a:latin typeface="Georgia" pitchFamily="34" charset="0"/>
                <a:ea typeface="Georgia" pitchFamily="34" charset="-122"/>
                <a:cs typeface="Georgia" pitchFamily="34" charset="-120"/>
              </a:rPr>
              <a:t>CONSEQUENCE RECORD  ·  CASE 5</a:t>
            </a:r>
            <a:endParaRPr lang="en-US" sz="1050" dirty="0"/>
          </a:p>
        </p:txBody>
      </p:sp>
      <p:sp>
        <p:nvSpPr>
          <p:cNvPr id="3" name="Text 1"/>
          <p:cNvSpPr/>
          <p:nvPr/>
        </p:nvSpPr>
        <p:spPr>
          <a:xfrm>
            <a:off x="566928" y="749808"/>
            <a:ext cx="11055096" cy="822960"/>
          </a:xfrm>
          <a:prstGeom prst="rect">
            <a:avLst/>
          </a:prstGeom>
          <a:noFill/>
          <a:ln/>
        </p:spPr>
        <p:txBody>
          <a:bodyPr wrap="square" rtlCol="0" anchor="t"/>
          <a:lstStyle/>
          <a:p>
            <a:pPr indent="0" marL="0">
              <a:buNone/>
            </a:pPr>
            <a:r>
              <a:rPr lang="en-US" sz="2550" b="1" dirty="0">
                <a:solidFill>
                  <a:srgbClr val="1B1A18"/>
                </a:solidFill>
                <a:latin typeface="Georgia" pitchFamily="34" charset="0"/>
                <a:ea typeface="Georgia" pitchFamily="34" charset="-122"/>
                <a:cs typeface="Georgia" pitchFamily="34" charset="-120"/>
              </a:rPr>
              <a:t>Horizon — a record treated as evidence</a:t>
            </a:r>
            <a:endParaRPr lang="en-US" sz="2550" dirty="0"/>
          </a:p>
        </p:txBody>
      </p:sp>
      <p:sp>
        <p:nvSpPr>
          <p:cNvPr id="4" name="Text 2"/>
          <p:cNvSpPr/>
          <p:nvPr/>
        </p:nvSpPr>
        <p:spPr>
          <a:xfrm>
            <a:off x="566928" y="1627632"/>
            <a:ext cx="11055096" cy="310896"/>
          </a:xfrm>
          <a:prstGeom prst="rect">
            <a:avLst/>
          </a:prstGeom>
          <a:noFill/>
          <a:ln/>
        </p:spPr>
        <p:txBody>
          <a:bodyPr wrap="square" rtlCol="0" anchor="ctr"/>
          <a:lstStyle/>
          <a:p>
            <a:pPr indent="0" marL="0">
              <a:buNone/>
            </a:pPr>
            <a:r>
              <a:rPr lang="en-US" sz="1150" i="1" dirty="0">
                <a:solidFill>
                  <a:srgbClr val="6E6A62"/>
                </a:solidFill>
                <a:latin typeface="Georgia" pitchFamily="34" charset="0"/>
                <a:ea typeface="Georgia" pitchFamily="34" charset="-122"/>
                <a:cs typeface="Georgia" pitchFamily="34" charset="-120"/>
              </a:rPr>
              <a:t>Primary source: Bates and others v Post Office Limited; the subsequent statutory inquiry; Court of Appeal judgments</a:t>
            </a:r>
            <a:endParaRPr lang="en-US" sz="1150" dirty="0"/>
          </a:p>
        </p:txBody>
      </p:sp>
      <p:sp>
        <p:nvSpPr>
          <p:cNvPr id="5" name="Shape 3"/>
          <p:cNvSpPr/>
          <p:nvPr/>
        </p:nvSpPr>
        <p:spPr>
          <a:xfrm>
            <a:off x="566928" y="2057400"/>
            <a:ext cx="11055096" cy="2148840"/>
          </a:xfrm>
          <a:prstGeom prst="rect">
            <a:avLst/>
          </a:prstGeom>
          <a:solidFill>
            <a:srgbClr val="F4F2EE"/>
          </a:solidFill>
          <a:ln/>
        </p:spPr>
      </p:sp>
      <p:sp>
        <p:nvSpPr>
          <p:cNvPr id="6" name="Shape 4"/>
          <p:cNvSpPr/>
          <p:nvPr/>
        </p:nvSpPr>
        <p:spPr>
          <a:xfrm>
            <a:off x="566928" y="2057400"/>
            <a:ext cx="54864" cy="2148840"/>
          </a:xfrm>
          <a:prstGeom prst="rect">
            <a:avLst/>
          </a:prstGeom>
          <a:solidFill>
            <a:srgbClr val="8A8378"/>
          </a:solidFill>
          <a:ln/>
        </p:spPr>
      </p:sp>
      <p:sp>
        <p:nvSpPr>
          <p:cNvPr id="7" name="Text 5"/>
          <p:cNvSpPr/>
          <p:nvPr/>
        </p:nvSpPr>
        <p:spPr>
          <a:xfrm>
            <a:off x="841248" y="2212848"/>
            <a:ext cx="10506456" cy="1874520"/>
          </a:xfrm>
          <a:prstGeom prst="rect">
            <a:avLst/>
          </a:prstGeom>
          <a:noFill/>
          <a:ln/>
        </p:spPr>
        <p:txBody>
          <a:bodyPr wrap="square" rtlCol="0" anchor="ctr"/>
          <a:lstStyle/>
          <a:p>
            <a:pPr indent="0" marL="0">
              <a:lnSpc>
                <a:spcPts val="2200"/>
              </a:lnSpc>
              <a:buNone/>
            </a:pPr>
            <a:r>
              <a:rPr lang="en-US" sz="1350" dirty="0">
                <a:solidFill>
                  <a:srgbClr val="33302B"/>
                </a:solidFill>
                <a:latin typeface="Georgia" pitchFamily="34" charset="0"/>
                <a:ea typeface="Georgia" pitchFamily="34" charset="-122"/>
                <a:cs typeface="Georgia" pitchFamily="34" charset="-120"/>
              </a:rPr>
              <a:t>Accounting system output was treated as independently reliable in disputes with, and prosecutions of, sub-postmasters over two decades. More than nine hundred prosecutions followed and 236 people were imprisoned. Litigation and a statutory inquiry established that the system’s reliability had been asserted rather than demonstrated.</a:t>
            </a:r>
            <a:endParaRPr lang="en-US" sz="1350" dirty="0"/>
          </a:p>
          <a:p>
            <a:pPr indent="0" marL="0">
              <a:lnSpc>
                <a:spcPts val="2200"/>
              </a:lnSpc>
              <a:buNone/>
            </a:pPr>
            <a:endParaRPr lang="en-US" sz="1350" dirty="0"/>
          </a:p>
          <a:p>
            <a:pPr indent="0" marL="0">
              <a:lnSpc>
                <a:spcPts val="2200"/>
              </a:lnSpc>
              <a:buNone/>
            </a:pPr>
            <a:r>
              <a:rPr lang="en-US" sz="1350" dirty="0">
                <a:solidFill>
                  <a:srgbClr val="33302B"/>
                </a:solidFill>
                <a:latin typeface="Georgia" pitchFamily="34" charset="0"/>
                <a:ea typeface="Georgia" pitchFamily="34" charset="-122"/>
                <a:cs typeface="Georgia" pitchFamily="34" charset="-120"/>
              </a:rPr>
              <a:t>Nobody asked whether the record could be verified by a party who did not operate the system.</a:t>
            </a:r>
            <a:endParaRPr lang="en-US" sz="1350" dirty="0"/>
          </a:p>
        </p:txBody>
      </p:sp>
      <p:sp>
        <p:nvSpPr>
          <p:cNvPr id="8" name="Text 6"/>
          <p:cNvSpPr/>
          <p:nvPr/>
        </p:nvSpPr>
        <p:spPr>
          <a:xfrm>
            <a:off x="566928" y="4434840"/>
            <a:ext cx="11055096" cy="1463040"/>
          </a:xfrm>
          <a:prstGeom prst="rect">
            <a:avLst/>
          </a:prstGeom>
          <a:noFill/>
          <a:ln/>
        </p:spPr>
        <p:txBody>
          <a:bodyPr wrap="square" rtlCol="0" anchor="t"/>
          <a:lstStyle/>
          <a:p>
            <a:pPr indent="0" marL="0">
              <a:lnSpc>
                <a:spcPts val="2300"/>
              </a:lnSpc>
              <a:buNone/>
            </a:pPr>
            <a:r>
              <a:rPr lang="en-US" sz="1400" b="1" dirty="0">
                <a:solidFill>
                  <a:srgbClr val="33302B"/>
                </a:solidFill>
                <a:latin typeface="Georgia" pitchFamily="34" charset="0"/>
                <a:ea typeface="Georgia" pitchFamily="34" charset="-122"/>
                <a:cs typeface="Georgia" pitchFamily="34" charset="-120"/>
              </a:rPr>
              <a:t>Properties at issue.   </a:t>
            </a:r>
            <a:pPr indent="0" marL="0">
              <a:lnSpc>
                <a:spcPts val="2300"/>
              </a:lnSpc>
              <a:buNone/>
            </a:pPr>
            <a:r>
              <a:rPr lang="en-US" sz="1400" dirty="0">
                <a:solidFill>
                  <a:srgbClr val="6E6A62"/>
                </a:solidFill>
                <a:latin typeface="Georgia" pitchFamily="34" charset="0"/>
                <a:ea typeface="Georgia" pitchFamily="34" charset="-122"/>
                <a:cs typeface="Georgia" pitchFamily="34" charset="-120"/>
              </a:rPr>
              <a:t>Accountability and institutional memory. Run the last-month test conceptually against Horizon and it fails immediately. Note the limit: this is authority for the danger of treating system output as inherently trustworthy — not for the proposition that automated records are unreliable.</a:t>
            </a:r>
            <a:endParaRPr lang="en-US" sz="1400" dirty="0"/>
          </a:p>
        </p:txBody>
      </p:sp>
      <p:sp>
        <p:nvSpPr>
          <p:cNvPr id="9" name="Text 7"/>
          <p:cNvSpPr/>
          <p:nvPr/>
        </p:nvSpPr>
        <p:spPr>
          <a:xfrm>
            <a:off x="566928" y="6473952"/>
            <a:ext cx="9957816" cy="274320"/>
          </a:xfrm>
          <a:prstGeom prst="rect">
            <a:avLst/>
          </a:prstGeom>
          <a:noFill/>
          <a:ln/>
        </p:spPr>
        <p:txBody>
          <a:bodyPr wrap="square" rtlCol="0" anchor="ctr"/>
          <a:lstStyle/>
          <a:p>
            <a:pPr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indent="0" marL="0">
              <a:buNone/>
            </a:pPr>
            <a:r>
              <a:rPr lang="en-US" sz="900" dirty="0">
                <a:solidFill>
                  <a:srgbClr val="6E6A62"/>
                </a:solidFill>
                <a:latin typeface="Georgia" pitchFamily="34" charset="0"/>
                <a:ea typeface="Georgia" pitchFamily="34" charset="-122"/>
                <a:cs typeface="Georgia" pitchFamily="34" charset="-120"/>
              </a:rPr>
              <a:t>  ·  PCERT-FS — Custody in the Regulated Institution</a:t>
            </a:r>
            <a:endParaRPr lang="en-US" sz="900" dirty="0"/>
          </a:p>
        </p:txBody>
      </p:sp>
      <p:sp>
        <p:nvSpPr>
          <p:cNvPr id="10" name="Text 8"/>
          <p:cNvSpPr/>
          <p:nvPr/>
        </p:nvSpPr>
        <p:spPr>
          <a:xfrm>
            <a:off x="10707624"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55096" cy="292608"/>
          </a:xfrm>
          <a:prstGeom prst="rect">
            <a:avLst/>
          </a:prstGeom>
          <a:noFill/>
          <a:ln/>
        </p:spPr>
        <p:txBody>
          <a:bodyPr wrap="square" rtlCol="0" anchor="ctr"/>
          <a:lstStyle/>
          <a:p>
            <a:pPr indent="0" marL="0">
              <a:buNone/>
            </a:pPr>
            <a:r>
              <a:rPr lang="en-US" sz="1050" b="1" spc="120" kern="0" dirty="0">
                <a:solidFill>
                  <a:srgbClr val="8A8378"/>
                </a:solidFill>
                <a:latin typeface="Georgia" pitchFamily="34" charset="0"/>
                <a:ea typeface="Georgia" pitchFamily="34" charset="-122"/>
                <a:cs typeface="Georgia" pitchFamily="34" charset="-120"/>
              </a:rPr>
              <a:t>MODULE 4  ·  APPLIED EXERCISE</a:t>
            </a:r>
            <a:endParaRPr lang="en-US" sz="1050" dirty="0"/>
          </a:p>
        </p:txBody>
      </p:sp>
      <p:sp>
        <p:nvSpPr>
          <p:cNvPr id="3" name="Text 1"/>
          <p:cNvSpPr/>
          <p:nvPr/>
        </p:nvSpPr>
        <p:spPr>
          <a:xfrm>
            <a:off x="566928" y="749808"/>
            <a:ext cx="11055096" cy="822960"/>
          </a:xfrm>
          <a:prstGeom prst="rect">
            <a:avLst/>
          </a:prstGeom>
          <a:noFill/>
          <a:ln/>
        </p:spPr>
        <p:txBody>
          <a:bodyPr wrap="square" rtlCol="0" anchor="t"/>
          <a:lstStyle/>
          <a:p>
            <a:pPr indent="0" marL="0">
              <a:buNone/>
            </a:pPr>
            <a:r>
              <a:rPr lang="en-US" sz="2550" b="1" dirty="0">
                <a:solidFill>
                  <a:srgbClr val="1B1A18"/>
                </a:solidFill>
                <a:latin typeface="Georgia" pitchFamily="34" charset="0"/>
                <a:ea typeface="Georgia" pitchFamily="34" charset="-122"/>
                <a:cs typeface="Georgia" pitchFamily="34" charset="-120"/>
              </a:rPr>
              <a:t>The last-month test</a:t>
            </a:r>
            <a:endParaRPr lang="en-US" sz="2550" dirty="0"/>
          </a:p>
        </p:txBody>
      </p:sp>
      <p:sp>
        <p:nvSpPr>
          <p:cNvPr id="4" name="Shape 2"/>
          <p:cNvSpPr/>
          <p:nvPr/>
        </p:nvSpPr>
        <p:spPr>
          <a:xfrm>
            <a:off x="566928" y="1737360"/>
            <a:ext cx="11055096" cy="1371600"/>
          </a:xfrm>
          <a:prstGeom prst="rect">
            <a:avLst/>
          </a:prstGeom>
          <a:solidFill>
            <a:srgbClr val="F4F2EE"/>
          </a:solidFill>
          <a:ln/>
        </p:spPr>
      </p:sp>
      <p:sp>
        <p:nvSpPr>
          <p:cNvPr id="5" name="Shape 3"/>
          <p:cNvSpPr/>
          <p:nvPr/>
        </p:nvSpPr>
        <p:spPr>
          <a:xfrm>
            <a:off x="566928" y="1737360"/>
            <a:ext cx="54864" cy="1371600"/>
          </a:xfrm>
          <a:prstGeom prst="rect">
            <a:avLst/>
          </a:prstGeom>
          <a:solidFill>
            <a:srgbClr val="8A8378"/>
          </a:solidFill>
          <a:ln/>
        </p:spPr>
      </p:sp>
      <p:sp>
        <p:nvSpPr>
          <p:cNvPr id="6" name="Text 4"/>
          <p:cNvSpPr/>
          <p:nvPr/>
        </p:nvSpPr>
        <p:spPr>
          <a:xfrm>
            <a:off x="841248" y="1847088"/>
            <a:ext cx="2743200" cy="274320"/>
          </a:xfrm>
          <a:prstGeom prst="rect">
            <a:avLst/>
          </a:prstGeom>
          <a:noFill/>
          <a:ln/>
        </p:spPr>
        <p:txBody>
          <a:bodyPr wrap="square" rtlCol="0" anchor="ctr"/>
          <a:lstStyle/>
          <a:p>
            <a:pPr indent="0" marL="0">
              <a:buNone/>
            </a:pPr>
            <a:r>
              <a:rPr lang="en-US" sz="1000" b="1" spc="100" kern="0" dirty="0">
                <a:solidFill>
                  <a:srgbClr val="57534A"/>
                </a:solidFill>
                <a:latin typeface="Georgia" pitchFamily="34" charset="0"/>
                <a:ea typeface="Georgia" pitchFamily="34" charset="-122"/>
                <a:cs typeface="Georgia" pitchFamily="34" charset="-120"/>
              </a:rPr>
              <a:t>THE TASK</a:t>
            </a:r>
            <a:endParaRPr lang="en-US" sz="1000" dirty="0"/>
          </a:p>
        </p:txBody>
      </p:sp>
      <p:sp>
        <p:nvSpPr>
          <p:cNvPr id="7" name="Text 5"/>
          <p:cNvSpPr/>
          <p:nvPr/>
        </p:nvSpPr>
        <p:spPr>
          <a:xfrm>
            <a:off x="841248" y="2148840"/>
            <a:ext cx="10506456" cy="868680"/>
          </a:xfrm>
          <a:prstGeom prst="rect">
            <a:avLst/>
          </a:prstGeom>
          <a:noFill/>
          <a:ln/>
        </p:spPr>
        <p:txBody>
          <a:bodyPr wrap="square" rtlCol="0" anchor="ctr"/>
          <a:lstStyle/>
          <a:p>
            <a:pPr indent="0" marL="0">
              <a:lnSpc>
                <a:spcPts val="2100"/>
              </a:lnSpc>
              <a:buNone/>
            </a:pPr>
            <a:r>
              <a:rPr lang="en-US" sz="1350" dirty="0">
                <a:solidFill>
                  <a:srgbClr val="33302B"/>
                </a:solidFill>
                <a:latin typeface="Georgia" pitchFamily="34" charset="0"/>
                <a:ea typeface="Georgia" pitchFamily="34" charset="-122"/>
                <a:cs typeface="Georgia" pitchFamily="34" charset="-120"/>
              </a:rPr>
              <a:t>Select one transaction from at least a month before the session. Require full attribution by query — acting identity, authority relied upon, and the version of the rule then in force. Arrange access before the session.</a:t>
            </a:r>
            <a:endParaRPr lang="en-US" sz="1350" dirty="0"/>
          </a:p>
        </p:txBody>
      </p:sp>
      <p:sp>
        <p:nvSpPr>
          <p:cNvPr id="8" name="Shape 6"/>
          <p:cNvSpPr/>
          <p:nvPr/>
        </p:nvSpPr>
        <p:spPr>
          <a:xfrm>
            <a:off x="566928" y="3273552"/>
            <a:ext cx="11055096" cy="1371600"/>
          </a:xfrm>
          <a:prstGeom prst="rect">
            <a:avLst/>
          </a:prstGeom>
          <a:solidFill>
            <a:srgbClr val="EBE7DF"/>
          </a:solidFill>
          <a:ln/>
        </p:spPr>
      </p:sp>
      <p:sp>
        <p:nvSpPr>
          <p:cNvPr id="9" name="Shape 7"/>
          <p:cNvSpPr/>
          <p:nvPr/>
        </p:nvSpPr>
        <p:spPr>
          <a:xfrm>
            <a:off x="566928" y="3273552"/>
            <a:ext cx="54864" cy="1371600"/>
          </a:xfrm>
          <a:prstGeom prst="rect">
            <a:avLst/>
          </a:prstGeom>
          <a:solidFill>
            <a:srgbClr val="8A8378"/>
          </a:solidFill>
          <a:ln/>
        </p:spPr>
      </p:sp>
      <p:sp>
        <p:nvSpPr>
          <p:cNvPr id="10" name="Text 8"/>
          <p:cNvSpPr/>
          <p:nvPr/>
        </p:nvSpPr>
        <p:spPr>
          <a:xfrm>
            <a:off x="841248" y="3383280"/>
            <a:ext cx="2743200" cy="274320"/>
          </a:xfrm>
          <a:prstGeom prst="rect">
            <a:avLst/>
          </a:prstGeom>
          <a:noFill/>
          <a:ln/>
        </p:spPr>
        <p:txBody>
          <a:bodyPr wrap="square" rtlCol="0" anchor="ctr"/>
          <a:lstStyle/>
          <a:p>
            <a:pPr indent="0" marL="0">
              <a:buNone/>
            </a:pPr>
            <a:r>
              <a:rPr lang="en-US" sz="1000" b="1" spc="100" kern="0" dirty="0">
                <a:solidFill>
                  <a:srgbClr val="57534A"/>
                </a:solidFill>
                <a:latin typeface="Georgia" pitchFamily="34" charset="0"/>
                <a:ea typeface="Georgia" pitchFamily="34" charset="-122"/>
                <a:cs typeface="Georgia" pitchFamily="34" charset="-120"/>
              </a:rPr>
              <a:t>DELIVERABLE</a:t>
            </a:r>
            <a:endParaRPr lang="en-US" sz="1000" dirty="0"/>
          </a:p>
        </p:txBody>
      </p:sp>
      <p:sp>
        <p:nvSpPr>
          <p:cNvPr id="11" name="Text 9"/>
          <p:cNvSpPr/>
          <p:nvPr/>
        </p:nvSpPr>
        <p:spPr>
          <a:xfrm>
            <a:off x="841248" y="3685032"/>
            <a:ext cx="10506456" cy="868680"/>
          </a:xfrm>
          <a:prstGeom prst="rect">
            <a:avLst/>
          </a:prstGeom>
          <a:noFill/>
          <a:ln/>
        </p:spPr>
        <p:txBody>
          <a:bodyPr wrap="square" rtlCol="0" anchor="ctr"/>
          <a:lstStyle/>
          <a:p>
            <a:pPr indent="0" marL="0">
              <a:lnSpc>
                <a:spcPts val="2100"/>
              </a:lnSpc>
              <a:buNone/>
            </a:pPr>
            <a:r>
              <a:rPr lang="en-US" sz="1350" dirty="0">
                <a:solidFill>
                  <a:srgbClr val="33302B"/>
                </a:solidFill>
                <a:latin typeface="Georgia" pitchFamily="34" charset="0"/>
                <a:ea typeface="Georgia" pitchFamily="34" charset="-122"/>
                <a:cs typeface="Georgia" pitchFamily="34" charset="-120"/>
              </a:rPr>
              <a:t>The attribution attempt, the schema, and the rule-version position recorded.</a:t>
            </a:r>
            <a:endParaRPr lang="en-US" sz="1350" dirty="0"/>
          </a:p>
        </p:txBody>
      </p:sp>
      <p:sp>
        <p:nvSpPr>
          <p:cNvPr id="12" name="Shape 10"/>
          <p:cNvSpPr/>
          <p:nvPr/>
        </p:nvSpPr>
        <p:spPr>
          <a:xfrm>
            <a:off x="566928" y="4809744"/>
            <a:ext cx="11055096" cy="1371600"/>
          </a:xfrm>
          <a:prstGeom prst="rect">
            <a:avLst/>
          </a:prstGeom>
          <a:solidFill>
            <a:srgbClr val="E4DFD5"/>
          </a:solidFill>
          <a:ln/>
        </p:spPr>
      </p:sp>
      <p:sp>
        <p:nvSpPr>
          <p:cNvPr id="13" name="Shape 11"/>
          <p:cNvSpPr/>
          <p:nvPr/>
        </p:nvSpPr>
        <p:spPr>
          <a:xfrm>
            <a:off x="566928" y="4809744"/>
            <a:ext cx="54864" cy="1371600"/>
          </a:xfrm>
          <a:prstGeom prst="rect">
            <a:avLst/>
          </a:prstGeom>
          <a:solidFill>
            <a:srgbClr val="8A8378"/>
          </a:solidFill>
          <a:ln/>
        </p:spPr>
      </p:sp>
      <p:sp>
        <p:nvSpPr>
          <p:cNvPr id="14" name="Text 12"/>
          <p:cNvSpPr/>
          <p:nvPr/>
        </p:nvSpPr>
        <p:spPr>
          <a:xfrm>
            <a:off x="841248" y="4919472"/>
            <a:ext cx="2743200" cy="274320"/>
          </a:xfrm>
          <a:prstGeom prst="rect">
            <a:avLst/>
          </a:prstGeom>
          <a:noFill/>
          <a:ln/>
        </p:spPr>
        <p:txBody>
          <a:bodyPr wrap="square" rtlCol="0" anchor="ctr"/>
          <a:lstStyle/>
          <a:p>
            <a:pPr indent="0" marL="0">
              <a:buNone/>
            </a:pPr>
            <a:r>
              <a:rPr lang="en-US" sz="1000" b="1" spc="100" kern="0" dirty="0">
                <a:solidFill>
                  <a:srgbClr val="57534A"/>
                </a:solidFill>
                <a:latin typeface="Georgia" pitchFamily="34" charset="0"/>
                <a:ea typeface="Georgia" pitchFamily="34" charset="-122"/>
                <a:cs typeface="Georgia" pitchFamily="34" charset="-120"/>
              </a:rPr>
              <a:t>MARKED ON</a:t>
            </a:r>
            <a:endParaRPr lang="en-US" sz="1000" dirty="0"/>
          </a:p>
        </p:txBody>
      </p:sp>
      <p:sp>
        <p:nvSpPr>
          <p:cNvPr id="15" name="Text 13"/>
          <p:cNvSpPr/>
          <p:nvPr/>
        </p:nvSpPr>
        <p:spPr>
          <a:xfrm>
            <a:off x="841248" y="5221224"/>
            <a:ext cx="10506456" cy="868680"/>
          </a:xfrm>
          <a:prstGeom prst="rect">
            <a:avLst/>
          </a:prstGeom>
          <a:noFill/>
          <a:ln/>
        </p:spPr>
        <p:txBody>
          <a:bodyPr wrap="square" rtlCol="0" anchor="ctr"/>
          <a:lstStyle/>
          <a:p>
            <a:pPr indent="0" marL="0">
              <a:lnSpc>
                <a:spcPts val="2100"/>
              </a:lnSpc>
              <a:buNone/>
            </a:pPr>
            <a:r>
              <a:rPr lang="en-US" sz="1350" dirty="0">
                <a:solidFill>
                  <a:srgbClr val="33302B"/>
                </a:solidFill>
                <a:latin typeface="Georgia" pitchFamily="34" charset="0"/>
                <a:ea typeface="Georgia" pitchFamily="34" charset="-122"/>
                <a:cs typeface="Georgia" pitchFamily="34" charset="-120"/>
              </a:rPr>
              <a:t>Evidence discipline. A recorded failure with the schema attached scores higher than a success asserted without one.</a:t>
            </a:r>
            <a:endParaRPr lang="en-US" sz="1350" dirty="0"/>
          </a:p>
        </p:txBody>
      </p:sp>
      <p:sp>
        <p:nvSpPr>
          <p:cNvPr id="16" name="Text 14"/>
          <p:cNvSpPr/>
          <p:nvPr/>
        </p:nvSpPr>
        <p:spPr>
          <a:xfrm>
            <a:off x="566928" y="6473952"/>
            <a:ext cx="9957816" cy="274320"/>
          </a:xfrm>
          <a:prstGeom prst="rect">
            <a:avLst/>
          </a:prstGeom>
          <a:noFill/>
          <a:ln/>
        </p:spPr>
        <p:txBody>
          <a:bodyPr wrap="square" rtlCol="0" anchor="ctr"/>
          <a:lstStyle/>
          <a:p>
            <a:pPr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indent="0" marL="0">
              <a:buNone/>
            </a:pPr>
            <a:r>
              <a:rPr lang="en-US" sz="900" dirty="0">
                <a:solidFill>
                  <a:srgbClr val="6E6A62"/>
                </a:solidFill>
                <a:latin typeface="Georgia" pitchFamily="34" charset="0"/>
                <a:ea typeface="Georgia" pitchFamily="34" charset="-122"/>
                <a:cs typeface="Georgia" pitchFamily="34" charset="-120"/>
              </a:rPr>
              <a:t>  ·  PCERT-FS — Custody in the Regulated Institution</a:t>
            </a:r>
            <a:endParaRPr lang="en-US" sz="900" dirty="0"/>
          </a:p>
        </p:txBody>
      </p:sp>
      <p:sp>
        <p:nvSpPr>
          <p:cNvPr id="17" name="Text 15"/>
          <p:cNvSpPr/>
          <p:nvPr/>
        </p:nvSpPr>
        <p:spPr>
          <a:xfrm>
            <a:off x="10707624"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B1A18"/>
        </a:solidFill>
      </p:bgPr>
    </p:bg>
    <p:spTree>
      <p:nvGrpSpPr>
        <p:cNvPr id="1" name=""/>
        <p:cNvGrpSpPr/>
        <p:nvPr/>
      </p:nvGrpSpPr>
      <p:grpSpPr>
        <a:xfrm>
          <a:off x="0" y="0"/>
          <a:ext cx="0" cy="0"/>
          <a:chOff x="0" y="0"/>
          <a:chExt cx="0" cy="0"/>
        </a:xfrm>
      </p:grpSpPr>
      <p:sp>
        <p:nvSpPr>
          <p:cNvPr id="2" name="Shape 0"/>
          <p:cNvSpPr/>
          <p:nvPr/>
        </p:nvSpPr>
        <p:spPr>
          <a:xfrm>
            <a:off x="566928" y="2148840"/>
            <a:ext cx="1554480" cy="310896"/>
          </a:xfrm>
          <a:prstGeom prst="roundRect">
            <a:avLst>
              <a:gd name="adj" fmla="val 47059"/>
            </a:avLst>
          </a:prstGeom>
          <a:solidFill>
            <a:srgbClr val="8A8378"/>
          </a:solidFill>
          <a:ln/>
        </p:spPr>
      </p:sp>
      <p:sp>
        <p:nvSpPr>
          <p:cNvPr id="3" name="Text 1"/>
          <p:cNvSpPr/>
          <p:nvPr/>
        </p:nvSpPr>
        <p:spPr>
          <a:xfrm>
            <a:off x="566928" y="2148840"/>
            <a:ext cx="1554480" cy="310896"/>
          </a:xfrm>
          <a:prstGeom prst="rect">
            <a:avLst/>
          </a:prstGeom>
          <a:noFill/>
          <a:ln/>
        </p:spPr>
        <p:txBody>
          <a:bodyPr wrap="square" rtlCol="0" anchor="ctr"/>
          <a:lstStyle/>
          <a:p>
            <a:pPr algn="ctr" indent="0" marL="0">
              <a:buNone/>
            </a:pPr>
            <a:r>
              <a:rPr lang="en-US" sz="1050" b="1" spc="60" kern="0" dirty="0">
                <a:solidFill>
                  <a:srgbClr val="1B1A18"/>
                </a:solidFill>
                <a:latin typeface="Georgia" pitchFamily="34" charset="0"/>
                <a:ea typeface="Georgia" pitchFamily="34" charset="-122"/>
                <a:cs typeface="Georgia" pitchFamily="34" charset="-120"/>
              </a:rPr>
              <a:t>MODULE 5</a:t>
            </a:r>
            <a:endParaRPr lang="en-US" sz="1050" dirty="0"/>
          </a:p>
        </p:txBody>
      </p:sp>
      <p:sp>
        <p:nvSpPr>
          <p:cNvPr id="4" name="Text 2"/>
          <p:cNvSpPr/>
          <p:nvPr/>
        </p:nvSpPr>
        <p:spPr>
          <a:xfrm>
            <a:off x="566928" y="2606040"/>
            <a:ext cx="10515600" cy="1005840"/>
          </a:xfrm>
          <a:prstGeom prst="rect">
            <a:avLst/>
          </a:prstGeom>
          <a:noFill/>
          <a:ln/>
        </p:spPr>
        <p:txBody>
          <a:bodyPr wrap="square" rtlCol="0" anchor="ctr"/>
          <a:lstStyle/>
          <a:p>
            <a:pPr indent="0" marL="0">
              <a:buNone/>
            </a:pPr>
            <a:r>
              <a:rPr lang="en-US" sz="3550" b="1" dirty="0">
                <a:solidFill>
                  <a:srgbClr val="FFFFFF"/>
                </a:solidFill>
                <a:latin typeface="Georgia" pitchFamily="34" charset="0"/>
                <a:ea typeface="Georgia" pitchFamily="34" charset="-122"/>
                <a:cs typeface="Georgia" pitchFamily="34" charset="-120"/>
              </a:rPr>
              <a:t>Dependency, Concentration, and Cost</a:t>
            </a:r>
            <a:endParaRPr lang="en-US" sz="3550" dirty="0"/>
          </a:p>
        </p:txBody>
      </p:sp>
      <p:sp>
        <p:nvSpPr>
          <p:cNvPr id="5" name="Text 3"/>
          <p:cNvSpPr/>
          <p:nvPr/>
        </p:nvSpPr>
        <p:spPr>
          <a:xfrm>
            <a:off x="566928" y="3657600"/>
            <a:ext cx="9875520" cy="1097280"/>
          </a:xfrm>
          <a:prstGeom prst="rect">
            <a:avLst/>
          </a:prstGeom>
          <a:noFill/>
          <a:ln/>
        </p:spPr>
        <p:txBody>
          <a:bodyPr wrap="square" rtlCol="0" anchor="ctr"/>
          <a:lstStyle/>
          <a:p>
            <a:pPr indent="0" marL="0">
              <a:lnSpc>
                <a:spcPts val="2400"/>
              </a:lnSpc>
              <a:buNone/>
            </a:pPr>
            <a:r>
              <a:rPr lang="en-US" sz="1500" dirty="0">
                <a:solidFill>
                  <a:srgbClr val="E4DFD5"/>
                </a:solidFill>
                <a:latin typeface="Georgia" pitchFamily="34" charset="0"/>
                <a:ea typeface="Georgia" pitchFamily="34" charset="-122"/>
                <a:cs typeface="Georgia" pitchFamily="34" charset="-120"/>
              </a:rPr>
              <a:t>What the third-party register lists, and what it misses. Chapters 16, 17, 19 and 20.</a:t>
            </a:r>
            <a:endParaRPr lang="en-US" sz="1500" dirty="0"/>
          </a:p>
        </p:txBody>
      </p:sp>
      <p:sp>
        <p:nvSpPr>
          <p:cNvPr id="6" name="Text 4"/>
          <p:cNvSpPr/>
          <p:nvPr/>
        </p:nvSpPr>
        <p:spPr>
          <a:xfrm>
            <a:off x="566928" y="6473952"/>
            <a:ext cx="9957816" cy="274320"/>
          </a:xfrm>
          <a:prstGeom prst="rect">
            <a:avLst/>
          </a:prstGeom>
          <a:noFill/>
          <a:ln/>
        </p:spPr>
        <p:txBody>
          <a:bodyPr wrap="square" rtlCol="0" anchor="ctr"/>
          <a:lstStyle/>
          <a:p>
            <a:pPr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indent="0" marL="0">
              <a:buNone/>
            </a:pPr>
            <a:r>
              <a:rPr lang="en-US" sz="900" dirty="0">
                <a:solidFill>
                  <a:srgbClr val="6E6A62"/>
                </a:solidFill>
                <a:latin typeface="Georgia" pitchFamily="34" charset="0"/>
                <a:ea typeface="Georgia" pitchFamily="34" charset="-122"/>
                <a:cs typeface="Georgia" pitchFamily="34" charset="-120"/>
              </a:rPr>
              <a:t>  ·  PCERT-FS — Custody in the Regulated Institution</a:t>
            </a:r>
            <a:endParaRPr lang="en-US" sz="900" dirty="0"/>
          </a:p>
        </p:txBody>
      </p:sp>
      <p:sp>
        <p:nvSpPr>
          <p:cNvPr id="7" name="Text 5"/>
          <p:cNvSpPr/>
          <p:nvPr/>
        </p:nvSpPr>
        <p:spPr>
          <a:xfrm>
            <a:off x="10707624"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55096" cy="292608"/>
          </a:xfrm>
          <a:prstGeom prst="rect">
            <a:avLst/>
          </a:prstGeom>
          <a:noFill/>
          <a:ln/>
        </p:spPr>
        <p:txBody>
          <a:bodyPr wrap="square" rtlCol="0" anchor="ctr"/>
          <a:lstStyle/>
          <a:p>
            <a:pPr indent="0" marL="0">
              <a:buNone/>
            </a:pPr>
            <a:r>
              <a:rPr lang="en-US" sz="1050" b="1" spc="120" kern="0" dirty="0">
                <a:solidFill>
                  <a:srgbClr val="8A8378"/>
                </a:solidFill>
                <a:latin typeface="Georgia" pitchFamily="34" charset="0"/>
                <a:ea typeface="Georgia" pitchFamily="34" charset="-122"/>
                <a:cs typeface="Georgia" pitchFamily="34" charset="-120"/>
              </a:rPr>
              <a:t>TWO DIFFERENT DOCUMENTS</a:t>
            </a:r>
            <a:endParaRPr lang="en-US" sz="1050" dirty="0"/>
          </a:p>
        </p:txBody>
      </p:sp>
      <p:sp>
        <p:nvSpPr>
          <p:cNvPr id="3" name="Text 1"/>
          <p:cNvSpPr/>
          <p:nvPr/>
        </p:nvSpPr>
        <p:spPr>
          <a:xfrm>
            <a:off x="566928" y="749808"/>
            <a:ext cx="11055096" cy="822960"/>
          </a:xfrm>
          <a:prstGeom prst="rect">
            <a:avLst/>
          </a:prstGeom>
          <a:noFill/>
          <a:ln/>
        </p:spPr>
        <p:txBody>
          <a:bodyPr wrap="square" rtlCol="0" anchor="t"/>
          <a:lstStyle/>
          <a:p>
            <a:pPr indent="0" marL="0">
              <a:buNone/>
            </a:pPr>
            <a:r>
              <a:rPr lang="en-US" sz="2550" b="1" dirty="0">
                <a:solidFill>
                  <a:srgbClr val="1B1A18"/>
                </a:solidFill>
                <a:latin typeface="Georgia" pitchFamily="34" charset="0"/>
                <a:ea typeface="Georgia" pitchFamily="34" charset="-122"/>
                <a:cs typeface="Georgia" pitchFamily="34" charset="-120"/>
              </a:rPr>
              <a:t>The register lists arrangements. The census lists reliance.</a:t>
            </a:r>
            <a:endParaRPr lang="en-US" sz="2550" dirty="0"/>
          </a:p>
        </p:txBody>
      </p:sp>
      <p:sp>
        <p:nvSpPr>
          <p:cNvPr id="4" name="Shape 2"/>
          <p:cNvSpPr/>
          <p:nvPr/>
        </p:nvSpPr>
        <p:spPr>
          <a:xfrm>
            <a:off x="566928" y="1737360"/>
            <a:ext cx="5367528" cy="4480560"/>
          </a:xfrm>
          <a:prstGeom prst="rect">
            <a:avLst/>
          </a:prstGeom>
          <a:solidFill>
            <a:srgbClr val="F4F2EE"/>
          </a:solidFill>
          <a:ln/>
        </p:spPr>
      </p:sp>
      <p:sp>
        <p:nvSpPr>
          <p:cNvPr id="5" name="Shape 3"/>
          <p:cNvSpPr/>
          <p:nvPr/>
        </p:nvSpPr>
        <p:spPr>
          <a:xfrm>
            <a:off x="566928" y="1737360"/>
            <a:ext cx="5367528" cy="548640"/>
          </a:xfrm>
          <a:prstGeom prst="rect">
            <a:avLst/>
          </a:prstGeom>
          <a:solidFill>
            <a:srgbClr val="8A8378"/>
          </a:solidFill>
          <a:ln/>
        </p:spPr>
      </p:sp>
      <p:sp>
        <p:nvSpPr>
          <p:cNvPr id="6" name="Text 4"/>
          <p:cNvSpPr/>
          <p:nvPr/>
        </p:nvSpPr>
        <p:spPr>
          <a:xfrm>
            <a:off x="795528" y="1737360"/>
            <a:ext cx="4910328" cy="548640"/>
          </a:xfrm>
          <a:prstGeom prst="rect">
            <a:avLst/>
          </a:prstGeom>
          <a:noFill/>
          <a:ln/>
        </p:spPr>
        <p:txBody>
          <a:bodyPr wrap="square"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In the third-party register</a:t>
            </a:r>
            <a:endParaRPr lang="en-US" sz="1500" dirty="0"/>
          </a:p>
        </p:txBody>
      </p:sp>
      <p:sp>
        <p:nvSpPr>
          <p:cNvPr id="7" name="Text 5"/>
          <p:cNvSpPr/>
          <p:nvPr/>
        </p:nvSpPr>
        <p:spPr>
          <a:xfrm>
            <a:off x="822960" y="2468880"/>
            <a:ext cx="4855464" cy="3566160"/>
          </a:xfrm>
          <a:prstGeom prst="rect">
            <a:avLst/>
          </a:prstGeom>
          <a:noFill/>
          <a:ln/>
        </p:spPr>
        <p:txBody>
          <a:bodyPr wrap="square" rtlCol="0" anchor="t"/>
          <a:lstStyle/>
          <a:p>
            <a:pPr marL="177800" indent="-177800">
              <a:lnSpc>
                <a:spcPts val="2100"/>
              </a:lnSpc>
              <a:spcAft>
                <a:spcPts val="900"/>
              </a:spcAft>
              <a:buSzPct val="100000"/>
              <a:buChar char="•"/>
            </a:pPr>
            <a:r>
              <a:rPr lang="en-US" sz="1250" dirty="0">
                <a:solidFill>
                  <a:srgbClr val="33302B"/>
                </a:solidFill>
                <a:latin typeface="Georgia" pitchFamily="34" charset="0"/>
                <a:ea typeface="Georgia" pitchFamily="34" charset="-122"/>
                <a:cs typeface="Georgia" pitchFamily="34" charset="-120"/>
              </a:rPr>
              <a:t>Contracted providers of critical functions</a:t>
            </a:r>
            <a:endParaRPr lang="en-US" sz="1250" dirty="0"/>
          </a:p>
          <a:p>
            <a:pPr marL="177800" indent="-177800">
              <a:lnSpc>
                <a:spcPts val="2100"/>
              </a:lnSpc>
              <a:spcAft>
                <a:spcPts val="900"/>
              </a:spcAft>
              <a:buSzPct val="100000"/>
              <a:buChar char="•"/>
            </a:pPr>
            <a:r>
              <a:rPr lang="en-US" sz="1250" dirty="0">
                <a:solidFill>
                  <a:srgbClr val="33302B"/>
                </a:solidFill>
                <a:latin typeface="Georgia" pitchFamily="34" charset="0"/>
                <a:ea typeface="Georgia" pitchFamily="34" charset="-122"/>
                <a:cs typeface="Georgia" pitchFamily="34" charset="-120"/>
              </a:rPr>
              <a:t>Hosting and infrastructure agreements</a:t>
            </a:r>
            <a:endParaRPr lang="en-US" sz="1250" dirty="0"/>
          </a:p>
          <a:p>
            <a:pPr marL="177800" indent="-177800">
              <a:lnSpc>
                <a:spcPts val="2100"/>
              </a:lnSpc>
              <a:spcAft>
                <a:spcPts val="900"/>
              </a:spcAft>
              <a:buSzPct val="100000"/>
              <a:buChar char="•"/>
            </a:pPr>
            <a:r>
              <a:rPr lang="en-US" sz="1250" dirty="0">
                <a:solidFill>
                  <a:srgbClr val="33302B"/>
                </a:solidFill>
                <a:latin typeface="Georgia" pitchFamily="34" charset="0"/>
                <a:ea typeface="Georgia" pitchFamily="34" charset="-122"/>
                <a:cs typeface="Georgia" pitchFamily="34" charset="-120"/>
              </a:rPr>
              <a:t>The application vendor</a:t>
            </a:r>
            <a:endParaRPr lang="en-US" sz="1250" dirty="0"/>
          </a:p>
          <a:p>
            <a:pPr marL="177800" indent="-177800">
              <a:lnSpc>
                <a:spcPts val="2100"/>
              </a:lnSpc>
              <a:spcAft>
                <a:spcPts val="900"/>
              </a:spcAft>
              <a:buSzPct val="100000"/>
              <a:buChar char="•"/>
            </a:pPr>
            <a:r>
              <a:rPr lang="en-US" sz="1250" dirty="0">
                <a:solidFill>
                  <a:srgbClr val="33302B"/>
                </a:solidFill>
                <a:latin typeface="Georgia" pitchFamily="34" charset="0"/>
                <a:ea typeface="Georgia" pitchFamily="34" charset="-122"/>
                <a:cs typeface="Georgia" pitchFamily="34" charset="-120"/>
              </a:rPr>
              <a:t>Documented exit strategies</a:t>
            </a:r>
            <a:endParaRPr lang="en-US" sz="1250" dirty="0"/>
          </a:p>
        </p:txBody>
      </p:sp>
      <p:sp>
        <p:nvSpPr>
          <p:cNvPr id="8" name="Shape 6"/>
          <p:cNvSpPr/>
          <p:nvPr/>
        </p:nvSpPr>
        <p:spPr>
          <a:xfrm>
            <a:off x="6254496" y="1737360"/>
            <a:ext cx="5367528" cy="4480560"/>
          </a:xfrm>
          <a:prstGeom prst="rect">
            <a:avLst/>
          </a:prstGeom>
          <a:solidFill>
            <a:srgbClr val="EBE7DF"/>
          </a:solidFill>
          <a:ln/>
        </p:spPr>
      </p:sp>
      <p:sp>
        <p:nvSpPr>
          <p:cNvPr id="9" name="Shape 7"/>
          <p:cNvSpPr/>
          <p:nvPr/>
        </p:nvSpPr>
        <p:spPr>
          <a:xfrm>
            <a:off x="6254496" y="1737360"/>
            <a:ext cx="5367528" cy="548640"/>
          </a:xfrm>
          <a:prstGeom prst="rect">
            <a:avLst/>
          </a:prstGeom>
          <a:solidFill>
            <a:srgbClr val="33302B"/>
          </a:solidFill>
          <a:ln/>
        </p:spPr>
      </p:sp>
      <p:sp>
        <p:nvSpPr>
          <p:cNvPr id="10" name="Text 8"/>
          <p:cNvSpPr/>
          <p:nvPr/>
        </p:nvSpPr>
        <p:spPr>
          <a:xfrm>
            <a:off x="6483096" y="1737360"/>
            <a:ext cx="4910328" cy="548640"/>
          </a:xfrm>
          <a:prstGeom prst="rect">
            <a:avLst/>
          </a:prstGeom>
          <a:noFill/>
          <a:ln/>
        </p:spPr>
        <p:txBody>
          <a:bodyPr wrap="square"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Only in the dependency census</a:t>
            </a:r>
            <a:endParaRPr lang="en-US" sz="1500" dirty="0"/>
          </a:p>
        </p:txBody>
      </p:sp>
      <p:sp>
        <p:nvSpPr>
          <p:cNvPr id="11" name="Text 9"/>
          <p:cNvSpPr/>
          <p:nvPr/>
        </p:nvSpPr>
        <p:spPr>
          <a:xfrm>
            <a:off x="6510528" y="2468880"/>
            <a:ext cx="4855464" cy="3566160"/>
          </a:xfrm>
          <a:prstGeom prst="rect">
            <a:avLst/>
          </a:prstGeom>
          <a:noFill/>
          <a:ln/>
        </p:spPr>
        <p:txBody>
          <a:bodyPr wrap="square" rtlCol="0" anchor="t"/>
          <a:lstStyle/>
          <a:p>
            <a:pPr marL="177800" indent="-177800">
              <a:lnSpc>
                <a:spcPts val="2100"/>
              </a:lnSpc>
              <a:spcAft>
                <a:spcPts val="900"/>
              </a:spcAft>
              <a:buSzPct val="100000"/>
              <a:buChar char="•"/>
            </a:pPr>
            <a:r>
              <a:rPr lang="en-US" sz="1250" dirty="0">
                <a:solidFill>
                  <a:srgbClr val="33302B"/>
                </a:solidFill>
                <a:latin typeface="Georgia" pitchFamily="34" charset="0"/>
                <a:ea typeface="Georgia" pitchFamily="34" charset="-122"/>
                <a:cs typeface="Georgia" pitchFamily="34" charset="-120"/>
              </a:rPr>
              <a:t>Which model, which version, chosen by whom</a:t>
            </a:r>
            <a:endParaRPr lang="en-US" sz="1250" dirty="0"/>
          </a:p>
          <a:p>
            <a:pPr marL="177800" indent="-177800">
              <a:lnSpc>
                <a:spcPts val="2100"/>
              </a:lnSpc>
              <a:spcAft>
                <a:spcPts val="900"/>
              </a:spcAft>
              <a:buSzPct val="100000"/>
              <a:buChar char="•"/>
            </a:pPr>
            <a:r>
              <a:rPr lang="en-US" sz="1250" dirty="0">
                <a:solidFill>
                  <a:srgbClr val="33302B"/>
                </a:solidFill>
                <a:latin typeface="Georgia" pitchFamily="34" charset="0"/>
                <a:ea typeface="Georgia" pitchFamily="34" charset="-122"/>
                <a:cs typeface="Georgia" pitchFamily="34" charset="-120"/>
              </a:rPr>
              <a:t>Where inference physically runs, under which entity</a:t>
            </a:r>
            <a:endParaRPr lang="en-US" sz="1250" dirty="0"/>
          </a:p>
          <a:p>
            <a:pPr marL="177800" indent="-177800">
              <a:lnSpc>
                <a:spcPts val="2100"/>
              </a:lnSpc>
              <a:spcAft>
                <a:spcPts val="900"/>
              </a:spcAft>
              <a:buSzPct val="100000"/>
              <a:buChar char="•"/>
            </a:pPr>
            <a:r>
              <a:rPr lang="en-US" sz="1250" dirty="0">
                <a:solidFill>
                  <a:srgbClr val="33302B"/>
                </a:solidFill>
                <a:latin typeface="Georgia" pitchFamily="34" charset="0"/>
                <a:ea typeface="Georgia" pitchFamily="34" charset="-122"/>
                <a:cs typeface="Georgia" pitchFamily="34" charset="-120"/>
              </a:rPr>
              <a:t>The orchestration framework — often no counterparty at all</a:t>
            </a:r>
            <a:endParaRPr lang="en-US" sz="1250" dirty="0"/>
          </a:p>
          <a:p>
            <a:pPr marL="177800" indent="-177800">
              <a:lnSpc>
                <a:spcPts val="2100"/>
              </a:lnSpc>
              <a:spcAft>
                <a:spcPts val="900"/>
              </a:spcAft>
              <a:buSzPct val="100000"/>
              <a:buChar char="•"/>
            </a:pPr>
            <a:r>
              <a:rPr lang="en-US" sz="1250" dirty="0">
                <a:solidFill>
                  <a:srgbClr val="33302B"/>
                </a:solidFill>
                <a:latin typeface="Georgia" pitchFamily="34" charset="0"/>
                <a:ea typeface="Georgia" pitchFamily="34" charset="-122"/>
                <a:cs typeface="Georgia" pitchFamily="34" charset="-120"/>
              </a:rPr>
              <a:t>Where durable records sit, and who may write to them</a:t>
            </a:r>
            <a:endParaRPr lang="en-US" sz="1250" dirty="0"/>
          </a:p>
          <a:p>
            <a:pPr marL="177800" indent="-177800">
              <a:lnSpc>
                <a:spcPts val="2100"/>
              </a:lnSpc>
              <a:spcAft>
                <a:spcPts val="900"/>
              </a:spcAft>
              <a:buSzPct val="100000"/>
              <a:buChar char="•"/>
            </a:pPr>
            <a:r>
              <a:rPr lang="en-US" sz="1250" dirty="0">
                <a:solidFill>
                  <a:srgbClr val="33302B"/>
                </a:solidFill>
                <a:latin typeface="Georgia" pitchFamily="34" charset="0"/>
                <a:ea typeface="Georgia" pitchFamily="34" charset="-122"/>
                <a:cs typeface="Georgia" pitchFamily="34" charset="-120"/>
              </a:rPr>
              <a:t>Policy dependency: a provider changes what you may do, with no outage and no price change</a:t>
            </a:r>
            <a:endParaRPr lang="en-US" sz="1250" dirty="0"/>
          </a:p>
        </p:txBody>
      </p:sp>
      <p:sp>
        <p:nvSpPr>
          <p:cNvPr id="12" name="Text 10"/>
          <p:cNvSpPr/>
          <p:nvPr/>
        </p:nvSpPr>
        <p:spPr>
          <a:xfrm>
            <a:off x="566928" y="6473952"/>
            <a:ext cx="9957816" cy="274320"/>
          </a:xfrm>
          <a:prstGeom prst="rect">
            <a:avLst/>
          </a:prstGeom>
          <a:noFill/>
          <a:ln/>
        </p:spPr>
        <p:txBody>
          <a:bodyPr wrap="square" rtlCol="0" anchor="ctr"/>
          <a:lstStyle/>
          <a:p>
            <a:pPr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indent="0" marL="0">
              <a:buNone/>
            </a:pPr>
            <a:r>
              <a:rPr lang="en-US" sz="900" dirty="0">
                <a:solidFill>
                  <a:srgbClr val="6E6A62"/>
                </a:solidFill>
                <a:latin typeface="Georgia" pitchFamily="34" charset="0"/>
                <a:ea typeface="Georgia" pitchFamily="34" charset="-122"/>
                <a:cs typeface="Georgia" pitchFamily="34" charset="-120"/>
              </a:rPr>
              <a:t>  ·  PCERT-FS — Custody in the Regulated Institution</a:t>
            </a:r>
            <a:endParaRPr lang="en-US" sz="900" dirty="0"/>
          </a:p>
        </p:txBody>
      </p:sp>
      <p:sp>
        <p:nvSpPr>
          <p:cNvPr id="13" name="Text 11"/>
          <p:cNvSpPr/>
          <p:nvPr/>
        </p:nvSpPr>
        <p:spPr>
          <a:xfrm>
            <a:off x="10707624"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55096" cy="292608"/>
          </a:xfrm>
          <a:prstGeom prst="rect">
            <a:avLst/>
          </a:prstGeom>
          <a:noFill/>
          <a:ln/>
        </p:spPr>
        <p:txBody>
          <a:bodyPr wrap="square" rtlCol="0" anchor="ctr"/>
          <a:lstStyle/>
          <a:p>
            <a:pPr indent="0" marL="0">
              <a:buNone/>
            </a:pPr>
            <a:r>
              <a:rPr lang="en-US" sz="1050" b="1" spc="120" kern="0" dirty="0">
                <a:solidFill>
                  <a:srgbClr val="8A8378"/>
                </a:solidFill>
                <a:latin typeface="Georgia" pitchFamily="34" charset="0"/>
                <a:ea typeface="Georgia" pitchFamily="34" charset="-122"/>
                <a:cs typeface="Georgia" pitchFamily="34" charset="-120"/>
              </a:rPr>
              <a:t>THE MEASUREMENT DEFICIT RUNS BOTH WAYS</a:t>
            </a:r>
            <a:endParaRPr lang="en-US" sz="1050" dirty="0"/>
          </a:p>
        </p:txBody>
      </p:sp>
      <p:sp>
        <p:nvSpPr>
          <p:cNvPr id="3" name="Text 1"/>
          <p:cNvSpPr/>
          <p:nvPr/>
        </p:nvSpPr>
        <p:spPr>
          <a:xfrm>
            <a:off x="566928" y="749808"/>
            <a:ext cx="11055096" cy="822960"/>
          </a:xfrm>
          <a:prstGeom prst="rect">
            <a:avLst/>
          </a:prstGeom>
          <a:noFill/>
          <a:ln/>
        </p:spPr>
        <p:txBody>
          <a:bodyPr wrap="square" rtlCol="0" anchor="t"/>
          <a:lstStyle/>
          <a:p>
            <a:pPr indent="0" marL="0">
              <a:buNone/>
            </a:pPr>
            <a:endParaRPr lang="en-US" sz="2550" dirty="0"/>
          </a:p>
        </p:txBody>
      </p:sp>
      <p:sp>
        <p:nvSpPr>
          <p:cNvPr id="4" name="Shape 2"/>
          <p:cNvSpPr/>
          <p:nvPr/>
        </p:nvSpPr>
        <p:spPr>
          <a:xfrm>
            <a:off x="566928" y="2148840"/>
            <a:ext cx="54864" cy="2103120"/>
          </a:xfrm>
          <a:prstGeom prst="rect">
            <a:avLst/>
          </a:prstGeom>
          <a:solidFill>
            <a:srgbClr val="8A8378"/>
          </a:solidFill>
          <a:ln/>
        </p:spPr>
      </p:sp>
      <p:sp>
        <p:nvSpPr>
          <p:cNvPr id="5" name="Text 3"/>
          <p:cNvSpPr/>
          <p:nvPr/>
        </p:nvSpPr>
        <p:spPr>
          <a:xfrm>
            <a:off x="877824" y="2103120"/>
            <a:ext cx="10332720" cy="2194560"/>
          </a:xfrm>
          <a:prstGeom prst="rect">
            <a:avLst/>
          </a:prstGeom>
          <a:noFill/>
          <a:ln/>
        </p:spPr>
        <p:txBody>
          <a:bodyPr wrap="square" rtlCol="0" anchor="ctr"/>
          <a:lstStyle/>
          <a:p>
            <a:pPr indent="0" marL="0">
              <a:lnSpc>
                <a:spcPts val="3800"/>
              </a:lnSpc>
              <a:buNone/>
            </a:pPr>
            <a:r>
              <a:rPr lang="en-US" sz="2700" b="1" dirty="0">
                <a:solidFill>
                  <a:srgbClr val="1B1A18"/>
                </a:solidFill>
                <a:latin typeface="Georgia" pitchFamily="34" charset="0"/>
                <a:ea typeface="Georgia" pitchFamily="34" charset="-122"/>
                <a:cs typeface="Georgia" pitchFamily="34" charset="-120"/>
              </a:rPr>
              <a:t>An institution that cannot attribute cost per action cannot attribute exposure per action either.</a:t>
            </a:r>
            <a:endParaRPr lang="en-US" sz="2700" dirty="0"/>
          </a:p>
        </p:txBody>
      </p:sp>
      <p:sp>
        <p:nvSpPr>
          <p:cNvPr id="6" name="Text 4"/>
          <p:cNvSpPr/>
          <p:nvPr/>
        </p:nvSpPr>
        <p:spPr>
          <a:xfrm>
            <a:off x="877824" y="4480560"/>
            <a:ext cx="10332720" cy="731520"/>
          </a:xfrm>
          <a:prstGeom prst="rect">
            <a:avLst/>
          </a:prstGeom>
          <a:noFill/>
          <a:ln/>
        </p:spPr>
        <p:txBody>
          <a:bodyPr wrap="square" rtlCol="0" anchor="ctr"/>
          <a:lstStyle/>
          <a:p>
            <a:pPr indent="0" marL="0">
              <a:lnSpc>
                <a:spcPts val="2200"/>
              </a:lnSpc>
              <a:buNone/>
            </a:pPr>
            <a:r>
              <a:rPr lang="en-US" sz="1350" i="1" dirty="0">
                <a:solidFill>
                  <a:srgbClr val="6E6A62"/>
                </a:solidFill>
                <a:latin typeface="Georgia" pitchFamily="34" charset="0"/>
                <a:ea typeface="Georgia" pitchFamily="34" charset="-122"/>
                <a:cs typeface="Georgia" pitchFamily="34" charset="-120"/>
              </a:rPr>
              <a:t>Both come from the same absent record. This is the argument that makes the finance function the natural owner of the two-invoices test for the whole enterprise.</a:t>
            </a:r>
            <a:endParaRPr lang="en-US" sz="1350" dirty="0"/>
          </a:p>
        </p:txBody>
      </p:sp>
      <p:sp>
        <p:nvSpPr>
          <p:cNvPr id="7" name="Text 5"/>
          <p:cNvSpPr/>
          <p:nvPr/>
        </p:nvSpPr>
        <p:spPr>
          <a:xfrm>
            <a:off x="566928" y="6473952"/>
            <a:ext cx="9957816" cy="274320"/>
          </a:xfrm>
          <a:prstGeom prst="rect">
            <a:avLst/>
          </a:prstGeom>
          <a:noFill/>
          <a:ln/>
        </p:spPr>
        <p:txBody>
          <a:bodyPr wrap="square" rtlCol="0" anchor="ctr"/>
          <a:lstStyle/>
          <a:p>
            <a:pPr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indent="0" marL="0">
              <a:buNone/>
            </a:pPr>
            <a:r>
              <a:rPr lang="en-US" sz="900" dirty="0">
                <a:solidFill>
                  <a:srgbClr val="6E6A62"/>
                </a:solidFill>
                <a:latin typeface="Georgia" pitchFamily="34" charset="0"/>
                <a:ea typeface="Georgia" pitchFamily="34" charset="-122"/>
                <a:cs typeface="Georgia" pitchFamily="34" charset="-120"/>
              </a:rPr>
              <a:t>  ·  PCERT-FS — Custody in the Regulated Institution</a:t>
            </a:r>
            <a:endParaRPr lang="en-US" sz="900" dirty="0"/>
          </a:p>
        </p:txBody>
      </p:sp>
      <p:sp>
        <p:nvSpPr>
          <p:cNvPr id="8" name="Text 6"/>
          <p:cNvSpPr/>
          <p:nvPr/>
        </p:nvSpPr>
        <p:spPr>
          <a:xfrm>
            <a:off x="10707624"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55096" cy="292608"/>
          </a:xfrm>
          <a:prstGeom prst="rect">
            <a:avLst/>
          </a:prstGeom>
          <a:noFill/>
          <a:ln/>
        </p:spPr>
        <p:txBody>
          <a:bodyPr wrap="square" rtlCol="0" anchor="ctr"/>
          <a:lstStyle/>
          <a:p>
            <a:pPr indent="0" marL="0">
              <a:buNone/>
            </a:pPr>
            <a:r>
              <a:rPr lang="en-US" sz="1050" b="1" spc="120" kern="0" dirty="0">
                <a:solidFill>
                  <a:srgbClr val="8A8378"/>
                </a:solidFill>
                <a:latin typeface="Georgia" pitchFamily="34" charset="0"/>
                <a:ea typeface="Georgia" pitchFamily="34" charset="-122"/>
                <a:cs typeface="Georgia" pitchFamily="34" charset="-120"/>
              </a:rPr>
              <a:t>MODULE 5  ·  APPLIED EXERCISE</a:t>
            </a:r>
            <a:endParaRPr lang="en-US" sz="1050" dirty="0"/>
          </a:p>
        </p:txBody>
      </p:sp>
      <p:sp>
        <p:nvSpPr>
          <p:cNvPr id="3" name="Text 1"/>
          <p:cNvSpPr/>
          <p:nvPr/>
        </p:nvSpPr>
        <p:spPr>
          <a:xfrm>
            <a:off x="566928" y="749808"/>
            <a:ext cx="11055096" cy="822960"/>
          </a:xfrm>
          <a:prstGeom prst="rect">
            <a:avLst/>
          </a:prstGeom>
          <a:noFill/>
          <a:ln/>
        </p:spPr>
        <p:txBody>
          <a:bodyPr wrap="square" rtlCol="0" anchor="t"/>
          <a:lstStyle/>
          <a:p>
            <a:pPr indent="0" marL="0">
              <a:buNone/>
            </a:pPr>
            <a:r>
              <a:rPr lang="en-US" sz="2550" b="1" dirty="0">
                <a:solidFill>
                  <a:srgbClr val="1B1A18"/>
                </a:solidFill>
                <a:latin typeface="Georgia" pitchFamily="34" charset="0"/>
                <a:ea typeface="Georgia" pitchFamily="34" charset="-122"/>
                <a:cs typeface="Georgia" pitchFamily="34" charset="-120"/>
              </a:rPr>
              <a:t>Census, substitution, two invoices</a:t>
            </a:r>
            <a:endParaRPr lang="en-US" sz="2550" dirty="0"/>
          </a:p>
        </p:txBody>
      </p:sp>
      <p:sp>
        <p:nvSpPr>
          <p:cNvPr id="4" name="Shape 2"/>
          <p:cNvSpPr/>
          <p:nvPr/>
        </p:nvSpPr>
        <p:spPr>
          <a:xfrm>
            <a:off x="566928" y="1737360"/>
            <a:ext cx="11055096" cy="1371600"/>
          </a:xfrm>
          <a:prstGeom prst="rect">
            <a:avLst/>
          </a:prstGeom>
          <a:solidFill>
            <a:srgbClr val="F4F2EE"/>
          </a:solidFill>
          <a:ln/>
        </p:spPr>
      </p:sp>
      <p:sp>
        <p:nvSpPr>
          <p:cNvPr id="5" name="Shape 3"/>
          <p:cNvSpPr/>
          <p:nvPr/>
        </p:nvSpPr>
        <p:spPr>
          <a:xfrm>
            <a:off x="566928" y="1737360"/>
            <a:ext cx="54864" cy="1371600"/>
          </a:xfrm>
          <a:prstGeom prst="rect">
            <a:avLst/>
          </a:prstGeom>
          <a:solidFill>
            <a:srgbClr val="8A8378"/>
          </a:solidFill>
          <a:ln/>
        </p:spPr>
      </p:sp>
      <p:sp>
        <p:nvSpPr>
          <p:cNvPr id="6" name="Text 4"/>
          <p:cNvSpPr/>
          <p:nvPr/>
        </p:nvSpPr>
        <p:spPr>
          <a:xfrm>
            <a:off x="841248" y="1847088"/>
            <a:ext cx="2743200" cy="274320"/>
          </a:xfrm>
          <a:prstGeom prst="rect">
            <a:avLst/>
          </a:prstGeom>
          <a:noFill/>
          <a:ln/>
        </p:spPr>
        <p:txBody>
          <a:bodyPr wrap="square" rtlCol="0" anchor="ctr"/>
          <a:lstStyle/>
          <a:p>
            <a:pPr indent="0" marL="0">
              <a:buNone/>
            </a:pPr>
            <a:r>
              <a:rPr lang="en-US" sz="1000" b="1" spc="100" kern="0" dirty="0">
                <a:solidFill>
                  <a:srgbClr val="57534A"/>
                </a:solidFill>
                <a:latin typeface="Georgia" pitchFamily="34" charset="0"/>
                <a:ea typeface="Georgia" pitchFamily="34" charset="-122"/>
                <a:cs typeface="Georgia" pitchFamily="34" charset="-120"/>
              </a:rPr>
              <a:t>THE TASK</a:t>
            </a:r>
            <a:endParaRPr lang="en-US" sz="1000" dirty="0"/>
          </a:p>
        </p:txBody>
      </p:sp>
      <p:sp>
        <p:nvSpPr>
          <p:cNvPr id="7" name="Text 5"/>
          <p:cNvSpPr/>
          <p:nvPr/>
        </p:nvSpPr>
        <p:spPr>
          <a:xfrm>
            <a:off x="841248" y="2148840"/>
            <a:ext cx="10506456" cy="868680"/>
          </a:xfrm>
          <a:prstGeom prst="rect">
            <a:avLst/>
          </a:prstGeom>
          <a:noFill/>
          <a:ln/>
        </p:spPr>
        <p:txBody>
          <a:bodyPr wrap="square" rtlCol="0" anchor="ctr"/>
          <a:lstStyle/>
          <a:p>
            <a:pPr indent="0" marL="0">
              <a:lnSpc>
                <a:spcPts val="2100"/>
              </a:lnSpc>
              <a:buNone/>
            </a:pPr>
            <a:r>
              <a:rPr lang="en-US" sz="1350" dirty="0">
                <a:solidFill>
                  <a:srgbClr val="33302B"/>
                </a:solidFill>
                <a:latin typeface="Georgia" pitchFamily="34" charset="0"/>
                <a:ea typeface="Georgia" pitchFamily="34" charset="-122"/>
                <a:cs typeface="Georgia" pitchFamily="34" charset="-120"/>
              </a:rPr>
              <a:t>Build the dependency census down to the model and inference layer. Cost one substitution path. Produce per-action cost and consumption for one agent over one month, from execution-time records.</a:t>
            </a:r>
            <a:endParaRPr lang="en-US" sz="1350" dirty="0"/>
          </a:p>
        </p:txBody>
      </p:sp>
      <p:sp>
        <p:nvSpPr>
          <p:cNvPr id="8" name="Shape 6"/>
          <p:cNvSpPr/>
          <p:nvPr/>
        </p:nvSpPr>
        <p:spPr>
          <a:xfrm>
            <a:off x="566928" y="3273552"/>
            <a:ext cx="11055096" cy="1371600"/>
          </a:xfrm>
          <a:prstGeom prst="rect">
            <a:avLst/>
          </a:prstGeom>
          <a:solidFill>
            <a:srgbClr val="EBE7DF"/>
          </a:solidFill>
          <a:ln/>
        </p:spPr>
      </p:sp>
      <p:sp>
        <p:nvSpPr>
          <p:cNvPr id="9" name="Shape 7"/>
          <p:cNvSpPr/>
          <p:nvPr/>
        </p:nvSpPr>
        <p:spPr>
          <a:xfrm>
            <a:off x="566928" y="3273552"/>
            <a:ext cx="54864" cy="1371600"/>
          </a:xfrm>
          <a:prstGeom prst="rect">
            <a:avLst/>
          </a:prstGeom>
          <a:solidFill>
            <a:srgbClr val="8A8378"/>
          </a:solidFill>
          <a:ln/>
        </p:spPr>
      </p:sp>
      <p:sp>
        <p:nvSpPr>
          <p:cNvPr id="10" name="Text 8"/>
          <p:cNvSpPr/>
          <p:nvPr/>
        </p:nvSpPr>
        <p:spPr>
          <a:xfrm>
            <a:off x="841248" y="3383280"/>
            <a:ext cx="2743200" cy="274320"/>
          </a:xfrm>
          <a:prstGeom prst="rect">
            <a:avLst/>
          </a:prstGeom>
          <a:noFill/>
          <a:ln/>
        </p:spPr>
        <p:txBody>
          <a:bodyPr wrap="square" rtlCol="0" anchor="ctr"/>
          <a:lstStyle/>
          <a:p>
            <a:pPr indent="0" marL="0">
              <a:buNone/>
            </a:pPr>
            <a:r>
              <a:rPr lang="en-US" sz="1000" b="1" spc="100" kern="0" dirty="0">
                <a:solidFill>
                  <a:srgbClr val="57534A"/>
                </a:solidFill>
                <a:latin typeface="Georgia" pitchFamily="34" charset="0"/>
                <a:ea typeface="Georgia" pitchFamily="34" charset="-122"/>
                <a:cs typeface="Georgia" pitchFamily="34" charset="-120"/>
              </a:rPr>
              <a:t>DELIVERABLE</a:t>
            </a:r>
            <a:endParaRPr lang="en-US" sz="1000" dirty="0"/>
          </a:p>
        </p:txBody>
      </p:sp>
      <p:sp>
        <p:nvSpPr>
          <p:cNvPr id="11" name="Text 9"/>
          <p:cNvSpPr/>
          <p:nvPr/>
        </p:nvSpPr>
        <p:spPr>
          <a:xfrm>
            <a:off x="841248" y="3685032"/>
            <a:ext cx="10506456" cy="868680"/>
          </a:xfrm>
          <a:prstGeom prst="rect">
            <a:avLst/>
          </a:prstGeom>
          <a:noFill/>
          <a:ln/>
        </p:spPr>
        <p:txBody>
          <a:bodyPr wrap="square" rtlCol="0" anchor="ctr"/>
          <a:lstStyle/>
          <a:p>
            <a:pPr indent="0" marL="0">
              <a:lnSpc>
                <a:spcPts val="2100"/>
              </a:lnSpc>
              <a:buNone/>
            </a:pPr>
            <a:r>
              <a:rPr lang="en-US" sz="1350" dirty="0">
                <a:solidFill>
                  <a:srgbClr val="33302B"/>
                </a:solidFill>
                <a:latin typeface="Georgia" pitchFamily="34" charset="0"/>
                <a:ea typeface="Georgia" pitchFamily="34" charset="-122"/>
                <a:cs typeface="Georgia" pitchFamily="34" charset="-120"/>
              </a:rPr>
              <a:t>A census, one costed substitution path, and one month of per-action figures — compared against the existing third-party register.</a:t>
            </a:r>
            <a:endParaRPr lang="en-US" sz="1350" dirty="0"/>
          </a:p>
        </p:txBody>
      </p:sp>
      <p:sp>
        <p:nvSpPr>
          <p:cNvPr id="12" name="Shape 10"/>
          <p:cNvSpPr/>
          <p:nvPr/>
        </p:nvSpPr>
        <p:spPr>
          <a:xfrm>
            <a:off x="566928" y="4809744"/>
            <a:ext cx="11055096" cy="1371600"/>
          </a:xfrm>
          <a:prstGeom prst="rect">
            <a:avLst/>
          </a:prstGeom>
          <a:solidFill>
            <a:srgbClr val="E4DFD5"/>
          </a:solidFill>
          <a:ln/>
        </p:spPr>
      </p:sp>
      <p:sp>
        <p:nvSpPr>
          <p:cNvPr id="13" name="Shape 11"/>
          <p:cNvSpPr/>
          <p:nvPr/>
        </p:nvSpPr>
        <p:spPr>
          <a:xfrm>
            <a:off x="566928" y="4809744"/>
            <a:ext cx="54864" cy="1371600"/>
          </a:xfrm>
          <a:prstGeom prst="rect">
            <a:avLst/>
          </a:prstGeom>
          <a:solidFill>
            <a:srgbClr val="8A8378"/>
          </a:solidFill>
          <a:ln/>
        </p:spPr>
      </p:sp>
      <p:sp>
        <p:nvSpPr>
          <p:cNvPr id="14" name="Text 12"/>
          <p:cNvSpPr/>
          <p:nvPr/>
        </p:nvSpPr>
        <p:spPr>
          <a:xfrm>
            <a:off x="841248" y="4919472"/>
            <a:ext cx="2743200" cy="274320"/>
          </a:xfrm>
          <a:prstGeom prst="rect">
            <a:avLst/>
          </a:prstGeom>
          <a:noFill/>
          <a:ln/>
        </p:spPr>
        <p:txBody>
          <a:bodyPr wrap="square" rtlCol="0" anchor="ctr"/>
          <a:lstStyle/>
          <a:p>
            <a:pPr indent="0" marL="0">
              <a:buNone/>
            </a:pPr>
            <a:r>
              <a:rPr lang="en-US" sz="1000" b="1" spc="100" kern="0" dirty="0">
                <a:solidFill>
                  <a:srgbClr val="57534A"/>
                </a:solidFill>
                <a:latin typeface="Georgia" pitchFamily="34" charset="0"/>
                <a:ea typeface="Georgia" pitchFamily="34" charset="-122"/>
                <a:cs typeface="Georgia" pitchFamily="34" charset="-120"/>
              </a:rPr>
              <a:t>MARKED ON</a:t>
            </a:r>
            <a:endParaRPr lang="en-US" sz="1000" dirty="0"/>
          </a:p>
        </p:txBody>
      </p:sp>
      <p:sp>
        <p:nvSpPr>
          <p:cNvPr id="15" name="Text 13"/>
          <p:cNvSpPr/>
          <p:nvPr/>
        </p:nvSpPr>
        <p:spPr>
          <a:xfrm>
            <a:off x="841248" y="5221224"/>
            <a:ext cx="10506456" cy="868680"/>
          </a:xfrm>
          <a:prstGeom prst="rect">
            <a:avLst/>
          </a:prstGeom>
          <a:noFill/>
          <a:ln/>
        </p:spPr>
        <p:txBody>
          <a:bodyPr wrap="square" rtlCol="0" anchor="ctr"/>
          <a:lstStyle/>
          <a:p>
            <a:pPr indent="0" marL="0">
              <a:lnSpc>
                <a:spcPts val="2100"/>
              </a:lnSpc>
              <a:buNone/>
            </a:pPr>
            <a:r>
              <a:rPr lang="en-US" sz="1350" dirty="0">
                <a:solidFill>
                  <a:srgbClr val="33302B"/>
                </a:solidFill>
                <a:latin typeface="Georgia" pitchFamily="34" charset="0"/>
                <a:ea typeface="Georgia" pitchFamily="34" charset="-122"/>
                <a:cs typeface="Georgia" pitchFamily="34" charset="-120"/>
              </a:rPr>
              <a:t>Whether the census reaches beyond the register, and whether the substitution answer is a tested path rather than an assumption.</a:t>
            </a:r>
            <a:endParaRPr lang="en-US" sz="1350" dirty="0"/>
          </a:p>
        </p:txBody>
      </p:sp>
      <p:sp>
        <p:nvSpPr>
          <p:cNvPr id="16" name="Text 14"/>
          <p:cNvSpPr/>
          <p:nvPr/>
        </p:nvSpPr>
        <p:spPr>
          <a:xfrm>
            <a:off x="566928" y="6473952"/>
            <a:ext cx="9957816" cy="274320"/>
          </a:xfrm>
          <a:prstGeom prst="rect">
            <a:avLst/>
          </a:prstGeom>
          <a:noFill/>
          <a:ln/>
        </p:spPr>
        <p:txBody>
          <a:bodyPr wrap="square" rtlCol="0" anchor="ctr"/>
          <a:lstStyle/>
          <a:p>
            <a:pPr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indent="0" marL="0">
              <a:buNone/>
            </a:pPr>
            <a:r>
              <a:rPr lang="en-US" sz="900" dirty="0">
                <a:solidFill>
                  <a:srgbClr val="6E6A62"/>
                </a:solidFill>
                <a:latin typeface="Georgia" pitchFamily="34" charset="0"/>
                <a:ea typeface="Georgia" pitchFamily="34" charset="-122"/>
                <a:cs typeface="Georgia" pitchFamily="34" charset="-120"/>
              </a:rPr>
              <a:t>  ·  PCERT-FS — Custody in the Regulated Institution</a:t>
            </a:r>
            <a:endParaRPr lang="en-US" sz="900" dirty="0"/>
          </a:p>
        </p:txBody>
      </p:sp>
      <p:sp>
        <p:nvSpPr>
          <p:cNvPr id="17" name="Text 15"/>
          <p:cNvSpPr/>
          <p:nvPr/>
        </p:nvSpPr>
        <p:spPr>
          <a:xfrm>
            <a:off x="10707624"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B1A18"/>
        </a:solidFill>
      </p:bgPr>
    </p:bg>
    <p:spTree>
      <p:nvGrpSpPr>
        <p:cNvPr id="1" name=""/>
        <p:cNvGrpSpPr/>
        <p:nvPr/>
      </p:nvGrpSpPr>
      <p:grpSpPr>
        <a:xfrm>
          <a:off x="0" y="0"/>
          <a:ext cx="0" cy="0"/>
          <a:chOff x="0" y="0"/>
          <a:chExt cx="0" cy="0"/>
        </a:xfrm>
      </p:grpSpPr>
      <p:sp>
        <p:nvSpPr>
          <p:cNvPr id="2" name="Shape 0"/>
          <p:cNvSpPr/>
          <p:nvPr/>
        </p:nvSpPr>
        <p:spPr>
          <a:xfrm>
            <a:off x="566928" y="2148840"/>
            <a:ext cx="1554480" cy="310896"/>
          </a:xfrm>
          <a:prstGeom prst="roundRect">
            <a:avLst>
              <a:gd name="adj" fmla="val 47059"/>
            </a:avLst>
          </a:prstGeom>
          <a:solidFill>
            <a:srgbClr val="8A8378"/>
          </a:solidFill>
          <a:ln/>
        </p:spPr>
      </p:sp>
      <p:sp>
        <p:nvSpPr>
          <p:cNvPr id="3" name="Text 1"/>
          <p:cNvSpPr/>
          <p:nvPr/>
        </p:nvSpPr>
        <p:spPr>
          <a:xfrm>
            <a:off x="566928" y="2148840"/>
            <a:ext cx="1554480" cy="310896"/>
          </a:xfrm>
          <a:prstGeom prst="rect">
            <a:avLst/>
          </a:prstGeom>
          <a:noFill/>
          <a:ln/>
        </p:spPr>
        <p:txBody>
          <a:bodyPr wrap="square" rtlCol="0" anchor="ctr"/>
          <a:lstStyle/>
          <a:p>
            <a:pPr algn="ctr" indent="0" marL="0">
              <a:buNone/>
            </a:pPr>
            <a:r>
              <a:rPr lang="en-US" sz="1050" b="1" spc="60" kern="0" dirty="0">
                <a:solidFill>
                  <a:srgbClr val="1B1A18"/>
                </a:solidFill>
                <a:latin typeface="Georgia" pitchFamily="34" charset="0"/>
                <a:ea typeface="Georgia" pitchFamily="34" charset="-122"/>
                <a:cs typeface="Georgia" pitchFamily="34" charset="-120"/>
              </a:rPr>
              <a:t>MODULE 6</a:t>
            </a:r>
            <a:endParaRPr lang="en-US" sz="1050" dirty="0"/>
          </a:p>
        </p:txBody>
      </p:sp>
      <p:sp>
        <p:nvSpPr>
          <p:cNvPr id="4" name="Text 2"/>
          <p:cNvSpPr/>
          <p:nvPr/>
        </p:nvSpPr>
        <p:spPr>
          <a:xfrm>
            <a:off x="566928" y="2606040"/>
            <a:ext cx="10515600" cy="1005840"/>
          </a:xfrm>
          <a:prstGeom prst="rect">
            <a:avLst/>
          </a:prstGeom>
          <a:noFill/>
          <a:ln/>
        </p:spPr>
        <p:txBody>
          <a:bodyPr wrap="square" rtlCol="0" anchor="ctr"/>
          <a:lstStyle/>
          <a:p>
            <a:pPr indent="0" marL="0">
              <a:buNone/>
            </a:pPr>
            <a:r>
              <a:rPr lang="en-US" sz="3550" b="1" dirty="0">
                <a:solidFill>
                  <a:srgbClr val="FFFFFF"/>
                </a:solidFill>
                <a:latin typeface="Georgia" pitchFamily="34" charset="0"/>
                <a:ea typeface="Georgia" pitchFamily="34" charset="-122"/>
                <a:cs typeface="Georgia" pitchFamily="34" charset="-120"/>
              </a:rPr>
              <a:t>The Protocol, the Rules, and the Capstone</a:t>
            </a:r>
            <a:endParaRPr lang="en-US" sz="3550" dirty="0"/>
          </a:p>
        </p:txBody>
      </p:sp>
      <p:sp>
        <p:nvSpPr>
          <p:cNvPr id="5" name="Text 3"/>
          <p:cNvSpPr/>
          <p:nvPr/>
        </p:nvSpPr>
        <p:spPr>
          <a:xfrm>
            <a:off x="566928" y="3657600"/>
            <a:ext cx="9875520" cy="1097280"/>
          </a:xfrm>
          <a:prstGeom prst="rect">
            <a:avLst/>
          </a:prstGeom>
          <a:noFill/>
          <a:ln/>
        </p:spPr>
        <p:txBody>
          <a:bodyPr wrap="square" rtlCol="0" anchor="ctr"/>
          <a:lstStyle/>
          <a:p>
            <a:pPr indent="0" marL="0">
              <a:lnSpc>
                <a:spcPts val="2400"/>
              </a:lnSpc>
              <a:buNone/>
            </a:pPr>
            <a:r>
              <a:rPr lang="en-US" sz="1500" dirty="0">
                <a:solidFill>
                  <a:srgbClr val="E4DFD5"/>
                </a:solidFill>
                <a:latin typeface="Georgia" pitchFamily="34" charset="0"/>
                <a:ea typeface="Georgia" pitchFamily="34" charset="-122"/>
                <a:cs typeface="Georgia" pitchFamily="34" charset="-120"/>
              </a:rPr>
              <a:t>Nine assessments, six rules, and one assessment written in your own language. Chapters 22 and 23.</a:t>
            </a:r>
            <a:endParaRPr lang="en-US" sz="1500" dirty="0"/>
          </a:p>
        </p:txBody>
      </p:sp>
      <p:sp>
        <p:nvSpPr>
          <p:cNvPr id="6" name="Text 4"/>
          <p:cNvSpPr/>
          <p:nvPr/>
        </p:nvSpPr>
        <p:spPr>
          <a:xfrm>
            <a:off x="566928" y="6473952"/>
            <a:ext cx="9957816" cy="274320"/>
          </a:xfrm>
          <a:prstGeom prst="rect">
            <a:avLst/>
          </a:prstGeom>
          <a:noFill/>
          <a:ln/>
        </p:spPr>
        <p:txBody>
          <a:bodyPr wrap="square" rtlCol="0" anchor="ctr"/>
          <a:lstStyle/>
          <a:p>
            <a:pPr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indent="0" marL="0">
              <a:buNone/>
            </a:pPr>
            <a:r>
              <a:rPr lang="en-US" sz="900" dirty="0">
                <a:solidFill>
                  <a:srgbClr val="6E6A62"/>
                </a:solidFill>
                <a:latin typeface="Georgia" pitchFamily="34" charset="0"/>
                <a:ea typeface="Georgia" pitchFamily="34" charset="-122"/>
                <a:cs typeface="Georgia" pitchFamily="34" charset="-120"/>
              </a:rPr>
              <a:t>  ·  PCERT-FS — Custody in the Regulated Institution</a:t>
            </a:r>
            <a:endParaRPr lang="en-US" sz="900" dirty="0"/>
          </a:p>
        </p:txBody>
      </p:sp>
      <p:sp>
        <p:nvSpPr>
          <p:cNvPr id="7" name="Text 5"/>
          <p:cNvSpPr/>
          <p:nvPr/>
        </p:nvSpPr>
        <p:spPr>
          <a:xfrm>
            <a:off x="10707624"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55096" cy="292608"/>
          </a:xfrm>
          <a:prstGeom prst="rect">
            <a:avLst/>
          </a:prstGeom>
          <a:noFill/>
          <a:ln/>
        </p:spPr>
        <p:txBody>
          <a:bodyPr wrap="square" rtlCol="0" anchor="ctr"/>
          <a:lstStyle/>
          <a:p>
            <a:pPr indent="0" marL="0">
              <a:buNone/>
            </a:pPr>
            <a:r>
              <a:rPr lang="en-US" sz="1050" b="1" spc="120" kern="0" dirty="0">
                <a:solidFill>
                  <a:srgbClr val="8A8378"/>
                </a:solidFill>
                <a:latin typeface="Georgia" pitchFamily="34" charset="0"/>
                <a:ea typeface="Georgia" pitchFamily="34" charset="-122"/>
                <a:cs typeface="Georgia" pitchFamily="34" charset="-120"/>
              </a:rPr>
              <a:t>THE SINGLE-CLAUSE SPECIFICATION</a:t>
            </a:r>
            <a:endParaRPr lang="en-US" sz="1050" dirty="0"/>
          </a:p>
        </p:txBody>
      </p:sp>
      <p:sp>
        <p:nvSpPr>
          <p:cNvPr id="3" name="Text 1"/>
          <p:cNvSpPr/>
          <p:nvPr/>
        </p:nvSpPr>
        <p:spPr>
          <a:xfrm>
            <a:off x="566928" y="749808"/>
            <a:ext cx="11055096" cy="822960"/>
          </a:xfrm>
          <a:prstGeom prst="rect">
            <a:avLst/>
          </a:prstGeom>
          <a:noFill/>
          <a:ln/>
        </p:spPr>
        <p:txBody>
          <a:bodyPr wrap="square" rtlCol="0" anchor="t"/>
          <a:lstStyle/>
          <a:p>
            <a:pPr indent="0" marL="0">
              <a:buNone/>
            </a:pPr>
            <a:endParaRPr lang="en-US" sz="2550" dirty="0"/>
          </a:p>
        </p:txBody>
      </p:sp>
      <p:sp>
        <p:nvSpPr>
          <p:cNvPr id="4" name="Shape 2"/>
          <p:cNvSpPr/>
          <p:nvPr/>
        </p:nvSpPr>
        <p:spPr>
          <a:xfrm>
            <a:off x="566928" y="2148840"/>
            <a:ext cx="54864" cy="2103120"/>
          </a:xfrm>
          <a:prstGeom prst="rect">
            <a:avLst/>
          </a:prstGeom>
          <a:solidFill>
            <a:srgbClr val="8A8378"/>
          </a:solidFill>
          <a:ln/>
        </p:spPr>
      </p:sp>
      <p:sp>
        <p:nvSpPr>
          <p:cNvPr id="5" name="Text 3"/>
          <p:cNvSpPr/>
          <p:nvPr/>
        </p:nvSpPr>
        <p:spPr>
          <a:xfrm>
            <a:off x="877824" y="2103120"/>
            <a:ext cx="10332720" cy="2194560"/>
          </a:xfrm>
          <a:prstGeom prst="rect">
            <a:avLst/>
          </a:prstGeom>
          <a:noFill/>
          <a:ln/>
        </p:spPr>
        <p:txBody>
          <a:bodyPr wrap="square" rtlCol="0" anchor="ctr"/>
          <a:lstStyle/>
          <a:p>
            <a:pPr indent="0" marL="0">
              <a:lnSpc>
                <a:spcPts val="3800"/>
              </a:lnSpc>
              <a:buNone/>
            </a:pPr>
            <a:r>
              <a:rPr lang="en-US" sz="2700" b="1" dirty="0">
                <a:solidFill>
                  <a:srgbClr val="1B1A18"/>
                </a:solidFill>
                <a:latin typeface="Georgia" pitchFamily="34" charset="0"/>
                <a:ea typeface="Georgia" pitchFamily="34" charset="-122"/>
                <a:cs typeface="Georgia" pitchFamily="34" charset="-120"/>
              </a:rPr>
              <a:t>Show the crossing, and show what survives it.</a:t>
            </a:r>
            <a:endParaRPr lang="en-US" sz="2700" dirty="0"/>
          </a:p>
        </p:txBody>
      </p:sp>
      <p:sp>
        <p:nvSpPr>
          <p:cNvPr id="6" name="Text 4"/>
          <p:cNvSpPr/>
          <p:nvPr/>
        </p:nvSpPr>
        <p:spPr>
          <a:xfrm>
            <a:off x="877824" y="4480560"/>
            <a:ext cx="10332720" cy="731520"/>
          </a:xfrm>
          <a:prstGeom prst="rect">
            <a:avLst/>
          </a:prstGeom>
          <a:noFill/>
          <a:ln/>
        </p:spPr>
        <p:txBody>
          <a:bodyPr wrap="square" rtlCol="0" anchor="ctr"/>
          <a:lstStyle/>
          <a:p>
            <a:pPr indent="0" marL="0">
              <a:lnSpc>
                <a:spcPts val="2200"/>
              </a:lnSpc>
              <a:buNone/>
            </a:pPr>
            <a:r>
              <a:rPr lang="en-US" sz="1350" i="1" dirty="0">
                <a:solidFill>
                  <a:srgbClr val="6E6A62"/>
                </a:solidFill>
                <a:latin typeface="Georgia" pitchFamily="34" charset="0"/>
                <a:ea typeface="Georgia" pitchFamily="34" charset="-122"/>
                <a:cs typeface="Georgia" pitchFamily="34" charset="-120"/>
              </a:rPr>
              <a:t>Everything in the protocol is that one demand, factored. An examiner who remembers nothing else conducts an adequate examination on it alone.</a:t>
            </a:r>
            <a:endParaRPr lang="en-US" sz="1350" dirty="0"/>
          </a:p>
        </p:txBody>
      </p:sp>
      <p:sp>
        <p:nvSpPr>
          <p:cNvPr id="7" name="Text 5"/>
          <p:cNvSpPr/>
          <p:nvPr/>
        </p:nvSpPr>
        <p:spPr>
          <a:xfrm>
            <a:off x="566928" y="6473952"/>
            <a:ext cx="9957816" cy="274320"/>
          </a:xfrm>
          <a:prstGeom prst="rect">
            <a:avLst/>
          </a:prstGeom>
          <a:noFill/>
          <a:ln/>
        </p:spPr>
        <p:txBody>
          <a:bodyPr wrap="square" rtlCol="0" anchor="ctr"/>
          <a:lstStyle/>
          <a:p>
            <a:pPr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indent="0" marL="0">
              <a:buNone/>
            </a:pPr>
            <a:r>
              <a:rPr lang="en-US" sz="900" dirty="0">
                <a:solidFill>
                  <a:srgbClr val="6E6A62"/>
                </a:solidFill>
                <a:latin typeface="Georgia" pitchFamily="34" charset="0"/>
                <a:ea typeface="Georgia" pitchFamily="34" charset="-122"/>
                <a:cs typeface="Georgia" pitchFamily="34" charset="-120"/>
              </a:rPr>
              <a:t>  ·  PCERT-FS — Custody in the Regulated Institution</a:t>
            </a:r>
            <a:endParaRPr lang="en-US" sz="900" dirty="0"/>
          </a:p>
        </p:txBody>
      </p:sp>
      <p:sp>
        <p:nvSpPr>
          <p:cNvPr id="8" name="Text 6"/>
          <p:cNvSpPr/>
          <p:nvPr/>
        </p:nvSpPr>
        <p:spPr>
          <a:xfrm>
            <a:off x="10707624"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55096" cy="292608"/>
          </a:xfrm>
          <a:prstGeom prst="rect">
            <a:avLst/>
          </a:prstGeom>
          <a:noFill/>
          <a:ln/>
        </p:spPr>
        <p:txBody>
          <a:bodyPr wrap="square" rtlCol="0" anchor="ctr"/>
          <a:lstStyle/>
          <a:p>
            <a:pPr indent="0" marL="0">
              <a:buNone/>
            </a:pPr>
            <a:r>
              <a:rPr lang="en-US" sz="1050" b="1" spc="120" kern="0" dirty="0">
                <a:solidFill>
                  <a:srgbClr val="8A8378"/>
                </a:solidFill>
                <a:latin typeface="Georgia" pitchFamily="34" charset="0"/>
                <a:ea typeface="Georgia" pitchFamily="34" charset="-122"/>
                <a:cs typeface="Georgia" pitchFamily="34" charset="-120"/>
              </a:rPr>
              <a:t>THE PROTOCOL</a:t>
            </a:r>
            <a:endParaRPr lang="en-US" sz="1050" dirty="0"/>
          </a:p>
        </p:txBody>
      </p:sp>
      <p:sp>
        <p:nvSpPr>
          <p:cNvPr id="3" name="Text 1"/>
          <p:cNvSpPr/>
          <p:nvPr/>
        </p:nvSpPr>
        <p:spPr>
          <a:xfrm>
            <a:off x="566928" y="749808"/>
            <a:ext cx="11055096" cy="822960"/>
          </a:xfrm>
          <a:prstGeom prst="rect">
            <a:avLst/>
          </a:prstGeom>
          <a:noFill/>
          <a:ln/>
        </p:spPr>
        <p:txBody>
          <a:bodyPr wrap="square" rtlCol="0" anchor="t"/>
          <a:lstStyle/>
          <a:p>
            <a:pPr indent="0" marL="0">
              <a:buNone/>
            </a:pPr>
            <a:r>
              <a:rPr lang="en-US" sz="2550" b="1" dirty="0">
                <a:solidFill>
                  <a:srgbClr val="1B1A18"/>
                </a:solidFill>
                <a:latin typeface="Georgia" pitchFamily="34" charset="0"/>
                <a:ea typeface="Georgia" pitchFamily="34" charset="-122"/>
                <a:cs typeface="Georgia" pitchFamily="34" charset="-120"/>
              </a:rPr>
              <a:t>Nine assessments, none requiring source code</a:t>
            </a:r>
            <a:endParaRPr lang="en-US" sz="255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66928" y="1737360"/>
          <a:ext cx="11055096" cy="914400"/>
        </p:xfrm>
        <a:graphic>
          <a:graphicData uri="http://schemas.openxmlformats.org/drawingml/2006/table">
            <a:tbl>
              <a:tblPr/>
              <a:tblGrid>
                <a:gridCol w="640080"/>
                <a:gridCol w="2194560"/>
                <a:gridCol w="8220456"/>
              </a:tblGrid>
              <a:tr h="0">
                <a:tc>
                  <a:txBody>
                    <a:bodyPr/>
                    <a:lstStyle/>
                    <a:p>
                      <a:pPr indent="0" marL="0">
                        <a:buNone/>
                      </a:pPr>
                      <a:r>
                        <a:rPr lang="en-US" sz="1200" b="1" dirty="0">
                          <a:solidFill>
                            <a:srgbClr val="33302B"/>
                          </a:solidFill>
                          <a:latin typeface="Georgia" pitchFamily="34" charset="0"/>
                          <a:ea typeface="Georgia" pitchFamily="34" charset="-122"/>
                          <a:cs typeface="Georgia" pitchFamily="34" charset="-120"/>
                        </a:rPr>
                        <a:t>#</a:t>
                      </a:r>
                      <a:endParaRPr lang="en-US" sz="1200" dirty="0">
                        <a:latin typeface="Georgia" charset="0"/>
                        <a:ea typeface="Georgia" charset="0"/>
                        <a:cs typeface="Georgia" charset="0"/>
                      </a:endParaRPr>
                    </a:p>
                  </a:txBody>
                  <a:tcPr marL="82296" marR="82296" marT="82296" marB="82296" anchor="ctr">
                    <a:lnL w="6350" cap="flat" cmpd="sng" algn="ctr">
                      <a:solidFill>
                        <a:srgbClr val="D6D2C9"/>
                      </a:solidFill>
                      <a:prstDash val="solid"/>
                      <a:round/>
                      <a:headEnd type="none" w="med" len="med"/>
                      <a:tailEnd type="none" w="med" len="med"/>
                    </a:lnL>
                    <a:lnR w="6350" cap="flat" cmpd="sng" algn="ctr">
                      <a:solidFill>
                        <a:srgbClr val="D6D2C9"/>
                      </a:solidFill>
                      <a:prstDash val="solid"/>
                      <a:round/>
                      <a:headEnd type="none" w="med" len="med"/>
                      <a:tailEnd type="none" w="med" len="med"/>
                    </a:lnR>
                    <a:lnT w="6350" cap="flat" cmpd="sng" algn="ctr">
                      <a:solidFill>
                        <a:srgbClr val="D6D2C9"/>
                      </a:solidFill>
                      <a:prstDash val="solid"/>
                      <a:round/>
                      <a:headEnd type="none" w="med" len="med"/>
                      <a:tailEnd type="none" w="med" len="med"/>
                    </a:lnT>
                    <a:lnB w="6350" cap="flat" cmpd="sng" algn="ctr">
                      <a:solidFill>
                        <a:srgbClr val="D6D2C9"/>
                      </a:solidFill>
                      <a:prstDash val="solid"/>
                      <a:round/>
                      <a:headEnd type="none" w="med" len="med"/>
                      <a:tailEnd type="none" w="med" len="med"/>
                    </a:lnB>
                    <a:solidFill>
                      <a:srgbClr val="F4F2EE"/>
                    </a:solidFill>
                  </a:tcPr>
                </a:tc>
                <a:tc>
                  <a:txBody>
                    <a:bodyPr/>
                    <a:lstStyle/>
                    <a:p>
                      <a:pPr indent="0" marL="0">
                        <a:buNone/>
                      </a:pPr>
                      <a:r>
                        <a:rPr lang="en-US" sz="1200" b="1" dirty="0">
                          <a:solidFill>
                            <a:srgbClr val="33302B"/>
                          </a:solidFill>
                          <a:latin typeface="Georgia" pitchFamily="34" charset="0"/>
                          <a:ea typeface="Georgia" pitchFamily="34" charset="-122"/>
                          <a:cs typeface="Georgia" pitchFamily="34" charset="-120"/>
                        </a:rPr>
                        <a:t>Assessment</a:t>
                      </a:r>
                      <a:endParaRPr lang="en-US" sz="1200" dirty="0">
                        <a:latin typeface="Georgia" charset="0"/>
                        <a:ea typeface="Georgia" charset="0"/>
                        <a:cs typeface="Georgia" charset="0"/>
                      </a:endParaRPr>
                    </a:p>
                  </a:txBody>
                  <a:tcPr marL="82296" marR="82296" marT="82296" marB="82296" anchor="ctr">
                    <a:lnL w="6350" cap="flat" cmpd="sng" algn="ctr">
                      <a:solidFill>
                        <a:srgbClr val="D6D2C9"/>
                      </a:solidFill>
                      <a:prstDash val="solid"/>
                      <a:round/>
                      <a:headEnd type="none" w="med" len="med"/>
                      <a:tailEnd type="none" w="med" len="med"/>
                    </a:lnL>
                    <a:lnR w="6350" cap="flat" cmpd="sng" algn="ctr">
                      <a:solidFill>
                        <a:srgbClr val="D6D2C9"/>
                      </a:solidFill>
                      <a:prstDash val="solid"/>
                      <a:round/>
                      <a:headEnd type="none" w="med" len="med"/>
                      <a:tailEnd type="none" w="med" len="med"/>
                    </a:lnR>
                    <a:lnT w="6350" cap="flat" cmpd="sng" algn="ctr">
                      <a:solidFill>
                        <a:srgbClr val="D6D2C9"/>
                      </a:solidFill>
                      <a:prstDash val="solid"/>
                      <a:round/>
                      <a:headEnd type="none" w="med" len="med"/>
                      <a:tailEnd type="none" w="med" len="med"/>
                    </a:lnT>
                    <a:lnB w="6350" cap="flat" cmpd="sng" algn="ctr">
                      <a:solidFill>
                        <a:srgbClr val="D6D2C9"/>
                      </a:solidFill>
                      <a:prstDash val="solid"/>
                      <a:round/>
                      <a:headEnd type="none" w="med" len="med"/>
                      <a:tailEnd type="none" w="med" len="med"/>
                    </a:lnB>
                    <a:solidFill>
                      <a:srgbClr val="F4F2EE"/>
                    </a:solidFill>
                  </a:tcPr>
                </a:tc>
                <a:tc>
                  <a:txBody>
                    <a:bodyPr/>
                    <a:lstStyle/>
                    <a:p>
                      <a:pPr indent="0" marL="0">
                        <a:buNone/>
                      </a:pPr>
                      <a:r>
                        <a:rPr lang="en-US" sz="1200" b="1" dirty="0">
                          <a:solidFill>
                            <a:srgbClr val="33302B"/>
                          </a:solidFill>
                          <a:latin typeface="Georgia" pitchFamily="34" charset="0"/>
                          <a:ea typeface="Georgia" pitchFamily="34" charset="-122"/>
                          <a:cs typeface="Georgia" pitchFamily="34" charset="-120"/>
                        </a:rPr>
                        <a:t>What is being established</a:t>
                      </a:r>
                      <a:endParaRPr lang="en-US" sz="1200" dirty="0">
                        <a:latin typeface="Georgia" charset="0"/>
                        <a:ea typeface="Georgia" charset="0"/>
                        <a:cs typeface="Georgia" charset="0"/>
                      </a:endParaRPr>
                    </a:p>
                  </a:txBody>
                  <a:tcPr marL="82296" marR="82296" marT="82296" marB="82296" anchor="ctr">
                    <a:lnL w="6350" cap="flat" cmpd="sng" algn="ctr">
                      <a:solidFill>
                        <a:srgbClr val="D6D2C9"/>
                      </a:solidFill>
                      <a:prstDash val="solid"/>
                      <a:round/>
                      <a:headEnd type="none" w="med" len="med"/>
                      <a:tailEnd type="none" w="med" len="med"/>
                    </a:lnL>
                    <a:lnR w="6350" cap="flat" cmpd="sng" algn="ctr">
                      <a:solidFill>
                        <a:srgbClr val="D6D2C9"/>
                      </a:solidFill>
                      <a:prstDash val="solid"/>
                      <a:round/>
                      <a:headEnd type="none" w="med" len="med"/>
                      <a:tailEnd type="none" w="med" len="med"/>
                    </a:lnR>
                    <a:lnT w="6350" cap="flat" cmpd="sng" algn="ctr">
                      <a:solidFill>
                        <a:srgbClr val="D6D2C9"/>
                      </a:solidFill>
                      <a:prstDash val="solid"/>
                      <a:round/>
                      <a:headEnd type="none" w="med" len="med"/>
                      <a:tailEnd type="none" w="med" len="med"/>
                    </a:lnT>
                    <a:lnB w="6350" cap="flat" cmpd="sng" algn="ctr">
                      <a:solidFill>
                        <a:srgbClr val="D6D2C9"/>
                      </a:solidFill>
                      <a:prstDash val="solid"/>
                      <a:round/>
                      <a:headEnd type="none" w="med" len="med"/>
                      <a:tailEnd type="none" w="med" len="med"/>
                    </a:lnB>
                    <a:solidFill>
                      <a:srgbClr val="F4F2EE"/>
                    </a:solidFill>
                  </a:tcPr>
                </a:tc>
              </a:tr>
              <a:tr h="0">
                <a:tc>
                  <a:txBody>
                    <a:bodyPr/>
                    <a:lstStyle/>
                    <a:p>
                      <a:pPr indent="0" marL="0">
                        <a:buNone/>
                      </a:pPr>
                      <a:r>
                        <a:rPr lang="en-US" sz="1150" b="1" dirty="0">
                          <a:solidFill>
                            <a:srgbClr val="33302B"/>
                          </a:solidFill>
                          <a:latin typeface="Georgia" pitchFamily="34" charset="0"/>
                          <a:ea typeface="Georgia" pitchFamily="34" charset="-122"/>
                          <a:cs typeface="Georgia" pitchFamily="34" charset="-120"/>
                        </a:rPr>
                        <a:t>0</a:t>
                      </a:r>
                      <a:endParaRPr lang="en-US" sz="1150" dirty="0">
                        <a:latin typeface="Georgia" charset="0"/>
                        <a:ea typeface="Georgia" charset="0"/>
                        <a:cs typeface="Georgia" charset="0"/>
                      </a:endParaRPr>
                    </a:p>
                  </a:txBody>
                  <a:tcPr marL="82296" marR="82296" marT="82296" marB="82296" anchor="t">
                    <a:lnL w="6350" cap="flat" cmpd="sng" algn="ctr">
                      <a:solidFill>
                        <a:srgbClr val="D6D2C9"/>
                      </a:solidFill>
                      <a:prstDash val="solid"/>
                      <a:round/>
                      <a:headEnd type="none" w="med" len="med"/>
                      <a:tailEnd type="none" w="med" len="med"/>
                    </a:lnL>
                    <a:lnR w="6350" cap="flat" cmpd="sng" algn="ctr">
                      <a:solidFill>
                        <a:srgbClr val="D6D2C9"/>
                      </a:solidFill>
                      <a:prstDash val="solid"/>
                      <a:round/>
                      <a:headEnd type="none" w="med" len="med"/>
                      <a:tailEnd type="none" w="med" len="med"/>
                    </a:lnR>
                    <a:lnT w="6350" cap="flat" cmpd="sng" algn="ctr">
                      <a:solidFill>
                        <a:srgbClr val="D6D2C9"/>
                      </a:solidFill>
                      <a:prstDash val="solid"/>
                      <a:round/>
                      <a:headEnd type="none" w="med" len="med"/>
                      <a:tailEnd type="none" w="med" len="med"/>
                    </a:lnT>
                    <a:lnB w="6350" cap="flat" cmpd="sng" algn="ctr">
                      <a:solidFill>
                        <a:srgbClr val="D6D2C9"/>
                      </a:solidFill>
                      <a:prstDash val="solid"/>
                      <a:round/>
                      <a:headEnd type="none" w="med" len="med"/>
                      <a:tailEnd type="none" w="med" len="med"/>
                    </a:lnB>
                  </a:tcPr>
                </a:tc>
                <a:tc>
                  <a:txBody>
                    <a:bodyPr/>
                    <a:lstStyle/>
                    <a:p>
                      <a:pPr indent="0" marL="0">
                        <a:buNone/>
                      </a:pPr>
                      <a:r>
                        <a:rPr lang="en-US" sz="1150" dirty="0">
                          <a:solidFill>
                            <a:srgbClr val="1B1A18"/>
                          </a:solidFill>
                          <a:latin typeface="Georgia" pitchFamily="34" charset="0"/>
                          <a:ea typeface="Georgia" pitchFamily="34" charset="-122"/>
                          <a:cs typeface="Georgia" pitchFamily="34" charset="-120"/>
                        </a:rPr>
                        <a:t>Specification</a:t>
                      </a:r>
                      <a:endParaRPr lang="en-US" sz="1150" dirty="0">
                        <a:latin typeface="Georgia" charset="0"/>
                        <a:ea typeface="Georgia" charset="0"/>
                        <a:cs typeface="Georgia" charset="0"/>
                      </a:endParaRPr>
                    </a:p>
                  </a:txBody>
                  <a:tcPr marL="82296" marR="82296" marT="82296" marB="82296" anchor="t">
                    <a:lnL w="6350" cap="flat" cmpd="sng" algn="ctr">
                      <a:solidFill>
                        <a:srgbClr val="D6D2C9"/>
                      </a:solidFill>
                      <a:prstDash val="solid"/>
                      <a:round/>
                      <a:headEnd type="none" w="med" len="med"/>
                      <a:tailEnd type="none" w="med" len="med"/>
                    </a:lnL>
                    <a:lnR w="6350" cap="flat" cmpd="sng" algn="ctr">
                      <a:solidFill>
                        <a:srgbClr val="D6D2C9"/>
                      </a:solidFill>
                      <a:prstDash val="solid"/>
                      <a:round/>
                      <a:headEnd type="none" w="med" len="med"/>
                      <a:tailEnd type="none" w="med" len="med"/>
                    </a:lnR>
                    <a:lnT w="6350" cap="flat" cmpd="sng" algn="ctr">
                      <a:solidFill>
                        <a:srgbClr val="D6D2C9"/>
                      </a:solidFill>
                      <a:prstDash val="solid"/>
                      <a:round/>
                      <a:headEnd type="none" w="med" len="med"/>
                      <a:tailEnd type="none" w="med" len="med"/>
                    </a:lnT>
                    <a:lnB w="6350" cap="flat" cmpd="sng" algn="ctr">
                      <a:solidFill>
                        <a:srgbClr val="D6D2C9"/>
                      </a:solidFill>
                      <a:prstDash val="solid"/>
                      <a:round/>
                      <a:headEnd type="none" w="med" len="med"/>
                      <a:tailEnd type="none" w="med" len="med"/>
                    </a:lnB>
                  </a:tcPr>
                </a:tc>
                <a:tc>
                  <a:txBody>
                    <a:bodyPr/>
                    <a:lstStyle/>
                    <a:p>
                      <a:pPr indent="0" marL="0">
                        <a:buNone/>
                      </a:pPr>
                      <a:r>
                        <a:rPr lang="en-US" sz="1150" dirty="0">
                          <a:solidFill>
                            <a:srgbClr val="1B1A18"/>
                          </a:solidFill>
                          <a:latin typeface="Georgia" pitchFamily="34" charset="0"/>
                          <a:ea typeface="Georgia" pitchFamily="34" charset="-122"/>
                          <a:cs typeface="Georgia" pitchFamily="34" charset="-120"/>
                        </a:rPr>
                        <a:t>Pass real work across a real boundary. Inspect what arrives.</a:t>
                      </a:r>
                      <a:endParaRPr lang="en-US" sz="1150" dirty="0">
                        <a:latin typeface="Georgia" charset="0"/>
                        <a:ea typeface="Georgia" charset="0"/>
                        <a:cs typeface="Georgia" charset="0"/>
                      </a:endParaRPr>
                    </a:p>
                  </a:txBody>
                  <a:tcPr marL="82296" marR="82296" marT="82296" marB="82296" anchor="t">
                    <a:lnL w="6350" cap="flat" cmpd="sng" algn="ctr">
                      <a:solidFill>
                        <a:srgbClr val="D6D2C9"/>
                      </a:solidFill>
                      <a:prstDash val="solid"/>
                      <a:round/>
                      <a:headEnd type="none" w="med" len="med"/>
                      <a:tailEnd type="none" w="med" len="med"/>
                    </a:lnL>
                    <a:lnR w="6350" cap="flat" cmpd="sng" algn="ctr">
                      <a:solidFill>
                        <a:srgbClr val="D6D2C9"/>
                      </a:solidFill>
                      <a:prstDash val="solid"/>
                      <a:round/>
                      <a:headEnd type="none" w="med" len="med"/>
                      <a:tailEnd type="none" w="med" len="med"/>
                    </a:lnR>
                    <a:lnT w="6350" cap="flat" cmpd="sng" algn="ctr">
                      <a:solidFill>
                        <a:srgbClr val="D6D2C9"/>
                      </a:solidFill>
                      <a:prstDash val="solid"/>
                      <a:round/>
                      <a:headEnd type="none" w="med" len="med"/>
                      <a:tailEnd type="none" w="med" len="med"/>
                    </a:lnT>
                    <a:lnB w="6350" cap="flat" cmpd="sng" algn="ctr">
                      <a:solidFill>
                        <a:srgbClr val="D6D2C9"/>
                      </a:solidFill>
                      <a:prstDash val="solid"/>
                      <a:round/>
                      <a:headEnd type="none" w="med" len="med"/>
                      <a:tailEnd type="none" w="med" len="med"/>
                    </a:lnB>
                  </a:tcPr>
                </a:tc>
              </a:tr>
              <a:tr h="0">
                <a:tc>
                  <a:txBody>
                    <a:bodyPr/>
                    <a:lstStyle/>
                    <a:p>
                      <a:pPr indent="0" marL="0">
                        <a:buNone/>
                      </a:pPr>
                      <a:r>
                        <a:rPr lang="en-US" sz="1150" b="1" dirty="0">
                          <a:solidFill>
                            <a:srgbClr val="33302B"/>
                          </a:solidFill>
                          <a:latin typeface="Georgia" pitchFamily="34" charset="0"/>
                          <a:ea typeface="Georgia" pitchFamily="34" charset="-122"/>
                          <a:cs typeface="Georgia" pitchFamily="34" charset="-120"/>
                        </a:rPr>
                        <a:t>1</a:t>
                      </a:r>
                      <a:endParaRPr lang="en-US" sz="1150" dirty="0">
                        <a:latin typeface="Georgia" charset="0"/>
                        <a:ea typeface="Georgia" charset="0"/>
                        <a:cs typeface="Georgia" charset="0"/>
                      </a:endParaRPr>
                    </a:p>
                  </a:txBody>
                  <a:tcPr marL="82296" marR="82296" marT="82296" marB="82296" anchor="t">
                    <a:lnL w="6350" cap="flat" cmpd="sng" algn="ctr">
                      <a:solidFill>
                        <a:srgbClr val="D6D2C9"/>
                      </a:solidFill>
                      <a:prstDash val="solid"/>
                      <a:round/>
                      <a:headEnd type="none" w="med" len="med"/>
                      <a:tailEnd type="none" w="med" len="med"/>
                    </a:lnL>
                    <a:lnR w="6350" cap="flat" cmpd="sng" algn="ctr">
                      <a:solidFill>
                        <a:srgbClr val="D6D2C9"/>
                      </a:solidFill>
                      <a:prstDash val="solid"/>
                      <a:round/>
                      <a:headEnd type="none" w="med" len="med"/>
                      <a:tailEnd type="none" w="med" len="med"/>
                    </a:lnR>
                    <a:lnT w="6350" cap="flat" cmpd="sng" algn="ctr">
                      <a:solidFill>
                        <a:srgbClr val="D6D2C9"/>
                      </a:solidFill>
                      <a:prstDash val="solid"/>
                      <a:round/>
                      <a:headEnd type="none" w="med" len="med"/>
                      <a:tailEnd type="none" w="med" len="med"/>
                    </a:lnT>
                    <a:lnB w="6350" cap="flat" cmpd="sng" algn="ctr">
                      <a:solidFill>
                        <a:srgbClr val="D6D2C9"/>
                      </a:solidFill>
                      <a:prstDash val="solid"/>
                      <a:round/>
                      <a:headEnd type="none" w="med" len="med"/>
                      <a:tailEnd type="none" w="med" len="med"/>
                    </a:lnB>
                  </a:tcPr>
                </a:tc>
                <a:tc>
                  <a:txBody>
                    <a:bodyPr/>
                    <a:lstStyle/>
                    <a:p>
                      <a:pPr indent="0" marL="0">
                        <a:buNone/>
                      </a:pPr>
                      <a:r>
                        <a:rPr lang="en-US" sz="1150" dirty="0">
                          <a:solidFill>
                            <a:srgbClr val="1B1A18"/>
                          </a:solidFill>
                          <a:latin typeface="Georgia" pitchFamily="34" charset="0"/>
                          <a:ea typeface="Georgia" pitchFamily="34" charset="-122"/>
                          <a:cs typeface="Georgia" pitchFamily="34" charset="-120"/>
                        </a:rPr>
                        <a:t>Onboarding</a:t>
                      </a:r>
                      <a:endParaRPr lang="en-US" sz="1150" dirty="0">
                        <a:latin typeface="Georgia" charset="0"/>
                        <a:ea typeface="Georgia" charset="0"/>
                        <a:cs typeface="Georgia" charset="0"/>
                      </a:endParaRPr>
                    </a:p>
                  </a:txBody>
                  <a:tcPr marL="82296" marR="82296" marT="82296" marB="82296" anchor="t">
                    <a:lnL w="6350" cap="flat" cmpd="sng" algn="ctr">
                      <a:solidFill>
                        <a:srgbClr val="D6D2C9"/>
                      </a:solidFill>
                      <a:prstDash val="solid"/>
                      <a:round/>
                      <a:headEnd type="none" w="med" len="med"/>
                      <a:tailEnd type="none" w="med" len="med"/>
                    </a:lnL>
                    <a:lnR w="6350" cap="flat" cmpd="sng" algn="ctr">
                      <a:solidFill>
                        <a:srgbClr val="D6D2C9"/>
                      </a:solidFill>
                      <a:prstDash val="solid"/>
                      <a:round/>
                      <a:headEnd type="none" w="med" len="med"/>
                      <a:tailEnd type="none" w="med" len="med"/>
                    </a:lnR>
                    <a:lnT w="6350" cap="flat" cmpd="sng" algn="ctr">
                      <a:solidFill>
                        <a:srgbClr val="D6D2C9"/>
                      </a:solidFill>
                      <a:prstDash val="solid"/>
                      <a:round/>
                      <a:headEnd type="none" w="med" len="med"/>
                      <a:tailEnd type="none" w="med" len="med"/>
                    </a:lnT>
                    <a:lnB w="6350" cap="flat" cmpd="sng" algn="ctr">
                      <a:solidFill>
                        <a:srgbClr val="D6D2C9"/>
                      </a:solidFill>
                      <a:prstDash val="solid"/>
                      <a:round/>
                      <a:headEnd type="none" w="med" len="med"/>
                      <a:tailEnd type="none" w="med" len="med"/>
                    </a:lnB>
                  </a:tcPr>
                </a:tc>
                <a:tc>
                  <a:txBody>
                    <a:bodyPr/>
                    <a:lstStyle/>
                    <a:p>
                      <a:pPr indent="0" marL="0">
                        <a:buNone/>
                      </a:pPr>
                      <a:r>
                        <a:rPr lang="en-US" sz="1150" dirty="0">
                          <a:solidFill>
                            <a:srgbClr val="1B1A18"/>
                          </a:solidFill>
                          <a:latin typeface="Georgia" pitchFamily="34" charset="0"/>
                          <a:ea typeface="Georgia" pitchFamily="34" charset="-122"/>
                          <a:cs typeface="Georgia" pitchFamily="34" charset="-120"/>
                        </a:rPr>
                        <a:t>Rows or releases. Where does a new agent prove itself?</a:t>
                      </a:r>
                      <a:endParaRPr lang="en-US" sz="1150" dirty="0">
                        <a:latin typeface="Georgia" charset="0"/>
                        <a:ea typeface="Georgia" charset="0"/>
                        <a:cs typeface="Georgia" charset="0"/>
                      </a:endParaRPr>
                    </a:p>
                  </a:txBody>
                  <a:tcPr marL="82296" marR="82296" marT="82296" marB="82296" anchor="t">
                    <a:lnL w="6350" cap="flat" cmpd="sng" algn="ctr">
                      <a:solidFill>
                        <a:srgbClr val="D6D2C9"/>
                      </a:solidFill>
                      <a:prstDash val="solid"/>
                      <a:round/>
                      <a:headEnd type="none" w="med" len="med"/>
                      <a:tailEnd type="none" w="med" len="med"/>
                    </a:lnL>
                    <a:lnR w="6350" cap="flat" cmpd="sng" algn="ctr">
                      <a:solidFill>
                        <a:srgbClr val="D6D2C9"/>
                      </a:solidFill>
                      <a:prstDash val="solid"/>
                      <a:round/>
                      <a:headEnd type="none" w="med" len="med"/>
                      <a:tailEnd type="none" w="med" len="med"/>
                    </a:lnR>
                    <a:lnT w="6350" cap="flat" cmpd="sng" algn="ctr">
                      <a:solidFill>
                        <a:srgbClr val="D6D2C9"/>
                      </a:solidFill>
                      <a:prstDash val="solid"/>
                      <a:round/>
                      <a:headEnd type="none" w="med" len="med"/>
                      <a:tailEnd type="none" w="med" len="med"/>
                    </a:lnT>
                    <a:lnB w="6350" cap="flat" cmpd="sng" algn="ctr">
                      <a:solidFill>
                        <a:srgbClr val="D6D2C9"/>
                      </a:solidFill>
                      <a:prstDash val="solid"/>
                      <a:round/>
                      <a:headEnd type="none" w="med" len="med"/>
                      <a:tailEnd type="none" w="med" len="med"/>
                    </a:lnB>
                  </a:tcPr>
                </a:tc>
              </a:tr>
              <a:tr h="0">
                <a:tc>
                  <a:txBody>
                    <a:bodyPr/>
                    <a:lstStyle/>
                    <a:p>
                      <a:pPr indent="0" marL="0">
                        <a:buNone/>
                      </a:pPr>
                      <a:r>
                        <a:rPr lang="en-US" sz="1150" b="1" dirty="0">
                          <a:solidFill>
                            <a:srgbClr val="33302B"/>
                          </a:solidFill>
                          <a:latin typeface="Georgia" pitchFamily="34" charset="0"/>
                          <a:ea typeface="Georgia" pitchFamily="34" charset="-122"/>
                          <a:cs typeface="Georgia" pitchFamily="34" charset="-120"/>
                        </a:rPr>
                        <a:t>2</a:t>
                      </a:r>
                      <a:endParaRPr lang="en-US" sz="1150" dirty="0">
                        <a:latin typeface="Georgia" charset="0"/>
                        <a:ea typeface="Georgia" charset="0"/>
                        <a:cs typeface="Georgia" charset="0"/>
                      </a:endParaRPr>
                    </a:p>
                  </a:txBody>
                  <a:tcPr marL="82296" marR="82296" marT="82296" marB="82296" anchor="t">
                    <a:lnL w="6350" cap="flat" cmpd="sng" algn="ctr">
                      <a:solidFill>
                        <a:srgbClr val="D6D2C9"/>
                      </a:solidFill>
                      <a:prstDash val="solid"/>
                      <a:round/>
                      <a:headEnd type="none" w="med" len="med"/>
                      <a:tailEnd type="none" w="med" len="med"/>
                    </a:lnL>
                    <a:lnR w="6350" cap="flat" cmpd="sng" algn="ctr">
                      <a:solidFill>
                        <a:srgbClr val="D6D2C9"/>
                      </a:solidFill>
                      <a:prstDash val="solid"/>
                      <a:round/>
                      <a:headEnd type="none" w="med" len="med"/>
                      <a:tailEnd type="none" w="med" len="med"/>
                    </a:lnR>
                    <a:lnT w="6350" cap="flat" cmpd="sng" algn="ctr">
                      <a:solidFill>
                        <a:srgbClr val="D6D2C9"/>
                      </a:solidFill>
                      <a:prstDash val="solid"/>
                      <a:round/>
                      <a:headEnd type="none" w="med" len="med"/>
                      <a:tailEnd type="none" w="med" len="med"/>
                    </a:lnT>
                    <a:lnB w="6350" cap="flat" cmpd="sng" algn="ctr">
                      <a:solidFill>
                        <a:srgbClr val="D6D2C9"/>
                      </a:solidFill>
                      <a:prstDash val="solid"/>
                      <a:round/>
                      <a:headEnd type="none" w="med" len="med"/>
                      <a:tailEnd type="none" w="med" len="med"/>
                    </a:lnB>
                  </a:tcPr>
                </a:tc>
                <a:tc>
                  <a:txBody>
                    <a:bodyPr/>
                    <a:lstStyle/>
                    <a:p>
                      <a:pPr indent="0" marL="0">
                        <a:buNone/>
                      </a:pPr>
                      <a:r>
                        <a:rPr lang="en-US" sz="1150" dirty="0">
                          <a:solidFill>
                            <a:srgbClr val="1B1A18"/>
                          </a:solidFill>
                          <a:latin typeface="Georgia" pitchFamily="34" charset="0"/>
                          <a:ea typeface="Georgia" pitchFamily="34" charset="-122"/>
                          <a:cs typeface="Georgia" pitchFamily="34" charset="-120"/>
                        </a:rPr>
                        <a:t>Address</a:t>
                      </a:r>
                      <a:endParaRPr lang="en-US" sz="1150" dirty="0">
                        <a:latin typeface="Georgia" charset="0"/>
                        <a:ea typeface="Georgia" charset="0"/>
                        <a:cs typeface="Georgia" charset="0"/>
                      </a:endParaRPr>
                    </a:p>
                  </a:txBody>
                  <a:tcPr marL="82296" marR="82296" marT="82296" marB="82296" anchor="t">
                    <a:lnL w="6350" cap="flat" cmpd="sng" algn="ctr">
                      <a:solidFill>
                        <a:srgbClr val="D6D2C9"/>
                      </a:solidFill>
                      <a:prstDash val="solid"/>
                      <a:round/>
                      <a:headEnd type="none" w="med" len="med"/>
                      <a:tailEnd type="none" w="med" len="med"/>
                    </a:lnL>
                    <a:lnR w="6350" cap="flat" cmpd="sng" algn="ctr">
                      <a:solidFill>
                        <a:srgbClr val="D6D2C9"/>
                      </a:solidFill>
                      <a:prstDash val="solid"/>
                      <a:round/>
                      <a:headEnd type="none" w="med" len="med"/>
                      <a:tailEnd type="none" w="med" len="med"/>
                    </a:lnR>
                    <a:lnT w="6350" cap="flat" cmpd="sng" algn="ctr">
                      <a:solidFill>
                        <a:srgbClr val="D6D2C9"/>
                      </a:solidFill>
                      <a:prstDash val="solid"/>
                      <a:round/>
                      <a:headEnd type="none" w="med" len="med"/>
                      <a:tailEnd type="none" w="med" len="med"/>
                    </a:lnT>
                    <a:lnB w="6350" cap="flat" cmpd="sng" algn="ctr">
                      <a:solidFill>
                        <a:srgbClr val="D6D2C9"/>
                      </a:solidFill>
                      <a:prstDash val="solid"/>
                      <a:round/>
                      <a:headEnd type="none" w="med" len="med"/>
                      <a:tailEnd type="none" w="med" len="med"/>
                    </a:lnB>
                  </a:tcPr>
                </a:tc>
                <a:tc>
                  <a:txBody>
                    <a:bodyPr/>
                    <a:lstStyle/>
                    <a:p>
                      <a:pPr indent="0" marL="0">
                        <a:buNone/>
                      </a:pPr>
                      <a:r>
                        <a:rPr lang="en-US" sz="1150" dirty="0">
                          <a:solidFill>
                            <a:srgbClr val="1B1A18"/>
                          </a:solidFill>
                          <a:latin typeface="Georgia" pitchFamily="34" charset="0"/>
                          <a:ea typeface="Georgia" pitchFamily="34" charset="-122"/>
                          <a:cs typeface="Georgia" pitchFamily="34" charset="-120"/>
                        </a:rPr>
                        <a:t>One enforcement point per non-negotiable rule. Disqualify prompts.</a:t>
                      </a:r>
                      <a:endParaRPr lang="en-US" sz="1150" dirty="0">
                        <a:latin typeface="Georgia" charset="0"/>
                        <a:ea typeface="Georgia" charset="0"/>
                        <a:cs typeface="Georgia" charset="0"/>
                      </a:endParaRPr>
                    </a:p>
                  </a:txBody>
                  <a:tcPr marL="82296" marR="82296" marT="82296" marB="82296" anchor="t">
                    <a:lnL w="6350" cap="flat" cmpd="sng" algn="ctr">
                      <a:solidFill>
                        <a:srgbClr val="D6D2C9"/>
                      </a:solidFill>
                      <a:prstDash val="solid"/>
                      <a:round/>
                      <a:headEnd type="none" w="med" len="med"/>
                      <a:tailEnd type="none" w="med" len="med"/>
                    </a:lnL>
                    <a:lnR w="6350" cap="flat" cmpd="sng" algn="ctr">
                      <a:solidFill>
                        <a:srgbClr val="D6D2C9"/>
                      </a:solidFill>
                      <a:prstDash val="solid"/>
                      <a:round/>
                      <a:headEnd type="none" w="med" len="med"/>
                      <a:tailEnd type="none" w="med" len="med"/>
                    </a:lnR>
                    <a:lnT w="6350" cap="flat" cmpd="sng" algn="ctr">
                      <a:solidFill>
                        <a:srgbClr val="D6D2C9"/>
                      </a:solidFill>
                      <a:prstDash val="solid"/>
                      <a:round/>
                      <a:headEnd type="none" w="med" len="med"/>
                      <a:tailEnd type="none" w="med" len="med"/>
                    </a:lnT>
                    <a:lnB w="6350" cap="flat" cmpd="sng" algn="ctr">
                      <a:solidFill>
                        <a:srgbClr val="D6D2C9"/>
                      </a:solidFill>
                      <a:prstDash val="solid"/>
                      <a:round/>
                      <a:headEnd type="none" w="med" len="med"/>
                      <a:tailEnd type="none" w="med" len="med"/>
                    </a:lnB>
                  </a:tcPr>
                </a:tc>
              </a:tr>
              <a:tr h="0">
                <a:tc>
                  <a:txBody>
                    <a:bodyPr/>
                    <a:lstStyle/>
                    <a:p>
                      <a:pPr indent="0" marL="0">
                        <a:buNone/>
                      </a:pPr>
                      <a:r>
                        <a:rPr lang="en-US" sz="1150" b="1" dirty="0">
                          <a:solidFill>
                            <a:srgbClr val="33302B"/>
                          </a:solidFill>
                          <a:latin typeface="Georgia" pitchFamily="34" charset="0"/>
                          <a:ea typeface="Georgia" pitchFamily="34" charset="-122"/>
                          <a:cs typeface="Georgia" pitchFamily="34" charset="-120"/>
                        </a:rPr>
                        <a:t>3</a:t>
                      </a:r>
                      <a:endParaRPr lang="en-US" sz="1150" dirty="0">
                        <a:latin typeface="Georgia" charset="0"/>
                        <a:ea typeface="Georgia" charset="0"/>
                        <a:cs typeface="Georgia" charset="0"/>
                      </a:endParaRPr>
                    </a:p>
                  </a:txBody>
                  <a:tcPr marL="82296" marR="82296" marT="82296" marB="82296" anchor="t">
                    <a:lnL w="6350" cap="flat" cmpd="sng" algn="ctr">
                      <a:solidFill>
                        <a:srgbClr val="D6D2C9"/>
                      </a:solidFill>
                      <a:prstDash val="solid"/>
                      <a:round/>
                      <a:headEnd type="none" w="med" len="med"/>
                      <a:tailEnd type="none" w="med" len="med"/>
                    </a:lnL>
                    <a:lnR w="6350" cap="flat" cmpd="sng" algn="ctr">
                      <a:solidFill>
                        <a:srgbClr val="D6D2C9"/>
                      </a:solidFill>
                      <a:prstDash val="solid"/>
                      <a:round/>
                      <a:headEnd type="none" w="med" len="med"/>
                      <a:tailEnd type="none" w="med" len="med"/>
                    </a:lnR>
                    <a:lnT w="6350" cap="flat" cmpd="sng" algn="ctr">
                      <a:solidFill>
                        <a:srgbClr val="D6D2C9"/>
                      </a:solidFill>
                      <a:prstDash val="solid"/>
                      <a:round/>
                      <a:headEnd type="none" w="med" len="med"/>
                      <a:tailEnd type="none" w="med" len="med"/>
                    </a:lnT>
                    <a:lnB w="6350" cap="flat" cmpd="sng" algn="ctr">
                      <a:solidFill>
                        <a:srgbClr val="D6D2C9"/>
                      </a:solidFill>
                      <a:prstDash val="solid"/>
                      <a:round/>
                      <a:headEnd type="none" w="med" len="med"/>
                      <a:tailEnd type="none" w="med" len="med"/>
                    </a:lnB>
                  </a:tcPr>
                </a:tc>
                <a:tc>
                  <a:txBody>
                    <a:bodyPr/>
                    <a:lstStyle/>
                    <a:p>
                      <a:pPr indent="0" marL="0">
                        <a:buNone/>
                      </a:pPr>
                      <a:r>
                        <a:rPr lang="en-US" sz="1150" dirty="0">
                          <a:solidFill>
                            <a:srgbClr val="1B1A18"/>
                          </a:solidFill>
                          <a:latin typeface="Georgia" pitchFamily="34" charset="0"/>
                          <a:ea typeface="Georgia" pitchFamily="34" charset="-122"/>
                          <a:cs typeface="Georgia" pitchFamily="34" charset="-120"/>
                        </a:rPr>
                        <a:t>Expressibility</a:t>
                      </a:r>
                      <a:endParaRPr lang="en-US" sz="1150" dirty="0">
                        <a:latin typeface="Georgia" charset="0"/>
                        <a:ea typeface="Georgia" charset="0"/>
                        <a:cs typeface="Georgia" charset="0"/>
                      </a:endParaRPr>
                    </a:p>
                  </a:txBody>
                  <a:tcPr marL="82296" marR="82296" marT="82296" marB="82296" anchor="t">
                    <a:lnL w="6350" cap="flat" cmpd="sng" algn="ctr">
                      <a:solidFill>
                        <a:srgbClr val="D6D2C9"/>
                      </a:solidFill>
                      <a:prstDash val="solid"/>
                      <a:round/>
                      <a:headEnd type="none" w="med" len="med"/>
                      <a:tailEnd type="none" w="med" len="med"/>
                    </a:lnL>
                    <a:lnR w="6350" cap="flat" cmpd="sng" algn="ctr">
                      <a:solidFill>
                        <a:srgbClr val="D6D2C9"/>
                      </a:solidFill>
                      <a:prstDash val="solid"/>
                      <a:round/>
                      <a:headEnd type="none" w="med" len="med"/>
                      <a:tailEnd type="none" w="med" len="med"/>
                    </a:lnR>
                    <a:lnT w="6350" cap="flat" cmpd="sng" algn="ctr">
                      <a:solidFill>
                        <a:srgbClr val="D6D2C9"/>
                      </a:solidFill>
                      <a:prstDash val="solid"/>
                      <a:round/>
                      <a:headEnd type="none" w="med" len="med"/>
                      <a:tailEnd type="none" w="med" len="med"/>
                    </a:lnT>
                    <a:lnB w="6350" cap="flat" cmpd="sng" algn="ctr">
                      <a:solidFill>
                        <a:srgbClr val="D6D2C9"/>
                      </a:solidFill>
                      <a:prstDash val="solid"/>
                      <a:round/>
                      <a:headEnd type="none" w="med" len="med"/>
                      <a:tailEnd type="none" w="med" len="med"/>
                    </a:lnB>
                  </a:tcPr>
                </a:tc>
                <a:tc>
                  <a:txBody>
                    <a:bodyPr/>
                    <a:lstStyle/>
                    <a:p>
                      <a:pPr indent="0" marL="0">
                        <a:buNone/>
                      </a:pPr>
                      <a:r>
                        <a:rPr lang="en-US" sz="1150" dirty="0">
                          <a:solidFill>
                            <a:srgbClr val="1B1A18"/>
                          </a:solidFill>
                          <a:latin typeface="Georgia" pitchFamily="34" charset="0"/>
                          <a:ea typeface="Georgia" pitchFamily="34" charset="-122"/>
                          <a:cs typeface="Georgia" pitchFamily="34" charset="-120"/>
                        </a:rPr>
                        <a:t>Can the crossing statement be written at all? Policy versus construction.</a:t>
                      </a:r>
                      <a:endParaRPr lang="en-US" sz="1150" dirty="0">
                        <a:latin typeface="Georgia" charset="0"/>
                        <a:ea typeface="Georgia" charset="0"/>
                        <a:cs typeface="Georgia" charset="0"/>
                      </a:endParaRPr>
                    </a:p>
                  </a:txBody>
                  <a:tcPr marL="82296" marR="82296" marT="82296" marB="82296" anchor="t">
                    <a:lnL w="6350" cap="flat" cmpd="sng" algn="ctr">
                      <a:solidFill>
                        <a:srgbClr val="D6D2C9"/>
                      </a:solidFill>
                      <a:prstDash val="solid"/>
                      <a:round/>
                      <a:headEnd type="none" w="med" len="med"/>
                      <a:tailEnd type="none" w="med" len="med"/>
                    </a:lnL>
                    <a:lnR w="6350" cap="flat" cmpd="sng" algn="ctr">
                      <a:solidFill>
                        <a:srgbClr val="D6D2C9"/>
                      </a:solidFill>
                      <a:prstDash val="solid"/>
                      <a:round/>
                      <a:headEnd type="none" w="med" len="med"/>
                      <a:tailEnd type="none" w="med" len="med"/>
                    </a:lnR>
                    <a:lnT w="6350" cap="flat" cmpd="sng" algn="ctr">
                      <a:solidFill>
                        <a:srgbClr val="D6D2C9"/>
                      </a:solidFill>
                      <a:prstDash val="solid"/>
                      <a:round/>
                      <a:headEnd type="none" w="med" len="med"/>
                      <a:tailEnd type="none" w="med" len="med"/>
                    </a:lnT>
                    <a:lnB w="6350" cap="flat" cmpd="sng" algn="ctr">
                      <a:solidFill>
                        <a:srgbClr val="D6D2C9"/>
                      </a:solidFill>
                      <a:prstDash val="solid"/>
                      <a:round/>
                      <a:headEnd type="none" w="med" len="med"/>
                      <a:tailEnd type="none" w="med" len="med"/>
                    </a:lnB>
                  </a:tcPr>
                </a:tc>
              </a:tr>
              <a:tr h="0">
                <a:tc>
                  <a:txBody>
                    <a:bodyPr/>
                    <a:lstStyle/>
                    <a:p>
                      <a:pPr indent="0" marL="0">
                        <a:buNone/>
                      </a:pPr>
                      <a:r>
                        <a:rPr lang="en-US" sz="1150" b="1" dirty="0">
                          <a:solidFill>
                            <a:srgbClr val="33302B"/>
                          </a:solidFill>
                          <a:latin typeface="Georgia" pitchFamily="34" charset="0"/>
                          <a:ea typeface="Georgia" pitchFamily="34" charset="-122"/>
                          <a:cs typeface="Georgia" pitchFamily="34" charset="-120"/>
                        </a:rPr>
                        <a:t>4</a:t>
                      </a:r>
                      <a:endParaRPr lang="en-US" sz="1150" dirty="0">
                        <a:latin typeface="Georgia" charset="0"/>
                        <a:ea typeface="Georgia" charset="0"/>
                        <a:cs typeface="Georgia" charset="0"/>
                      </a:endParaRPr>
                    </a:p>
                  </a:txBody>
                  <a:tcPr marL="82296" marR="82296" marT="82296" marB="82296" anchor="t">
                    <a:lnL w="6350" cap="flat" cmpd="sng" algn="ctr">
                      <a:solidFill>
                        <a:srgbClr val="D6D2C9"/>
                      </a:solidFill>
                      <a:prstDash val="solid"/>
                      <a:round/>
                      <a:headEnd type="none" w="med" len="med"/>
                      <a:tailEnd type="none" w="med" len="med"/>
                    </a:lnL>
                    <a:lnR w="6350" cap="flat" cmpd="sng" algn="ctr">
                      <a:solidFill>
                        <a:srgbClr val="D6D2C9"/>
                      </a:solidFill>
                      <a:prstDash val="solid"/>
                      <a:round/>
                      <a:headEnd type="none" w="med" len="med"/>
                      <a:tailEnd type="none" w="med" len="med"/>
                    </a:lnR>
                    <a:lnT w="6350" cap="flat" cmpd="sng" algn="ctr">
                      <a:solidFill>
                        <a:srgbClr val="D6D2C9"/>
                      </a:solidFill>
                      <a:prstDash val="solid"/>
                      <a:round/>
                      <a:headEnd type="none" w="med" len="med"/>
                      <a:tailEnd type="none" w="med" len="med"/>
                    </a:lnT>
                    <a:lnB w="6350" cap="flat" cmpd="sng" algn="ctr">
                      <a:solidFill>
                        <a:srgbClr val="D6D2C9"/>
                      </a:solidFill>
                      <a:prstDash val="solid"/>
                      <a:round/>
                      <a:headEnd type="none" w="med" len="med"/>
                      <a:tailEnd type="none" w="med" len="med"/>
                    </a:lnB>
                  </a:tcPr>
                </a:tc>
                <a:tc>
                  <a:txBody>
                    <a:bodyPr/>
                    <a:lstStyle/>
                    <a:p>
                      <a:pPr indent="0" marL="0">
                        <a:buNone/>
                      </a:pPr>
                      <a:r>
                        <a:rPr lang="en-US" sz="1150" dirty="0">
                          <a:solidFill>
                            <a:srgbClr val="1B1A18"/>
                          </a:solidFill>
                          <a:latin typeface="Georgia" pitchFamily="34" charset="0"/>
                          <a:ea typeface="Georgia" pitchFamily="34" charset="-122"/>
                          <a:cs typeface="Georgia" pitchFamily="34" charset="-120"/>
                        </a:rPr>
                        <a:t>Origin</a:t>
                      </a:r>
                      <a:endParaRPr lang="en-US" sz="1150" dirty="0">
                        <a:latin typeface="Georgia" charset="0"/>
                        <a:ea typeface="Georgia" charset="0"/>
                        <a:cs typeface="Georgia" charset="0"/>
                      </a:endParaRPr>
                    </a:p>
                  </a:txBody>
                  <a:tcPr marL="82296" marR="82296" marT="82296" marB="82296" anchor="t">
                    <a:lnL w="6350" cap="flat" cmpd="sng" algn="ctr">
                      <a:solidFill>
                        <a:srgbClr val="D6D2C9"/>
                      </a:solidFill>
                      <a:prstDash val="solid"/>
                      <a:round/>
                      <a:headEnd type="none" w="med" len="med"/>
                      <a:tailEnd type="none" w="med" len="med"/>
                    </a:lnL>
                    <a:lnR w="6350" cap="flat" cmpd="sng" algn="ctr">
                      <a:solidFill>
                        <a:srgbClr val="D6D2C9"/>
                      </a:solidFill>
                      <a:prstDash val="solid"/>
                      <a:round/>
                      <a:headEnd type="none" w="med" len="med"/>
                      <a:tailEnd type="none" w="med" len="med"/>
                    </a:lnR>
                    <a:lnT w="6350" cap="flat" cmpd="sng" algn="ctr">
                      <a:solidFill>
                        <a:srgbClr val="D6D2C9"/>
                      </a:solidFill>
                      <a:prstDash val="solid"/>
                      <a:round/>
                      <a:headEnd type="none" w="med" len="med"/>
                      <a:tailEnd type="none" w="med" len="med"/>
                    </a:lnT>
                    <a:lnB w="6350" cap="flat" cmpd="sng" algn="ctr">
                      <a:solidFill>
                        <a:srgbClr val="D6D2C9"/>
                      </a:solidFill>
                      <a:prstDash val="solid"/>
                      <a:round/>
                      <a:headEnd type="none" w="med" len="med"/>
                      <a:tailEnd type="none" w="med" len="med"/>
                    </a:lnB>
                  </a:tcPr>
                </a:tc>
                <a:tc>
                  <a:txBody>
                    <a:bodyPr/>
                    <a:lstStyle/>
                    <a:p>
                      <a:pPr indent="0" marL="0">
                        <a:buNone/>
                      </a:pPr>
                      <a:r>
                        <a:rPr lang="en-US" sz="1150" dirty="0">
                          <a:solidFill>
                            <a:srgbClr val="1B1A18"/>
                          </a:solidFill>
                          <a:latin typeface="Georgia" pitchFamily="34" charset="0"/>
                          <a:ea typeface="Georgia" pitchFamily="34" charset="-122"/>
                          <a:cs typeface="Georgia" pitchFamily="34" charset="-120"/>
                        </a:rPr>
                        <a:t>A provenance class the reader acts on. The injection surface.</a:t>
                      </a:r>
                      <a:endParaRPr lang="en-US" sz="1150" dirty="0">
                        <a:latin typeface="Georgia" charset="0"/>
                        <a:ea typeface="Georgia" charset="0"/>
                        <a:cs typeface="Georgia" charset="0"/>
                      </a:endParaRPr>
                    </a:p>
                  </a:txBody>
                  <a:tcPr marL="82296" marR="82296" marT="82296" marB="82296" anchor="t">
                    <a:lnL w="6350" cap="flat" cmpd="sng" algn="ctr">
                      <a:solidFill>
                        <a:srgbClr val="D6D2C9"/>
                      </a:solidFill>
                      <a:prstDash val="solid"/>
                      <a:round/>
                      <a:headEnd type="none" w="med" len="med"/>
                      <a:tailEnd type="none" w="med" len="med"/>
                    </a:lnL>
                    <a:lnR w="6350" cap="flat" cmpd="sng" algn="ctr">
                      <a:solidFill>
                        <a:srgbClr val="D6D2C9"/>
                      </a:solidFill>
                      <a:prstDash val="solid"/>
                      <a:round/>
                      <a:headEnd type="none" w="med" len="med"/>
                      <a:tailEnd type="none" w="med" len="med"/>
                    </a:lnR>
                    <a:lnT w="6350" cap="flat" cmpd="sng" algn="ctr">
                      <a:solidFill>
                        <a:srgbClr val="D6D2C9"/>
                      </a:solidFill>
                      <a:prstDash val="solid"/>
                      <a:round/>
                      <a:headEnd type="none" w="med" len="med"/>
                      <a:tailEnd type="none" w="med" len="med"/>
                    </a:lnT>
                    <a:lnB w="6350" cap="flat" cmpd="sng" algn="ctr">
                      <a:solidFill>
                        <a:srgbClr val="D6D2C9"/>
                      </a:solidFill>
                      <a:prstDash val="solid"/>
                      <a:round/>
                      <a:headEnd type="none" w="med" len="med"/>
                      <a:tailEnd type="none" w="med" len="med"/>
                    </a:lnB>
                  </a:tcPr>
                </a:tc>
              </a:tr>
              <a:tr h="0">
                <a:tc>
                  <a:txBody>
                    <a:bodyPr/>
                    <a:lstStyle/>
                    <a:p>
                      <a:pPr indent="0" marL="0">
                        <a:buNone/>
                      </a:pPr>
                      <a:r>
                        <a:rPr lang="en-US" sz="1150" b="1" dirty="0">
                          <a:solidFill>
                            <a:srgbClr val="33302B"/>
                          </a:solidFill>
                          <a:latin typeface="Georgia" pitchFamily="34" charset="0"/>
                          <a:ea typeface="Georgia" pitchFamily="34" charset="-122"/>
                          <a:cs typeface="Georgia" pitchFamily="34" charset="-120"/>
                        </a:rPr>
                        <a:t>5</a:t>
                      </a:r>
                      <a:endParaRPr lang="en-US" sz="1150" dirty="0">
                        <a:latin typeface="Georgia" charset="0"/>
                        <a:ea typeface="Georgia" charset="0"/>
                        <a:cs typeface="Georgia" charset="0"/>
                      </a:endParaRPr>
                    </a:p>
                  </a:txBody>
                  <a:tcPr marL="82296" marR="82296" marT="82296" marB="82296" anchor="t">
                    <a:lnL w="6350" cap="flat" cmpd="sng" algn="ctr">
                      <a:solidFill>
                        <a:srgbClr val="D6D2C9"/>
                      </a:solidFill>
                      <a:prstDash val="solid"/>
                      <a:round/>
                      <a:headEnd type="none" w="med" len="med"/>
                      <a:tailEnd type="none" w="med" len="med"/>
                    </a:lnL>
                    <a:lnR w="6350" cap="flat" cmpd="sng" algn="ctr">
                      <a:solidFill>
                        <a:srgbClr val="D6D2C9"/>
                      </a:solidFill>
                      <a:prstDash val="solid"/>
                      <a:round/>
                      <a:headEnd type="none" w="med" len="med"/>
                      <a:tailEnd type="none" w="med" len="med"/>
                    </a:lnR>
                    <a:lnT w="6350" cap="flat" cmpd="sng" algn="ctr">
                      <a:solidFill>
                        <a:srgbClr val="D6D2C9"/>
                      </a:solidFill>
                      <a:prstDash val="solid"/>
                      <a:round/>
                      <a:headEnd type="none" w="med" len="med"/>
                      <a:tailEnd type="none" w="med" len="med"/>
                    </a:lnT>
                    <a:lnB w="6350" cap="flat" cmpd="sng" algn="ctr">
                      <a:solidFill>
                        <a:srgbClr val="D6D2C9"/>
                      </a:solidFill>
                      <a:prstDash val="solid"/>
                      <a:round/>
                      <a:headEnd type="none" w="med" len="med"/>
                      <a:tailEnd type="none" w="med" len="med"/>
                    </a:lnB>
                  </a:tcPr>
                </a:tc>
                <a:tc>
                  <a:txBody>
                    <a:bodyPr/>
                    <a:lstStyle/>
                    <a:p>
                      <a:pPr indent="0" marL="0">
                        <a:buNone/>
                      </a:pPr>
                      <a:r>
                        <a:rPr lang="en-US" sz="1150" dirty="0">
                          <a:solidFill>
                            <a:srgbClr val="1B1A18"/>
                          </a:solidFill>
                          <a:latin typeface="Georgia" pitchFamily="34" charset="0"/>
                          <a:ea typeface="Georgia" pitchFamily="34" charset="-122"/>
                          <a:cs typeface="Georgia" pitchFamily="34" charset="-120"/>
                        </a:rPr>
                        <a:t>Dependency census</a:t>
                      </a:r>
                      <a:endParaRPr lang="en-US" sz="1150" dirty="0">
                        <a:latin typeface="Georgia" charset="0"/>
                        <a:ea typeface="Georgia" charset="0"/>
                        <a:cs typeface="Georgia" charset="0"/>
                      </a:endParaRPr>
                    </a:p>
                  </a:txBody>
                  <a:tcPr marL="82296" marR="82296" marT="82296" marB="82296" anchor="t">
                    <a:lnL w="6350" cap="flat" cmpd="sng" algn="ctr">
                      <a:solidFill>
                        <a:srgbClr val="D6D2C9"/>
                      </a:solidFill>
                      <a:prstDash val="solid"/>
                      <a:round/>
                      <a:headEnd type="none" w="med" len="med"/>
                      <a:tailEnd type="none" w="med" len="med"/>
                    </a:lnL>
                    <a:lnR w="6350" cap="flat" cmpd="sng" algn="ctr">
                      <a:solidFill>
                        <a:srgbClr val="D6D2C9"/>
                      </a:solidFill>
                      <a:prstDash val="solid"/>
                      <a:round/>
                      <a:headEnd type="none" w="med" len="med"/>
                      <a:tailEnd type="none" w="med" len="med"/>
                    </a:lnR>
                    <a:lnT w="6350" cap="flat" cmpd="sng" algn="ctr">
                      <a:solidFill>
                        <a:srgbClr val="D6D2C9"/>
                      </a:solidFill>
                      <a:prstDash val="solid"/>
                      <a:round/>
                      <a:headEnd type="none" w="med" len="med"/>
                      <a:tailEnd type="none" w="med" len="med"/>
                    </a:lnT>
                    <a:lnB w="6350" cap="flat" cmpd="sng" algn="ctr">
                      <a:solidFill>
                        <a:srgbClr val="D6D2C9"/>
                      </a:solidFill>
                      <a:prstDash val="solid"/>
                      <a:round/>
                      <a:headEnd type="none" w="med" len="med"/>
                      <a:tailEnd type="none" w="med" len="med"/>
                    </a:lnB>
                  </a:tcPr>
                </a:tc>
                <a:tc>
                  <a:txBody>
                    <a:bodyPr/>
                    <a:lstStyle/>
                    <a:p>
                      <a:pPr indent="0" marL="0">
                        <a:buNone/>
                      </a:pPr>
                      <a:r>
                        <a:rPr lang="en-US" sz="1150" dirty="0">
                          <a:solidFill>
                            <a:srgbClr val="1B1A18"/>
                          </a:solidFill>
                          <a:latin typeface="Georgia" pitchFamily="34" charset="0"/>
                          <a:ea typeface="Georgia" pitchFamily="34" charset="-122"/>
                          <a:cs typeface="Georgia" pitchFamily="34" charset="-120"/>
                        </a:rPr>
                        <a:t>Every party whose availability, pricing or policy you rely on.</a:t>
                      </a:r>
                      <a:endParaRPr lang="en-US" sz="1150" dirty="0">
                        <a:latin typeface="Georgia" charset="0"/>
                        <a:ea typeface="Georgia" charset="0"/>
                        <a:cs typeface="Georgia" charset="0"/>
                      </a:endParaRPr>
                    </a:p>
                  </a:txBody>
                  <a:tcPr marL="82296" marR="82296" marT="82296" marB="82296" anchor="t">
                    <a:lnL w="6350" cap="flat" cmpd="sng" algn="ctr">
                      <a:solidFill>
                        <a:srgbClr val="D6D2C9"/>
                      </a:solidFill>
                      <a:prstDash val="solid"/>
                      <a:round/>
                      <a:headEnd type="none" w="med" len="med"/>
                      <a:tailEnd type="none" w="med" len="med"/>
                    </a:lnL>
                    <a:lnR w="6350" cap="flat" cmpd="sng" algn="ctr">
                      <a:solidFill>
                        <a:srgbClr val="D6D2C9"/>
                      </a:solidFill>
                      <a:prstDash val="solid"/>
                      <a:round/>
                      <a:headEnd type="none" w="med" len="med"/>
                      <a:tailEnd type="none" w="med" len="med"/>
                    </a:lnR>
                    <a:lnT w="6350" cap="flat" cmpd="sng" algn="ctr">
                      <a:solidFill>
                        <a:srgbClr val="D6D2C9"/>
                      </a:solidFill>
                      <a:prstDash val="solid"/>
                      <a:round/>
                      <a:headEnd type="none" w="med" len="med"/>
                      <a:tailEnd type="none" w="med" len="med"/>
                    </a:lnT>
                    <a:lnB w="6350" cap="flat" cmpd="sng" algn="ctr">
                      <a:solidFill>
                        <a:srgbClr val="D6D2C9"/>
                      </a:solidFill>
                      <a:prstDash val="solid"/>
                      <a:round/>
                      <a:headEnd type="none" w="med" len="med"/>
                      <a:tailEnd type="none" w="med" len="med"/>
                    </a:lnB>
                  </a:tcPr>
                </a:tc>
              </a:tr>
              <a:tr h="0">
                <a:tc>
                  <a:txBody>
                    <a:bodyPr/>
                    <a:lstStyle/>
                    <a:p>
                      <a:pPr indent="0" marL="0">
                        <a:buNone/>
                      </a:pPr>
                      <a:r>
                        <a:rPr lang="en-US" sz="1150" b="1" dirty="0">
                          <a:solidFill>
                            <a:srgbClr val="33302B"/>
                          </a:solidFill>
                          <a:latin typeface="Georgia" pitchFamily="34" charset="0"/>
                          <a:ea typeface="Georgia" pitchFamily="34" charset="-122"/>
                          <a:cs typeface="Georgia" pitchFamily="34" charset="-120"/>
                        </a:rPr>
                        <a:t>6</a:t>
                      </a:r>
                      <a:endParaRPr lang="en-US" sz="1150" dirty="0">
                        <a:latin typeface="Georgia" charset="0"/>
                        <a:ea typeface="Georgia" charset="0"/>
                        <a:cs typeface="Georgia" charset="0"/>
                      </a:endParaRPr>
                    </a:p>
                  </a:txBody>
                  <a:tcPr marL="82296" marR="82296" marT="82296" marB="82296" anchor="t">
                    <a:lnL w="6350" cap="flat" cmpd="sng" algn="ctr">
                      <a:solidFill>
                        <a:srgbClr val="D6D2C9"/>
                      </a:solidFill>
                      <a:prstDash val="solid"/>
                      <a:round/>
                      <a:headEnd type="none" w="med" len="med"/>
                      <a:tailEnd type="none" w="med" len="med"/>
                    </a:lnL>
                    <a:lnR w="6350" cap="flat" cmpd="sng" algn="ctr">
                      <a:solidFill>
                        <a:srgbClr val="D6D2C9"/>
                      </a:solidFill>
                      <a:prstDash val="solid"/>
                      <a:round/>
                      <a:headEnd type="none" w="med" len="med"/>
                      <a:tailEnd type="none" w="med" len="med"/>
                    </a:lnR>
                    <a:lnT w="6350" cap="flat" cmpd="sng" algn="ctr">
                      <a:solidFill>
                        <a:srgbClr val="D6D2C9"/>
                      </a:solidFill>
                      <a:prstDash val="solid"/>
                      <a:round/>
                      <a:headEnd type="none" w="med" len="med"/>
                      <a:tailEnd type="none" w="med" len="med"/>
                    </a:lnT>
                    <a:lnB w="6350" cap="flat" cmpd="sng" algn="ctr">
                      <a:solidFill>
                        <a:srgbClr val="D6D2C9"/>
                      </a:solidFill>
                      <a:prstDash val="solid"/>
                      <a:round/>
                      <a:headEnd type="none" w="med" len="med"/>
                      <a:tailEnd type="none" w="med" len="med"/>
                    </a:lnB>
                  </a:tcPr>
                </a:tc>
                <a:tc>
                  <a:txBody>
                    <a:bodyPr/>
                    <a:lstStyle/>
                    <a:p>
                      <a:pPr indent="0" marL="0">
                        <a:buNone/>
                      </a:pPr>
                      <a:r>
                        <a:rPr lang="en-US" sz="1150" dirty="0">
                          <a:solidFill>
                            <a:srgbClr val="1B1A18"/>
                          </a:solidFill>
                          <a:latin typeface="Georgia" pitchFamily="34" charset="0"/>
                          <a:ea typeface="Georgia" pitchFamily="34" charset="-122"/>
                          <a:cs typeface="Georgia" pitchFamily="34" charset="-120"/>
                        </a:rPr>
                        <a:t>Substitution</a:t>
                      </a:r>
                      <a:endParaRPr lang="en-US" sz="1150" dirty="0">
                        <a:latin typeface="Georgia" charset="0"/>
                        <a:ea typeface="Georgia" charset="0"/>
                        <a:cs typeface="Georgia" charset="0"/>
                      </a:endParaRPr>
                    </a:p>
                  </a:txBody>
                  <a:tcPr marL="82296" marR="82296" marT="82296" marB="82296" anchor="t">
                    <a:lnL w="6350" cap="flat" cmpd="sng" algn="ctr">
                      <a:solidFill>
                        <a:srgbClr val="D6D2C9"/>
                      </a:solidFill>
                      <a:prstDash val="solid"/>
                      <a:round/>
                      <a:headEnd type="none" w="med" len="med"/>
                      <a:tailEnd type="none" w="med" len="med"/>
                    </a:lnL>
                    <a:lnR w="6350" cap="flat" cmpd="sng" algn="ctr">
                      <a:solidFill>
                        <a:srgbClr val="D6D2C9"/>
                      </a:solidFill>
                      <a:prstDash val="solid"/>
                      <a:round/>
                      <a:headEnd type="none" w="med" len="med"/>
                      <a:tailEnd type="none" w="med" len="med"/>
                    </a:lnR>
                    <a:lnT w="6350" cap="flat" cmpd="sng" algn="ctr">
                      <a:solidFill>
                        <a:srgbClr val="D6D2C9"/>
                      </a:solidFill>
                      <a:prstDash val="solid"/>
                      <a:round/>
                      <a:headEnd type="none" w="med" len="med"/>
                      <a:tailEnd type="none" w="med" len="med"/>
                    </a:lnT>
                    <a:lnB w="6350" cap="flat" cmpd="sng" algn="ctr">
                      <a:solidFill>
                        <a:srgbClr val="D6D2C9"/>
                      </a:solidFill>
                      <a:prstDash val="solid"/>
                      <a:round/>
                      <a:headEnd type="none" w="med" len="med"/>
                      <a:tailEnd type="none" w="med" len="med"/>
                    </a:lnB>
                  </a:tcPr>
                </a:tc>
                <a:tc>
                  <a:txBody>
                    <a:bodyPr/>
                    <a:lstStyle/>
                    <a:p>
                      <a:pPr indent="0" marL="0">
                        <a:buNone/>
                      </a:pPr>
                      <a:r>
                        <a:rPr lang="en-US" sz="1150" dirty="0">
                          <a:solidFill>
                            <a:srgbClr val="1B1A18"/>
                          </a:solidFill>
                          <a:latin typeface="Georgia" pitchFamily="34" charset="0"/>
                          <a:ea typeface="Georgia" pitchFamily="34" charset="-122"/>
                          <a:cs typeface="Georgia" pitchFamily="34" charset="-120"/>
                        </a:rPr>
                        <a:t>The cost of saying no to any single one of them.</a:t>
                      </a:r>
                      <a:endParaRPr lang="en-US" sz="1150" dirty="0">
                        <a:latin typeface="Georgia" charset="0"/>
                        <a:ea typeface="Georgia" charset="0"/>
                        <a:cs typeface="Georgia" charset="0"/>
                      </a:endParaRPr>
                    </a:p>
                  </a:txBody>
                  <a:tcPr marL="82296" marR="82296" marT="82296" marB="82296" anchor="t">
                    <a:lnL w="6350" cap="flat" cmpd="sng" algn="ctr">
                      <a:solidFill>
                        <a:srgbClr val="D6D2C9"/>
                      </a:solidFill>
                      <a:prstDash val="solid"/>
                      <a:round/>
                      <a:headEnd type="none" w="med" len="med"/>
                      <a:tailEnd type="none" w="med" len="med"/>
                    </a:lnL>
                    <a:lnR w="6350" cap="flat" cmpd="sng" algn="ctr">
                      <a:solidFill>
                        <a:srgbClr val="D6D2C9"/>
                      </a:solidFill>
                      <a:prstDash val="solid"/>
                      <a:round/>
                      <a:headEnd type="none" w="med" len="med"/>
                      <a:tailEnd type="none" w="med" len="med"/>
                    </a:lnR>
                    <a:lnT w="6350" cap="flat" cmpd="sng" algn="ctr">
                      <a:solidFill>
                        <a:srgbClr val="D6D2C9"/>
                      </a:solidFill>
                      <a:prstDash val="solid"/>
                      <a:round/>
                      <a:headEnd type="none" w="med" len="med"/>
                      <a:tailEnd type="none" w="med" len="med"/>
                    </a:lnT>
                    <a:lnB w="6350" cap="flat" cmpd="sng" algn="ctr">
                      <a:solidFill>
                        <a:srgbClr val="D6D2C9"/>
                      </a:solidFill>
                      <a:prstDash val="solid"/>
                      <a:round/>
                      <a:headEnd type="none" w="med" len="med"/>
                      <a:tailEnd type="none" w="med" len="med"/>
                    </a:lnB>
                  </a:tcPr>
                </a:tc>
              </a:tr>
              <a:tr h="0">
                <a:tc>
                  <a:txBody>
                    <a:bodyPr/>
                    <a:lstStyle/>
                    <a:p>
                      <a:pPr indent="0" marL="0">
                        <a:buNone/>
                      </a:pPr>
                      <a:r>
                        <a:rPr lang="en-US" sz="1150" b="1" dirty="0">
                          <a:solidFill>
                            <a:srgbClr val="33302B"/>
                          </a:solidFill>
                          <a:latin typeface="Georgia" pitchFamily="34" charset="0"/>
                          <a:ea typeface="Georgia" pitchFamily="34" charset="-122"/>
                          <a:cs typeface="Georgia" pitchFamily="34" charset="-120"/>
                        </a:rPr>
                        <a:t>7</a:t>
                      </a:r>
                      <a:endParaRPr lang="en-US" sz="1150" dirty="0">
                        <a:latin typeface="Georgia" charset="0"/>
                        <a:ea typeface="Georgia" charset="0"/>
                        <a:cs typeface="Georgia" charset="0"/>
                      </a:endParaRPr>
                    </a:p>
                  </a:txBody>
                  <a:tcPr marL="82296" marR="82296" marT="82296" marB="82296" anchor="t">
                    <a:lnL w="6350" cap="flat" cmpd="sng" algn="ctr">
                      <a:solidFill>
                        <a:srgbClr val="D6D2C9"/>
                      </a:solidFill>
                      <a:prstDash val="solid"/>
                      <a:round/>
                      <a:headEnd type="none" w="med" len="med"/>
                      <a:tailEnd type="none" w="med" len="med"/>
                    </a:lnL>
                    <a:lnR w="6350" cap="flat" cmpd="sng" algn="ctr">
                      <a:solidFill>
                        <a:srgbClr val="D6D2C9"/>
                      </a:solidFill>
                      <a:prstDash val="solid"/>
                      <a:round/>
                      <a:headEnd type="none" w="med" len="med"/>
                      <a:tailEnd type="none" w="med" len="med"/>
                    </a:lnR>
                    <a:lnT w="6350" cap="flat" cmpd="sng" algn="ctr">
                      <a:solidFill>
                        <a:srgbClr val="D6D2C9"/>
                      </a:solidFill>
                      <a:prstDash val="solid"/>
                      <a:round/>
                      <a:headEnd type="none" w="med" len="med"/>
                      <a:tailEnd type="none" w="med" len="med"/>
                    </a:lnT>
                    <a:lnB w="6350" cap="flat" cmpd="sng" algn="ctr">
                      <a:solidFill>
                        <a:srgbClr val="D6D2C9"/>
                      </a:solidFill>
                      <a:prstDash val="solid"/>
                      <a:round/>
                      <a:headEnd type="none" w="med" len="med"/>
                      <a:tailEnd type="none" w="med" len="med"/>
                    </a:lnB>
                  </a:tcPr>
                </a:tc>
                <a:tc>
                  <a:txBody>
                    <a:bodyPr/>
                    <a:lstStyle/>
                    <a:p>
                      <a:pPr indent="0" marL="0">
                        <a:buNone/>
                      </a:pPr>
                      <a:r>
                        <a:rPr lang="en-US" sz="1150" dirty="0">
                          <a:solidFill>
                            <a:srgbClr val="1B1A18"/>
                          </a:solidFill>
                          <a:latin typeface="Georgia" pitchFamily="34" charset="0"/>
                          <a:ea typeface="Georgia" pitchFamily="34" charset="-122"/>
                          <a:cs typeface="Georgia" pitchFamily="34" charset="-120"/>
                        </a:rPr>
                        <a:t>Last month</a:t>
                      </a:r>
                      <a:endParaRPr lang="en-US" sz="1150" dirty="0">
                        <a:latin typeface="Georgia" charset="0"/>
                        <a:ea typeface="Georgia" charset="0"/>
                        <a:cs typeface="Georgia" charset="0"/>
                      </a:endParaRPr>
                    </a:p>
                  </a:txBody>
                  <a:tcPr marL="82296" marR="82296" marT="82296" marB="82296" anchor="t">
                    <a:lnL w="6350" cap="flat" cmpd="sng" algn="ctr">
                      <a:solidFill>
                        <a:srgbClr val="D6D2C9"/>
                      </a:solidFill>
                      <a:prstDash val="solid"/>
                      <a:round/>
                      <a:headEnd type="none" w="med" len="med"/>
                      <a:tailEnd type="none" w="med" len="med"/>
                    </a:lnL>
                    <a:lnR w="6350" cap="flat" cmpd="sng" algn="ctr">
                      <a:solidFill>
                        <a:srgbClr val="D6D2C9"/>
                      </a:solidFill>
                      <a:prstDash val="solid"/>
                      <a:round/>
                      <a:headEnd type="none" w="med" len="med"/>
                      <a:tailEnd type="none" w="med" len="med"/>
                    </a:lnR>
                    <a:lnT w="6350" cap="flat" cmpd="sng" algn="ctr">
                      <a:solidFill>
                        <a:srgbClr val="D6D2C9"/>
                      </a:solidFill>
                      <a:prstDash val="solid"/>
                      <a:round/>
                      <a:headEnd type="none" w="med" len="med"/>
                      <a:tailEnd type="none" w="med" len="med"/>
                    </a:lnT>
                    <a:lnB w="6350" cap="flat" cmpd="sng" algn="ctr">
                      <a:solidFill>
                        <a:srgbClr val="D6D2C9"/>
                      </a:solidFill>
                      <a:prstDash val="solid"/>
                      <a:round/>
                      <a:headEnd type="none" w="med" len="med"/>
                      <a:tailEnd type="none" w="med" len="med"/>
                    </a:lnB>
                  </a:tcPr>
                </a:tc>
                <a:tc>
                  <a:txBody>
                    <a:bodyPr/>
                    <a:lstStyle/>
                    <a:p>
                      <a:pPr indent="0" marL="0">
                        <a:buNone/>
                      </a:pPr>
                      <a:r>
                        <a:rPr lang="en-US" sz="1150" dirty="0">
                          <a:solidFill>
                            <a:srgbClr val="1B1A18"/>
                          </a:solidFill>
                          <a:latin typeface="Georgia" pitchFamily="34" charset="0"/>
                          <a:ea typeface="Georgia" pitchFamily="34" charset="-122"/>
                          <a:cs typeface="Georgia" pitchFamily="34" charset="-120"/>
                        </a:rPr>
                        <a:t>Full attribution by query. Reconstruction is a fail.</a:t>
                      </a:r>
                      <a:endParaRPr lang="en-US" sz="1150" dirty="0">
                        <a:latin typeface="Georgia" charset="0"/>
                        <a:ea typeface="Georgia" charset="0"/>
                        <a:cs typeface="Georgia" charset="0"/>
                      </a:endParaRPr>
                    </a:p>
                  </a:txBody>
                  <a:tcPr marL="82296" marR="82296" marT="82296" marB="82296" anchor="t">
                    <a:lnL w="6350" cap="flat" cmpd="sng" algn="ctr">
                      <a:solidFill>
                        <a:srgbClr val="D6D2C9"/>
                      </a:solidFill>
                      <a:prstDash val="solid"/>
                      <a:round/>
                      <a:headEnd type="none" w="med" len="med"/>
                      <a:tailEnd type="none" w="med" len="med"/>
                    </a:lnL>
                    <a:lnR w="6350" cap="flat" cmpd="sng" algn="ctr">
                      <a:solidFill>
                        <a:srgbClr val="D6D2C9"/>
                      </a:solidFill>
                      <a:prstDash val="solid"/>
                      <a:round/>
                      <a:headEnd type="none" w="med" len="med"/>
                      <a:tailEnd type="none" w="med" len="med"/>
                    </a:lnR>
                    <a:lnT w="6350" cap="flat" cmpd="sng" algn="ctr">
                      <a:solidFill>
                        <a:srgbClr val="D6D2C9"/>
                      </a:solidFill>
                      <a:prstDash val="solid"/>
                      <a:round/>
                      <a:headEnd type="none" w="med" len="med"/>
                      <a:tailEnd type="none" w="med" len="med"/>
                    </a:lnT>
                    <a:lnB w="6350" cap="flat" cmpd="sng" algn="ctr">
                      <a:solidFill>
                        <a:srgbClr val="D6D2C9"/>
                      </a:solidFill>
                      <a:prstDash val="solid"/>
                      <a:round/>
                      <a:headEnd type="none" w="med" len="med"/>
                      <a:tailEnd type="none" w="med" len="med"/>
                    </a:lnB>
                  </a:tcPr>
                </a:tc>
              </a:tr>
              <a:tr h="0">
                <a:tc>
                  <a:txBody>
                    <a:bodyPr/>
                    <a:lstStyle/>
                    <a:p>
                      <a:pPr indent="0" marL="0">
                        <a:buNone/>
                      </a:pPr>
                      <a:r>
                        <a:rPr lang="en-US" sz="1150" b="1" dirty="0">
                          <a:solidFill>
                            <a:srgbClr val="33302B"/>
                          </a:solidFill>
                          <a:latin typeface="Georgia" pitchFamily="34" charset="0"/>
                          <a:ea typeface="Georgia" pitchFamily="34" charset="-122"/>
                          <a:cs typeface="Georgia" pitchFamily="34" charset="-120"/>
                        </a:rPr>
                        <a:t>8</a:t>
                      </a:r>
                      <a:endParaRPr lang="en-US" sz="1150" dirty="0">
                        <a:latin typeface="Georgia" charset="0"/>
                        <a:ea typeface="Georgia" charset="0"/>
                        <a:cs typeface="Georgia" charset="0"/>
                      </a:endParaRPr>
                    </a:p>
                  </a:txBody>
                  <a:tcPr marL="82296" marR="82296" marT="82296" marB="82296" anchor="t">
                    <a:lnL w="6350" cap="flat" cmpd="sng" algn="ctr">
                      <a:solidFill>
                        <a:srgbClr val="D6D2C9"/>
                      </a:solidFill>
                      <a:prstDash val="solid"/>
                      <a:round/>
                      <a:headEnd type="none" w="med" len="med"/>
                      <a:tailEnd type="none" w="med" len="med"/>
                    </a:lnL>
                    <a:lnR w="6350" cap="flat" cmpd="sng" algn="ctr">
                      <a:solidFill>
                        <a:srgbClr val="D6D2C9"/>
                      </a:solidFill>
                      <a:prstDash val="solid"/>
                      <a:round/>
                      <a:headEnd type="none" w="med" len="med"/>
                      <a:tailEnd type="none" w="med" len="med"/>
                    </a:lnR>
                    <a:lnT w="6350" cap="flat" cmpd="sng" algn="ctr">
                      <a:solidFill>
                        <a:srgbClr val="D6D2C9"/>
                      </a:solidFill>
                      <a:prstDash val="solid"/>
                      <a:round/>
                      <a:headEnd type="none" w="med" len="med"/>
                      <a:tailEnd type="none" w="med" len="med"/>
                    </a:lnT>
                    <a:lnB w="6350" cap="flat" cmpd="sng" algn="ctr">
                      <a:solidFill>
                        <a:srgbClr val="D6D2C9"/>
                      </a:solidFill>
                      <a:prstDash val="solid"/>
                      <a:round/>
                      <a:headEnd type="none" w="med" len="med"/>
                      <a:tailEnd type="none" w="med" len="med"/>
                    </a:lnB>
                  </a:tcPr>
                </a:tc>
                <a:tc>
                  <a:txBody>
                    <a:bodyPr/>
                    <a:lstStyle/>
                    <a:p>
                      <a:pPr indent="0" marL="0">
                        <a:buNone/>
                      </a:pPr>
                      <a:r>
                        <a:rPr lang="en-US" sz="1150" dirty="0">
                          <a:solidFill>
                            <a:srgbClr val="1B1A18"/>
                          </a:solidFill>
                          <a:latin typeface="Georgia" pitchFamily="34" charset="0"/>
                          <a:ea typeface="Georgia" pitchFamily="34" charset="-122"/>
                          <a:cs typeface="Georgia" pitchFamily="34" charset="-120"/>
                        </a:rPr>
                        <a:t>Two invoices</a:t>
                      </a:r>
                      <a:endParaRPr lang="en-US" sz="1150" dirty="0">
                        <a:latin typeface="Georgia" charset="0"/>
                        <a:ea typeface="Georgia" charset="0"/>
                        <a:cs typeface="Georgia" charset="0"/>
                      </a:endParaRPr>
                    </a:p>
                  </a:txBody>
                  <a:tcPr marL="82296" marR="82296" marT="82296" marB="82296" anchor="t">
                    <a:lnL w="6350" cap="flat" cmpd="sng" algn="ctr">
                      <a:solidFill>
                        <a:srgbClr val="D6D2C9"/>
                      </a:solidFill>
                      <a:prstDash val="solid"/>
                      <a:round/>
                      <a:headEnd type="none" w="med" len="med"/>
                      <a:tailEnd type="none" w="med" len="med"/>
                    </a:lnL>
                    <a:lnR w="6350" cap="flat" cmpd="sng" algn="ctr">
                      <a:solidFill>
                        <a:srgbClr val="D6D2C9"/>
                      </a:solidFill>
                      <a:prstDash val="solid"/>
                      <a:round/>
                      <a:headEnd type="none" w="med" len="med"/>
                      <a:tailEnd type="none" w="med" len="med"/>
                    </a:lnR>
                    <a:lnT w="6350" cap="flat" cmpd="sng" algn="ctr">
                      <a:solidFill>
                        <a:srgbClr val="D6D2C9"/>
                      </a:solidFill>
                      <a:prstDash val="solid"/>
                      <a:round/>
                      <a:headEnd type="none" w="med" len="med"/>
                      <a:tailEnd type="none" w="med" len="med"/>
                    </a:lnT>
                    <a:lnB w="6350" cap="flat" cmpd="sng" algn="ctr">
                      <a:solidFill>
                        <a:srgbClr val="D6D2C9"/>
                      </a:solidFill>
                      <a:prstDash val="solid"/>
                      <a:round/>
                      <a:headEnd type="none" w="med" len="med"/>
                      <a:tailEnd type="none" w="med" len="med"/>
                    </a:lnB>
                  </a:tcPr>
                </a:tc>
                <a:tc>
                  <a:txBody>
                    <a:bodyPr/>
                    <a:lstStyle/>
                    <a:p>
                      <a:pPr indent="0" marL="0">
                        <a:buNone/>
                      </a:pPr>
                      <a:r>
                        <a:rPr lang="en-US" sz="1150" dirty="0">
                          <a:solidFill>
                            <a:srgbClr val="1B1A18"/>
                          </a:solidFill>
                          <a:latin typeface="Georgia" pitchFamily="34" charset="0"/>
                          <a:ea typeface="Georgia" pitchFamily="34" charset="-122"/>
                          <a:cs typeface="Georgia" pitchFamily="34" charset="-120"/>
                        </a:rPr>
                        <a:t>Cost and consumption per action, from execution records.</a:t>
                      </a:r>
                      <a:endParaRPr lang="en-US" sz="1150" dirty="0">
                        <a:latin typeface="Georgia" charset="0"/>
                        <a:ea typeface="Georgia" charset="0"/>
                        <a:cs typeface="Georgia" charset="0"/>
                      </a:endParaRPr>
                    </a:p>
                  </a:txBody>
                  <a:tcPr marL="82296" marR="82296" marT="82296" marB="82296" anchor="t">
                    <a:lnL w="6350" cap="flat" cmpd="sng" algn="ctr">
                      <a:solidFill>
                        <a:srgbClr val="D6D2C9"/>
                      </a:solidFill>
                      <a:prstDash val="solid"/>
                      <a:round/>
                      <a:headEnd type="none" w="med" len="med"/>
                      <a:tailEnd type="none" w="med" len="med"/>
                    </a:lnL>
                    <a:lnR w="6350" cap="flat" cmpd="sng" algn="ctr">
                      <a:solidFill>
                        <a:srgbClr val="D6D2C9"/>
                      </a:solidFill>
                      <a:prstDash val="solid"/>
                      <a:round/>
                      <a:headEnd type="none" w="med" len="med"/>
                      <a:tailEnd type="none" w="med" len="med"/>
                    </a:lnR>
                    <a:lnT w="6350" cap="flat" cmpd="sng" algn="ctr">
                      <a:solidFill>
                        <a:srgbClr val="D6D2C9"/>
                      </a:solidFill>
                      <a:prstDash val="solid"/>
                      <a:round/>
                      <a:headEnd type="none" w="med" len="med"/>
                      <a:tailEnd type="none" w="med" len="med"/>
                    </a:lnT>
                    <a:lnB w="6350" cap="flat" cmpd="sng" algn="ctr">
                      <a:solidFill>
                        <a:srgbClr val="D6D2C9"/>
                      </a:solidFill>
                      <a:prstDash val="solid"/>
                      <a:round/>
                      <a:headEnd type="none" w="med" len="med"/>
                      <a:tailEnd type="none" w="med" len="med"/>
                    </a:lnB>
                  </a:tcPr>
                </a:tc>
              </a:tr>
              <a:tr h="0">
                <a:tc>
                  <a:txBody>
                    <a:bodyPr/>
                    <a:lstStyle/>
                    <a:p>
                      <a:pPr indent="0" marL="0">
                        <a:buNone/>
                      </a:pPr>
                      <a:r>
                        <a:rPr lang="en-US" sz="1150" b="1" dirty="0">
                          <a:solidFill>
                            <a:srgbClr val="33302B"/>
                          </a:solidFill>
                          <a:latin typeface="Georgia" pitchFamily="34" charset="0"/>
                          <a:ea typeface="Georgia" pitchFamily="34" charset="-122"/>
                          <a:cs typeface="Georgia" pitchFamily="34" charset="-120"/>
                        </a:rPr>
                        <a:t>9</a:t>
                      </a:r>
                      <a:endParaRPr lang="en-US" sz="1150" dirty="0">
                        <a:latin typeface="Georgia" charset="0"/>
                        <a:ea typeface="Georgia" charset="0"/>
                        <a:cs typeface="Georgia" charset="0"/>
                      </a:endParaRPr>
                    </a:p>
                  </a:txBody>
                  <a:tcPr marL="82296" marR="82296" marT="82296" marB="82296" anchor="t">
                    <a:lnL w="6350" cap="flat" cmpd="sng" algn="ctr">
                      <a:solidFill>
                        <a:srgbClr val="D6D2C9"/>
                      </a:solidFill>
                      <a:prstDash val="solid"/>
                      <a:round/>
                      <a:headEnd type="none" w="med" len="med"/>
                      <a:tailEnd type="none" w="med" len="med"/>
                    </a:lnL>
                    <a:lnR w="6350" cap="flat" cmpd="sng" algn="ctr">
                      <a:solidFill>
                        <a:srgbClr val="D6D2C9"/>
                      </a:solidFill>
                      <a:prstDash val="solid"/>
                      <a:round/>
                      <a:headEnd type="none" w="med" len="med"/>
                      <a:tailEnd type="none" w="med" len="med"/>
                    </a:lnR>
                    <a:lnT w="6350" cap="flat" cmpd="sng" algn="ctr">
                      <a:solidFill>
                        <a:srgbClr val="D6D2C9"/>
                      </a:solidFill>
                      <a:prstDash val="solid"/>
                      <a:round/>
                      <a:headEnd type="none" w="med" len="med"/>
                      <a:tailEnd type="none" w="med" len="med"/>
                    </a:lnT>
                    <a:lnB w="6350" cap="flat" cmpd="sng" algn="ctr">
                      <a:solidFill>
                        <a:srgbClr val="D6D2C9"/>
                      </a:solidFill>
                      <a:prstDash val="solid"/>
                      <a:round/>
                      <a:headEnd type="none" w="med" len="med"/>
                      <a:tailEnd type="none" w="med" len="med"/>
                    </a:lnB>
                  </a:tcPr>
                </a:tc>
                <a:tc>
                  <a:txBody>
                    <a:bodyPr/>
                    <a:lstStyle/>
                    <a:p>
                      <a:pPr indent="0" marL="0">
                        <a:buNone/>
                      </a:pPr>
                      <a:r>
                        <a:rPr lang="en-US" sz="1150" dirty="0">
                          <a:solidFill>
                            <a:srgbClr val="1B1A18"/>
                          </a:solidFill>
                          <a:latin typeface="Georgia" pitchFamily="34" charset="0"/>
                          <a:ea typeface="Georgia" pitchFamily="34" charset="-122"/>
                          <a:cs typeface="Georgia" pitchFamily="34" charset="-120"/>
                        </a:rPr>
                        <a:t>Outlive</a:t>
                      </a:r>
                      <a:endParaRPr lang="en-US" sz="1150" dirty="0">
                        <a:latin typeface="Georgia" charset="0"/>
                        <a:ea typeface="Georgia" charset="0"/>
                        <a:cs typeface="Georgia" charset="0"/>
                      </a:endParaRPr>
                    </a:p>
                  </a:txBody>
                  <a:tcPr marL="82296" marR="82296" marT="82296" marB="82296" anchor="t">
                    <a:lnL w="6350" cap="flat" cmpd="sng" algn="ctr">
                      <a:solidFill>
                        <a:srgbClr val="D6D2C9"/>
                      </a:solidFill>
                      <a:prstDash val="solid"/>
                      <a:round/>
                      <a:headEnd type="none" w="med" len="med"/>
                      <a:tailEnd type="none" w="med" len="med"/>
                    </a:lnL>
                    <a:lnR w="6350" cap="flat" cmpd="sng" algn="ctr">
                      <a:solidFill>
                        <a:srgbClr val="D6D2C9"/>
                      </a:solidFill>
                      <a:prstDash val="solid"/>
                      <a:round/>
                      <a:headEnd type="none" w="med" len="med"/>
                      <a:tailEnd type="none" w="med" len="med"/>
                    </a:lnR>
                    <a:lnT w="6350" cap="flat" cmpd="sng" algn="ctr">
                      <a:solidFill>
                        <a:srgbClr val="D6D2C9"/>
                      </a:solidFill>
                      <a:prstDash val="solid"/>
                      <a:round/>
                      <a:headEnd type="none" w="med" len="med"/>
                      <a:tailEnd type="none" w="med" len="med"/>
                    </a:lnT>
                    <a:lnB w="6350" cap="flat" cmpd="sng" algn="ctr">
                      <a:solidFill>
                        <a:srgbClr val="D6D2C9"/>
                      </a:solidFill>
                      <a:prstDash val="solid"/>
                      <a:round/>
                      <a:headEnd type="none" w="med" len="med"/>
                      <a:tailEnd type="none" w="med" len="med"/>
                    </a:lnB>
                  </a:tcPr>
                </a:tc>
                <a:tc>
                  <a:txBody>
                    <a:bodyPr/>
                    <a:lstStyle/>
                    <a:p>
                      <a:pPr indent="0" marL="0">
                        <a:buNone/>
                      </a:pPr>
                      <a:r>
                        <a:rPr lang="en-US" sz="1150" dirty="0">
                          <a:solidFill>
                            <a:srgbClr val="1B1A18"/>
                          </a:solidFill>
                          <a:latin typeface="Georgia" pitchFamily="34" charset="0"/>
                          <a:ea typeface="Georgia" pitchFamily="34" charset="-122"/>
                          <a:cs typeface="Georgia" pitchFamily="34" charset="-120"/>
                        </a:rPr>
                        <a:t>Is the referee also a player? Name a property that survived a replacement.</a:t>
                      </a:r>
                      <a:endParaRPr lang="en-US" sz="1150" dirty="0">
                        <a:latin typeface="Georgia" charset="0"/>
                        <a:ea typeface="Georgia" charset="0"/>
                        <a:cs typeface="Georgia" charset="0"/>
                      </a:endParaRPr>
                    </a:p>
                  </a:txBody>
                  <a:tcPr marL="82296" marR="82296" marT="82296" marB="82296" anchor="t">
                    <a:lnL w="6350" cap="flat" cmpd="sng" algn="ctr">
                      <a:solidFill>
                        <a:srgbClr val="D6D2C9"/>
                      </a:solidFill>
                      <a:prstDash val="solid"/>
                      <a:round/>
                      <a:headEnd type="none" w="med" len="med"/>
                      <a:tailEnd type="none" w="med" len="med"/>
                    </a:lnL>
                    <a:lnR w="6350" cap="flat" cmpd="sng" algn="ctr">
                      <a:solidFill>
                        <a:srgbClr val="D6D2C9"/>
                      </a:solidFill>
                      <a:prstDash val="solid"/>
                      <a:round/>
                      <a:headEnd type="none" w="med" len="med"/>
                      <a:tailEnd type="none" w="med" len="med"/>
                    </a:lnR>
                    <a:lnT w="6350" cap="flat" cmpd="sng" algn="ctr">
                      <a:solidFill>
                        <a:srgbClr val="D6D2C9"/>
                      </a:solidFill>
                      <a:prstDash val="solid"/>
                      <a:round/>
                      <a:headEnd type="none" w="med" len="med"/>
                      <a:tailEnd type="none" w="med" len="med"/>
                    </a:lnT>
                    <a:lnB w="6350" cap="flat" cmpd="sng" algn="ctr">
                      <a:solidFill>
                        <a:srgbClr val="D6D2C9"/>
                      </a:solidFill>
                      <a:prstDash val="solid"/>
                      <a:round/>
                      <a:headEnd type="none" w="med" len="med"/>
                      <a:tailEnd type="none" w="med" len="med"/>
                    </a:lnB>
                  </a:tcPr>
                </a:tc>
              </a:tr>
            </a:tbl>
          </a:graphicData>
        </a:graphic>
      </p:graphicFrame>
      <p:sp>
        <p:nvSpPr>
          <p:cNvPr id="5" name="Text 2"/>
          <p:cNvSpPr/>
          <p:nvPr/>
        </p:nvSpPr>
        <p:spPr>
          <a:xfrm>
            <a:off x="566928" y="6473952"/>
            <a:ext cx="9957816" cy="274320"/>
          </a:xfrm>
          <a:prstGeom prst="rect">
            <a:avLst/>
          </a:prstGeom>
          <a:noFill/>
          <a:ln/>
        </p:spPr>
        <p:txBody>
          <a:bodyPr wrap="square" rtlCol="0" anchor="ctr"/>
          <a:lstStyle/>
          <a:p>
            <a:pPr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indent="0" marL="0">
              <a:buNone/>
            </a:pPr>
            <a:r>
              <a:rPr lang="en-US" sz="900" dirty="0">
                <a:solidFill>
                  <a:srgbClr val="6E6A62"/>
                </a:solidFill>
                <a:latin typeface="Georgia" pitchFamily="34" charset="0"/>
                <a:ea typeface="Georgia" pitchFamily="34" charset="-122"/>
                <a:cs typeface="Georgia" pitchFamily="34" charset="-120"/>
              </a:rPr>
              <a:t>  ·  PCERT-FS — Custody in the Regulated Institution</a:t>
            </a:r>
            <a:endParaRPr lang="en-US" sz="900" dirty="0"/>
          </a:p>
        </p:txBody>
      </p:sp>
      <p:sp>
        <p:nvSpPr>
          <p:cNvPr id="6" name="Text 3"/>
          <p:cNvSpPr/>
          <p:nvPr/>
        </p:nvSpPr>
        <p:spPr>
          <a:xfrm>
            <a:off x="10707624"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55096" cy="292608"/>
          </a:xfrm>
          <a:prstGeom prst="rect">
            <a:avLst/>
          </a:prstGeom>
          <a:noFill/>
          <a:ln/>
        </p:spPr>
        <p:txBody>
          <a:bodyPr wrap="square" rtlCol="0" anchor="ctr"/>
          <a:lstStyle/>
          <a:p>
            <a:pPr indent="0" marL="0">
              <a:buNone/>
            </a:pPr>
            <a:r>
              <a:rPr lang="en-US" sz="1050" b="1" spc="120" kern="0" dirty="0">
                <a:solidFill>
                  <a:srgbClr val="8A8378"/>
                </a:solidFill>
                <a:latin typeface="Georgia" pitchFamily="34" charset="0"/>
                <a:ea typeface="Georgia" pitchFamily="34" charset="-122"/>
                <a:cs typeface="Georgia" pitchFamily="34" charset="-120"/>
              </a:rPr>
              <a:t>RECORDING A VERDICT</a:t>
            </a:r>
            <a:endParaRPr lang="en-US" sz="1050" dirty="0"/>
          </a:p>
        </p:txBody>
      </p:sp>
      <p:sp>
        <p:nvSpPr>
          <p:cNvPr id="3" name="Text 1"/>
          <p:cNvSpPr/>
          <p:nvPr/>
        </p:nvSpPr>
        <p:spPr>
          <a:xfrm>
            <a:off x="566928" y="749808"/>
            <a:ext cx="11055096" cy="822960"/>
          </a:xfrm>
          <a:prstGeom prst="rect">
            <a:avLst/>
          </a:prstGeom>
          <a:noFill/>
          <a:ln/>
        </p:spPr>
        <p:txBody>
          <a:bodyPr wrap="square" rtlCol="0" anchor="t"/>
          <a:lstStyle/>
          <a:p>
            <a:pPr indent="0" marL="0">
              <a:buNone/>
            </a:pPr>
            <a:r>
              <a:rPr lang="en-US" sz="2550" b="1" dirty="0">
                <a:solidFill>
                  <a:srgbClr val="1B1A18"/>
                </a:solidFill>
                <a:latin typeface="Georgia" pitchFamily="34" charset="0"/>
                <a:ea typeface="Georgia" pitchFamily="34" charset="-122"/>
                <a:cs typeface="Georgia" pitchFamily="34" charset="-120"/>
              </a:rPr>
              <a:t>Three outcomes, and only one may be inferred</a:t>
            </a:r>
            <a:endParaRPr lang="en-US" sz="2550" dirty="0"/>
          </a:p>
        </p:txBody>
      </p:sp>
      <p:sp>
        <p:nvSpPr>
          <p:cNvPr id="4" name="Shape 2"/>
          <p:cNvSpPr/>
          <p:nvPr/>
        </p:nvSpPr>
        <p:spPr>
          <a:xfrm>
            <a:off x="566928" y="1691640"/>
            <a:ext cx="457200" cy="457200"/>
          </a:xfrm>
          <a:prstGeom prst="ellipse">
            <a:avLst/>
          </a:prstGeom>
          <a:solidFill>
            <a:srgbClr val="1B1A18"/>
          </a:solidFill>
          <a:ln/>
        </p:spPr>
      </p:sp>
      <p:sp>
        <p:nvSpPr>
          <p:cNvPr id="5" name="Text 3"/>
          <p:cNvSpPr/>
          <p:nvPr/>
        </p:nvSpPr>
        <p:spPr>
          <a:xfrm>
            <a:off x="566928" y="169164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1</a:t>
            </a:r>
            <a:endParaRPr lang="en-US" sz="1400" dirty="0"/>
          </a:p>
        </p:txBody>
      </p:sp>
      <p:sp>
        <p:nvSpPr>
          <p:cNvPr id="6" name="Text 4"/>
          <p:cNvSpPr/>
          <p:nvPr/>
        </p:nvSpPr>
        <p:spPr>
          <a:xfrm>
            <a:off x="1234440" y="1636776"/>
            <a:ext cx="10277856" cy="1024128"/>
          </a:xfrm>
          <a:prstGeom prst="rect">
            <a:avLst/>
          </a:prstGeom>
          <a:noFill/>
          <a:ln/>
        </p:spPr>
        <p:txBody>
          <a:bodyPr wrap="square" rtlCol="0" anchor="t"/>
          <a:lstStyle/>
          <a:p>
            <a:pPr indent="0" marL="0">
              <a:lnSpc>
                <a:spcPts val="2200"/>
              </a:lnSpc>
              <a:buNone/>
            </a:pPr>
            <a:r>
              <a:rPr lang="en-US" sz="1500" b="1" dirty="0">
                <a:solidFill>
                  <a:srgbClr val="33302B"/>
                </a:solidFill>
                <a:latin typeface="Georgia" pitchFamily="34" charset="0"/>
                <a:ea typeface="Georgia" pitchFamily="34" charset="-122"/>
                <a:cs typeface="Georgia" pitchFamily="34" charset="-120"/>
              </a:rPr>
              <a:t>Demonstrated.   </a:t>
            </a:r>
            <a:pPr indent="0" marL="0">
              <a:lnSpc>
                <a:spcPts val="2200"/>
              </a:lnSpc>
              <a:buNone/>
            </a:pPr>
            <a:r>
              <a:rPr lang="en-US" sz="1500" dirty="0">
                <a:solidFill>
                  <a:srgbClr val="6E6A62"/>
                </a:solidFill>
                <a:latin typeface="Georgia" pitchFamily="34" charset="0"/>
                <a:ea typeface="Georgia" pitchFamily="34" charset="-122"/>
                <a:cs typeface="Georgia" pitchFamily="34" charset="-120"/>
              </a:rPr>
              <a:t>You observed it. Note what crossed, between which systems, and what arrived.</a:t>
            </a:r>
            <a:endParaRPr lang="en-US" sz="1500" dirty="0"/>
          </a:p>
        </p:txBody>
      </p:sp>
      <p:sp>
        <p:nvSpPr>
          <p:cNvPr id="7" name="Shape 5"/>
          <p:cNvSpPr/>
          <p:nvPr/>
        </p:nvSpPr>
        <p:spPr>
          <a:xfrm>
            <a:off x="566928" y="2857500"/>
            <a:ext cx="457200" cy="457200"/>
          </a:xfrm>
          <a:prstGeom prst="ellipse">
            <a:avLst/>
          </a:prstGeom>
          <a:solidFill>
            <a:srgbClr val="1B1A18"/>
          </a:solidFill>
          <a:ln/>
        </p:spPr>
      </p:sp>
      <p:sp>
        <p:nvSpPr>
          <p:cNvPr id="8" name="Text 6"/>
          <p:cNvSpPr/>
          <p:nvPr/>
        </p:nvSpPr>
        <p:spPr>
          <a:xfrm>
            <a:off x="566928" y="285750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2</a:t>
            </a:r>
            <a:endParaRPr lang="en-US" sz="1400" dirty="0"/>
          </a:p>
        </p:txBody>
      </p:sp>
      <p:sp>
        <p:nvSpPr>
          <p:cNvPr id="9" name="Text 7"/>
          <p:cNvSpPr/>
          <p:nvPr/>
        </p:nvSpPr>
        <p:spPr>
          <a:xfrm>
            <a:off x="1234440" y="2802636"/>
            <a:ext cx="10277856" cy="1024128"/>
          </a:xfrm>
          <a:prstGeom prst="rect">
            <a:avLst/>
          </a:prstGeom>
          <a:noFill/>
          <a:ln/>
        </p:spPr>
        <p:txBody>
          <a:bodyPr wrap="square" rtlCol="0" anchor="t"/>
          <a:lstStyle/>
          <a:p>
            <a:pPr indent="0" marL="0">
              <a:lnSpc>
                <a:spcPts val="2200"/>
              </a:lnSpc>
              <a:buNone/>
            </a:pPr>
            <a:r>
              <a:rPr lang="en-US" sz="1500" b="1" dirty="0">
                <a:solidFill>
                  <a:srgbClr val="33302B"/>
                </a:solidFill>
                <a:latin typeface="Georgia" pitchFamily="34" charset="0"/>
                <a:ea typeface="Georgia" pitchFamily="34" charset="-122"/>
                <a:cs typeface="Georgia" pitchFamily="34" charset="-120"/>
              </a:rPr>
              <a:t>Not demonstrated.   </a:t>
            </a:r>
            <a:pPr indent="0" marL="0">
              <a:lnSpc>
                <a:spcPts val="2200"/>
              </a:lnSpc>
              <a:buNone/>
            </a:pPr>
            <a:r>
              <a:rPr lang="en-US" sz="1500" dirty="0">
                <a:solidFill>
                  <a:srgbClr val="6E6A62"/>
                </a:solidFill>
                <a:latin typeface="Georgia" pitchFamily="34" charset="0"/>
                <a:ea typeface="Georgia" pitchFamily="34" charset="-122"/>
                <a:cs typeface="Georgia" pitchFamily="34" charset="-120"/>
              </a:rPr>
              <a:t>Attempted and inconclusive, or declined. Note which, without characterising the reason.</a:t>
            </a:r>
            <a:endParaRPr lang="en-US" sz="1500" dirty="0"/>
          </a:p>
        </p:txBody>
      </p:sp>
      <p:sp>
        <p:nvSpPr>
          <p:cNvPr id="10" name="Shape 8"/>
          <p:cNvSpPr/>
          <p:nvPr/>
        </p:nvSpPr>
        <p:spPr>
          <a:xfrm>
            <a:off x="566928" y="4023360"/>
            <a:ext cx="457200" cy="457200"/>
          </a:xfrm>
          <a:prstGeom prst="ellipse">
            <a:avLst/>
          </a:prstGeom>
          <a:solidFill>
            <a:srgbClr val="1B1A18"/>
          </a:solidFill>
          <a:ln/>
        </p:spPr>
      </p:sp>
      <p:sp>
        <p:nvSpPr>
          <p:cNvPr id="11" name="Text 9"/>
          <p:cNvSpPr/>
          <p:nvPr/>
        </p:nvSpPr>
        <p:spPr>
          <a:xfrm>
            <a:off x="566928" y="402336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3</a:t>
            </a:r>
            <a:endParaRPr lang="en-US" sz="1400" dirty="0"/>
          </a:p>
        </p:txBody>
      </p:sp>
      <p:sp>
        <p:nvSpPr>
          <p:cNvPr id="12" name="Text 10"/>
          <p:cNvSpPr/>
          <p:nvPr/>
        </p:nvSpPr>
        <p:spPr>
          <a:xfrm>
            <a:off x="1234440" y="3968496"/>
            <a:ext cx="10277856" cy="1024128"/>
          </a:xfrm>
          <a:prstGeom prst="rect">
            <a:avLst/>
          </a:prstGeom>
          <a:noFill/>
          <a:ln/>
        </p:spPr>
        <p:txBody>
          <a:bodyPr wrap="square" rtlCol="0" anchor="t"/>
          <a:lstStyle/>
          <a:p>
            <a:pPr indent="0" marL="0">
              <a:lnSpc>
                <a:spcPts val="2200"/>
              </a:lnSpc>
              <a:buNone/>
            </a:pPr>
            <a:r>
              <a:rPr lang="en-US" sz="1500" b="1" dirty="0">
                <a:solidFill>
                  <a:srgbClr val="33302B"/>
                </a:solidFill>
                <a:latin typeface="Georgia" pitchFamily="34" charset="0"/>
                <a:ea typeface="Georgia" pitchFamily="34" charset="-122"/>
                <a:cs typeface="Georgia" pitchFamily="34" charset="-120"/>
              </a:rPr>
              <a:t>Not applicable.   </a:t>
            </a:r>
            <a:pPr indent="0" marL="0">
              <a:lnSpc>
                <a:spcPts val="2200"/>
              </a:lnSpc>
              <a:buNone/>
            </a:pPr>
            <a:r>
              <a:rPr lang="en-US" sz="1500" dirty="0">
                <a:solidFill>
                  <a:srgbClr val="6E6A62"/>
                </a:solidFill>
                <a:latin typeface="Georgia" pitchFamily="34" charset="0"/>
                <a:ea typeface="Georgia" pitchFamily="34" charset="-122"/>
                <a:cs typeface="Georgia" pitchFamily="34" charset="-120"/>
              </a:rPr>
              <a:t>No boundary of that kind exists. Rare — record the reason, because it is the verdict an unprepared respondent reaches for.</a:t>
            </a:r>
            <a:endParaRPr lang="en-US" sz="1500" dirty="0"/>
          </a:p>
        </p:txBody>
      </p:sp>
      <p:sp>
        <p:nvSpPr>
          <p:cNvPr id="13" name="Shape 11"/>
          <p:cNvSpPr/>
          <p:nvPr/>
        </p:nvSpPr>
        <p:spPr>
          <a:xfrm>
            <a:off x="566928" y="5189220"/>
            <a:ext cx="457200" cy="457200"/>
          </a:xfrm>
          <a:prstGeom prst="ellipse">
            <a:avLst/>
          </a:prstGeom>
          <a:solidFill>
            <a:srgbClr val="1B1A18"/>
          </a:solidFill>
          <a:ln/>
        </p:spPr>
      </p:sp>
      <p:sp>
        <p:nvSpPr>
          <p:cNvPr id="14" name="Text 12"/>
          <p:cNvSpPr/>
          <p:nvPr/>
        </p:nvSpPr>
        <p:spPr>
          <a:xfrm>
            <a:off x="566928" y="518922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4</a:t>
            </a:r>
            <a:endParaRPr lang="en-US" sz="1400" dirty="0"/>
          </a:p>
        </p:txBody>
      </p:sp>
      <p:sp>
        <p:nvSpPr>
          <p:cNvPr id="15" name="Text 13"/>
          <p:cNvSpPr/>
          <p:nvPr/>
        </p:nvSpPr>
        <p:spPr>
          <a:xfrm>
            <a:off x="1234440" y="5134356"/>
            <a:ext cx="10277856" cy="1024128"/>
          </a:xfrm>
          <a:prstGeom prst="rect">
            <a:avLst/>
          </a:prstGeom>
          <a:noFill/>
          <a:ln/>
        </p:spPr>
        <p:txBody>
          <a:bodyPr wrap="square" rtlCol="0" anchor="t"/>
          <a:lstStyle/>
          <a:p>
            <a:pPr indent="0" marL="0">
              <a:lnSpc>
                <a:spcPts val="2200"/>
              </a:lnSpc>
              <a:buNone/>
            </a:pPr>
            <a:r>
              <a:rPr lang="en-US" sz="1500" b="1" dirty="0">
                <a:solidFill>
                  <a:srgbClr val="33302B"/>
                </a:solidFill>
                <a:latin typeface="Georgia" pitchFamily="34" charset="0"/>
                <a:ea typeface="Georgia" pitchFamily="34" charset="-122"/>
                <a:cs typeface="Georgia" pitchFamily="34" charset="-120"/>
              </a:rPr>
              <a:t>There is no partial verdict, and none for an intention.   </a:t>
            </a:r>
            <a:pPr indent="0" marL="0">
              <a:lnSpc>
                <a:spcPts val="2200"/>
              </a:lnSpc>
              <a:buNone/>
            </a:pPr>
            <a:r>
              <a:rPr lang="en-US" sz="1500" dirty="0">
                <a:solidFill>
                  <a:srgbClr val="6E6A62"/>
                </a:solidFill>
                <a:latin typeface="Georgia" pitchFamily="34" charset="0"/>
                <a:ea typeface="Georgia" pitchFamily="34" charset="-122"/>
                <a:cs typeface="Georgia" pitchFamily="34" charset="-120"/>
              </a:rPr>
              <a:t>A framework that admits “planned” as a conformity state has converted a requirement into a roadmap.</a:t>
            </a:r>
            <a:endParaRPr lang="en-US" sz="1500" dirty="0"/>
          </a:p>
        </p:txBody>
      </p:sp>
      <p:sp>
        <p:nvSpPr>
          <p:cNvPr id="16" name="Text 14"/>
          <p:cNvSpPr/>
          <p:nvPr/>
        </p:nvSpPr>
        <p:spPr>
          <a:xfrm>
            <a:off x="566928" y="6473952"/>
            <a:ext cx="9957816" cy="274320"/>
          </a:xfrm>
          <a:prstGeom prst="rect">
            <a:avLst/>
          </a:prstGeom>
          <a:noFill/>
          <a:ln/>
        </p:spPr>
        <p:txBody>
          <a:bodyPr wrap="square" rtlCol="0" anchor="ctr"/>
          <a:lstStyle/>
          <a:p>
            <a:pPr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indent="0" marL="0">
              <a:buNone/>
            </a:pPr>
            <a:r>
              <a:rPr lang="en-US" sz="900" dirty="0">
                <a:solidFill>
                  <a:srgbClr val="6E6A62"/>
                </a:solidFill>
                <a:latin typeface="Georgia" pitchFamily="34" charset="0"/>
                <a:ea typeface="Georgia" pitchFamily="34" charset="-122"/>
                <a:cs typeface="Georgia" pitchFamily="34" charset="-120"/>
              </a:rPr>
              <a:t>  ·  PCERT-FS — Custody in the Regulated Institution</a:t>
            </a:r>
            <a:endParaRPr lang="en-US" sz="900" dirty="0"/>
          </a:p>
        </p:txBody>
      </p:sp>
      <p:sp>
        <p:nvSpPr>
          <p:cNvPr id="17" name="Text 15"/>
          <p:cNvSpPr/>
          <p:nvPr/>
        </p:nvSpPr>
        <p:spPr>
          <a:xfrm>
            <a:off x="10707624"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55096" cy="292608"/>
          </a:xfrm>
          <a:prstGeom prst="rect">
            <a:avLst/>
          </a:prstGeom>
          <a:noFill/>
          <a:ln/>
        </p:spPr>
        <p:txBody>
          <a:bodyPr wrap="square" rtlCol="0" anchor="ctr"/>
          <a:lstStyle/>
          <a:p>
            <a:pPr indent="0" marL="0">
              <a:buNone/>
            </a:pPr>
            <a:r>
              <a:rPr lang="en-US" sz="1050" b="1" spc="120" kern="0" dirty="0">
                <a:solidFill>
                  <a:srgbClr val="8A8378"/>
                </a:solidFill>
                <a:latin typeface="Georgia" pitchFamily="34" charset="0"/>
                <a:ea typeface="Georgia" pitchFamily="34" charset="-122"/>
                <a:cs typeface="Georgia" pitchFamily="34" charset="-120"/>
              </a:rPr>
              <a:t>MODULE 6  ·  APPLIED EXERCISE</a:t>
            </a:r>
            <a:endParaRPr lang="en-US" sz="1050" dirty="0"/>
          </a:p>
        </p:txBody>
      </p:sp>
      <p:sp>
        <p:nvSpPr>
          <p:cNvPr id="3" name="Text 1"/>
          <p:cNvSpPr/>
          <p:nvPr/>
        </p:nvSpPr>
        <p:spPr>
          <a:xfrm>
            <a:off x="566928" y="749808"/>
            <a:ext cx="11055096" cy="822960"/>
          </a:xfrm>
          <a:prstGeom prst="rect">
            <a:avLst/>
          </a:prstGeom>
          <a:noFill/>
          <a:ln/>
        </p:spPr>
        <p:txBody>
          <a:bodyPr wrap="square" rtlCol="0" anchor="t"/>
          <a:lstStyle/>
          <a:p>
            <a:pPr indent="0" marL="0">
              <a:buNone/>
            </a:pPr>
            <a:r>
              <a:rPr lang="en-US" sz="2550" b="1" dirty="0">
                <a:solidFill>
                  <a:srgbClr val="1B1A18"/>
                </a:solidFill>
                <a:latin typeface="Georgia" pitchFamily="34" charset="0"/>
                <a:ea typeface="Georgia" pitchFamily="34" charset="-122"/>
                <a:cs typeface="Georgia" pitchFamily="34" charset="-120"/>
              </a:rPr>
              <a:t>Capstone — the custody assessment</a:t>
            </a:r>
            <a:endParaRPr lang="en-US" sz="2550" dirty="0"/>
          </a:p>
        </p:txBody>
      </p:sp>
      <p:sp>
        <p:nvSpPr>
          <p:cNvPr id="4" name="Shape 2"/>
          <p:cNvSpPr/>
          <p:nvPr/>
        </p:nvSpPr>
        <p:spPr>
          <a:xfrm>
            <a:off x="566928" y="1737360"/>
            <a:ext cx="11055096" cy="1371600"/>
          </a:xfrm>
          <a:prstGeom prst="rect">
            <a:avLst/>
          </a:prstGeom>
          <a:solidFill>
            <a:srgbClr val="F4F2EE"/>
          </a:solidFill>
          <a:ln/>
        </p:spPr>
      </p:sp>
      <p:sp>
        <p:nvSpPr>
          <p:cNvPr id="5" name="Shape 3"/>
          <p:cNvSpPr/>
          <p:nvPr/>
        </p:nvSpPr>
        <p:spPr>
          <a:xfrm>
            <a:off x="566928" y="1737360"/>
            <a:ext cx="54864" cy="1371600"/>
          </a:xfrm>
          <a:prstGeom prst="rect">
            <a:avLst/>
          </a:prstGeom>
          <a:solidFill>
            <a:srgbClr val="8A8378"/>
          </a:solidFill>
          <a:ln/>
        </p:spPr>
      </p:sp>
      <p:sp>
        <p:nvSpPr>
          <p:cNvPr id="6" name="Text 4"/>
          <p:cNvSpPr/>
          <p:nvPr/>
        </p:nvSpPr>
        <p:spPr>
          <a:xfrm>
            <a:off x="841248" y="1847088"/>
            <a:ext cx="2743200" cy="274320"/>
          </a:xfrm>
          <a:prstGeom prst="rect">
            <a:avLst/>
          </a:prstGeom>
          <a:noFill/>
          <a:ln/>
        </p:spPr>
        <p:txBody>
          <a:bodyPr wrap="square" rtlCol="0" anchor="ctr"/>
          <a:lstStyle/>
          <a:p>
            <a:pPr indent="0" marL="0">
              <a:buNone/>
            </a:pPr>
            <a:r>
              <a:rPr lang="en-US" sz="1000" b="1" spc="100" kern="0" dirty="0">
                <a:solidFill>
                  <a:srgbClr val="57534A"/>
                </a:solidFill>
                <a:latin typeface="Georgia" pitchFamily="34" charset="0"/>
                <a:ea typeface="Georgia" pitchFamily="34" charset="-122"/>
                <a:cs typeface="Georgia" pitchFamily="34" charset="-120"/>
              </a:rPr>
              <a:t>THE TASK</a:t>
            </a:r>
            <a:endParaRPr lang="en-US" sz="1000" dirty="0"/>
          </a:p>
        </p:txBody>
      </p:sp>
      <p:sp>
        <p:nvSpPr>
          <p:cNvPr id="7" name="Text 5"/>
          <p:cNvSpPr/>
          <p:nvPr/>
        </p:nvSpPr>
        <p:spPr>
          <a:xfrm>
            <a:off x="841248" y="2148840"/>
            <a:ext cx="10506456" cy="868680"/>
          </a:xfrm>
          <a:prstGeom prst="rect">
            <a:avLst/>
          </a:prstGeom>
          <a:noFill/>
          <a:ln/>
        </p:spPr>
        <p:txBody>
          <a:bodyPr wrap="square" rtlCol="0" anchor="ctr"/>
          <a:lstStyle/>
          <a:p>
            <a:pPr indent="0" marL="0">
              <a:lnSpc>
                <a:spcPts val="2100"/>
              </a:lnSpc>
              <a:buNone/>
            </a:pPr>
            <a:r>
              <a:rPr lang="en-US" sz="1350" dirty="0">
                <a:solidFill>
                  <a:srgbClr val="33302B"/>
                </a:solidFill>
                <a:latin typeface="Georgia" pitchFamily="34" charset="0"/>
                <a:ea typeface="Georgia" pitchFamily="34" charset="-122"/>
                <a:cs typeface="Georgia" pitchFamily="34" charset="-120"/>
              </a:rPr>
              <a:t>Run the protocol end-to-end against one deployment: your institution’s, a vendor platform under evaluation, or the supplied reference case. Record evidence, or its absence, for every test.</a:t>
            </a:r>
            <a:endParaRPr lang="en-US" sz="1350" dirty="0"/>
          </a:p>
        </p:txBody>
      </p:sp>
      <p:sp>
        <p:nvSpPr>
          <p:cNvPr id="8" name="Shape 6"/>
          <p:cNvSpPr/>
          <p:nvPr/>
        </p:nvSpPr>
        <p:spPr>
          <a:xfrm>
            <a:off x="566928" y="3273552"/>
            <a:ext cx="11055096" cy="1371600"/>
          </a:xfrm>
          <a:prstGeom prst="rect">
            <a:avLst/>
          </a:prstGeom>
          <a:solidFill>
            <a:srgbClr val="EBE7DF"/>
          </a:solidFill>
          <a:ln/>
        </p:spPr>
      </p:sp>
      <p:sp>
        <p:nvSpPr>
          <p:cNvPr id="9" name="Shape 7"/>
          <p:cNvSpPr/>
          <p:nvPr/>
        </p:nvSpPr>
        <p:spPr>
          <a:xfrm>
            <a:off x="566928" y="3273552"/>
            <a:ext cx="54864" cy="1371600"/>
          </a:xfrm>
          <a:prstGeom prst="rect">
            <a:avLst/>
          </a:prstGeom>
          <a:solidFill>
            <a:srgbClr val="8A8378"/>
          </a:solidFill>
          <a:ln/>
        </p:spPr>
      </p:sp>
      <p:sp>
        <p:nvSpPr>
          <p:cNvPr id="10" name="Text 8"/>
          <p:cNvSpPr/>
          <p:nvPr/>
        </p:nvSpPr>
        <p:spPr>
          <a:xfrm>
            <a:off x="841248" y="3383280"/>
            <a:ext cx="2743200" cy="274320"/>
          </a:xfrm>
          <a:prstGeom prst="rect">
            <a:avLst/>
          </a:prstGeom>
          <a:noFill/>
          <a:ln/>
        </p:spPr>
        <p:txBody>
          <a:bodyPr wrap="square" rtlCol="0" anchor="ctr"/>
          <a:lstStyle/>
          <a:p>
            <a:pPr indent="0" marL="0">
              <a:buNone/>
            </a:pPr>
            <a:r>
              <a:rPr lang="en-US" sz="1000" b="1" spc="100" kern="0" dirty="0">
                <a:solidFill>
                  <a:srgbClr val="57534A"/>
                </a:solidFill>
                <a:latin typeface="Georgia" pitchFamily="34" charset="0"/>
                <a:ea typeface="Georgia" pitchFamily="34" charset="-122"/>
                <a:cs typeface="Georgia" pitchFamily="34" charset="-120"/>
              </a:rPr>
              <a:t>DELIVERABLE</a:t>
            </a:r>
            <a:endParaRPr lang="en-US" sz="1000" dirty="0"/>
          </a:p>
        </p:txBody>
      </p:sp>
      <p:sp>
        <p:nvSpPr>
          <p:cNvPr id="11" name="Text 9"/>
          <p:cNvSpPr/>
          <p:nvPr/>
        </p:nvSpPr>
        <p:spPr>
          <a:xfrm>
            <a:off x="841248" y="3685032"/>
            <a:ext cx="10506456" cy="868680"/>
          </a:xfrm>
          <a:prstGeom prst="rect">
            <a:avLst/>
          </a:prstGeom>
          <a:noFill/>
          <a:ln/>
        </p:spPr>
        <p:txBody>
          <a:bodyPr wrap="square" rtlCol="0" anchor="ctr"/>
          <a:lstStyle/>
          <a:p>
            <a:pPr indent="0" marL="0">
              <a:lnSpc>
                <a:spcPts val="2100"/>
              </a:lnSpc>
              <a:buNone/>
            </a:pPr>
            <a:r>
              <a:rPr lang="en-US" sz="1350" dirty="0">
                <a:solidFill>
                  <a:srgbClr val="33302B"/>
                </a:solidFill>
                <a:latin typeface="Georgia" pitchFamily="34" charset="0"/>
                <a:ea typeface="Georgia" pitchFamily="34" charset="-122"/>
                <a:cs typeface="Georgia" pitchFamily="34" charset="-120"/>
              </a:rPr>
              <a:t>Six to eight pages: per-test verdict table, overall custody position, and a remediation plan mapping each gap to its property and the crossing where it must be fixed.</a:t>
            </a:r>
            <a:endParaRPr lang="en-US" sz="1350" dirty="0"/>
          </a:p>
        </p:txBody>
      </p:sp>
      <p:sp>
        <p:nvSpPr>
          <p:cNvPr id="12" name="Shape 10"/>
          <p:cNvSpPr/>
          <p:nvPr/>
        </p:nvSpPr>
        <p:spPr>
          <a:xfrm>
            <a:off x="566928" y="4809744"/>
            <a:ext cx="11055096" cy="1371600"/>
          </a:xfrm>
          <a:prstGeom prst="rect">
            <a:avLst/>
          </a:prstGeom>
          <a:solidFill>
            <a:srgbClr val="E4DFD5"/>
          </a:solidFill>
          <a:ln/>
        </p:spPr>
      </p:sp>
      <p:sp>
        <p:nvSpPr>
          <p:cNvPr id="13" name="Shape 11"/>
          <p:cNvSpPr/>
          <p:nvPr/>
        </p:nvSpPr>
        <p:spPr>
          <a:xfrm>
            <a:off x="566928" y="4809744"/>
            <a:ext cx="54864" cy="1371600"/>
          </a:xfrm>
          <a:prstGeom prst="rect">
            <a:avLst/>
          </a:prstGeom>
          <a:solidFill>
            <a:srgbClr val="8A8378"/>
          </a:solidFill>
          <a:ln/>
        </p:spPr>
      </p:sp>
      <p:sp>
        <p:nvSpPr>
          <p:cNvPr id="14" name="Text 12"/>
          <p:cNvSpPr/>
          <p:nvPr/>
        </p:nvSpPr>
        <p:spPr>
          <a:xfrm>
            <a:off x="841248" y="4919472"/>
            <a:ext cx="2743200" cy="274320"/>
          </a:xfrm>
          <a:prstGeom prst="rect">
            <a:avLst/>
          </a:prstGeom>
          <a:noFill/>
          <a:ln/>
        </p:spPr>
        <p:txBody>
          <a:bodyPr wrap="square" rtlCol="0" anchor="ctr"/>
          <a:lstStyle/>
          <a:p>
            <a:pPr indent="0" marL="0">
              <a:buNone/>
            </a:pPr>
            <a:r>
              <a:rPr lang="en-US" sz="1000" b="1" spc="100" kern="0" dirty="0">
                <a:solidFill>
                  <a:srgbClr val="57534A"/>
                </a:solidFill>
                <a:latin typeface="Georgia" pitchFamily="34" charset="0"/>
                <a:ea typeface="Georgia" pitchFamily="34" charset="-122"/>
                <a:cs typeface="Georgia" pitchFamily="34" charset="-120"/>
              </a:rPr>
              <a:t>MARKED ON</a:t>
            </a:r>
            <a:endParaRPr lang="en-US" sz="1000" dirty="0"/>
          </a:p>
        </p:txBody>
      </p:sp>
      <p:sp>
        <p:nvSpPr>
          <p:cNvPr id="15" name="Text 13"/>
          <p:cNvSpPr/>
          <p:nvPr/>
        </p:nvSpPr>
        <p:spPr>
          <a:xfrm>
            <a:off x="841248" y="5221224"/>
            <a:ext cx="10506456" cy="868680"/>
          </a:xfrm>
          <a:prstGeom prst="rect">
            <a:avLst/>
          </a:prstGeom>
          <a:noFill/>
          <a:ln/>
        </p:spPr>
        <p:txBody>
          <a:bodyPr wrap="square" rtlCol="0" anchor="ctr"/>
          <a:lstStyle/>
          <a:p>
            <a:pPr indent="0" marL="0">
              <a:lnSpc>
                <a:spcPts val="2100"/>
              </a:lnSpc>
              <a:buNone/>
            </a:pPr>
            <a:r>
              <a:rPr lang="en-US" sz="1350" dirty="0">
                <a:solidFill>
                  <a:srgbClr val="33302B"/>
                </a:solidFill>
                <a:latin typeface="Georgia" pitchFamily="34" charset="0"/>
                <a:ea typeface="Georgia" pitchFamily="34" charset="-122"/>
                <a:cs typeface="Georgia" pitchFamily="34" charset="-120"/>
              </a:rPr>
              <a:t>Evidence discipline (30%), property-to-crossing mapping (25%), translation into your institution’s control language (20%), actionability (15%), and bite (10%) — whether the tests were applied where they hurt.</a:t>
            </a:r>
            <a:endParaRPr lang="en-US" sz="1350" dirty="0"/>
          </a:p>
        </p:txBody>
      </p:sp>
      <p:sp>
        <p:nvSpPr>
          <p:cNvPr id="16" name="Text 14"/>
          <p:cNvSpPr/>
          <p:nvPr/>
        </p:nvSpPr>
        <p:spPr>
          <a:xfrm>
            <a:off x="566928" y="6473952"/>
            <a:ext cx="9957816" cy="274320"/>
          </a:xfrm>
          <a:prstGeom prst="rect">
            <a:avLst/>
          </a:prstGeom>
          <a:noFill/>
          <a:ln/>
        </p:spPr>
        <p:txBody>
          <a:bodyPr wrap="square" rtlCol="0" anchor="ctr"/>
          <a:lstStyle/>
          <a:p>
            <a:pPr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indent="0" marL="0">
              <a:buNone/>
            </a:pPr>
            <a:r>
              <a:rPr lang="en-US" sz="900" dirty="0">
                <a:solidFill>
                  <a:srgbClr val="6E6A62"/>
                </a:solidFill>
                <a:latin typeface="Georgia" pitchFamily="34" charset="0"/>
                <a:ea typeface="Georgia" pitchFamily="34" charset="-122"/>
                <a:cs typeface="Georgia" pitchFamily="34" charset="-120"/>
              </a:rPr>
              <a:t>  ·  PCERT-FS — Custody in the Regulated Institution</a:t>
            </a:r>
            <a:endParaRPr lang="en-US" sz="900" dirty="0"/>
          </a:p>
        </p:txBody>
      </p:sp>
      <p:sp>
        <p:nvSpPr>
          <p:cNvPr id="17" name="Text 15"/>
          <p:cNvSpPr/>
          <p:nvPr/>
        </p:nvSpPr>
        <p:spPr>
          <a:xfrm>
            <a:off x="10707624"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55096" cy="292608"/>
          </a:xfrm>
          <a:prstGeom prst="rect">
            <a:avLst/>
          </a:prstGeom>
          <a:noFill/>
          <a:ln/>
        </p:spPr>
        <p:txBody>
          <a:bodyPr wrap="square" rtlCol="0" anchor="ctr"/>
          <a:lstStyle/>
          <a:p>
            <a:pPr indent="0" marL="0">
              <a:buNone/>
            </a:pPr>
            <a:r>
              <a:rPr lang="en-US" sz="1050" b="1" spc="120" kern="0" dirty="0">
                <a:solidFill>
                  <a:srgbClr val="8A8378"/>
                </a:solidFill>
                <a:latin typeface="Georgia" pitchFamily="34" charset="0"/>
                <a:ea typeface="Georgia" pitchFamily="34" charset="-122"/>
                <a:cs typeface="Georgia" pitchFamily="34" charset="-120"/>
              </a:rPr>
              <a:t>THE RULE ABOVE THE RULES</a:t>
            </a:r>
            <a:endParaRPr lang="en-US" sz="1050" dirty="0"/>
          </a:p>
        </p:txBody>
      </p:sp>
      <p:sp>
        <p:nvSpPr>
          <p:cNvPr id="3" name="Text 1"/>
          <p:cNvSpPr/>
          <p:nvPr/>
        </p:nvSpPr>
        <p:spPr>
          <a:xfrm>
            <a:off x="566928" y="749808"/>
            <a:ext cx="11055096" cy="822960"/>
          </a:xfrm>
          <a:prstGeom prst="rect">
            <a:avLst/>
          </a:prstGeom>
          <a:noFill/>
          <a:ln/>
        </p:spPr>
        <p:txBody>
          <a:bodyPr wrap="square" rtlCol="0" anchor="t"/>
          <a:lstStyle/>
          <a:p>
            <a:pPr indent="0" marL="0">
              <a:buNone/>
            </a:pPr>
            <a:endParaRPr lang="en-US" sz="2550" dirty="0"/>
          </a:p>
        </p:txBody>
      </p:sp>
      <p:sp>
        <p:nvSpPr>
          <p:cNvPr id="4" name="Shape 2"/>
          <p:cNvSpPr/>
          <p:nvPr/>
        </p:nvSpPr>
        <p:spPr>
          <a:xfrm>
            <a:off x="566928" y="2148840"/>
            <a:ext cx="54864" cy="2103120"/>
          </a:xfrm>
          <a:prstGeom prst="rect">
            <a:avLst/>
          </a:prstGeom>
          <a:solidFill>
            <a:srgbClr val="8A8378"/>
          </a:solidFill>
          <a:ln/>
        </p:spPr>
      </p:sp>
      <p:sp>
        <p:nvSpPr>
          <p:cNvPr id="5" name="Text 3"/>
          <p:cNvSpPr/>
          <p:nvPr/>
        </p:nvSpPr>
        <p:spPr>
          <a:xfrm>
            <a:off x="877824" y="2103120"/>
            <a:ext cx="10332720" cy="2194560"/>
          </a:xfrm>
          <a:prstGeom prst="rect">
            <a:avLst/>
          </a:prstGeom>
          <a:noFill/>
          <a:ln/>
        </p:spPr>
        <p:txBody>
          <a:bodyPr wrap="square" rtlCol="0" anchor="ctr"/>
          <a:lstStyle/>
          <a:p>
            <a:pPr indent="0" marL="0">
              <a:lnSpc>
                <a:spcPts val="3800"/>
              </a:lnSpc>
              <a:buNone/>
            </a:pPr>
            <a:r>
              <a:rPr lang="en-US" sz="2700" b="1" dirty="0">
                <a:solidFill>
                  <a:srgbClr val="1B1A18"/>
                </a:solidFill>
                <a:latin typeface="Georgia" pitchFamily="34" charset="0"/>
                <a:ea typeface="Georgia" pitchFamily="34" charset="-122"/>
                <a:cs typeface="Georgia" pitchFamily="34" charset="-120"/>
              </a:rPr>
              <a:t>Every component must be replaceable, and no property ever may be.</a:t>
            </a:r>
            <a:endParaRPr lang="en-US" sz="2700" dirty="0"/>
          </a:p>
        </p:txBody>
      </p:sp>
      <p:sp>
        <p:nvSpPr>
          <p:cNvPr id="6" name="Text 4"/>
          <p:cNvSpPr/>
          <p:nvPr/>
        </p:nvSpPr>
        <p:spPr>
          <a:xfrm>
            <a:off x="877824" y="4480560"/>
            <a:ext cx="10332720" cy="731520"/>
          </a:xfrm>
          <a:prstGeom prst="rect">
            <a:avLst/>
          </a:prstGeom>
          <a:noFill/>
          <a:ln/>
        </p:spPr>
        <p:txBody>
          <a:bodyPr wrap="square" rtlCol="0" anchor="ctr"/>
          <a:lstStyle/>
          <a:p>
            <a:pPr indent="0" marL="0">
              <a:lnSpc>
                <a:spcPts val="2200"/>
              </a:lnSpc>
              <a:buNone/>
            </a:pPr>
            <a:r>
              <a:rPr lang="en-US" sz="1350" i="1" dirty="0">
                <a:solidFill>
                  <a:srgbClr val="6E6A62"/>
                </a:solidFill>
                <a:latin typeface="Georgia" pitchFamily="34" charset="0"/>
                <a:ea typeface="Georgia" pitchFamily="34" charset="-122"/>
                <a:cs typeface="Georgia" pitchFamily="34" charset="-120"/>
              </a:rPr>
              <a:t>Chapter 23. If one sentence leaves this room, it should be this one.</a:t>
            </a:r>
            <a:endParaRPr lang="en-US" sz="1350" dirty="0"/>
          </a:p>
        </p:txBody>
      </p:sp>
      <p:sp>
        <p:nvSpPr>
          <p:cNvPr id="7" name="Text 5"/>
          <p:cNvSpPr/>
          <p:nvPr/>
        </p:nvSpPr>
        <p:spPr>
          <a:xfrm>
            <a:off x="566928" y="6473952"/>
            <a:ext cx="9957816" cy="274320"/>
          </a:xfrm>
          <a:prstGeom prst="rect">
            <a:avLst/>
          </a:prstGeom>
          <a:noFill/>
          <a:ln/>
        </p:spPr>
        <p:txBody>
          <a:bodyPr wrap="square" rtlCol="0" anchor="ctr"/>
          <a:lstStyle/>
          <a:p>
            <a:pPr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indent="0" marL="0">
              <a:buNone/>
            </a:pPr>
            <a:r>
              <a:rPr lang="en-US" sz="900" dirty="0">
                <a:solidFill>
                  <a:srgbClr val="6E6A62"/>
                </a:solidFill>
                <a:latin typeface="Georgia" pitchFamily="34" charset="0"/>
                <a:ea typeface="Georgia" pitchFamily="34" charset="-122"/>
                <a:cs typeface="Georgia" pitchFamily="34" charset="-120"/>
              </a:rPr>
              <a:t>  ·  PCERT-FS — Custody in the Regulated Institution</a:t>
            </a:r>
            <a:endParaRPr lang="en-US" sz="900" dirty="0"/>
          </a:p>
        </p:txBody>
      </p:sp>
      <p:sp>
        <p:nvSpPr>
          <p:cNvPr id="8" name="Text 6"/>
          <p:cNvSpPr/>
          <p:nvPr/>
        </p:nvSpPr>
        <p:spPr>
          <a:xfrm>
            <a:off x="10707624"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B1A18"/>
        </a:solidFill>
      </p:bgPr>
    </p:bg>
    <p:spTree>
      <p:nvGrpSpPr>
        <p:cNvPr id="1" name=""/>
        <p:cNvGrpSpPr/>
        <p:nvPr/>
      </p:nvGrpSpPr>
      <p:grpSpPr>
        <a:xfrm>
          <a:off x="0" y="0"/>
          <a:ext cx="0" cy="0"/>
          <a:chOff x="0" y="0"/>
          <a:chExt cx="0" cy="0"/>
        </a:xfrm>
      </p:grpSpPr>
      <p:sp>
        <p:nvSpPr>
          <p:cNvPr id="2" name="Shape 0"/>
          <p:cNvSpPr/>
          <p:nvPr/>
        </p:nvSpPr>
        <p:spPr>
          <a:xfrm>
            <a:off x="9052560" y="-1280160"/>
            <a:ext cx="4206240" cy="4206240"/>
          </a:xfrm>
          <a:prstGeom prst="ellipse">
            <a:avLst/>
          </a:prstGeom>
          <a:solidFill>
            <a:srgbClr val="33302B"/>
          </a:solidFill>
          <a:ln/>
        </p:spPr>
      </p:sp>
      <p:sp>
        <p:nvSpPr>
          <p:cNvPr id="3" name="Text 1"/>
          <p:cNvSpPr/>
          <p:nvPr/>
        </p:nvSpPr>
        <p:spPr>
          <a:xfrm>
            <a:off x="566928" y="1417320"/>
            <a:ext cx="9875520" cy="822960"/>
          </a:xfrm>
          <a:prstGeom prst="rect">
            <a:avLst/>
          </a:prstGeom>
          <a:noFill/>
          <a:ln/>
        </p:spPr>
        <p:txBody>
          <a:bodyPr wrap="square" rtlCol="0" anchor="ctr"/>
          <a:lstStyle/>
          <a:p>
            <a:pPr indent="0" marL="0">
              <a:buNone/>
            </a:pPr>
            <a:r>
              <a:rPr lang="en-US" sz="3300" b="1" dirty="0">
                <a:solidFill>
                  <a:srgbClr val="FFFFFF"/>
                </a:solidFill>
                <a:latin typeface="Georgia" pitchFamily="34" charset="0"/>
                <a:ea typeface="Georgia" pitchFamily="34" charset="-122"/>
                <a:cs typeface="Georgia" pitchFamily="34" charset="-120"/>
              </a:rPr>
              <a:t>What to do on Monday</a:t>
            </a:r>
            <a:endParaRPr lang="en-US" sz="3300" dirty="0"/>
          </a:p>
        </p:txBody>
      </p:sp>
      <p:sp>
        <p:nvSpPr>
          <p:cNvPr id="4" name="Text 2"/>
          <p:cNvSpPr/>
          <p:nvPr/>
        </p:nvSpPr>
        <p:spPr>
          <a:xfrm>
            <a:off x="566928" y="2468880"/>
            <a:ext cx="9875520" cy="2834640"/>
          </a:xfrm>
          <a:prstGeom prst="rect">
            <a:avLst/>
          </a:prstGeom>
          <a:noFill/>
          <a:ln/>
        </p:spPr>
        <p:txBody>
          <a:bodyPr wrap="square" rtlCol="0" anchor="ctr"/>
          <a:lstStyle/>
          <a:p>
            <a:pPr indent="0" marL="0">
              <a:lnSpc>
                <a:spcPts val="3400"/>
              </a:lnSpc>
              <a:buNone/>
            </a:pPr>
            <a:r>
              <a:rPr lang="en-US" sz="1700" dirty="0">
                <a:solidFill>
                  <a:srgbClr val="E4DFD5"/>
                </a:solidFill>
                <a:latin typeface="Georgia" pitchFamily="34" charset="0"/>
                <a:ea typeface="Georgia" pitchFamily="34" charset="-122"/>
                <a:cs typeface="Georgia" pitchFamily="34" charset="-120"/>
              </a:rPr>
              <a:t>Run the address test on five hard limits.
</a:t>
            </a:r>
            <a:pPr indent="0" marL="0">
              <a:lnSpc>
                <a:spcPts val="3400"/>
              </a:lnSpc>
              <a:buNone/>
            </a:pPr>
            <a:r>
              <a:rPr lang="en-US" sz="1700" dirty="0">
                <a:solidFill>
                  <a:srgbClr val="E4DFD5"/>
                </a:solidFill>
                <a:latin typeface="Georgia" pitchFamily="34" charset="0"/>
                <a:ea typeface="Georgia" pitchFamily="34" charset="-122"/>
                <a:cs typeface="Georgia" pitchFamily="34" charset="-120"/>
              </a:rPr>
              <a:t>Run the last-month test on one live deployment.
</a:t>
            </a:r>
            <a:pPr indent="0" marL="0">
              <a:lnSpc>
                <a:spcPts val="3400"/>
              </a:lnSpc>
              <a:buNone/>
            </a:pPr>
            <a:r>
              <a:rPr lang="en-US" sz="1700" dirty="0">
                <a:solidFill>
                  <a:srgbClr val="E4DFD5"/>
                </a:solidFill>
                <a:latin typeface="Georgia" pitchFamily="34" charset="0"/>
                <a:ea typeface="Georgia" pitchFamily="34" charset="-122"/>
                <a:cs typeface="Georgia" pitchFamily="34" charset="-120"/>
              </a:rPr>
              <a:t>Add six property columns to the AI inventory you already keep.
</a:t>
            </a:r>
            <a:pPr indent="0" marL="0">
              <a:lnSpc>
                <a:spcPts val="3400"/>
              </a:lnSpc>
              <a:buNone/>
            </a:pPr>
            <a:r>
              <a:rPr lang="en-US" sz="1700" dirty="0">
                <a:solidFill>
                  <a:srgbClr val="E4DFD5"/>
                </a:solidFill>
                <a:latin typeface="Georgia" pitchFamily="34" charset="0"/>
                <a:ea typeface="Georgia" pitchFamily="34" charset="-122"/>
                <a:cs typeface="Georgia" pitchFamily="34" charset="-120"/>
              </a:rPr>
              <a:t>Compare your dependency census against your third-party register.
</a:t>
            </a:r>
            <a:pPr indent="0" marL="0">
              <a:lnSpc>
                <a:spcPts val="3400"/>
              </a:lnSpc>
              <a:buNone/>
            </a:pPr>
            <a:r>
              <a:rPr lang="en-US" sz="1700" i="1" dirty="0">
                <a:solidFill>
                  <a:srgbClr val="FFFFFF"/>
                </a:solidFill>
                <a:latin typeface="Georgia" pitchFamily="34" charset="0"/>
                <a:ea typeface="Georgia" pitchFamily="34" charset="-122"/>
                <a:cs typeface="Georgia" pitchFamily="34" charset="-120"/>
              </a:rPr>
              <a:t>None of it requires a budget, a project, or anybody’s permission.</a:t>
            </a:r>
            <a:endParaRPr lang="en-US" sz="1700" dirty="0"/>
          </a:p>
        </p:txBody>
      </p:sp>
      <p:sp>
        <p:nvSpPr>
          <p:cNvPr id="5" name="Text 3"/>
          <p:cNvSpPr/>
          <p:nvPr/>
        </p:nvSpPr>
        <p:spPr>
          <a:xfrm>
            <a:off x="566928" y="6473952"/>
            <a:ext cx="9957816" cy="274320"/>
          </a:xfrm>
          <a:prstGeom prst="rect">
            <a:avLst/>
          </a:prstGeom>
          <a:noFill/>
          <a:ln/>
        </p:spPr>
        <p:txBody>
          <a:bodyPr wrap="square" rtlCol="0" anchor="ctr"/>
          <a:lstStyle/>
          <a:p>
            <a:pPr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indent="0" marL="0">
              <a:buNone/>
            </a:pPr>
            <a:r>
              <a:rPr lang="en-US" sz="900" dirty="0">
                <a:solidFill>
                  <a:srgbClr val="6E6A62"/>
                </a:solidFill>
                <a:latin typeface="Georgia" pitchFamily="34" charset="0"/>
                <a:ea typeface="Georgia" pitchFamily="34" charset="-122"/>
                <a:cs typeface="Georgia" pitchFamily="34" charset="-120"/>
              </a:rPr>
              <a:t>  ·  PCERT-FS — Custody in the Regulated Institution</a:t>
            </a:r>
            <a:endParaRPr lang="en-US" sz="900" dirty="0"/>
          </a:p>
        </p:txBody>
      </p:sp>
      <p:sp>
        <p:nvSpPr>
          <p:cNvPr id="6" name="Text 4"/>
          <p:cNvSpPr/>
          <p:nvPr/>
        </p:nvSpPr>
        <p:spPr>
          <a:xfrm>
            <a:off x="10707624"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35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eorgia"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What the Structure Does Not Carry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PCERT-FS — Custody in the Regulated Institution</dc:title>
  <dc:subject>PptxGenJS Presentation</dc:subject>
  <dc:creator>Georg Zangl</dc:creator>
  <cp:lastModifiedBy>Georg Zangl</cp:lastModifiedBy>
  <cp:revision>1</cp:revision>
  <dcterms:created xsi:type="dcterms:W3CDTF">2026-08-18T07:38:02Z</dcterms:created>
  <dcterms:modified xsi:type="dcterms:W3CDTF">2026-08-18T07:38:02Z</dcterms:modified>
</cp:coreProperties>
</file>