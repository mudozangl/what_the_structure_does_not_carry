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700" kern="1200">
        <a:solidFill>
          <a:schemeClr val="tx1"/>
        </a:solidFill>
        <a:latin typeface="+mn-lt"/>
        <a:ea typeface="+mn-ea"/>
        <a:cs typeface="+mn-cs"/>
      </a:defRPr>
    </a:lvl1pPr>
    <a:lvl2pPr marL="457200" algn="l" defTabSz="914400" rtl="0" eaLnBrk="1" latinLnBrk="0" hangingPunct="1">
      <a:defRPr sz="1700" kern="1200">
        <a:solidFill>
          <a:schemeClr val="tx1"/>
        </a:solidFill>
        <a:latin typeface="+mn-lt"/>
        <a:ea typeface="+mn-ea"/>
        <a:cs typeface="+mn-cs"/>
      </a:defRPr>
    </a:lvl2pPr>
    <a:lvl3pPr marL="914400" algn="l" defTabSz="914400" rtl="0" eaLnBrk="1" latinLnBrk="0" hangingPunct="1">
      <a:defRPr sz="1700" kern="1200">
        <a:solidFill>
          <a:schemeClr val="tx1"/>
        </a:solidFill>
        <a:latin typeface="+mn-lt"/>
        <a:ea typeface="+mn-ea"/>
        <a:cs typeface="+mn-cs"/>
      </a:defRPr>
    </a:lvl3pPr>
    <a:lvl4pPr marL="1371600" algn="l" defTabSz="914400" rtl="0" eaLnBrk="1" latinLnBrk="0" hangingPunct="1">
      <a:defRPr sz="1700" kern="1200">
        <a:solidFill>
          <a:schemeClr val="tx1"/>
        </a:solidFill>
        <a:latin typeface="+mn-lt"/>
        <a:ea typeface="+mn-ea"/>
        <a:cs typeface="+mn-cs"/>
      </a:defRPr>
    </a:lvl4pPr>
    <a:lvl5pPr marL="1828800" algn="l" defTabSz="914400" rtl="0" eaLnBrk="1" latinLnBrk="0" hangingPunct="1">
      <a:defRPr sz="1700" kern="1200">
        <a:solidFill>
          <a:schemeClr val="tx1"/>
        </a:solidFill>
        <a:latin typeface="+mn-lt"/>
        <a:ea typeface="+mn-ea"/>
        <a:cs typeface="+mn-cs"/>
      </a:defRPr>
    </a:lvl5pPr>
    <a:lvl6pPr marL="2286000" algn="l" defTabSz="914400" rtl="0" eaLnBrk="1" latinLnBrk="0" hangingPunct="1">
      <a:defRPr sz="1700" kern="1200">
        <a:solidFill>
          <a:schemeClr val="tx1"/>
        </a:solidFill>
        <a:latin typeface="+mn-lt"/>
        <a:ea typeface="+mn-ea"/>
        <a:cs typeface="+mn-cs"/>
      </a:defRPr>
    </a:lvl6pPr>
    <a:lvl7pPr marL="2743200" algn="l" defTabSz="914400" rtl="0" eaLnBrk="1" latinLnBrk="0" hangingPunct="1">
      <a:defRPr sz="1700" kern="1200">
        <a:solidFill>
          <a:schemeClr val="tx1"/>
        </a:solidFill>
        <a:latin typeface="+mn-lt"/>
        <a:ea typeface="+mn-ea"/>
        <a:cs typeface="+mn-cs"/>
      </a:defRPr>
    </a:lvl7pPr>
    <a:lvl8pPr marL="3200400" algn="l" defTabSz="914400" rtl="0" eaLnBrk="1" latinLnBrk="0" hangingPunct="1">
      <a:defRPr sz="1700" kern="1200">
        <a:solidFill>
          <a:schemeClr val="tx1"/>
        </a:solidFill>
        <a:latin typeface="+mn-lt"/>
        <a:ea typeface="+mn-ea"/>
        <a:cs typeface="+mn-cs"/>
      </a:defRPr>
    </a:lvl8pPr>
    <a:lvl9pPr marL="3657600" algn="l" defTabSz="914400" rtl="0" eaLnBrk="1" latinLnBrk="0" hangingPunct="1">
      <a:defRPr sz="17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50"/>
    <p:restoredTop sz="8895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15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15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15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15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150" kern="1200">
        <a:solidFill>
          <a:schemeClr val="tx1"/>
        </a:solidFill>
        <a:latin typeface="+mn-lt"/>
        <a:ea typeface="+mn-ea"/>
        <a:cs typeface="+mn-cs"/>
      </a:defRPr>
    </a:lvl1pPr>
    <a:lvl2pPr marL="457200" algn="l" defTabSz="914400" rtl="0" eaLnBrk="1" latinLnBrk="0" hangingPunct="1">
      <a:defRPr sz="1150" kern="1200">
        <a:solidFill>
          <a:schemeClr val="tx1"/>
        </a:solidFill>
        <a:latin typeface="+mn-lt"/>
        <a:ea typeface="+mn-ea"/>
        <a:cs typeface="+mn-cs"/>
      </a:defRPr>
    </a:lvl2pPr>
    <a:lvl3pPr marL="914400" algn="l" defTabSz="914400" rtl="0" eaLnBrk="1" latinLnBrk="0" hangingPunct="1">
      <a:defRPr sz="1150" kern="1200">
        <a:solidFill>
          <a:schemeClr val="tx1"/>
        </a:solidFill>
        <a:latin typeface="+mn-lt"/>
        <a:ea typeface="+mn-ea"/>
        <a:cs typeface="+mn-cs"/>
      </a:defRPr>
    </a:lvl3pPr>
    <a:lvl4pPr marL="1371600" algn="l" defTabSz="914400" rtl="0" eaLnBrk="1" latinLnBrk="0" hangingPunct="1">
      <a:defRPr sz="1150" kern="1200">
        <a:solidFill>
          <a:schemeClr val="tx1"/>
        </a:solidFill>
        <a:latin typeface="+mn-lt"/>
        <a:ea typeface="+mn-ea"/>
        <a:cs typeface="+mn-cs"/>
      </a:defRPr>
    </a:lvl4pPr>
    <a:lvl5pPr marL="1828800" algn="l" defTabSz="914400" rtl="0" eaLnBrk="1" latinLnBrk="0" hangingPunct="1">
      <a:defRPr sz="1150" kern="1200">
        <a:solidFill>
          <a:schemeClr val="tx1"/>
        </a:solidFill>
        <a:latin typeface="+mn-lt"/>
        <a:ea typeface="+mn-ea"/>
        <a:cs typeface="+mn-cs"/>
      </a:defRPr>
    </a:lvl5pPr>
    <a:lvl6pPr marL="2286000" algn="l" defTabSz="914400" rtl="0" eaLnBrk="1" latinLnBrk="0" hangingPunct="1">
      <a:defRPr sz="1150" kern="1200">
        <a:solidFill>
          <a:schemeClr val="tx1"/>
        </a:solidFill>
        <a:latin typeface="+mn-lt"/>
        <a:ea typeface="+mn-ea"/>
        <a:cs typeface="+mn-cs"/>
      </a:defRPr>
    </a:lvl6pPr>
    <a:lvl7pPr marL="2743200" algn="l" defTabSz="914400" rtl="0" eaLnBrk="1" latinLnBrk="0" hangingPunct="1">
      <a:defRPr sz="1150" kern="1200">
        <a:solidFill>
          <a:schemeClr val="tx1"/>
        </a:solidFill>
        <a:latin typeface="+mn-lt"/>
        <a:ea typeface="+mn-ea"/>
        <a:cs typeface="+mn-cs"/>
      </a:defRPr>
    </a:lvl7pPr>
    <a:lvl8pPr marL="3200400" algn="l" defTabSz="914400" rtl="0" eaLnBrk="1" latinLnBrk="0" hangingPunct="1">
      <a:defRPr sz="1150" kern="1200">
        <a:solidFill>
          <a:schemeClr val="tx1"/>
        </a:solidFill>
        <a:latin typeface="+mn-lt"/>
        <a:ea typeface="+mn-ea"/>
        <a:cs typeface="+mn-cs"/>
      </a:defRPr>
    </a:lvl8pPr>
    <a:lvl9pPr marL="3657600" algn="l" defTabSz="914400" rtl="0" eaLnBrk="1" latinLnBrk="0" hangingPunct="1">
      <a:defRPr sz="115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law seminar opener. Thesis: agentic AI does not create a new body of law so much as press hard on doctrines the law already has — agency, liability, evidence, record-keeping, data protection — under a participant that carries only what its structure hands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 — The problem and the legal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2 — The six properties as legal obligations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correspondences to orient lawyers — not statements of law. Map each to the instruments in force in your jurisdiction.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these are teaching correspondences, not assertions of universal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3 — Modality and the limits of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4 — Liability and agency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good lawyering: distinguish what a court has decided from what is merely reported or demonstrated.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5 — Accountability and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6 — Contract, procurement, and risk allocation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7 — Data protection and privacy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a regulator’s enforcement from a researcher’s demonstration; both inform risk, only one is legal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8 — Financial crime, sanctions, and sectoral mandates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9 — Consumer protection and fairness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10 — Administrative law and rule-writing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drafting patterns, not model law — adapt to the instrument and legal tradition.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11 — Cross-border, sovereignty, and systemic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12 — Professional responsibility and the lawyer’s own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jurisdiction-neutral; point participants to their own bar’s rules and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13 — The evaluation toolkit and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15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0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65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25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9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9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9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9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9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900" kern="1200">
          <a:solidFill>
            <a:schemeClr val="tx1"/>
          </a:solidFill>
          <a:latin typeface="+mn-lt"/>
          <a:ea typeface="+mn-ea"/>
          <a:cs typeface="+mn-cs"/>
        </a:defRPr>
      </a:lvl9pPr>
    </p:bodyStyle>
    <p:otherStyle>
      <a:defPPr>
        <a:defRPr lang="en-US"/>
      </a:defPPr>
      <a:lvl1pPr marL="0" algn="l" defTabSz="914400" rtl="0" eaLnBrk="1" latinLnBrk="0" hangingPunct="1">
        <a:defRPr sz="1700" kern="1200">
          <a:solidFill>
            <a:schemeClr val="tx1"/>
          </a:solidFill>
          <a:latin typeface="+mn-lt"/>
          <a:ea typeface="+mn-ea"/>
          <a:cs typeface="+mn-cs"/>
        </a:defRPr>
      </a:lvl1pPr>
      <a:lvl2pPr marL="457200" algn="l" defTabSz="914400" rtl="0" eaLnBrk="1" latinLnBrk="0" hangingPunct="1">
        <a:defRPr sz="1700" kern="1200">
          <a:solidFill>
            <a:schemeClr val="tx1"/>
          </a:solidFill>
          <a:latin typeface="+mn-lt"/>
          <a:ea typeface="+mn-ea"/>
          <a:cs typeface="+mn-cs"/>
        </a:defRPr>
      </a:lvl2pPr>
      <a:lvl3pPr marL="914400" algn="l" defTabSz="914400" rtl="0" eaLnBrk="1" latinLnBrk="0" hangingPunct="1">
        <a:defRPr sz="1700" kern="1200">
          <a:solidFill>
            <a:schemeClr val="tx1"/>
          </a:solidFill>
          <a:latin typeface="+mn-lt"/>
          <a:ea typeface="+mn-ea"/>
          <a:cs typeface="+mn-cs"/>
        </a:defRPr>
      </a:lvl3pPr>
      <a:lvl4pPr marL="1371600" algn="l" defTabSz="914400" rtl="0" eaLnBrk="1" latinLnBrk="0" hangingPunct="1">
        <a:defRPr sz="1700" kern="1200">
          <a:solidFill>
            <a:schemeClr val="tx1"/>
          </a:solidFill>
          <a:latin typeface="+mn-lt"/>
          <a:ea typeface="+mn-ea"/>
          <a:cs typeface="+mn-cs"/>
        </a:defRPr>
      </a:lvl4pPr>
      <a:lvl5pPr marL="1828800" algn="l" defTabSz="914400" rtl="0" eaLnBrk="1" latinLnBrk="0" hangingPunct="1">
        <a:defRPr sz="1700" kern="1200">
          <a:solidFill>
            <a:schemeClr val="tx1"/>
          </a:solidFill>
          <a:latin typeface="+mn-lt"/>
          <a:ea typeface="+mn-ea"/>
          <a:cs typeface="+mn-cs"/>
        </a:defRPr>
      </a:lvl5pPr>
      <a:lvl6pPr marL="2286000" algn="l" defTabSz="914400" rtl="0" eaLnBrk="1" latinLnBrk="0" hangingPunct="1">
        <a:defRPr sz="1700" kern="1200">
          <a:solidFill>
            <a:schemeClr val="tx1"/>
          </a:solidFill>
          <a:latin typeface="+mn-lt"/>
          <a:ea typeface="+mn-ea"/>
          <a:cs typeface="+mn-cs"/>
        </a:defRPr>
      </a:lvl6pPr>
      <a:lvl7pPr marL="2743200" algn="l" defTabSz="914400" rtl="0" eaLnBrk="1" latinLnBrk="0" hangingPunct="1">
        <a:defRPr sz="1700" kern="1200">
          <a:solidFill>
            <a:schemeClr val="tx1"/>
          </a:solidFill>
          <a:latin typeface="+mn-lt"/>
          <a:ea typeface="+mn-ea"/>
          <a:cs typeface="+mn-cs"/>
        </a:defRPr>
      </a:lvl7pPr>
      <a:lvl8pPr marL="3200400" algn="l" defTabSz="914400" rtl="0" eaLnBrk="1" latinLnBrk="0" hangingPunct="1">
        <a:defRPr sz="1700" kern="1200">
          <a:solidFill>
            <a:schemeClr val="tx1"/>
          </a:solidFill>
          <a:latin typeface="+mn-lt"/>
          <a:ea typeface="+mn-ea"/>
          <a:cs typeface="+mn-cs"/>
        </a:defRPr>
      </a:lvl8pPr>
      <a:lvl9pPr marL="3657600" algn="l" defTabSz="914400"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8869680" y="-1463040"/>
            <a:ext cx="4754880" cy="4754880"/>
          </a:xfrm>
          <a:prstGeom prst="ellipse">
            <a:avLst/>
          </a:prstGeom>
          <a:solidFill>
            <a:srgbClr val="33302B"/>
          </a:solidFill>
          <a:ln/>
        </p:spPr>
      </p:sp>
      <p:sp>
        <p:nvSpPr>
          <p:cNvPr id="3" name="Shape 1"/>
          <p:cNvSpPr/>
          <p:nvPr/>
        </p:nvSpPr>
        <p:spPr>
          <a:xfrm>
            <a:off x="10241280" y="4023360"/>
            <a:ext cx="3108960" cy="3108960"/>
          </a:xfrm>
          <a:prstGeom prst="ellipse">
            <a:avLst/>
          </a:prstGeom>
          <a:solidFill>
            <a:srgbClr val="3A3630"/>
          </a:solidFill>
          <a:ln/>
        </p:spPr>
      </p:sp>
      <p:sp>
        <p:nvSpPr>
          <p:cNvPr id="4" name="Shape 2"/>
          <p:cNvSpPr/>
          <p:nvPr/>
        </p:nvSpPr>
        <p:spPr>
          <a:xfrm>
            <a:off x="566928" y="960120"/>
            <a:ext cx="4023360" cy="310896"/>
          </a:xfrm>
          <a:prstGeom prst="roundRect">
            <a:avLst>
              <a:gd name="adj" fmla="val 50000"/>
            </a:avLst>
          </a:prstGeom>
          <a:solidFill>
            <a:srgbClr val="8A8378"/>
          </a:solidFill>
          <a:ln/>
        </p:spPr>
      </p:sp>
      <p:sp>
        <p:nvSpPr>
          <p:cNvPr id="5" name="Text 3"/>
          <p:cNvSpPr/>
          <p:nvPr/>
        </p:nvSpPr>
        <p:spPr>
          <a:xfrm>
            <a:off x="566928" y="960120"/>
            <a:ext cx="402336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GRADUATE LAW SEMINAR · JD / LLM</a:t>
            </a:r>
            <a:endParaRPr lang="en-US" sz="1050" dirty="0"/>
          </a:p>
        </p:txBody>
      </p:sp>
      <p:sp>
        <p:nvSpPr>
          <p:cNvPr id="6" name="Text 4"/>
          <p:cNvSpPr/>
          <p:nvPr/>
        </p:nvSpPr>
        <p:spPr>
          <a:xfrm>
            <a:off x="566928" y="1508760"/>
            <a:ext cx="9509760" cy="1920240"/>
          </a:xfrm>
          <a:prstGeom prst="rect">
            <a:avLst/>
          </a:prstGeom>
          <a:noFill/>
          <a:ln/>
        </p:spPr>
        <p:txBody>
          <a:bodyPr wrap="square" rtlCol="0" anchor="ctr"/>
          <a:lstStyle/>
          <a:p>
            <a:pPr indent="0" marL="0">
              <a:lnSpc>
                <a:spcPct val="100000"/>
              </a:lnSpc>
              <a:buNone/>
            </a:pPr>
            <a:r>
              <a:rPr lang="en-US" sz="4150" b="1" dirty="0">
                <a:solidFill>
                  <a:srgbClr val="FFFFFF"/>
                </a:solidFill>
                <a:latin typeface="Georgia" pitchFamily="34" charset="0"/>
                <a:ea typeface="Georgia" pitchFamily="34" charset="-122"/>
                <a:cs typeface="Georgia" pitchFamily="34" charset="-120"/>
              </a:rPr>
              <a:t>Law of the</a:t>
            </a:r>
            <a:endParaRPr lang="en-US" sz="4150" dirty="0"/>
          </a:p>
          <a:p>
            <a:pPr indent="0" marL="0">
              <a:lnSpc>
                <a:spcPct val="100000"/>
              </a:lnSpc>
              <a:buNone/>
            </a:pPr>
            <a:r>
              <a:rPr lang="en-US" sz="4150" b="1" dirty="0">
                <a:solidFill>
                  <a:srgbClr val="FFFFFF"/>
                </a:solidFill>
                <a:latin typeface="Georgia" pitchFamily="34" charset="0"/>
                <a:ea typeface="Georgia" pitchFamily="34" charset="-122"/>
                <a:cs typeface="Georgia" pitchFamily="34" charset="-120"/>
              </a:rPr>
              <a:t>Agentic Enterprise</a:t>
            </a:r>
            <a:endParaRPr lang="en-US" sz="4150" dirty="0"/>
          </a:p>
        </p:txBody>
      </p:sp>
      <p:sp>
        <p:nvSpPr>
          <p:cNvPr id="7" name="Text 5"/>
          <p:cNvSpPr/>
          <p:nvPr/>
        </p:nvSpPr>
        <p:spPr>
          <a:xfrm>
            <a:off x="566928" y="3520440"/>
            <a:ext cx="10241280" cy="822960"/>
          </a:xfrm>
          <a:prstGeom prst="rect">
            <a:avLst/>
          </a:prstGeom>
          <a:noFill/>
          <a:ln/>
        </p:spPr>
        <p:txBody>
          <a:bodyPr wrap="square" rtlCol="0" anchor="ctr"/>
          <a:lstStyle/>
          <a:p>
            <a:pPr indent="0" marL="0">
              <a:buNone/>
            </a:pPr>
            <a:r>
              <a:rPr lang="en-US" sz="1800" i="1" dirty="0">
                <a:solidFill>
                  <a:srgbClr val="E4DFD5"/>
                </a:solidFill>
                <a:latin typeface="Georgia" pitchFamily="34" charset="0"/>
                <a:ea typeface="Georgia" pitchFamily="34" charset="-122"/>
                <a:cs typeface="Georgia" pitchFamily="34" charset="-120"/>
              </a:rPr>
              <a:t>Liability, Evidence, Governance, and Standards for Machine Participants</a:t>
            </a:r>
            <a:endParaRPr lang="en-US" sz="1800" dirty="0"/>
          </a:p>
        </p:txBody>
      </p:sp>
      <p:sp>
        <p:nvSpPr>
          <p:cNvPr id="8" name="Text 6"/>
          <p:cNvSpPr/>
          <p:nvPr/>
        </p:nvSpPr>
        <p:spPr>
          <a:xfrm>
            <a:off x="566928" y="4846320"/>
            <a:ext cx="10515600" cy="822960"/>
          </a:xfrm>
          <a:prstGeom prst="rect">
            <a:avLst/>
          </a:prstGeom>
          <a:noFill/>
          <a:ln/>
        </p:spPr>
        <p:txBody>
          <a:bodyPr wrap="square" rtlCol="0" anchor="ctr"/>
          <a:lstStyle/>
          <a:p>
            <a:pPr indent="0" marL="0">
              <a:lnSpc>
                <a:spcPct val="120000"/>
              </a:lnSpc>
              <a:buNone/>
            </a:pPr>
            <a:r>
              <a:rPr lang="en-US" sz="1300" dirty="0">
                <a:solidFill>
                  <a:srgbClr val="D6D2C9"/>
                </a:solidFill>
                <a:latin typeface="Georgia" pitchFamily="34" charset="0"/>
                <a:ea typeface="Georgia" pitchFamily="34" charset="-122"/>
                <a:cs typeface="Georgia" pitchFamily="34" charset="-120"/>
              </a:rPr>
              <a:t>A 13-week seminar, built on the book
</a:t>
            </a:r>
            <a:pPr indent="0" marL="0">
              <a:lnSpc>
                <a:spcPct val="120000"/>
              </a:lnSpc>
              <a:buNone/>
            </a:pPr>
            <a:r>
              <a:rPr lang="en-US" sz="1400" b="1" i="1" dirty="0">
                <a:solidFill>
                  <a:srgbClr val="FFFFFF"/>
                </a:solidFill>
                <a:latin typeface="Georgia" pitchFamily="34" charset="0"/>
                <a:ea typeface="Georgia" pitchFamily="34" charset="-122"/>
                <a:cs typeface="Georgia" pitchFamily="34" charset="-120"/>
              </a:rPr>
              <a:t>What the Structure Does Not Carry</a:t>
            </a:r>
            <a:pPr indent="0" marL="0">
              <a:lnSpc>
                <a:spcPct val="120000"/>
              </a:lnSpc>
              <a:buNone/>
            </a:pPr>
            <a:r>
              <a:rPr lang="en-US" sz="1200" dirty="0">
                <a:solidFill>
                  <a:srgbClr val="D6D2C9"/>
                </a:solidFill>
                <a:latin typeface="Georgia" pitchFamily="34" charset="0"/>
                <a:ea typeface="Georgia" pitchFamily="34" charset="-122"/>
                <a:cs typeface="Georgia" pitchFamily="34" charset="-120"/>
              </a:rPr>
              <a:t>  ·  Georg Zangl  ·  2026</a:t>
            </a:r>
            <a:endParaRPr lang="en-US" sz="1300" dirty="0"/>
          </a:p>
        </p:txBody>
      </p:sp>
      <p:sp>
        <p:nvSpPr>
          <p:cNvPr id="9" name="Text 7"/>
          <p:cNvSpPr/>
          <p:nvPr/>
        </p:nvSpPr>
        <p:spPr>
          <a:xfrm>
            <a:off x="566928" y="5806440"/>
            <a:ext cx="10424160" cy="457200"/>
          </a:xfrm>
          <a:prstGeom prst="rect">
            <a:avLst/>
          </a:prstGeom>
          <a:noFill/>
          <a:ln/>
        </p:spPr>
        <p:txBody>
          <a:bodyPr wrap="square" rtlCol="0" anchor="ctr"/>
          <a:lstStyle/>
          <a:p>
            <a:pPr indent="0" marL="0">
              <a:buNone/>
            </a:pPr>
            <a:r>
              <a:rPr lang="en-US" sz="1050" i="1" dirty="0">
                <a:solidFill>
                  <a:srgbClr val="8496B8"/>
                </a:solidFill>
                <a:latin typeface="Georgia" pitchFamily="34" charset="0"/>
                <a:ea typeface="Georgia" pitchFamily="34" charset="-122"/>
                <a:cs typeface="Georgia" pitchFamily="34" charset="-120"/>
              </a:rPr>
              <a:t>Educational material for legal study — not legal advice. Case summaries are simplified; verify against primary sources and the law of your jurisdiction.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566928" y="2148840"/>
            <a:ext cx="1463040" cy="310896"/>
          </a:xfrm>
          <a:prstGeom prst="roundRect">
            <a:avLst>
              <a:gd name="adj" fmla="val 50000"/>
            </a:avLst>
          </a:prstGeom>
          <a:solidFill>
            <a:srgbClr val="8A8378"/>
          </a:solidFill>
          <a:ln/>
        </p:spPr>
      </p:sp>
      <p:sp>
        <p:nvSpPr>
          <p:cNvPr id="3" name="Text 1"/>
          <p:cNvSpPr/>
          <p:nvPr/>
        </p:nvSpPr>
        <p:spPr>
          <a:xfrm>
            <a:off x="566928" y="2148840"/>
            <a:ext cx="1463040" cy="310896"/>
          </a:xfrm>
          <a:prstGeom prst="rect">
            <a:avLst/>
          </a:prstGeom>
          <a:noFill/>
          <a:ln/>
        </p:spPr>
        <p:txBody>
          <a:bodyPr wrap="square" rtlCol="0" anchor="ctr"/>
          <a:lstStyle/>
          <a:p>
            <a:pPr algn="ctr" indent="0" marL="0">
              <a:buNone/>
            </a:pPr>
            <a:r>
              <a:rPr lang="en-US" sz="1050" b="1" spc="50" kern="0" dirty="0">
                <a:solidFill>
                  <a:srgbClr val="1B1A18"/>
                </a:solidFill>
                <a:latin typeface="Georgia" pitchFamily="34" charset="0"/>
                <a:ea typeface="Georgia" pitchFamily="34" charset="-122"/>
                <a:cs typeface="Georgia" pitchFamily="34" charset="-120"/>
              </a:rPr>
              <a:t>PART I</a:t>
            </a:r>
            <a:endParaRPr lang="en-US" sz="1150" dirty="0"/>
          </a:p>
        </p:txBody>
      </p:sp>
      <p:sp>
        <p:nvSpPr>
          <p:cNvPr id="4" name="Text 2"/>
          <p:cNvSpPr/>
          <p:nvPr/>
        </p:nvSpPr>
        <p:spPr>
          <a:xfrm>
            <a:off x="566928" y="2606040"/>
            <a:ext cx="10515600" cy="100584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Foundations</a:t>
            </a:r>
            <a:endParaRPr lang="en-US" sz="3200" dirty="0"/>
          </a:p>
        </p:txBody>
      </p:sp>
      <p:sp>
        <p:nvSpPr>
          <p:cNvPr id="5" name="Text 3"/>
          <p:cNvSpPr/>
          <p:nvPr/>
        </p:nvSpPr>
        <p:spPr>
          <a:xfrm>
            <a:off x="566928" y="3657600"/>
            <a:ext cx="10058400" cy="1188720"/>
          </a:xfrm>
          <a:prstGeom prst="rect">
            <a:avLst/>
          </a:prstGeom>
          <a:noFill/>
          <a:ln/>
        </p:spPr>
        <p:txBody>
          <a:bodyPr wrap="square" rtlCol="0" anchor="ctr"/>
          <a:lstStyle/>
          <a:p>
            <a:pPr indent="0" marL="0">
              <a:lnSpc>
                <a:spcPct val="125000"/>
              </a:lnSpc>
              <a:buNone/>
            </a:pPr>
            <a:r>
              <a:rPr lang="en-US" sz="1400" dirty="0">
                <a:solidFill>
                  <a:srgbClr val="E4DFD5"/>
                </a:solidFill>
                <a:latin typeface="Georgia" pitchFamily="34" charset="0"/>
                <a:ea typeface="Georgia" pitchFamily="34" charset="-122"/>
                <a:cs typeface="Georgia" pitchFamily="34" charset="-120"/>
              </a:rPr>
              <a:t>The frame: an institution answers for its participants — human or machine. The six properties as legal obligations, and why a modal rule cannot be entrusted to a probabilistic system.</a:t>
            </a:r>
            <a:endParaRPr lang="en-US" sz="1400" dirty="0"/>
          </a:p>
        </p:txBody>
      </p:sp>
      <p:sp>
        <p:nvSpPr>
          <p:cNvPr id="6" name="Text 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1</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050" b="1" dirty="0">
                <a:solidFill>
                  <a:srgbClr val="FFFFFF"/>
                </a:solidFill>
                <a:latin typeface="Georgia" pitchFamily="34" charset="0"/>
                <a:ea typeface="Georgia" pitchFamily="34" charset="-122"/>
                <a:cs typeface="Georgia" pitchFamily="34" charset="-120"/>
              </a:rPr>
              <a:t>The problem and the legal frame</a:t>
            </a:r>
            <a:endParaRPr lang="en-US" sz="20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350" dirty="0">
                <a:solidFill>
                  <a:srgbClr val="33302B"/>
                </a:solidFill>
                <a:latin typeface="Georgia" pitchFamily="34" charset="0"/>
                <a:ea typeface="Georgia" pitchFamily="34" charset="-122"/>
                <a:cs typeface="Georgia" pitchFamily="34" charset="-120"/>
              </a:rPr>
              <a:t>Agentic AI does not arrive in a legal vacuum. It arrives into agency, liability, evidence, and record-keeping doctrines the law has spent centuries building. This seminar’s claim: the failures are not novel AI failures but failures of custody — of meaning, authority, and accountability — that the law already knows how to name. We begin with the case that made it concrete.</a:t>
            </a:r>
            <a:endParaRPr lang="en-US" sz="135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Learning aims</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State the seminar’s organising claim</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See ‘the enterprise answers for its agent’ as doctrine</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Locate the legal questions agentic AI presses on</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THE ORGANISING FRAME</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350" b="1" dirty="0">
                <a:solidFill>
                  <a:srgbClr val="1B1A18"/>
                </a:solidFill>
                <a:latin typeface="Georgia" pitchFamily="34" charset="0"/>
                <a:ea typeface="Georgia" pitchFamily="34" charset="-122"/>
                <a:cs typeface="Georgia" pitchFamily="34" charset="-120"/>
              </a:rPr>
              <a:t>An institution answers for its participants</a:t>
            </a:r>
            <a:endParaRPr lang="en-US" sz="2350" dirty="0"/>
          </a:p>
        </p:txBody>
      </p:sp>
      <p:sp>
        <p:nvSpPr>
          <p:cNvPr id="4" name="Shape 2"/>
          <p:cNvSpPr/>
          <p:nvPr/>
        </p:nvSpPr>
        <p:spPr>
          <a:xfrm>
            <a:off x="566928" y="1691640"/>
            <a:ext cx="457200" cy="457200"/>
          </a:xfrm>
          <a:prstGeom prst="ellipse">
            <a:avLst/>
          </a:prstGeom>
          <a:solidFill>
            <a:srgbClr val="1B1A18"/>
          </a:solidFill>
          <a:ln/>
        </p:spPr>
      </p:sp>
      <p:sp>
        <p:nvSpPr>
          <p:cNvPr id="5" name="Text 3"/>
          <p:cNvSpPr/>
          <p:nvPr/>
        </p:nvSpPr>
        <p:spPr>
          <a:xfrm>
            <a:off x="566928" y="169164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The actor changed; the duties did not.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A machine participant’s acts still engage the institution’s duties of care, disclosure, and record-keeping.</a:t>
            </a:r>
            <a:endParaRPr lang="en-US" sz="1450" dirty="0"/>
          </a:p>
        </p:txBody>
      </p:sp>
      <p:sp>
        <p:nvSpPr>
          <p:cNvPr id="7" name="Shape 5"/>
          <p:cNvSpPr/>
          <p:nvPr/>
        </p:nvSpPr>
        <p:spPr>
          <a:xfrm>
            <a:off x="566928" y="2857500"/>
            <a:ext cx="457200" cy="457200"/>
          </a:xfrm>
          <a:prstGeom prst="ellipse">
            <a:avLst/>
          </a:prstGeom>
          <a:solidFill>
            <a:srgbClr val="1B1A18"/>
          </a:solidFill>
          <a:ln/>
        </p:spPr>
      </p:sp>
      <p:sp>
        <p:nvSpPr>
          <p:cNvPr id="8" name="Text 6"/>
          <p:cNvSpPr/>
          <p:nvPr/>
        </p:nvSpPr>
        <p:spPr>
          <a:xfrm>
            <a:off x="566928" y="285750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‘The AI did it’ is not a defence.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Courts have already rejected the idea that an agent is a separate entity answerable for itself.</a:t>
            </a:r>
            <a:endParaRPr lang="en-US" sz="1450" dirty="0"/>
          </a:p>
        </p:txBody>
      </p:sp>
      <p:sp>
        <p:nvSpPr>
          <p:cNvPr id="10" name="Shape 8"/>
          <p:cNvSpPr/>
          <p:nvPr/>
        </p:nvSpPr>
        <p:spPr>
          <a:xfrm>
            <a:off x="566928" y="4023360"/>
            <a:ext cx="457200" cy="457200"/>
          </a:xfrm>
          <a:prstGeom prst="ellipse">
            <a:avLst/>
          </a:prstGeom>
          <a:solidFill>
            <a:srgbClr val="1B1A18"/>
          </a:solidFill>
          <a:ln/>
        </p:spPr>
      </p:sp>
      <p:sp>
        <p:nvSpPr>
          <p:cNvPr id="11" name="Text 9"/>
          <p:cNvSpPr/>
          <p:nvPr/>
        </p:nvSpPr>
        <p:spPr>
          <a:xfrm>
            <a:off x="566928" y="402336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Custody is the through-line.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Meaning, authority, accountability, coordination, coherence, memory — the properties the law protects.</a:t>
            </a:r>
            <a:endParaRPr lang="en-US" sz="1450" dirty="0"/>
          </a:p>
        </p:txBody>
      </p:sp>
      <p:sp>
        <p:nvSpPr>
          <p:cNvPr id="13" name="Shape 11"/>
          <p:cNvSpPr/>
          <p:nvPr/>
        </p:nvSpPr>
        <p:spPr>
          <a:xfrm>
            <a:off x="566928" y="5189220"/>
            <a:ext cx="457200" cy="457200"/>
          </a:xfrm>
          <a:prstGeom prst="ellipse">
            <a:avLst/>
          </a:prstGeom>
          <a:solidFill>
            <a:srgbClr val="1B1A18"/>
          </a:solidFill>
          <a:ln/>
        </p:spPr>
      </p:sp>
      <p:sp>
        <p:nvSpPr>
          <p:cNvPr id="14" name="Text 12"/>
          <p:cNvSpPr/>
          <p:nvPr/>
        </p:nvSpPr>
        <p:spPr>
          <a:xfrm>
            <a:off x="566928" y="51892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The lawyer’s task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is to test whether the structure carries what the duty requires — before the volume arrives.</a:t>
            </a:r>
            <a:endParaRPr lang="en-US" sz="1450" dirty="0"/>
          </a:p>
        </p:txBody>
      </p:sp>
      <p:sp>
        <p:nvSpPr>
          <p:cNvPr id="16" name="Text 1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7" name="Text 1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566928" y="502920"/>
            <a:ext cx="1737360" cy="310896"/>
          </a:xfrm>
          <a:prstGeom prst="roundRect">
            <a:avLst>
              <a:gd name="adj" fmla="val 50000"/>
            </a:avLst>
          </a:prstGeom>
          <a:solidFill>
            <a:srgbClr val="8A8378"/>
          </a:solidFill>
          <a:ln/>
        </p:spPr>
      </p:sp>
      <p:sp>
        <p:nvSpPr>
          <p:cNvPr id="3" name="Text 1"/>
          <p:cNvSpPr/>
          <p:nvPr/>
        </p:nvSpPr>
        <p:spPr>
          <a:xfrm>
            <a:off x="566928" y="502920"/>
            <a:ext cx="173736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CASE RECORD</a:t>
            </a:r>
            <a:endParaRPr lang="en-US" sz="1050" dirty="0"/>
          </a:p>
        </p:txBody>
      </p:sp>
      <p:sp>
        <p:nvSpPr>
          <p:cNvPr id="4" name="Text 2"/>
          <p:cNvSpPr/>
          <p:nvPr/>
        </p:nvSpPr>
        <p:spPr>
          <a:xfrm>
            <a:off x="566928" y="914400"/>
            <a:ext cx="11057839" cy="731520"/>
          </a:xfrm>
          <a:prstGeom prst="rect">
            <a:avLst/>
          </a:prstGeom>
          <a:noFill/>
          <a:ln/>
        </p:spPr>
        <p:txBody>
          <a:bodyPr wrap="square" rtlCol="0" anchor="ctr"/>
          <a:lstStyle/>
          <a:p>
            <a:pPr indent="0" marL="0">
              <a:buNone/>
            </a:pPr>
            <a:r>
              <a:rPr lang="en-US" sz="2150" b="1" dirty="0">
                <a:solidFill>
                  <a:srgbClr val="FFFFFF"/>
                </a:solidFill>
                <a:latin typeface="Georgia" pitchFamily="34" charset="0"/>
                <a:ea typeface="Georgia" pitchFamily="34" charset="-122"/>
                <a:cs typeface="Georgia" pitchFamily="34" charset="-120"/>
              </a:rPr>
              <a:t>Air Canada v. Moffatt</a:t>
            </a:r>
            <a:endParaRPr lang="en-US" sz="2150" dirty="0"/>
          </a:p>
        </p:txBody>
      </p:sp>
      <p:sp>
        <p:nvSpPr>
          <p:cNvPr id="5" name="Text 3"/>
          <p:cNvSpPr/>
          <p:nvPr/>
        </p:nvSpPr>
        <p:spPr>
          <a:xfrm>
            <a:off x="566928" y="1965960"/>
            <a:ext cx="5760720" cy="1463040"/>
          </a:xfrm>
          <a:prstGeom prst="rect">
            <a:avLst/>
          </a:prstGeom>
          <a:noFill/>
          <a:ln/>
        </p:spPr>
        <p:txBody>
          <a:bodyPr wrap="square" rtlCol="0" anchor="ctr"/>
          <a:lstStyle/>
          <a:p>
            <a:pPr indent="0" marL="0">
              <a:buNone/>
            </a:pPr>
            <a:r>
              <a:rPr lang="en-US" sz="4700" b="1" dirty="0">
                <a:solidFill>
                  <a:srgbClr val="8A8378"/>
                </a:solidFill>
                <a:latin typeface="Georgia" pitchFamily="34" charset="0"/>
                <a:ea typeface="Georgia" pitchFamily="34" charset="-122"/>
                <a:cs typeface="Georgia" pitchFamily="34" charset="-120"/>
              </a:rPr>
              <a:t>Airline liable</a:t>
            </a:r>
            <a:endParaRPr lang="en-US" sz="4700" dirty="0"/>
          </a:p>
        </p:txBody>
      </p:sp>
      <p:sp>
        <p:nvSpPr>
          <p:cNvPr id="6" name="Text 4"/>
          <p:cNvSpPr/>
          <p:nvPr/>
        </p:nvSpPr>
        <p:spPr>
          <a:xfrm>
            <a:off x="566928" y="3383280"/>
            <a:ext cx="5760720" cy="1371600"/>
          </a:xfrm>
          <a:prstGeom prst="rect">
            <a:avLst/>
          </a:prstGeom>
          <a:noFill/>
          <a:ln/>
        </p:spPr>
        <p:txBody>
          <a:bodyPr wrap="square" rtlCol="0" anchor="t"/>
          <a:lstStyle/>
          <a:p>
            <a:pPr indent="0" marL="0">
              <a:lnSpc>
                <a:spcPct val="120000"/>
              </a:lnSpc>
              <a:buNone/>
            </a:pPr>
            <a:r>
              <a:rPr lang="en-US" sz="1400" dirty="0">
                <a:solidFill>
                  <a:srgbClr val="E4DFD5"/>
                </a:solidFill>
                <a:latin typeface="Georgia" pitchFamily="34" charset="0"/>
                <a:ea typeface="Georgia" pitchFamily="34" charset="-122"/>
                <a:cs typeface="Georgia" pitchFamily="34" charset="-120"/>
              </a:rPr>
              <a:t>for its chatbot’s misstatement of policy; the ‘separate entity’ argument was called a remarkable submission (para 27)</a:t>
            </a:r>
            <a:endParaRPr lang="en-US" sz="1400" dirty="0"/>
          </a:p>
        </p:txBody>
      </p:sp>
      <p:sp>
        <p:nvSpPr>
          <p:cNvPr id="7" name="Text 5"/>
          <p:cNvSpPr/>
          <p:nvPr/>
        </p:nvSpPr>
        <p:spPr>
          <a:xfrm>
            <a:off x="566928" y="5303520"/>
            <a:ext cx="5852160" cy="777240"/>
          </a:xfrm>
          <a:prstGeom prst="rect">
            <a:avLst/>
          </a:prstGeom>
          <a:noFill/>
          <a:ln/>
        </p:spPr>
        <p:txBody>
          <a:bodyPr wrap="square" rtlCol="0" anchor="t"/>
          <a:lstStyle/>
          <a:p>
            <a:pPr indent="0" marL="0">
              <a:lnSpc>
                <a:spcPct val="110000"/>
              </a:lnSpc>
              <a:buNone/>
            </a:pPr>
            <a:r>
              <a:rPr lang="en-US" sz="900" b="1" dirty="0">
                <a:solidFill>
                  <a:srgbClr val="8A8378"/>
                </a:solidFill>
                <a:latin typeface="Georgia" pitchFamily="34" charset="0"/>
                <a:ea typeface="Georgia" pitchFamily="34" charset="-122"/>
                <a:cs typeface="Georgia" pitchFamily="34" charset="-120"/>
              </a:rPr>
              <a:t>CITATION  </a:t>
            </a:r>
            <a:pPr indent="0" marL="0">
              <a:lnSpc>
                <a:spcPct val="110000"/>
              </a:lnSpc>
              <a:buNone/>
            </a:pPr>
            <a:r>
              <a:rPr lang="en-US" sz="950" i="1" dirty="0">
                <a:solidFill>
                  <a:srgbClr val="C4BDB0"/>
                </a:solidFill>
                <a:latin typeface="Georgia" pitchFamily="34" charset="0"/>
                <a:ea typeface="Georgia" pitchFamily="34" charset="-122"/>
                <a:cs typeface="Georgia" pitchFamily="34" charset="-120"/>
              </a:rPr>
              <a:t>Moffatt v. Air Canada, 2024 BCCRT 149 (Civil Resolution Tribunal of British Columbia, 14 Feb 2024).</a:t>
            </a:r>
            <a:endParaRPr lang="en-US" sz="900" dirty="0"/>
          </a:p>
        </p:txBody>
      </p:sp>
      <p:sp>
        <p:nvSpPr>
          <p:cNvPr id="8" name="Shape 6"/>
          <p:cNvSpPr/>
          <p:nvPr/>
        </p:nvSpPr>
        <p:spPr>
          <a:xfrm>
            <a:off x="6766560" y="1965960"/>
            <a:ext cx="4858207" cy="3794760"/>
          </a:xfrm>
          <a:prstGeom prst="roundRect">
            <a:avLst>
              <a:gd name="adj" fmla="val 2410"/>
            </a:avLst>
          </a:prstGeom>
          <a:solidFill>
            <a:srgbClr val="33302B"/>
          </a:solidFill>
          <a:ln/>
        </p:spPr>
      </p:sp>
      <p:sp>
        <p:nvSpPr>
          <p:cNvPr id="9" name="Text 7"/>
          <p:cNvSpPr/>
          <p:nvPr/>
        </p:nvSpPr>
        <p:spPr>
          <a:xfrm>
            <a:off x="6995160" y="2167128"/>
            <a:ext cx="4401007" cy="3429000"/>
          </a:xfrm>
          <a:prstGeom prst="rect">
            <a:avLst/>
          </a:prstGeom>
          <a:noFill/>
          <a:ln/>
        </p:spPr>
        <p:txBody>
          <a:bodyPr wrap="square" rtlCol="0" anchor="t"/>
          <a:lstStyle/>
          <a:p>
            <a:pPr indent="0" marL="0">
              <a:lnSpc>
                <a:spcPct val="118000"/>
              </a:lnSpc>
              <a:spcAft>
                <a:spcPts val="900"/>
              </a:spcAft>
              <a:buNone/>
            </a:pPr>
            <a:r>
              <a:rPr lang="en-US" sz="1200" b="1" dirty="0">
                <a:solidFill>
                  <a:srgbClr val="FFFFFF"/>
                </a:solidFill>
                <a:latin typeface="Georgia" pitchFamily="34" charset="0"/>
                <a:ea typeface="Georgia" pitchFamily="34" charset="-122"/>
                <a:cs typeface="Georgia" pitchFamily="34" charset="-120"/>
              </a:rPr>
              <a:t>Facts:</a:t>
            </a:r>
            <a:endParaRPr lang="en-US" sz="1200" dirty="0"/>
          </a:p>
          <a:p>
            <a:pPr indent="0" marL="0">
              <a:lnSpc>
                <a:spcPct val="118000"/>
              </a:lnSpc>
              <a:spcAft>
                <a:spcPts val="900"/>
              </a:spcAft>
              <a:buNone/>
            </a:pPr>
            <a:r>
              <a:rPr lang="en-US" sz="1200" dirty="0">
                <a:solidFill>
                  <a:srgbClr val="E4DFD5"/>
                </a:solidFill>
                <a:latin typeface="Georgia" pitchFamily="34" charset="0"/>
                <a:ea typeface="Georgia" pitchFamily="34" charset="-122"/>
                <a:cs typeface="Georgia" pitchFamily="34" charset="-120"/>
              </a:rPr>
              <a:t>the airline’s chatbot stated a bereavement-fare policy that did not exist; the customer relied on it.</a:t>
            </a:r>
            <a:endParaRPr lang="en-US" sz="1200" dirty="0"/>
          </a:p>
          <a:p>
            <a:pPr indent="0" marL="0">
              <a:lnSpc>
                <a:spcPct val="118000"/>
              </a:lnSpc>
              <a:spcAft>
                <a:spcPts val="900"/>
              </a:spcAft>
              <a:buNone/>
            </a:pPr>
            <a:r>
              <a:rPr lang="en-US" sz="1200" b="1" dirty="0">
                <a:solidFill>
                  <a:srgbClr val="FFFFFF"/>
                </a:solidFill>
                <a:latin typeface="Georgia" pitchFamily="34" charset="0"/>
                <a:ea typeface="Georgia" pitchFamily="34" charset="-122"/>
                <a:cs typeface="Georgia" pitchFamily="34" charset="-120"/>
              </a:rPr>
              <a:t>Holding:</a:t>
            </a:r>
            <a:endParaRPr lang="en-US" sz="1200" dirty="0"/>
          </a:p>
          <a:p>
            <a:pPr indent="0" marL="0">
              <a:lnSpc>
                <a:spcPct val="118000"/>
              </a:lnSpc>
              <a:spcAft>
                <a:spcPts val="900"/>
              </a:spcAft>
              <a:buNone/>
            </a:pPr>
            <a:r>
              <a:rPr lang="en-US" sz="1200" dirty="0">
                <a:solidFill>
                  <a:srgbClr val="E4DFD5"/>
                </a:solidFill>
                <a:latin typeface="Georgia" pitchFamily="34" charset="0"/>
                <a:ea typeface="Georgia" pitchFamily="34" charset="-122"/>
                <a:cs typeface="Georgia" pitchFamily="34" charset="-120"/>
              </a:rPr>
              <a:t>the airline was liable for its agent’s misrepresentation; it could not disclaim the chatbot as a third party.</a:t>
            </a:r>
            <a:endParaRPr lang="en-US" sz="1200" dirty="0"/>
          </a:p>
          <a:p>
            <a:pPr indent="0" marL="0">
              <a:lnSpc>
                <a:spcPct val="118000"/>
              </a:lnSpc>
              <a:spcAft>
                <a:spcPts val="900"/>
              </a:spcAft>
              <a:buNone/>
            </a:pPr>
            <a:r>
              <a:rPr lang="en-US" sz="1200" b="1" dirty="0">
                <a:solidFill>
                  <a:srgbClr val="FFFFFF"/>
                </a:solidFill>
                <a:latin typeface="Georgia" pitchFamily="34" charset="0"/>
                <a:ea typeface="Georgia" pitchFamily="34" charset="-122"/>
                <a:cs typeface="Georgia" pitchFamily="34" charset="-120"/>
              </a:rPr>
              <a:t>Why it opens the course:</a:t>
            </a:r>
            <a:endParaRPr lang="en-US" sz="1200" dirty="0"/>
          </a:p>
          <a:p>
            <a:pPr indent="0" marL="0">
              <a:lnSpc>
                <a:spcPct val="118000"/>
              </a:lnSpc>
              <a:spcAft>
                <a:spcPts val="900"/>
              </a:spcAft>
              <a:buNone/>
            </a:pPr>
            <a:r>
              <a:rPr lang="en-US" sz="1200" dirty="0">
                <a:solidFill>
                  <a:srgbClr val="E4DFD5"/>
                </a:solidFill>
                <a:latin typeface="Georgia" pitchFamily="34" charset="0"/>
                <a:ea typeface="Georgia" pitchFamily="34" charset="-122"/>
                <a:cs typeface="Georgia" pitchFamily="34" charset="-120"/>
              </a:rPr>
              <a:t>the simplest statement of the frame — an institution answers for what its agent says and does.</a:t>
            </a:r>
            <a:endParaRPr lang="en-US" sz="1200" dirty="0"/>
          </a:p>
        </p:txBody>
      </p:sp>
      <p:sp>
        <p:nvSpPr>
          <p:cNvPr id="10" name="Text 8"/>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1" name="Text 9"/>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33302B"/>
        </a:solidFill>
      </p:bgPr>
    </p:bg>
    <p:spTree>
      <p:nvGrpSpPr>
        <p:cNvPr id="1" name=""/>
        <p:cNvGrpSpPr/>
        <p:nvPr/>
      </p:nvGrpSpPr>
      <p:grpSpPr>
        <a:xfrm>
          <a:off x="0" y="0"/>
          <a:ext cx="0" cy="0"/>
          <a:chOff x="0" y="0"/>
          <a:chExt cx="0" cy="0"/>
        </a:xfrm>
      </p:grpSpPr>
      <p:sp>
        <p:nvSpPr>
          <p:cNvPr id="2" name="Shape 0"/>
          <p:cNvSpPr/>
          <p:nvPr/>
        </p:nvSpPr>
        <p:spPr>
          <a:xfrm>
            <a:off x="566928" y="502920"/>
            <a:ext cx="1920240" cy="310896"/>
          </a:xfrm>
          <a:prstGeom prst="roundRect">
            <a:avLst>
              <a:gd name="adj" fmla="val 50000"/>
            </a:avLst>
          </a:prstGeom>
          <a:solidFill>
            <a:srgbClr val="8A8378"/>
          </a:solidFill>
          <a:ln/>
        </p:spPr>
      </p:sp>
      <p:sp>
        <p:nvSpPr>
          <p:cNvPr id="3" name="Text 1"/>
          <p:cNvSpPr/>
          <p:nvPr/>
        </p:nvSpPr>
        <p:spPr>
          <a:xfrm>
            <a:off x="566928" y="502920"/>
            <a:ext cx="192024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IN CLASS</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indent="0" marL="0">
              <a:buNone/>
            </a:pPr>
            <a:r>
              <a:rPr lang="en-US" sz="2150" b="1" dirty="0">
                <a:solidFill>
                  <a:srgbClr val="FFFFFF"/>
                </a:solidFill>
                <a:latin typeface="Georgia" pitchFamily="34" charset="0"/>
                <a:ea typeface="Georgia" pitchFamily="34" charset="-122"/>
                <a:cs typeface="Georgia" pitchFamily="34" charset="-120"/>
              </a:rPr>
              <a:t>Discussion — Week 1</a:t>
            </a:r>
            <a:endParaRPr lang="en-US" sz="2150" dirty="0"/>
          </a:p>
        </p:txBody>
      </p:sp>
      <p:sp>
        <p:nvSpPr>
          <p:cNvPr id="5" name="Shape 3"/>
          <p:cNvSpPr/>
          <p:nvPr/>
        </p:nvSpPr>
        <p:spPr>
          <a:xfrm>
            <a:off x="566928" y="1965960"/>
            <a:ext cx="420624" cy="420624"/>
          </a:xfrm>
          <a:prstGeom prst="ellipse">
            <a:avLst/>
          </a:prstGeom>
          <a:solidFill>
            <a:srgbClr val="8A8378"/>
          </a:solidFill>
          <a:ln/>
        </p:spPr>
      </p:sp>
      <p:sp>
        <p:nvSpPr>
          <p:cNvPr id="6" name="Text 4"/>
          <p:cNvSpPr/>
          <p:nvPr/>
        </p:nvSpPr>
        <p:spPr>
          <a:xfrm>
            <a:off x="566928" y="1965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Q1</a:t>
            </a:r>
            <a:endParaRPr lang="en-US" sz="950" dirty="0"/>
          </a:p>
        </p:txBody>
      </p:sp>
      <p:sp>
        <p:nvSpPr>
          <p:cNvPr id="7" name="Text 5"/>
          <p:cNvSpPr/>
          <p:nvPr/>
        </p:nvSpPr>
        <p:spPr>
          <a:xfrm>
            <a:off x="1143000" y="1920240"/>
            <a:ext cx="10372039" cy="2194560"/>
          </a:xfrm>
          <a:prstGeom prst="rect">
            <a:avLst/>
          </a:prstGeom>
          <a:noFill/>
          <a:ln/>
        </p:spPr>
        <p:txBody>
          <a:bodyPr wrap="square" rtlCol="0" anchor="t"/>
          <a:lstStyle/>
          <a:p>
            <a:pPr indent="0" marL="0">
              <a:lnSpc>
                <a:spcPct val="115000"/>
              </a:lnSpc>
              <a:buNone/>
            </a:pPr>
            <a:r>
              <a:rPr lang="en-US" sz="1350" dirty="0">
                <a:solidFill>
                  <a:srgbClr val="E4DFD5"/>
                </a:solidFill>
                <a:latin typeface="Georgia" pitchFamily="34" charset="0"/>
                <a:ea typeface="Georgia" pitchFamily="34" charset="-122"/>
                <a:cs typeface="Georgia" pitchFamily="34" charset="-120"/>
              </a:rPr>
              <a:t>If a firm’s AI agent gives wrong advice to a client, on what legal theories might the firm be liable — and does the model’s autonomy change the analysis?</a:t>
            </a:r>
            <a:endParaRPr lang="en-US" sz="1350" dirty="0"/>
          </a:p>
        </p:txBody>
      </p:sp>
      <p:sp>
        <p:nvSpPr>
          <p:cNvPr id="8" name="Shape 6"/>
          <p:cNvSpPr/>
          <p:nvPr/>
        </p:nvSpPr>
        <p:spPr>
          <a:xfrm>
            <a:off x="566928" y="4251960"/>
            <a:ext cx="420624" cy="420624"/>
          </a:xfrm>
          <a:prstGeom prst="ellipse">
            <a:avLst/>
          </a:prstGeom>
          <a:solidFill>
            <a:srgbClr val="8A8378"/>
          </a:solidFill>
          <a:ln/>
        </p:spPr>
      </p:sp>
      <p:sp>
        <p:nvSpPr>
          <p:cNvPr id="9" name="Text 7"/>
          <p:cNvSpPr/>
          <p:nvPr/>
        </p:nvSpPr>
        <p:spPr>
          <a:xfrm>
            <a:off x="566928" y="4251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Q2</a:t>
            </a:r>
            <a:endParaRPr lang="en-US" sz="950" dirty="0"/>
          </a:p>
        </p:txBody>
      </p:sp>
      <p:sp>
        <p:nvSpPr>
          <p:cNvPr id="10" name="Text 8"/>
          <p:cNvSpPr/>
          <p:nvPr/>
        </p:nvSpPr>
        <p:spPr>
          <a:xfrm>
            <a:off x="1143000" y="4206240"/>
            <a:ext cx="10372039" cy="2194560"/>
          </a:xfrm>
          <a:prstGeom prst="rect">
            <a:avLst/>
          </a:prstGeom>
          <a:noFill/>
          <a:ln/>
        </p:spPr>
        <p:txBody>
          <a:bodyPr wrap="square" rtlCol="0" anchor="t"/>
          <a:lstStyle/>
          <a:p>
            <a:pPr indent="0" marL="0">
              <a:lnSpc>
                <a:spcPct val="115000"/>
              </a:lnSpc>
              <a:buNone/>
            </a:pPr>
            <a:r>
              <a:rPr lang="en-US" sz="1350" dirty="0">
                <a:solidFill>
                  <a:srgbClr val="E4DFD5"/>
                </a:solidFill>
                <a:latin typeface="Georgia" pitchFamily="34" charset="0"/>
                <a:ea typeface="Georgia" pitchFamily="34" charset="-122"/>
                <a:cs typeface="Georgia" pitchFamily="34" charset="-120"/>
              </a:rPr>
              <a:t>Is ‘agentic AI law’ a new field, or old doctrines under new facts? Argue both sides.</a:t>
            </a:r>
            <a:endParaRPr lang="en-US" sz="13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2</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050" b="1" dirty="0">
                <a:solidFill>
                  <a:srgbClr val="FFFFFF"/>
                </a:solidFill>
                <a:latin typeface="Georgia" pitchFamily="34" charset="0"/>
                <a:ea typeface="Georgia" pitchFamily="34" charset="-122"/>
                <a:cs typeface="Georgia" pitchFamily="34" charset="-120"/>
              </a:rPr>
              <a:t>The six properties as legal obligations</a:t>
            </a:r>
            <a:endParaRPr lang="en-US" sz="20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350" dirty="0">
                <a:solidFill>
                  <a:srgbClr val="33302B"/>
                </a:solidFill>
                <a:latin typeface="Georgia" pitchFamily="34" charset="0"/>
                <a:ea typeface="Georgia" pitchFamily="34" charset="-122"/>
                <a:cs typeface="Georgia" pitchFamily="34" charset="-120"/>
              </a:rPr>
              <a:t>The book identifies six properties an institution must keep in custody as work moves. Read as law, each maps to a family of duties you already know — disclosure, agency, record-keeping, systems-and-controls, mandatory-rule compliance, and evidential integrity. This week builds the map we use all semester.</a:t>
            </a:r>
            <a:endParaRPr lang="en-US" sz="135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Learning aims</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Name the six properties as duty families</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State each property’s characteristic failure</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Map a real duty in your field onto a property</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AN ILLUSTRATIVE MAP — NOT BLACK-LETTER LAW</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350" b="1" dirty="0">
                <a:solidFill>
                  <a:srgbClr val="1B1A18"/>
                </a:solidFill>
                <a:latin typeface="Georgia" pitchFamily="34" charset="0"/>
                <a:ea typeface="Georgia" pitchFamily="34" charset="-122"/>
                <a:cs typeface="Georgia" pitchFamily="34" charset="-120"/>
              </a:rPr>
              <a:t>The six properties, as duty families</a:t>
            </a:r>
            <a:endParaRPr lang="en-US" sz="2350" dirty="0"/>
          </a:p>
        </p:txBody>
      </p:sp>
      <p:sp>
        <p:nvSpPr>
          <p:cNvPr id="4" name="Shape 2"/>
          <p:cNvSpPr/>
          <p:nvPr/>
        </p:nvSpPr>
        <p:spPr>
          <a:xfrm>
            <a:off x="566928" y="1691640"/>
            <a:ext cx="3503066" cy="2148840"/>
          </a:xfrm>
          <a:prstGeom prst="roundRect">
            <a:avLst>
              <a:gd name="adj" fmla="val 3404"/>
            </a:avLst>
          </a:prstGeom>
          <a:solidFill>
            <a:srgbClr val="F4F2EE"/>
          </a:solidFill>
          <a:ln w="12700">
            <a:solidFill>
              <a:srgbClr val="EBE7DF"/>
            </a:solidFill>
            <a:prstDash val="solid"/>
          </a:ln>
        </p:spPr>
      </p:sp>
      <p:sp>
        <p:nvSpPr>
          <p:cNvPr id="5" name="Shape 3"/>
          <p:cNvSpPr/>
          <p:nvPr/>
        </p:nvSpPr>
        <p:spPr>
          <a:xfrm>
            <a:off x="795528" y="1892808"/>
            <a:ext cx="1543507" cy="310896"/>
          </a:xfrm>
          <a:prstGeom prst="roundRect">
            <a:avLst>
              <a:gd name="adj" fmla="val 50000"/>
            </a:avLst>
          </a:prstGeom>
          <a:solidFill>
            <a:srgbClr val="8A8378"/>
          </a:solidFill>
          <a:ln/>
        </p:spPr>
      </p:sp>
      <p:sp>
        <p:nvSpPr>
          <p:cNvPr id="6" name="Text 4"/>
          <p:cNvSpPr/>
          <p:nvPr/>
        </p:nvSpPr>
        <p:spPr>
          <a:xfrm>
            <a:off x="795528" y="1892808"/>
            <a:ext cx="1543507"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1 · Context</a:t>
            </a:r>
            <a:endParaRPr lang="en-US" sz="900" dirty="0"/>
          </a:p>
        </p:txBody>
      </p:sp>
      <p:sp>
        <p:nvSpPr>
          <p:cNvPr id="7" name="Text 5"/>
          <p:cNvSpPr/>
          <p:nvPr/>
        </p:nvSpPr>
        <p:spPr>
          <a:xfrm>
            <a:off x="795528" y="229514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Meaning / disclosure</a:t>
            </a:r>
            <a:endParaRPr lang="en-US" sz="1400" dirty="0"/>
          </a:p>
        </p:txBody>
      </p:sp>
      <p:sp>
        <p:nvSpPr>
          <p:cNvPr id="8" name="Text 6"/>
          <p:cNvSpPr/>
          <p:nvPr/>
        </p:nvSpPr>
        <p:spPr>
          <a:xfrm>
            <a:off x="795528" y="2752344"/>
            <a:ext cx="3045866"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Duty analogues: disclosure, suitability, materiality, informed consent. Failure: the meaning error.</a:t>
            </a:r>
            <a:endParaRPr lang="en-US" sz="1100" dirty="0"/>
          </a:p>
        </p:txBody>
      </p:sp>
      <p:sp>
        <p:nvSpPr>
          <p:cNvPr id="9" name="Shape 7"/>
          <p:cNvSpPr/>
          <p:nvPr/>
        </p:nvSpPr>
        <p:spPr>
          <a:xfrm>
            <a:off x="4344314" y="1691640"/>
            <a:ext cx="3503066" cy="2148840"/>
          </a:xfrm>
          <a:prstGeom prst="roundRect">
            <a:avLst>
              <a:gd name="adj" fmla="val 3404"/>
            </a:avLst>
          </a:prstGeom>
          <a:solidFill>
            <a:srgbClr val="F4F2EE"/>
          </a:solidFill>
          <a:ln w="12700">
            <a:solidFill>
              <a:srgbClr val="EBE7DF"/>
            </a:solidFill>
            <a:prstDash val="solid"/>
          </a:ln>
        </p:spPr>
      </p:sp>
      <p:sp>
        <p:nvSpPr>
          <p:cNvPr id="10" name="Shape 8"/>
          <p:cNvSpPr/>
          <p:nvPr/>
        </p:nvSpPr>
        <p:spPr>
          <a:xfrm>
            <a:off x="4572914" y="1892808"/>
            <a:ext cx="1741018" cy="310896"/>
          </a:xfrm>
          <a:prstGeom prst="roundRect">
            <a:avLst>
              <a:gd name="adj" fmla="val 50000"/>
            </a:avLst>
          </a:prstGeom>
          <a:solidFill>
            <a:srgbClr val="8A8378"/>
          </a:solidFill>
          <a:ln/>
        </p:spPr>
      </p:sp>
      <p:sp>
        <p:nvSpPr>
          <p:cNvPr id="11" name="Text 9"/>
          <p:cNvSpPr/>
          <p:nvPr/>
        </p:nvSpPr>
        <p:spPr>
          <a:xfrm>
            <a:off x="4572914" y="1892808"/>
            <a:ext cx="1741018"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2 · Authority</a:t>
            </a:r>
            <a:endParaRPr lang="en-US" sz="900" dirty="0"/>
          </a:p>
        </p:txBody>
      </p:sp>
      <p:sp>
        <p:nvSpPr>
          <p:cNvPr id="12" name="Text 10"/>
          <p:cNvSpPr/>
          <p:nvPr/>
        </p:nvSpPr>
        <p:spPr>
          <a:xfrm>
            <a:off x="4572914" y="229514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Mandate / agency</a:t>
            </a:r>
            <a:endParaRPr lang="en-US" sz="1400" dirty="0"/>
          </a:p>
        </p:txBody>
      </p:sp>
      <p:sp>
        <p:nvSpPr>
          <p:cNvPr id="13" name="Text 11"/>
          <p:cNvSpPr/>
          <p:nvPr/>
        </p:nvSpPr>
        <p:spPr>
          <a:xfrm>
            <a:off x="4572914" y="2752344"/>
            <a:ext cx="3045866"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Duty analogues: authorisation, delegation, agency. Failure: an act with authority no one conferred.</a:t>
            </a:r>
            <a:endParaRPr lang="en-US" sz="1100" dirty="0"/>
          </a:p>
        </p:txBody>
      </p:sp>
      <p:sp>
        <p:nvSpPr>
          <p:cNvPr id="14" name="Shape 12"/>
          <p:cNvSpPr/>
          <p:nvPr/>
        </p:nvSpPr>
        <p:spPr>
          <a:xfrm>
            <a:off x="8121701" y="1691640"/>
            <a:ext cx="3503066" cy="2148840"/>
          </a:xfrm>
          <a:prstGeom prst="roundRect">
            <a:avLst>
              <a:gd name="adj" fmla="val 3404"/>
            </a:avLst>
          </a:prstGeom>
          <a:solidFill>
            <a:srgbClr val="F4F2EE"/>
          </a:solidFill>
          <a:ln w="12700">
            <a:solidFill>
              <a:srgbClr val="EBE7DF"/>
            </a:solidFill>
            <a:prstDash val="solid"/>
          </a:ln>
        </p:spPr>
      </p:sp>
      <p:sp>
        <p:nvSpPr>
          <p:cNvPr id="15" name="Shape 13"/>
          <p:cNvSpPr/>
          <p:nvPr/>
        </p:nvSpPr>
        <p:spPr>
          <a:xfrm>
            <a:off x="8350301" y="1892808"/>
            <a:ext cx="2234794" cy="310896"/>
          </a:xfrm>
          <a:prstGeom prst="roundRect">
            <a:avLst>
              <a:gd name="adj" fmla="val 50000"/>
            </a:avLst>
          </a:prstGeom>
          <a:solidFill>
            <a:srgbClr val="8A8378"/>
          </a:solidFill>
          <a:ln/>
        </p:spPr>
      </p:sp>
      <p:sp>
        <p:nvSpPr>
          <p:cNvPr id="16" name="Text 14"/>
          <p:cNvSpPr/>
          <p:nvPr/>
        </p:nvSpPr>
        <p:spPr>
          <a:xfrm>
            <a:off x="8350301" y="1892808"/>
            <a:ext cx="2234794"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3 · Accountability</a:t>
            </a:r>
            <a:endParaRPr lang="en-US" sz="900" dirty="0"/>
          </a:p>
        </p:txBody>
      </p:sp>
      <p:sp>
        <p:nvSpPr>
          <p:cNvPr id="17" name="Text 15"/>
          <p:cNvSpPr/>
          <p:nvPr/>
        </p:nvSpPr>
        <p:spPr>
          <a:xfrm>
            <a:off x="8350301" y="229514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Record / attribution</a:t>
            </a:r>
            <a:endParaRPr lang="en-US" sz="1400" dirty="0"/>
          </a:p>
        </p:txBody>
      </p:sp>
      <p:sp>
        <p:nvSpPr>
          <p:cNvPr id="18" name="Text 16"/>
          <p:cNvSpPr/>
          <p:nvPr/>
        </p:nvSpPr>
        <p:spPr>
          <a:xfrm>
            <a:off x="8350301" y="2752344"/>
            <a:ext cx="3045866"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Duty analogues: record-keeping, auditability, individual accountability. Failure: attribution by investigation.</a:t>
            </a:r>
            <a:endParaRPr lang="en-US" sz="1100" dirty="0"/>
          </a:p>
        </p:txBody>
      </p:sp>
      <p:sp>
        <p:nvSpPr>
          <p:cNvPr id="19" name="Shape 17"/>
          <p:cNvSpPr/>
          <p:nvPr/>
        </p:nvSpPr>
        <p:spPr>
          <a:xfrm>
            <a:off x="566928" y="4114800"/>
            <a:ext cx="3503066" cy="2148840"/>
          </a:xfrm>
          <a:prstGeom prst="roundRect">
            <a:avLst>
              <a:gd name="adj" fmla="val 3404"/>
            </a:avLst>
          </a:prstGeom>
          <a:solidFill>
            <a:srgbClr val="F4F2EE"/>
          </a:solidFill>
          <a:ln w="12700">
            <a:solidFill>
              <a:srgbClr val="EBE7DF"/>
            </a:solidFill>
            <a:prstDash val="solid"/>
          </a:ln>
        </p:spPr>
      </p:sp>
      <p:sp>
        <p:nvSpPr>
          <p:cNvPr id="20" name="Shape 18"/>
          <p:cNvSpPr/>
          <p:nvPr/>
        </p:nvSpPr>
        <p:spPr>
          <a:xfrm>
            <a:off x="795528" y="4315968"/>
            <a:ext cx="2037283" cy="310896"/>
          </a:xfrm>
          <a:prstGeom prst="roundRect">
            <a:avLst>
              <a:gd name="adj" fmla="val 50000"/>
            </a:avLst>
          </a:prstGeom>
          <a:solidFill>
            <a:srgbClr val="8A8378"/>
          </a:solidFill>
          <a:ln/>
        </p:spPr>
      </p:sp>
      <p:sp>
        <p:nvSpPr>
          <p:cNvPr id="21" name="Text 19"/>
          <p:cNvSpPr/>
          <p:nvPr/>
        </p:nvSpPr>
        <p:spPr>
          <a:xfrm>
            <a:off x="795528" y="4315968"/>
            <a:ext cx="2037283"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4 · Coordination</a:t>
            </a:r>
            <a:endParaRPr lang="en-US" sz="900" dirty="0"/>
          </a:p>
        </p:txBody>
      </p:sp>
      <p:sp>
        <p:nvSpPr>
          <p:cNvPr id="22" name="Text 20"/>
          <p:cNvSpPr/>
          <p:nvPr/>
        </p:nvSpPr>
        <p:spPr>
          <a:xfrm>
            <a:off x="795528" y="471830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Systems &amp; controls</a:t>
            </a:r>
            <a:endParaRPr lang="en-US" sz="1400" dirty="0"/>
          </a:p>
        </p:txBody>
      </p:sp>
      <p:sp>
        <p:nvSpPr>
          <p:cNvPr id="23" name="Text 21"/>
          <p:cNvSpPr/>
          <p:nvPr/>
        </p:nvSpPr>
        <p:spPr>
          <a:xfrm>
            <a:off x="795528" y="5175504"/>
            <a:ext cx="3045866"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Duty analogues: adequate systems and controls, operational resilience. Failure: each unit right, the whole wrong.</a:t>
            </a:r>
            <a:endParaRPr lang="en-US" sz="1100" dirty="0"/>
          </a:p>
        </p:txBody>
      </p:sp>
      <p:sp>
        <p:nvSpPr>
          <p:cNvPr id="24" name="Shape 22"/>
          <p:cNvSpPr/>
          <p:nvPr/>
        </p:nvSpPr>
        <p:spPr>
          <a:xfrm>
            <a:off x="4344314" y="4114800"/>
            <a:ext cx="3503066" cy="2148840"/>
          </a:xfrm>
          <a:prstGeom prst="roundRect">
            <a:avLst>
              <a:gd name="adj" fmla="val 3404"/>
            </a:avLst>
          </a:prstGeom>
          <a:solidFill>
            <a:srgbClr val="F4F2EE"/>
          </a:solidFill>
          <a:ln w="12700">
            <a:solidFill>
              <a:srgbClr val="EBE7DF"/>
            </a:solidFill>
            <a:prstDash val="solid"/>
          </a:ln>
        </p:spPr>
      </p:sp>
      <p:sp>
        <p:nvSpPr>
          <p:cNvPr id="25" name="Shape 23"/>
          <p:cNvSpPr/>
          <p:nvPr/>
        </p:nvSpPr>
        <p:spPr>
          <a:xfrm>
            <a:off x="4572914" y="4315968"/>
            <a:ext cx="1741018" cy="310896"/>
          </a:xfrm>
          <a:prstGeom prst="roundRect">
            <a:avLst>
              <a:gd name="adj" fmla="val 50000"/>
            </a:avLst>
          </a:prstGeom>
          <a:solidFill>
            <a:srgbClr val="8A8378"/>
          </a:solidFill>
          <a:ln/>
        </p:spPr>
      </p:sp>
      <p:sp>
        <p:nvSpPr>
          <p:cNvPr id="26" name="Text 24"/>
          <p:cNvSpPr/>
          <p:nvPr/>
        </p:nvSpPr>
        <p:spPr>
          <a:xfrm>
            <a:off x="4572914" y="4315968"/>
            <a:ext cx="1741018"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5 · Coherence</a:t>
            </a:r>
            <a:endParaRPr lang="en-US" sz="900" dirty="0"/>
          </a:p>
        </p:txBody>
      </p:sp>
      <p:sp>
        <p:nvSpPr>
          <p:cNvPr id="27" name="Text 25"/>
          <p:cNvSpPr/>
          <p:nvPr/>
        </p:nvSpPr>
        <p:spPr>
          <a:xfrm>
            <a:off x="4572914" y="471830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Mandatory rules</a:t>
            </a:r>
            <a:endParaRPr lang="en-US" sz="1400" dirty="0"/>
          </a:p>
        </p:txBody>
      </p:sp>
      <p:sp>
        <p:nvSpPr>
          <p:cNvPr id="28" name="Text 26"/>
          <p:cNvSpPr/>
          <p:nvPr/>
        </p:nvSpPr>
        <p:spPr>
          <a:xfrm>
            <a:off x="4572914" y="5175504"/>
            <a:ext cx="3045866"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Duty analogues: sanctions, AML thresholds, non-discrimination, residency. Failure: ‘it depends which door’.</a:t>
            </a:r>
            <a:endParaRPr lang="en-US" sz="1100" dirty="0"/>
          </a:p>
        </p:txBody>
      </p:sp>
      <p:sp>
        <p:nvSpPr>
          <p:cNvPr id="29" name="Shape 27"/>
          <p:cNvSpPr/>
          <p:nvPr/>
        </p:nvSpPr>
        <p:spPr>
          <a:xfrm>
            <a:off x="8121701" y="4114800"/>
            <a:ext cx="3503066" cy="2148840"/>
          </a:xfrm>
          <a:prstGeom prst="roundRect">
            <a:avLst>
              <a:gd name="adj" fmla="val 3404"/>
            </a:avLst>
          </a:prstGeom>
          <a:solidFill>
            <a:srgbClr val="F4F2EE"/>
          </a:solidFill>
          <a:ln w="12700">
            <a:solidFill>
              <a:srgbClr val="EBE7DF"/>
            </a:solidFill>
            <a:prstDash val="solid"/>
          </a:ln>
        </p:spPr>
      </p:sp>
      <p:sp>
        <p:nvSpPr>
          <p:cNvPr id="30" name="Shape 28"/>
          <p:cNvSpPr/>
          <p:nvPr/>
        </p:nvSpPr>
        <p:spPr>
          <a:xfrm>
            <a:off x="8350301" y="4315968"/>
            <a:ext cx="1444752" cy="310896"/>
          </a:xfrm>
          <a:prstGeom prst="roundRect">
            <a:avLst>
              <a:gd name="adj" fmla="val 50000"/>
            </a:avLst>
          </a:prstGeom>
          <a:solidFill>
            <a:srgbClr val="8A8378"/>
          </a:solidFill>
          <a:ln/>
        </p:spPr>
      </p:sp>
      <p:sp>
        <p:nvSpPr>
          <p:cNvPr id="31" name="Text 29"/>
          <p:cNvSpPr/>
          <p:nvPr/>
        </p:nvSpPr>
        <p:spPr>
          <a:xfrm>
            <a:off x="8350301" y="4315968"/>
            <a:ext cx="1444752"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6 · Memory</a:t>
            </a:r>
            <a:endParaRPr lang="en-US" sz="900" dirty="0"/>
          </a:p>
        </p:txBody>
      </p:sp>
      <p:sp>
        <p:nvSpPr>
          <p:cNvPr id="32" name="Text 30"/>
          <p:cNvSpPr/>
          <p:nvPr/>
        </p:nvSpPr>
        <p:spPr>
          <a:xfrm>
            <a:off x="8350301" y="471830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Retention / integrity</a:t>
            </a:r>
            <a:endParaRPr lang="en-US" sz="1400" dirty="0"/>
          </a:p>
        </p:txBody>
      </p:sp>
      <p:sp>
        <p:nvSpPr>
          <p:cNvPr id="33" name="Text 31"/>
          <p:cNvSpPr/>
          <p:nvPr/>
        </p:nvSpPr>
        <p:spPr>
          <a:xfrm>
            <a:off x="8350301" y="5175504"/>
            <a:ext cx="3045866"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Duty analogues: record retention, evidential integrity, data governance. Failure: records nobody can trust.</a:t>
            </a:r>
            <a:endParaRPr lang="en-US" sz="1100" dirty="0"/>
          </a:p>
        </p:txBody>
      </p:sp>
      <p:sp>
        <p:nvSpPr>
          <p:cNvPr id="34" name="Text 32"/>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35" name="Text 33"/>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HOW TO USE IT</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350" b="1" dirty="0">
                <a:solidFill>
                  <a:srgbClr val="1B1A18"/>
                </a:solidFill>
                <a:latin typeface="Georgia" pitchFamily="34" charset="0"/>
                <a:ea typeface="Georgia" pitchFamily="34" charset="-122"/>
                <a:cs typeface="Georgia" pitchFamily="34" charset="-120"/>
              </a:rPr>
              <a:t>Reading the map as a lawyer</a:t>
            </a:r>
            <a:endParaRPr lang="en-US" sz="2350" dirty="0"/>
          </a:p>
        </p:txBody>
      </p:sp>
      <p:sp>
        <p:nvSpPr>
          <p:cNvPr id="4" name="Shape 2"/>
          <p:cNvSpPr/>
          <p:nvPr/>
        </p:nvSpPr>
        <p:spPr>
          <a:xfrm>
            <a:off x="566928" y="1691640"/>
            <a:ext cx="457200" cy="457200"/>
          </a:xfrm>
          <a:prstGeom prst="ellipse">
            <a:avLst/>
          </a:prstGeom>
          <a:solidFill>
            <a:srgbClr val="8A8378"/>
          </a:solidFill>
          <a:ln/>
        </p:spPr>
      </p:sp>
      <p:sp>
        <p:nvSpPr>
          <p:cNvPr id="5" name="Text 3"/>
          <p:cNvSpPr/>
          <p:nvPr/>
        </p:nvSpPr>
        <p:spPr>
          <a:xfrm>
            <a:off x="566928" y="169164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44475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Start from the failure.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The ‘meaning error’, the unauthorised act, attribution-by-investigation — each names a breach you can plead or supervise.</a:t>
            </a:r>
            <a:endParaRPr lang="en-US" sz="1450" dirty="0"/>
          </a:p>
        </p:txBody>
      </p:sp>
      <p:sp>
        <p:nvSpPr>
          <p:cNvPr id="7" name="Shape 5"/>
          <p:cNvSpPr/>
          <p:nvPr/>
        </p:nvSpPr>
        <p:spPr>
          <a:xfrm>
            <a:off x="566928" y="3246120"/>
            <a:ext cx="457200" cy="457200"/>
          </a:xfrm>
          <a:prstGeom prst="ellipse">
            <a:avLst/>
          </a:prstGeom>
          <a:solidFill>
            <a:srgbClr val="8A8378"/>
          </a:solidFill>
          <a:ln/>
        </p:spPr>
      </p:sp>
      <p:sp>
        <p:nvSpPr>
          <p:cNvPr id="8" name="Text 6"/>
          <p:cNvSpPr/>
          <p:nvPr/>
        </p:nvSpPr>
        <p:spPr>
          <a:xfrm>
            <a:off x="566928" y="32461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3191256"/>
            <a:ext cx="10280599" cy="144475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Anchor to instruments.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Each property corresponds to real duties; the precise rule is jurisdiction- and sector-specific — verify it.</a:t>
            </a:r>
            <a:endParaRPr lang="en-US" sz="1450" dirty="0"/>
          </a:p>
        </p:txBody>
      </p:sp>
      <p:sp>
        <p:nvSpPr>
          <p:cNvPr id="10" name="Shape 8"/>
          <p:cNvSpPr/>
          <p:nvPr/>
        </p:nvSpPr>
        <p:spPr>
          <a:xfrm>
            <a:off x="566928" y="4800600"/>
            <a:ext cx="457200" cy="457200"/>
          </a:xfrm>
          <a:prstGeom prst="ellipse">
            <a:avLst/>
          </a:prstGeom>
          <a:solidFill>
            <a:srgbClr val="8A8378"/>
          </a:solidFill>
          <a:ln/>
        </p:spPr>
      </p:sp>
      <p:sp>
        <p:nvSpPr>
          <p:cNvPr id="11" name="Text 9"/>
          <p:cNvSpPr/>
          <p:nvPr/>
        </p:nvSpPr>
        <p:spPr>
          <a:xfrm>
            <a:off x="566928" y="480060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4745736"/>
            <a:ext cx="10280599" cy="144475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Custody is testable.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Each property yields a one-line test that needs no source code — only a demonstration.</a:t>
            </a:r>
            <a:endParaRPr lang="en-US" sz="1450" dirty="0"/>
          </a:p>
        </p:txBody>
      </p:sp>
      <p:sp>
        <p:nvSpPr>
          <p:cNvPr id="13" name="Text 11"/>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4" name="Text 12"/>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33302B"/>
        </a:solidFill>
      </p:bgPr>
    </p:bg>
    <p:spTree>
      <p:nvGrpSpPr>
        <p:cNvPr id="1" name=""/>
        <p:cNvGrpSpPr/>
        <p:nvPr/>
      </p:nvGrpSpPr>
      <p:grpSpPr>
        <a:xfrm>
          <a:off x="0" y="0"/>
          <a:ext cx="0" cy="0"/>
          <a:chOff x="0" y="0"/>
          <a:chExt cx="0" cy="0"/>
        </a:xfrm>
      </p:grpSpPr>
      <p:sp>
        <p:nvSpPr>
          <p:cNvPr id="2" name="Shape 0"/>
          <p:cNvSpPr/>
          <p:nvPr/>
        </p:nvSpPr>
        <p:spPr>
          <a:xfrm>
            <a:off x="566928" y="502920"/>
            <a:ext cx="1920240" cy="310896"/>
          </a:xfrm>
          <a:prstGeom prst="roundRect">
            <a:avLst>
              <a:gd name="adj" fmla="val 50000"/>
            </a:avLst>
          </a:prstGeom>
          <a:solidFill>
            <a:srgbClr val="8A8378"/>
          </a:solidFill>
          <a:ln/>
        </p:spPr>
      </p:sp>
      <p:sp>
        <p:nvSpPr>
          <p:cNvPr id="3" name="Text 1"/>
          <p:cNvSpPr/>
          <p:nvPr/>
        </p:nvSpPr>
        <p:spPr>
          <a:xfrm>
            <a:off x="566928" y="502920"/>
            <a:ext cx="192024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IN CLASS</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indent="0" marL="0">
              <a:buNone/>
            </a:pPr>
            <a:r>
              <a:rPr lang="en-US" sz="2150" b="1" dirty="0">
                <a:solidFill>
                  <a:srgbClr val="FFFFFF"/>
                </a:solidFill>
                <a:latin typeface="Georgia" pitchFamily="34" charset="0"/>
                <a:ea typeface="Georgia" pitchFamily="34" charset="-122"/>
                <a:cs typeface="Georgia" pitchFamily="34" charset="-120"/>
              </a:rPr>
              <a:t>Discussion — Week 2</a:t>
            </a:r>
            <a:endParaRPr lang="en-US" sz="2150" dirty="0"/>
          </a:p>
        </p:txBody>
      </p:sp>
      <p:sp>
        <p:nvSpPr>
          <p:cNvPr id="5" name="Shape 3"/>
          <p:cNvSpPr/>
          <p:nvPr/>
        </p:nvSpPr>
        <p:spPr>
          <a:xfrm>
            <a:off x="566928" y="1965960"/>
            <a:ext cx="420624" cy="420624"/>
          </a:xfrm>
          <a:prstGeom prst="ellipse">
            <a:avLst/>
          </a:prstGeom>
          <a:solidFill>
            <a:srgbClr val="8A8378"/>
          </a:solidFill>
          <a:ln/>
        </p:spPr>
      </p:sp>
      <p:sp>
        <p:nvSpPr>
          <p:cNvPr id="6" name="Text 4"/>
          <p:cNvSpPr/>
          <p:nvPr/>
        </p:nvSpPr>
        <p:spPr>
          <a:xfrm>
            <a:off x="566928" y="1965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Q1</a:t>
            </a:r>
            <a:endParaRPr lang="en-US" sz="950" dirty="0"/>
          </a:p>
        </p:txBody>
      </p:sp>
      <p:sp>
        <p:nvSpPr>
          <p:cNvPr id="7" name="Text 5"/>
          <p:cNvSpPr/>
          <p:nvPr/>
        </p:nvSpPr>
        <p:spPr>
          <a:xfrm>
            <a:off x="1143000" y="1920240"/>
            <a:ext cx="10372039" cy="2194560"/>
          </a:xfrm>
          <a:prstGeom prst="rect">
            <a:avLst/>
          </a:prstGeom>
          <a:noFill/>
          <a:ln/>
        </p:spPr>
        <p:txBody>
          <a:bodyPr wrap="square" rtlCol="0" anchor="t"/>
          <a:lstStyle/>
          <a:p>
            <a:pPr indent="0" marL="0">
              <a:lnSpc>
                <a:spcPct val="115000"/>
              </a:lnSpc>
              <a:buNone/>
            </a:pPr>
            <a:r>
              <a:rPr lang="en-US" sz="1350" dirty="0">
                <a:solidFill>
                  <a:srgbClr val="E4DFD5"/>
                </a:solidFill>
                <a:latin typeface="Georgia" pitchFamily="34" charset="0"/>
                <a:ea typeface="Georgia" pitchFamily="34" charset="-122"/>
                <a:cs typeface="Georgia" pitchFamily="34" charset="-120"/>
              </a:rPr>
              <a:t>Pick a duty from your field (fiduciary, statutory, contractual). Which property does it protect, and what does breach look like?</a:t>
            </a:r>
            <a:endParaRPr lang="en-US" sz="1350" dirty="0"/>
          </a:p>
        </p:txBody>
      </p:sp>
      <p:sp>
        <p:nvSpPr>
          <p:cNvPr id="8" name="Shape 6"/>
          <p:cNvSpPr/>
          <p:nvPr/>
        </p:nvSpPr>
        <p:spPr>
          <a:xfrm>
            <a:off x="566928" y="4251960"/>
            <a:ext cx="420624" cy="420624"/>
          </a:xfrm>
          <a:prstGeom prst="ellipse">
            <a:avLst/>
          </a:prstGeom>
          <a:solidFill>
            <a:srgbClr val="8A8378"/>
          </a:solidFill>
          <a:ln/>
        </p:spPr>
      </p:sp>
      <p:sp>
        <p:nvSpPr>
          <p:cNvPr id="9" name="Text 7"/>
          <p:cNvSpPr/>
          <p:nvPr/>
        </p:nvSpPr>
        <p:spPr>
          <a:xfrm>
            <a:off x="566928" y="4251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Q2</a:t>
            </a:r>
            <a:endParaRPr lang="en-US" sz="950" dirty="0"/>
          </a:p>
        </p:txBody>
      </p:sp>
      <p:sp>
        <p:nvSpPr>
          <p:cNvPr id="10" name="Text 8"/>
          <p:cNvSpPr/>
          <p:nvPr/>
        </p:nvSpPr>
        <p:spPr>
          <a:xfrm>
            <a:off x="1143000" y="4206240"/>
            <a:ext cx="10372039" cy="2194560"/>
          </a:xfrm>
          <a:prstGeom prst="rect">
            <a:avLst/>
          </a:prstGeom>
          <a:noFill/>
          <a:ln/>
        </p:spPr>
        <p:txBody>
          <a:bodyPr wrap="square" rtlCol="0" anchor="t"/>
          <a:lstStyle/>
          <a:p>
            <a:pPr indent="0" marL="0">
              <a:lnSpc>
                <a:spcPct val="115000"/>
              </a:lnSpc>
              <a:buNone/>
            </a:pPr>
            <a:r>
              <a:rPr lang="en-US" sz="1350" dirty="0">
                <a:solidFill>
                  <a:srgbClr val="E4DFD5"/>
                </a:solidFill>
                <a:latin typeface="Georgia" pitchFamily="34" charset="0"/>
                <a:ea typeface="Georgia" pitchFamily="34" charset="-122"/>
                <a:cs typeface="Georgia" pitchFamily="34" charset="-120"/>
              </a:rPr>
              <a:t>Which of the six is hardest to litigate or evidence, and why?</a:t>
            </a:r>
            <a:endParaRPr lang="en-US" sz="13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3</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050" b="1" dirty="0">
                <a:solidFill>
                  <a:srgbClr val="FFFFFF"/>
                </a:solidFill>
                <a:latin typeface="Georgia" pitchFamily="34" charset="0"/>
                <a:ea typeface="Georgia" pitchFamily="34" charset="-122"/>
                <a:cs typeface="Georgia" pitchFamily="34" charset="-120"/>
              </a:rPr>
              <a:t>Modality and the limits of the model</a:t>
            </a:r>
            <a:endParaRPr lang="en-US" sz="20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350" dirty="0">
                <a:solidFill>
                  <a:srgbClr val="33302B"/>
                </a:solidFill>
                <a:latin typeface="Georgia" pitchFamily="34" charset="0"/>
                <a:ea typeface="Georgia" pitchFamily="34" charset="-122"/>
                <a:cs typeface="Georgia" pitchFamily="34" charset="-120"/>
              </a:rPr>
              <a:t>Legal obligations are frequently modal — must, must not, never. This week’s analytical core: a modal duty cannot be satisfied by a system whose behaviour is only probabilistic, so a rule that binds must be enforced in structure, not in a model’s instructions. We meet the enforcement record that shows one systems error becoming categorical liability.</a:t>
            </a:r>
            <a:endParaRPr lang="en-US" sz="135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Learning aims</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Explain why modal duties resist probabilistic control</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Locate legal enforcement outside the model</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See categorical liability from a single failure</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MODALITY MEETS PROBABILITY</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350" b="1" dirty="0">
                <a:solidFill>
                  <a:srgbClr val="1B1A18"/>
                </a:solidFill>
                <a:latin typeface="Georgia" pitchFamily="34" charset="0"/>
                <a:ea typeface="Georgia" pitchFamily="34" charset="-122"/>
                <a:cs typeface="Georgia" pitchFamily="34" charset="-120"/>
              </a:rPr>
              <a:t>Two propositions that govern compliance</a:t>
            </a:r>
            <a:endParaRPr lang="en-US" sz="2350" dirty="0"/>
          </a:p>
        </p:txBody>
      </p:sp>
      <p:sp>
        <p:nvSpPr>
          <p:cNvPr id="4" name="Shape 2"/>
          <p:cNvSpPr/>
          <p:nvPr/>
        </p:nvSpPr>
        <p:spPr>
          <a:xfrm>
            <a:off x="566928" y="1691640"/>
            <a:ext cx="5391760" cy="2148840"/>
          </a:xfrm>
          <a:prstGeom prst="roundRect">
            <a:avLst>
              <a:gd name="adj" fmla="val 3404"/>
            </a:avLst>
          </a:prstGeom>
          <a:solidFill>
            <a:srgbClr val="F4F2EE"/>
          </a:solidFill>
          <a:ln w="12700">
            <a:solidFill>
              <a:srgbClr val="EBE7DF"/>
            </a:solidFill>
            <a:prstDash val="solid"/>
          </a:ln>
        </p:spPr>
      </p:sp>
      <p:sp>
        <p:nvSpPr>
          <p:cNvPr id="5" name="Shape 3"/>
          <p:cNvSpPr/>
          <p:nvPr/>
        </p:nvSpPr>
        <p:spPr>
          <a:xfrm>
            <a:off x="795528" y="1892808"/>
            <a:ext cx="2629814" cy="310896"/>
          </a:xfrm>
          <a:prstGeom prst="roundRect">
            <a:avLst>
              <a:gd name="adj" fmla="val 50000"/>
            </a:avLst>
          </a:prstGeom>
          <a:solidFill>
            <a:srgbClr val="1B1A18"/>
          </a:solidFill>
          <a:ln/>
        </p:spPr>
      </p:sp>
      <p:sp>
        <p:nvSpPr>
          <p:cNvPr id="6" name="Text 4"/>
          <p:cNvSpPr/>
          <p:nvPr/>
        </p:nvSpPr>
        <p:spPr>
          <a:xfrm>
            <a:off x="795528" y="1892808"/>
            <a:ext cx="2629814"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Regulatory determinism</a:t>
            </a:r>
            <a:endParaRPr lang="en-US" sz="900" dirty="0"/>
          </a:p>
        </p:txBody>
      </p:sp>
      <p:sp>
        <p:nvSpPr>
          <p:cNvPr id="7" name="Text 5"/>
          <p:cNvSpPr/>
          <p:nvPr/>
        </p:nvSpPr>
        <p:spPr>
          <a:xfrm>
            <a:off x="795528" y="2295144"/>
            <a:ext cx="4934560"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Duties are modal</a:t>
            </a:r>
            <a:endParaRPr lang="en-US" sz="1400" dirty="0"/>
          </a:p>
        </p:txBody>
      </p:sp>
      <p:sp>
        <p:nvSpPr>
          <p:cNvPr id="8" name="Text 6"/>
          <p:cNvSpPr/>
          <p:nvPr/>
        </p:nvSpPr>
        <p:spPr>
          <a:xfrm>
            <a:off x="795528" y="2752344"/>
            <a:ext cx="4934560"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A ‘never’ must hold always and be provable after the fact. Blocking a prohibited act 99.9% of the time is a measured violation.</a:t>
            </a:r>
            <a:endParaRPr lang="en-US" sz="1100" dirty="0"/>
          </a:p>
        </p:txBody>
      </p:sp>
      <p:sp>
        <p:nvSpPr>
          <p:cNvPr id="9" name="Shape 7"/>
          <p:cNvSpPr/>
          <p:nvPr/>
        </p:nvSpPr>
        <p:spPr>
          <a:xfrm>
            <a:off x="6233008" y="1691640"/>
            <a:ext cx="5391760" cy="2148840"/>
          </a:xfrm>
          <a:prstGeom prst="roundRect">
            <a:avLst>
              <a:gd name="adj" fmla="val 3404"/>
            </a:avLst>
          </a:prstGeom>
          <a:solidFill>
            <a:srgbClr val="F4F2EE"/>
          </a:solidFill>
          <a:ln w="12700">
            <a:solidFill>
              <a:srgbClr val="EBE7DF"/>
            </a:solidFill>
            <a:prstDash val="solid"/>
          </a:ln>
        </p:spPr>
      </p:sp>
      <p:sp>
        <p:nvSpPr>
          <p:cNvPr id="10" name="Shape 8"/>
          <p:cNvSpPr/>
          <p:nvPr/>
        </p:nvSpPr>
        <p:spPr>
          <a:xfrm>
            <a:off x="6461608" y="1892808"/>
            <a:ext cx="2728570" cy="310896"/>
          </a:xfrm>
          <a:prstGeom prst="roundRect">
            <a:avLst>
              <a:gd name="adj" fmla="val 50000"/>
            </a:avLst>
          </a:prstGeom>
          <a:solidFill>
            <a:srgbClr val="1B1A18"/>
          </a:solidFill>
          <a:ln/>
        </p:spPr>
      </p:sp>
      <p:sp>
        <p:nvSpPr>
          <p:cNvPr id="11" name="Text 9"/>
          <p:cNvSpPr/>
          <p:nvPr/>
        </p:nvSpPr>
        <p:spPr>
          <a:xfrm>
            <a:off x="6461608" y="1892808"/>
            <a:ext cx="2728570"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Probabilistic behaviour</a:t>
            </a:r>
            <a:endParaRPr lang="en-US" sz="900" dirty="0"/>
          </a:p>
        </p:txBody>
      </p:sp>
      <p:sp>
        <p:nvSpPr>
          <p:cNvPr id="12" name="Text 10"/>
          <p:cNvSpPr/>
          <p:nvPr/>
        </p:nvSpPr>
        <p:spPr>
          <a:xfrm>
            <a:off x="6461608" y="2295144"/>
            <a:ext cx="4934560"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The model holds ‘usually’</a:t>
            </a:r>
            <a:endParaRPr lang="en-US" sz="1400" dirty="0"/>
          </a:p>
        </p:txBody>
      </p:sp>
      <p:sp>
        <p:nvSpPr>
          <p:cNvPr id="13" name="Text 11"/>
          <p:cNvSpPr/>
          <p:nvPr/>
        </p:nvSpPr>
        <p:spPr>
          <a:xfrm>
            <a:off x="6461608" y="2752344"/>
            <a:ext cx="4934560"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Same input, different output; adversarial input, arbitrary output. An instruction to a model is a request, not a guarantee.</a:t>
            </a:r>
            <a:endParaRPr lang="en-US" sz="1100" dirty="0"/>
          </a:p>
        </p:txBody>
      </p:sp>
      <p:sp>
        <p:nvSpPr>
          <p:cNvPr id="14" name="Shape 12"/>
          <p:cNvSpPr/>
          <p:nvPr/>
        </p:nvSpPr>
        <p:spPr>
          <a:xfrm>
            <a:off x="566928" y="4114800"/>
            <a:ext cx="5391760" cy="2148840"/>
          </a:xfrm>
          <a:prstGeom prst="roundRect">
            <a:avLst>
              <a:gd name="adj" fmla="val 3404"/>
            </a:avLst>
          </a:prstGeom>
          <a:solidFill>
            <a:srgbClr val="F4F2EE"/>
          </a:solidFill>
          <a:ln w="12700">
            <a:solidFill>
              <a:srgbClr val="EBE7DF"/>
            </a:solidFill>
            <a:prstDash val="solid"/>
          </a:ln>
        </p:spPr>
      </p:sp>
      <p:sp>
        <p:nvSpPr>
          <p:cNvPr id="15" name="Shape 13"/>
          <p:cNvSpPr/>
          <p:nvPr/>
        </p:nvSpPr>
        <p:spPr>
          <a:xfrm>
            <a:off x="795528" y="4315968"/>
            <a:ext cx="1938528" cy="310896"/>
          </a:xfrm>
          <a:prstGeom prst="roundRect">
            <a:avLst>
              <a:gd name="adj" fmla="val 50000"/>
            </a:avLst>
          </a:prstGeom>
          <a:solidFill>
            <a:srgbClr val="8A8378"/>
          </a:solidFill>
          <a:ln/>
        </p:spPr>
      </p:sp>
      <p:sp>
        <p:nvSpPr>
          <p:cNvPr id="16" name="Text 14"/>
          <p:cNvSpPr/>
          <p:nvPr/>
        </p:nvSpPr>
        <p:spPr>
          <a:xfrm>
            <a:off x="795528" y="4315968"/>
            <a:ext cx="1938528"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The composition</a:t>
            </a:r>
            <a:endParaRPr lang="en-US" sz="900" dirty="0"/>
          </a:p>
        </p:txBody>
      </p:sp>
      <p:sp>
        <p:nvSpPr>
          <p:cNvPr id="17" name="Text 15"/>
          <p:cNvSpPr/>
          <p:nvPr/>
        </p:nvSpPr>
        <p:spPr>
          <a:xfrm>
            <a:off x="795528" y="4718304"/>
            <a:ext cx="4934560"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The model can’t be the control</a:t>
            </a:r>
            <a:endParaRPr lang="en-US" sz="1400" dirty="0"/>
          </a:p>
        </p:txBody>
      </p:sp>
      <p:sp>
        <p:nvSpPr>
          <p:cNvPr id="18" name="Text 16"/>
          <p:cNvSpPr/>
          <p:nvPr/>
        </p:nvSpPr>
        <p:spPr>
          <a:xfrm>
            <a:off x="795528" y="5175504"/>
            <a:ext cx="4934560"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A modal duty cannot live in a probabilistic component; it must be enforced by structure the output passes through.</a:t>
            </a:r>
            <a:endParaRPr lang="en-US" sz="1100" dirty="0"/>
          </a:p>
        </p:txBody>
      </p:sp>
      <p:sp>
        <p:nvSpPr>
          <p:cNvPr id="19" name="Shape 17"/>
          <p:cNvSpPr/>
          <p:nvPr/>
        </p:nvSpPr>
        <p:spPr>
          <a:xfrm>
            <a:off x="6233008" y="4114800"/>
            <a:ext cx="5391760" cy="2148840"/>
          </a:xfrm>
          <a:prstGeom prst="roundRect">
            <a:avLst>
              <a:gd name="adj" fmla="val 3404"/>
            </a:avLst>
          </a:prstGeom>
          <a:solidFill>
            <a:srgbClr val="F4F2EE"/>
          </a:solidFill>
          <a:ln w="12700">
            <a:solidFill>
              <a:srgbClr val="EBE7DF"/>
            </a:solidFill>
            <a:prstDash val="solid"/>
          </a:ln>
        </p:spPr>
      </p:sp>
      <p:sp>
        <p:nvSpPr>
          <p:cNvPr id="20" name="Shape 18"/>
          <p:cNvSpPr/>
          <p:nvPr/>
        </p:nvSpPr>
        <p:spPr>
          <a:xfrm>
            <a:off x="6461608" y="4315968"/>
            <a:ext cx="1839773" cy="310896"/>
          </a:xfrm>
          <a:prstGeom prst="roundRect">
            <a:avLst>
              <a:gd name="adj" fmla="val 50000"/>
            </a:avLst>
          </a:prstGeom>
          <a:solidFill>
            <a:srgbClr val="8A8378"/>
          </a:solidFill>
          <a:ln/>
        </p:spPr>
      </p:sp>
      <p:sp>
        <p:nvSpPr>
          <p:cNvPr id="21" name="Text 19"/>
          <p:cNvSpPr/>
          <p:nvPr/>
        </p:nvSpPr>
        <p:spPr>
          <a:xfrm>
            <a:off x="6461608" y="4315968"/>
            <a:ext cx="1839773"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For the lawyer</a:t>
            </a:r>
            <a:endParaRPr lang="en-US" sz="900" dirty="0"/>
          </a:p>
        </p:txBody>
      </p:sp>
      <p:sp>
        <p:nvSpPr>
          <p:cNvPr id="22" name="Text 20"/>
          <p:cNvSpPr/>
          <p:nvPr/>
        </p:nvSpPr>
        <p:spPr>
          <a:xfrm>
            <a:off x="6461608" y="4718304"/>
            <a:ext cx="4934560"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Where is it enforced?</a:t>
            </a:r>
            <a:endParaRPr lang="en-US" sz="1400" dirty="0"/>
          </a:p>
        </p:txBody>
      </p:sp>
      <p:sp>
        <p:nvSpPr>
          <p:cNvPr id="23" name="Text 21"/>
          <p:cNvSpPr/>
          <p:nvPr/>
        </p:nvSpPr>
        <p:spPr>
          <a:xfrm>
            <a:off x="6461608" y="5175504"/>
            <a:ext cx="4934560"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Ask not whether the entity told the model to comply, but where, structurally, compliance is guaranteed.</a:t>
            </a:r>
            <a:endParaRPr lang="en-US" sz="1100" dirty="0"/>
          </a:p>
        </p:txBody>
      </p:sp>
      <p:sp>
        <p:nvSpPr>
          <p:cNvPr id="24" name="Text 22"/>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25" name="Text 23"/>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566928" y="502920"/>
            <a:ext cx="1737360" cy="310896"/>
          </a:xfrm>
          <a:prstGeom prst="roundRect">
            <a:avLst>
              <a:gd name="adj" fmla="val 50000"/>
            </a:avLst>
          </a:prstGeom>
          <a:solidFill>
            <a:srgbClr val="8A8378"/>
          </a:solidFill>
          <a:ln/>
        </p:spPr>
      </p:sp>
      <p:sp>
        <p:nvSpPr>
          <p:cNvPr id="3" name="Text 1"/>
          <p:cNvSpPr/>
          <p:nvPr/>
        </p:nvSpPr>
        <p:spPr>
          <a:xfrm>
            <a:off x="566928" y="502920"/>
            <a:ext cx="173736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CASE RECORD</a:t>
            </a:r>
            <a:endParaRPr lang="en-US" sz="1050" dirty="0"/>
          </a:p>
        </p:txBody>
      </p:sp>
      <p:sp>
        <p:nvSpPr>
          <p:cNvPr id="4" name="Text 2"/>
          <p:cNvSpPr/>
          <p:nvPr/>
        </p:nvSpPr>
        <p:spPr>
          <a:xfrm>
            <a:off x="566928" y="914400"/>
            <a:ext cx="11057839" cy="731520"/>
          </a:xfrm>
          <a:prstGeom prst="rect">
            <a:avLst/>
          </a:prstGeom>
          <a:noFill/>
          <a:ln/>
        </p:spPr>
        <p:txBody>
          <a:bodyPr wrap="square" rtlCol="0" anchor="ctr"/>
          <a:lstStyle/>
          <a:p>
            <a:pPr indent="0" marL="0">
              <a:buNone/>
            </a:pPr>
            <a:r>
              <a:rPr lang="en-US" sz="2150" b="1" dirty="0">
                <a:solidFill>
                  <a:srgbClr val="FFFFFF"/>
                </a:solidFill>
                <a:latin typeface="Georgia" pitchFamily="34" charset="0"/>
                <a:ea typeface="Georgia" pitchFamily="34" charset="-122"/>
                <a:cs typeface="Georgia" pitchFamily="34" charset="-120"/>
              </a:rPr>
              <a:t>AUSTRAC v Commonwealth Bank</a:t>
            </a:r>
            <a:endParaRPr lang="en-US" sz="2150" dirty="0"/>
          </a:p>
        </p:txBody>
      </p:sp>
      <p:sp>
        <p:nvSpPr>
          <p:cNvPr id="5" name="Text 3"/>
          <p:cNvSpPr/>
          <p:nvPr/>
        </p:nvSpPr>
        <p:spPr>
          <a:xfrm>
            <a:off x="566928" y="1965960"/>
            <a:ext cx="5760720" cy="1463040"/>
          </a:xfrm>
          <a:prstGeom prst="rect">
            <a:avLst/>
          </a:prstGeom>
          <a:noFill/>
          <a:ln/>
        </p:spPr>
        <p:txBody>
          <a:bodyPr wrap="square" rtlCol="0" anchor="ctr"/>
          <a:lstStyle/>
          <a:p>
            <a:pPr indent="0" marL="0">
              <a:buNone/>
            </a:pPr>
            <a:r>
              <a:rPr lang="en-US" sz="4700" b="1" dirty="0">
                <a:solidFill>
                  <a:srgbClr val="8A8378"/>
                </a:solidFill>
                <a:latin typeface="Georgia" pitchFamily="34" charset="0"/>
                <a:ea typeface="Georgia" pitchFamily="34" charset="-122"/>
                <a:cs typeface="Georgia" pitchFamily="34" charset="-120"/>
              </a:rPr>
              <a:t>A$700M</a:t>
            </a:r>
            <a:endParaRPr lang="en-US" sz="4700" dirty="0"/>
          </a:p>
        </p:txBody>
      </p:sp>
      <p:sp>
        <p:nvSpPr>
          <p:cNvPr id="6" name="Text 4"/>
          <p:cNvSpPr/>
          <p:nvPr/>
        </p:nvSpPr>
        <p:spPr>
          <a:xfrm>
            <a:off x="566928" y="3383280"/>
            <a:ext cx="5760720" cy="1371600"/>
          </a:xfrm>
          <a:prstGeom prst="rect">
            <a:avLst/>
          </a:prstGeom>
          <a:noFill/>
          <a:ln/>
        </p:spPr>
        <p:txBody>
          <a:bodyPr wrap="square" rtlCol="0" anchor="t"/>
          <a:lstStyle/>
          <a:p>
            <a:pPr indent="0" marL="0">
              <a:lnSpc>
                <a:spcPct val="120000"/>
              </a:lnSpc>
              <a:buNone/>
            </a:pPr>
            <a:r>
              <a:rPr lang="en-US" sz="1400" dirty="0">
                <a:solidFill>
                  <a:srgbClr val="E4DFD5"/>
                </a:solidFill>
                <a:latin typeface="Georgia" pitchFamily="34" charset="0"/>
                <a:ea typeface="Georgia" pitchFamily="34" charset="-122"/>
                <a:cs typeface="Georgia" pitchFamily="34" charset="-120"/>
              </a:rPr>
              <a:t>civil penalty; 53,506 late reports from a single systems error — a modal ‘must report’ duty, categorically breached</a:t>
            </a:r>
            <a:endParaRPr lang="en-US" sz="1400" dirty="0"/>
          </a:p>
        </p:txBody>
      </p:sp>
      <p:sp>
        <p:nvSpPr>
          <p:cNvPr id="7" name="Text 5"/>
          <p:cNvSpPr/>
          <p:nvPr/>
        </p:nvSpPr>
        <p:spPr>
          <a:xfrm>
            <a:off x="566928" y="5303520"/>
            <a:ext cx="5852160" cy="777240"/>
          </a:xfrm>
          <a:prstGeom prst="rect">
            <a:avLst/>
          </a:prstGeom>
          <a:noFill/>
          <a:ln/>
        </p:spPr>
        <p:txBody>
          <a:bodyPr wrap="square" rtlCol="0" anchor="t"/>
          <a:lstStyle/>
          <a:p>
            <a:pPr indent="0" marL="0">
              <a:lnSpc>
                <a:spcPct val="110000"/>
              </a:lnSpc>
              <a:buNone/>
            </a:pPr>
            <a:r>
              <a:rPr lang="en-US" sz="900" b="1" dirty="0">
                <a:solidFill>
                  <a:srgbClr val="8A8378"/>
                </a:solidFill>
                <a:latin typeface="Georgia" pitchFamily="34" charset="0"/>
                <a:ea typeface="Georgia" pitchFamily="34" charset="-122"/>
                <a:cs typeface="Georgia" pitchFamily="34" charset="-120"/>
              </a:rPr>
              <a:t>CITATION  </a:t>
            </a:r>
            <a:pPr indent="0" marL="0">
              <a:lnSpc>
                <a:spcPct val="110000"/>
              </a:lnSpc>
              <a:buNone/>
            </a:pPr>
            <a:r>
              <a:rPr lang="en-US" sz="950" i="1" dirty="0">
                <a:solidFill>
                  <a:srgbClr val="C4BDB0"/>
                </a:solidFill>
                <a:latin typeface="Georgia" pitchFamily="34" charset="0"/>
                <a:ea typeface="Georgia" pitchFamily="34" charset="-122"/>
                <a:cs typeface="Georgia" pitchFamily="34" charset="-120"/>
              </a:rPr>
              <a:t>AUSTRAC proceedings (filed 3 Aug 2017); penalty approved 4 Jun 2018; APRA Prudential Inquiry (2018).</a:t>
            </a:r>
            <a:endParaRPr lang="en-US" sz="900" dirty="0"/>
          </a:p>
        </p:txBody>
      </p:sp>
      <p:sp>
        <p:nvSpPr>
          <p:cNvPr id="8" name="Shape 6"/>
          <p:cNvSpPr/>
          <p:nvPr/>
        </p:nvSpPr>
        <p:spPr>
          <a:xfrm>
            <a:off x="6766560" y="1965960"/>
            <a:ext cx="4858207" cy="3794760"/>
          </a:xfrm>
          <a:prstGeom prst="roundRect">
            <a:avLst>
              <a:gd name="adj" fmla="val 2410"/>
            </a:avLst>
          </a:prstGeom>
          <a:solidFill>
            <a:srgbClr val="33302B"/>
          </a:solidFill>
          <a:ln/>
        </p:spPr>
      </p:sp>
      <p:sp>
        <p:nvSpPr>
          <p:cNvPr id="9" name="Text 7"/>
          <p:cNvSpPr/>
          <p:nvPr/>
        </p:nvSpPr>
        <p:spPr>
          <a:xfrm>
            <a:off x="6995160" y="2167128"/>
            <a:ext cx="4401007" cy="3429000"/>
          </a:xfrm>
          <a:prstGeom prst="rect">
            <a:avLst/>
          </a:prstGeom>
          <a:noFill/>
          <a:ln/>
        </p:spPr>
        <p:txBody>
          <a:bodyPr wrap="square" rtlCol="0" anchor="t"/>
          <a:lstStyle/>
          <a:p>
            <a:pPr indent="0" marL="0">
              <a:lnSpc>
                <a:spcPct val="118000"/>
              </a:lnSpc>
              <a:spcAft>
                <a:spcPts val="900"/>
              </a:spcAft>
              <a:buNone/>
            </a:pPr>
            <a:r>
              <a:rPr lang="en-US" sz="1200" b="1" dirty="0">
                <a:solidFill>
                  <a:srgbClr val="FFFFFF"/>
                </a:solidFill>
                <a:latin typeface="Georgia" pitchFamily="34" charset="0"/>
                <a:ea typeface="Georgia" pitchFamily="34" charset="-122"/>
                <a:cs typeface="Georgia" pitchFamily="34" charset="-120"/>
              </a:rPr>
              <a:t>Facts:</a:t>
            </a:r>
            <a:endParaRPr lang="en-US" sz="1200" dirty="0"/>
          </a:p>
          <a:p>
            <a:pPr indent="0" marL="0">
              <a:lnSpc>
                <a:spcPct val="118000"/>
              </a:lnSpc>
              <a:spcAft>
                <a:spcPts val="900"/>
              </a:spcAft>
              <a:buNone/>
            </a:pPr>
            <a:r>
              <a:rPr lang="en-US" sz="1200" dirty="0">
                <a:solidFill>
                  <a:srgbClr val="E4DFD5"/>
                </a:solidFill>
                <a:latin typeface="Georgia" pitchFamily="34" charset="0"/>
                <a:ea typeface="Georgia" pitchFamily="34" charset="-122"/>
                <a:cs typeface="Georgia" pitchFamily="34" charset="-120"/>
              </a:rPr>
              <a:t>a coding error meant tens of thousands of mandatory reports were filed late over nearly three years.</a:t>
            </a:r>
            <a:endParaRPr lang="en-US" sz="1200" dirty="0"/>
          </a:p>
          <a:p>
            <a:pPr indent="0" marL="0">
              <a:lnSpc>
                <a:spcPct val="118000"/>
              </a:lnSpc>
              <a:spcAft>
                <a:spcPts val="900"/>
              </a:spcAft>
              <a:buNone/>
            </a:pPr>
            <a:r>
              <a:rPr lang="en-US" sz="1200" b="1" dirty="0">
                <a:solidFill>
                  <a:srgbClr val="FFFFFF"/>
                </a:solidFill>
                <a:latin typeface="Georgia" pitchFamily="34" charset="0"/>
                <a:ea typeface="Georgia" pitchFamily="34" charset="-122"/>
                <a:cs typeface="Georgia" pitchFamily="34" charset="-120"/>
              </a:rPr>
              <a:t>Outcome:</a:t>
            </a:r>
            <a:endParaRPr lang="en-US" sz="1200" dirty="0"/>
          </a:p>
          <a:p>
            <a:pPr indent="0" marL="0">
              <a:lnSpc>
                <a:spcPct val="118000"/>
              </a:lnSpc>
              <a:spcAft>
                <a:spcPts val="900"/>
              </a:spcAft>
              <a:buNone/>
            </a:pPr>
            <a:r>
              <a:rPr lang="en-US" sz="1200" dirty="0">
                <a:solidFill>
                  <a:srgbClr val="E4DFD5"/>
                </a:solidFill>
                <a:latin typeface="Georgia" pitchFamily="34" charset="0"/>
                <a:ea typeface="Georgia" pitchFamily="34" charset="-122"/>
                <a:cs typeface="Georgia" pitchFamily="34" charset="-120"/>
              </a:rPr>
              <a:t>admitted contraventions from one systems error; A$700M penalty; a prudential capital overlay.</a:t>
            </a:r>
            <a:endParaRPr lang="en-US" sz="1200" dirty="0"/>
          </a:p>
          <a:p>
            <a:pPr indent="0" marL="0">
              <a:lnSpc>
                <a:spcPct val="118000"/>
              </a:lnSpc>
              <a:spcAft>
                <a:spcPts val="900"/>
              </a:spcAft>
              <a:buNone/>
            </a:pPr>
            <a:r>
              <a:rPr lang="en-US" sz="1200" b="1" dirty="0">
                <a:solidFill>
                  <a:srgbClr val="FFFFFF"/>
                </a:solidFill>
                <a:latin typeface="Georgia" pitchFamily="34" charset="0"/>
                <a:ea typeface="Georgia" pitchFamily="34" charset="-122"/>
                <a:cs typeface="Georgia" pitchFamily="34" charset="-120"/>
              </a:rPr>
              <a:t>Doctrine:</a:t>
            </a:r>
            <a:endParaRPr lang="en-US" sz="1200" dirty="0"/>
          </a:p>
          <a:p>
            <a:pPr indent="0" marL="0">
              <a:lnSpc>
                <a:spcPct val="118000"/>
              </a:lnSpc>
              <a:spcAft>
                <a:spcPts val="900"/>
              </a:spcAft>
              <a:buNone/>
            </a:pPr>
            <a:r>
              <a:rPr lang="en-US" sz="1200" dirty="0">
                <a:solidFill>
                  <a:srgbClr val="E4DFD5"/>
                </a:solidFill>
                <a:latin typeface="Georgia" pitchFamily="34" charset="0"/>
                <a:ea typeface="Georgia" pitchFamily="34" charset="-122"/>
                <a:cs typeface="Georgia" pitchFamily="34" charset="-120"/>
              </a:rPr>
              <a:t>modal obligations are not satisfied ‘usually’ — the law counts violations, not good intentions.</a:t>
            </a:r>
            <a:endParaRPr lang="en-US" sz="1200" dirty="0"/>
          </a:p>
        </p:txBody>
      </p:sp>
      <p:sp>
        <p:nvSpPr>
          <p:cNvPr id="10" name="Text 8"/>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1" name="Text 9"/>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33302B"/>
        </a:solidFill>
      </p:bgPr>
    </p:bg>
    <p:spTree>
      <p:nvGrpSpPr>
        <p:cNvPr id="1" name=""/>
        <p:cNvGrpSpPr/>
        <p:nvPr/>
      </p:nvGrpSpPr>
      <p:grpSpPr>
        <a:xfrm>
          <a:off x="0" y="0"/>
          <a:ext cx="0" cy="0"/>
          <a:chOff x="0" y="0"/>
          <a:chExt cx="0" cy="0"/>
        </a:xfrm>
      </p:grpSpPr>
      <p:sp>
        <p:nvSpPr>
          <p:cNvPr id="2" name="Shape 0"/>
          <p:cNvSpPr/>
          <p:nvPr/>
        </p:nvSpPr>
        <p:spPr>
          <a:xfrm>
            <a:off x="566928" y="502920"/>
            <a:ext cx="1920240" cy="310896"/>
          </a:xfrm>
          <a:prstGeom prst="roundRect">
            <a:avLst>
              <a:gd name="adj" fmla="val 50000"/>
            </a:avLst>
          </a:prstGeom>
          <a:solidFill>
            <a:srgbClr val="8A8378"/>
          </a:solidFill>
          <a:ln/>
        </p:spPr>
      </p:sp>
      <p:sp>
        <p:nvSpPr>
          <p:cNvPr id="3" name="Text 1"/>
          <p:cNvSpPr/>
          <p:nvPr/>
        </p:nvSpPr>
        <p:spPr>
          <a:xfrm>
            <a:off x="566928" y="502920"/>
            <a:ext cx="192024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IN CLASS</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indent="0" marL="0">
              <a:buNone/>
            </a:pPr>
            <a:r>
              <a:rPr lang="en-US" sz="2150" b="1" dirty="0">
                <a:solidFill>
                  <a:srgbClr val="FFFFFF"/>
                </a:solidFill>
                <a:latin typeface="Georgia" pitchFamily="34" charset="0"/>
                <a:ea typeface="Georgia" pitchFamily="34" charset="-122"/>
                <a:cs typeface="Georgia" pitchFamily="34" charset="-120"/>
              </a:rPr>
              <a:t>Discussion — Week 3</a:t>
            </a:r>
            <a:endParaRPr lang="en-US" sz="2150" dirty="0"/>
          </a:p>
        </p:txBody>
      </p:sp>
      <p:sp>
        <p:nvSpPr>
          <p:cNvPr id="5" name="Shape 3"/>
          <p:cNvSpPr/>
          <p:nvPr/>
        </p:nvSpPr>
        <p:spPr>
          <a:xfrm>
            <a:off x="566928" y="1965960"/>
            <a:ext cx="420624" cy="420624"/>
          </a:xfrm>
          <a:prstGeom prst="ellipse">
            <a:avLst/>
          </a:prstGeom>
          <a:solidFill>
            <a:srgbClr val="8A8378"/>
          </a:solidFill>
          <a:ln/>
        </p:spPr>
      </p:sp>
      <p:sp>
        <p:nvSpPr>
          <p:cNvPr id="6" name="Text 4"/>
          <p:cNvSpPr/>
          <p:nvPr/>
        </p:nvSpPr>
        <p:spPr>
          <a:xfrm>
            <a:off x="566928" y="1965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Q1</a:t>
            </a:r>
            <a:endParaRPr lang="en-US" sz="950" dirty="0"/>
          </a:p>
        </p:txBody>
      </p:sp>
      <p:sp>
        <p:nvSpPr>
          <p:cNvPr id="7" name="Text 5"/>
          <p:cNvSpPr/>
          <p:nvPr/>
        </p:nvSpPr>
        <p:spPr>
          <a:xfrm>
            <a:off x="1143000" y="1920240"/>
            <a:ext cx="10372039" cy="2194560"/>
          </a:xfrm>
          <a:prstGeom prst="rect">
            <a:avLst/>
          </a:prstGeom>
          <a:noFill/>
          <a:ln/>
        </p:spPr>
        <p:txBody>
          <a:bodyPr wrap="square" rtlCol="0" anchor="t"/>
          <a:lstStyle/>
          <a:p>
            <a:pPr indent="0" marL="0">
              <a:lnSpc>
                <a:spcPct val="115000"/>
              </a:lnSpc>
              <a:buNone/>
            </a:pPr>
            <a:r>
              <a:rPr lang="en-US" sz="1350" dirty="0">
                <a:solidFill>
                  <a:srgbClr val="E4DFD5"/>
                </a:solidFill>
                <a:latin typeface="Georgia" pitchFamily="34" charset="0"/>
                <a:ea typeface="Georgia" pitchFamily="34" charset="-122"/>
                <a:cs typeface="Georgia" pitchFamily="34" charset="-120"/>
              </a:rPr>
              <a:t>Draft the elements of a rule that would require a ‘never’ to be enforced structurally rather than by instruction.</a:t>
            </a:r>
            <a:endParaRPr lang="en-US" sz="1350" dirty="0"/>
          </a:p>
        </p:txBody>
      </p:sp>
      <p:sp>
        <p:nvSpPr>
          <p:cNvPr id="8" name="Shape 6"/>
          <p:cNvSpPr/>
          <p:nvPr/>
        </p:nvSpPr>
        <p:spPr>
          <a:xfrm>
            <a:off x="566928" y="4251960"/>
            <a:ext cx="420624" cy="420624"/>
          </a:xfrm>
          <a:prstGeom prst="ellipse">
            <a:avLst/>
          </a:prstGeom>
          <a:solidFill>
            <a:srgbClr val="8A8378"/>
          </a:solidFill>
          <a:ln/>
        </p:spPr>
      </p:sp>
      <p:sp>
        <p:nvSpPr>
          <p:cNvPr id="9" name="Text 7"/>
          <p:cNvSpPr/>
          <p:nvPr/>
        </p:nvSpPr>
        <p:spPr>
          <a:xfrm>
            <a:off x="566928" y="4251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Q2</a:t>
            </a:r>
            <a:endParaRPr lang="en-US" sz="950" dirty="0"/>
          </a:p>
        </p:txBody>
      </p:sp>
      <p:sp>
        <p:nvSpPr>
          <p:cNvPr id="10" name="Text 8"/>
          <p:cNvSpPr/>
          <p:nvPr/>
        </p:nvSpPr>
        <p:spPr>
          <a:xfrm>
            <a:off x="1143000" y="4206240"/>
            <a:ext cx="10372039" cy="2194560"/>
          </a:xfrm>
          <a:prstGeom prst="rect">
            <a:avLst/>
          </a:prstGeom>
          <a:noFill/>
          <a:ln/>
        </p:spPr>
        <p:txBody>
          <a:bodyPr wrap="square" rtlCol="0" anchor="t"/>
          <a:lstStyle/>
          <a:p>
            <a:pPr indent="0" marL="0">
              <a:lnSpc>
                <a:spcPct val="115000"/>
              </a:lnSpc>
              <a:buNone/>
            </a:pPr>
            <a:r>
              <a:rPr lang="en-US" sz="1350" dirty="0">
                <a:solidFill>
                  <a:srgbClr val="E4DFD5"/>
                </a:solidFill>
                <a:latin typeface="Georgia" pitchFamily="34" charset="0"/>
                <a:ea typeface="Georgia" pitchFamily="34" charset="-122"/>
                <a:cs typeface="Georgia" pitchFamily="34" charset="-120"/>
              </a:rPr>
              <a:t>When, if ever, is ‘we told the model not to’ an adequate compliance posture?</a:t>
            </a:r>
            <a:endParaRPr lang="en-US" sz="13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566928" y="2148840"/>
            <a:ext cx="1463040" cy="310896"/>
          </a:xfrm>
          <a:prstGeom prst="roundRect">
            <a:avLst>
              <a:gd name="adj" fmla="val 50000"/>
            </a:avLst>
          </a:prstGeom>
          <a:solidFill>
            <a:srgbClr val="8A8378"/>
          </a:solidFill>
          <a:ln/>
        </p:spPr>
      </p:sp>
      <p:sp>
        <p:nvSpPr>
          <p:cNvPr id="3" name="Text 1"/>
          <p:cNvSpPr/>
          <p:nvPr/>
        </p:nvSpPr>
        <p:spPr>
          <a:xfrm>
            <a:off x="566928" y="2148840"/>
            <a:ext cx="1463040" cy="310896"/>
          </a:xfrm>
          <a:prstGeom prst="rect">
            <a:avLst/>
          </a:prstGeom>
          <a:noFill/>
          <a:ln/>
        </p:spPr>
        <p:txBody>
          <a:bodyPr wrap="square" rtlCol="0" anchor="ctr"/>
          <a:lstStyle/>
          <a:p>
            <a:pPr algn="ctr" indent="0" marL="0">
              <a:buNone/>
            </a:pPr>
            <a:r>
              <a:rPr lang="en-US" sz="1050" b="1" spc="50" kern="0" dirty="0">
                <a:solidFill>
                  <a:srgbClr val="1B1A18"/>
                </a:solidFill>
                <a:latin typeface="Georgia" pitchFamily="34" charset="0"/>
                <a:ea typeface="Georgia" pitchFamily="34" charset="-122"/>
                <a:cs typeface="Georgia" pitchFamily="34" charset="-120"/>
              </a:rPr>
              <a:t>PART II</a:t>
            </a:r>
            <a:endParaRPr lang="en-US" sz="1150" dirty="0"/>
          </a:p>
        </p:txBody>
      </p:sp>
      <p:sp>
        <p:nvSpPr>
          <p:cNvPr id="4" name="Text 2"/>
          <p:cNvSpPr/>
          <p:nvPr/>
        </p:nvSpPr>
        <p:spPr>
          <a:xfrm>
            <a:off x="566928" y="2606040"/>
            <a:ext cx="10515600" cy="100584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Doctrine</a:t>
            </a:r>
            <a:endParaRPr lang="en-US" sz="3200" dirty="0"/>
          </a:p>
        </p:txBody>
      </p:sp>
      <p:sp>
        <p:nvSpPr>
          <p:cNvPr id="5" name="Text 3"/>
          <p:cNvSpPr/>
          <p:nvPr/>
        </p:nvSpPr>
        <p:spPr>
          <a:xfrm>
            <a:off x="566928" y="3657600"/>
            <a:ext cx="10058400" cy="1188720"/>
          </a:xfrm>
          <a:prstGeom prst="rect">
            <a:avLst/>
          </a:prstGeom>
          <a:noFill/>
          <a:ln/>
        </p:spPr>
        <p:txBody>
          <a:bodyPr wrap="square" rtlCol="0" anchor="ctr"/>
          <a:lstStyle/>
          <a:p>
            <a:pPr indent="0" marL="0">
              <a:lnSpc>
                <a:spcPct val="125000"/>
              </a:lnSpc>
              <a:buNone/>
            </a:pPr>
            <a:r>
              <a:rPr lang="en-US" sz="1400" dirty="0">
                <a:solidFill>
                  <a:srgbClr val="E4DFD5"/>
                </a:solidFill>
                <a:latin typeface="Georgia" pitchFamily="34" charset="0"/>
                <a:ea typeface="Georgia" pitchFamily="34" charset="-122"/>
                <a:cs typeface="Georgia" pitchFamily="34" charset="-120"/>
              </a:rPr>
              <a:t>The law applied: agency and liability, evidence, contract and procurement, data protection, financial-crime mandates, and consumer protection.</a:t>
            </a:r>
            <a:endParaRPr lang="en-US" sz="1400" dirty="0"/>
          </a:p>
        </p:txBody>
      </p:sp>
      <p:sp>
        <p:nvSpPr>
          <p:cNvPr id="6" name="Text 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4</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050" b="1" dirty="0">
                <a:solidFill>
                  <a:srgbClr val="FFFFFF"/>
                </a:solidFill>
                <a:latin typeface="Georgia" pitchFamily="34" charset="0"/>
                <a:ea typeface="Georgia" pitchFamily="34" charset="-122"/>
                <a:cs typeface="Georgia" pitchFamily="34" charset="-120"/>
              </a:rPr>
              <a:t>Liability and agency</a:t>
            </a:r>
            <a:endParaRPr lang="en-US" sz="20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350" dirty="0">
                <a:solidFill>
                  <a:srgbClr val="33302B"/>
                </a:solidFill>
                <a:latin typeface="Georgia" pitchFamily="34" charset="0"/>
                <a:ea typeface="Georgia" pitchFamily="34" charset="-122"/>
                <a:cs typeface="Georgia" pitchFamily="34" charset="-120"/>
              </a:rPr>
              <a:t>Who answers for an autonomous agent’s act? This week works through attribution — the agency and vicarious-liability principles by which an institution is bound by acts performed on its behalf — and the ‘separate entity’ fallacy. We compare an adjudicated case with two company-acknowledged incidents, noting how the evidential register differs.</a:t>
            </a:r>
            <a:endParaRPr lang="en-US" sz="135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Learning aims</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Apply agency/attribution principles to agent acts</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Reject the ‘separate entity’ defence</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Weigh adjudicated vs acknowledged records</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AGENCY &amp; VICARIOUS PRINCIPLES (JURISDICTION-NEUTRAL)</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350" b="1" dirty="0">
                <a:solidFill>
                  <a:srgbClr val="1B1A18"/>
                </a:solidFill>
                <a:latin typeface="Georgia" pitchFamily="34" charset="0"/>
                <a:ea typeface="Georgia" pitchFamily="34" charset="-122"/>
                <a:cs typeface="Georgia" pitchFamily="34" charset="-120"/>
              </a:rPr>
              <a:t>Attribution: who answers for the agent</a:t>
            </a:r>
            <a:endParaRPr lang="en-US" sz="2350" dirty="0"/>
          </a:p>
        </p:txBody>
      </p:sp>
      <p:sp>
        <p:nvSpPr>
          <p:cNvPr id="4" name="Shape 2"/>
          <p:cNvSpPr/>
          <p:nvPr/>
        </p:nvSpPr>
        <p:spPr>
          <a:xfrm>
            <a:off x="566928" y="1691640"/>
            <a:ext cx="457200" cy="457200"/>
          </a:xfrm>
          <a:prstGeom prst="ellipse">
            <a:avLst/>
          </a:prstGeom>
          <a:solidFill>
            <a:srgbClr val="1B1A18"/>
          </a:solidFill>
          <a:ln/>
        </p:spPr>
      </p:sp>
      <p:sp>
        <p:nvSpPr>
          <p:cNvPr id="5" name="Text 3"/>
          <p:cNvSpPr/>
          <p:nvPr/>
        </p:nvSpPr>
        <p:spPr>
          <a:xfrm>
            <a:off x="566928" y="169164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Acts on the institution’s behalf bind it.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Agency principles generally attribute an authorised agent’s acts to the principal — the mechanism the law already uses for employees and contractors.</a:t>
            </a:r>
            <a:endParaRPr lang="en-US" sz="1450" dirty="0"/>
          </a:p>
        </p:txBody>
      </p:sp>
      <p:sp>
        <p:nvSpPr>
          <p:cNvPr id="7" name="Shape 5"/>
          <p:cNvSpPr/>
          <p:nvPr/>
        </p:nvSpPr>
        <p:spPr>
          <a:xfrm>
            <a:off x="566928" y="2857500"/>
            <a:ext cx="457200" cy="457200"/>
          </a:xfrm>
          <a:prstGeom prst="ellipse">
            <a:avLst/>
          </a:prstGeom>
          <a:solidFill>
            <a:srgbClr val="1B1A18"/>
          </a:solidFill>
          <a:ln/>
        </p:spPr>
      </p:sp>
      <p:sp>
        <p:nvSpPr>
          <p:cNvPr id="8" name="Text 6"/>
          <p:cNvSpPr/>
          <p:nvPr/>
        </p:nvSpPr>
        <p:spPr>
          <a:xfrm>
            <a:off x="566928" y="285750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Apparent authority matters.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What the institution holds its agent out as able to do can bind it, even beyond actual authority.</a:t>
            </a:r>
            <a:endParaRPr lang="en-US" sz="1450" dirty="0"/>
          </a:p>
        </p:txBody>
      </p:sp>
      <p:sp>
        <p:nvSpPr>
          <p:cNvPr id="10" name="Shape 8"/>
          <p:cNvSpPr/>
          <p:nvPr/>
        </p:nvSpPr>
        <p:spPr>
          <a:xfrm>
            <a:off x="566928" y="4023360"/>
            <a:ext cx="457200" cy="457200"/>
          </a:xfrm>
          <a:prstGeom prst="ellipse">
            <a:avLst/>
          </a:prstGeom>
          <a:solidFill>
            <a:srgbClr val="1B1A18"/>
          </a:solidFill>
          <a:ln/>
        </p:spPr>
      </p:sp>
      <p:sp>
        <p:nvSpPr>
          <p:cNvPr id="11" name="Text 9"/>
          <p:cNvSpPr/>
          <p:nvPr/>
        </p:nvSpPr>
        <p:spPr>
          <a:xfrm>
            <a:off x="566928" y="402336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The ‘separate entity’ fallacy.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Treating the agent as answerable for itself has been rejected; the principal cannot outsource liability to its own tool.</a:t>
            </a:r>
            <a:endParaRPr lang="en-US" sz="1450" dirty="0"/>
          </a:p>
        </p:txBody>
      </p:sp>
      <p:sp>
        <p:nvSpPr>
          <p:cNvPr id="13" name="Shape 11"/>
          <p:cNvSpPr/>
          <p:nvPr/>
        </p:nvSpPr>
        <p:spPr>
          <a:xfrm>
            <a:off x="566928" y="5189220"/>
            <a:ext cx="457200" cy="457200"/>
          </a:xfrm>
          <a:prstGeom prst="ellipse">
            <a:avLst/>
          </a:prstGeom>
          <a:solidFill>
            <a:srgbClr val="1B1A18"/>
          </a:solidFill>
          <a:ln/>
        </p:spPr>
      </p:sp>
      <p:sp>
        <p:nvSpPr>
          <p:cNvPr id="14" name="Text 12"/>
          <p:cNvSpPr/>
          <p:nvPr/>
        </p:nvSpPr>
        <p:spPr>
          <a:xfrm>
            <a:off x="566928" y="51892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Register matters for lawyers.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Adjudicated holdings, company admissions, and demonstrations carry different evidential weight — keep them distinct.</a:t>
            </a:r>
            <a:endParaRPr lang="en-US" sz="1450" dirty="0"/>
          </a:p>
        </p:txBody>
      </p:sp>
      <p:sp>
        <p:nvSpPr>
          <p:cNvPr id="16" name="Text 1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7" name="Text 1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READ THE EVIDENTIAL WEIGHT</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350" b="1" dirty="0">
                <a:solidFill>
                  <a:srgbClr val="1B1A18"/>
                </a:solidFill>
                <a:latin typeface="Georgia" pitchFamily="34" charset="0"/>
                <a:ea typeface="Georgia" pitchFamily="34" charset="-122"/>
                <a:cs typeface="Georgia" pitchFamily="34" charset="-120"/>
              </a:rPr>
              <a:t>Three records, three registers</a:t>
            </a:r>
            <a:endParaRPr lang="en-US" sz="2350" dirty="0"/>
          </a:p>
        </p:txBody>
      </p:sp>
      <p:sp>
        <p:nvSpPr>
          <p:cNvPr id="4" name="Shape 2"/>
          <p:cNvSpPr/>
          <p:nvPr/>
        </p:nvSpPr>
        <p:spPr>
          <a:xfrm>
            <a:off x="566928" y="1691640"/>
            <a:ext cx="3503066" cy="4572000"/>
          </a:xfrm>
          <a:prstGeom prst="roundRect">
            <a:avLst>
              <a:gd name="adj" fmla="val 2088"/>
            </a:avLst>
          </a:prstGeom>
          <a:solidFill>
            <a:srgbClr val="F4F2EE"/>
          </a:solidFill>
          <a:ln w="12700">
            <a:solidFill>
              <a:srgbClr val="EBE7DF"/>
            </a:solidFill>
            <a:prstDash val="solid"/>
          </a:ln>
        </p:spPr>
      </p:sp>
      <p:sp>
        <p:nvSpPr>
          <p:cNvPr id="5" name="Shape 3"/>
          <p:cNvSpPr/>
          <p:nvPr/>
        </p:nvSpPr>
        <p:spPr>
          <a:xfrm>
            <a:off x="795528" y="1892808"/>
            <a:ext cx="1543507" cy="310896"/>
          </a:xfrm>
          <a:prstGeom prst="roundRect">
            <a:avLst>
              <a:gd name="adj" fmla="val 50000"/>
            </a:avLst>
          </a:prstGeom>
          <a:solidFill>
            <a:srgbClr val="1B1A18"/>
          </a:solidFill>
          <a:ln/>
        </p:spPr>
      </p:sp>
      <p:sp>
        <p:nvSpPr>
          <p:cNvPr id="6" name="Text 4"/>
          <p:cNvSpPr/>
          <p:nvPr/>
        </p:nvSpPr>
        <p:spPr>
          <a:xfrm>
            <a:off x="795528" y="1892808"/>
            <a:ext cx="1543507"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Adjudicated</a:t>
            </a:r>
            <a:endParaRPr lang="en-US" sz="900" dirty="0"/>
          </a:p>
        </p:txBody>
      </p:sp>
      <p:sp>
        <p:nvSpPr>
          <p:cNvPr id="7" name="Text 5"/>
          <p:cNvSpPr/>
          <p:nvPr/>
        </p:nvSpPr>
        <p:spPr>
          <a:xfrm>
            <a:off x="795528" y="229514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Air Canada / Moffatt (2024)</a:t>
            </a:r>
            <a:endParaRPr lang="en-US" sz="1400" dirty="0"/>
          </a:p>
        </p:txBody>
      </p:sp>
      <p:sp>
        <p:nvSpPr>
          <p:cNvPr id="8" name="Text 6"/>
          <p:cNvSpPr/>
          <p:nvPr/>
        </p:nvSpPr>
        <p:spPr>
          <a:xfrm>
            <a:off x="795528" y="2752344"/>
            <a:ext cx="3045866" cy="338328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A tribunal held the airline liable for its chatbot’s misstatement. Binding outcome; the anchor authority for attribution.</a:t>
            </a:r>
            <a:endParaRPr lang="en-US" sz="1100" dirty="0"/>
          </a:p>
        </p:txBody>
      </p:sp>
      <p:sp>
        <p:nvSpPr>
          <p:cNvPr id="9" name="Shape 7"/>
          <p:cNvSpPr/>
          <p:nvPr/>
        </p:nvSpPr>
        <p:spPr>
          <a:xfrm>
            <a:off x="4344314" y="1691640"/>
            <a:ext cx="3503066" cy="4572000"/>
          </a:xfrm>
          <a:prstGeom prst="roundRect">
            <a:avLst>
              <a:gd name="adj" fmla="val 2088"/>
            </a:avLst>
          </a:prstGeom>
          <a:solidFill>
            <a:srgbClr val="F4F2EE"/>
          </a:solidFill>
          <a:ln w="12700">
            <a:solidFill>
              <a:srgbClr val="EBE7DF"/>
            </a:solidFill>
            <a:prstDash val="solid"/>
          </a:ln>
        </p:spPr>
      </p:sp>
      <p:sp>
        <p:nvSpPr>
          <p:cNvPr id="10" name="Shape 8"/>
          <p:cNvSpPr/>
          <p:nvPr/>
        </p:nvSpPr>
        <p:spPr>
          <a:xfrm>
            <a:off x="4572914" y="1892808"/>
            <a:ext cx="1642262" cy="310896"/>
          </a:xfrm>
          <a:prstGeom prst="roundRect">
            <a:avLst>
              <a:gd name="adj" fmla="val 50000"/>
            </a:avLst>
          </a:prstGeom>
          <a:solidFill>
            <a:srgbClr val="1B1A18"/>
          </a:solidFill>
          <a:ln/>
        </p:spPr>
      </p:sp>
      <p:sp>
        <p:nvSpPr>
          <p:cNvPr id="11" name="Text 9"/>
          <p:cNvSpPr/>
          <p:nvPr/>
        </p:nvSpPr>
        <p:spPr>
          <a:xfrm>
            <a:off x="4572914" y="1892808"/>
            <a:ext cx="1642262"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Acknowledged</a:t>
            </a:r>
            <a:endParaRPr lang="en-US" sz="900" dirty="0"/>
          </a:p>
        </p:txBody>
      </p:sp>
      <p:sp>
        <p:nvSpPr>
          <p:cNvPr id="12" name="Text 10"/>
          <p:cNvSpPr/>
          <p:nvPr/>
        </p:nvSpPr>
        <p:spPr>
          <a:xfrm>
            <a:off x="4572914" y="229514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Dealership chatbot ‘$1 vehicle’ (2023)</a:t>
            </a:r>
            <a:endParaRPr lang="en-US" sz="1400" dirty="0"/>
          </a:p>
        </p:txBody>
      </p:sp>
      <p:sp>
        <p:nvSpPr>
          <p:cNvPr id="13" name="Text 11"/>
          <p:cNvSpPr/>
          <p:nvPr/>
        </p:nvSpPr>
        <p:spPr>
          <a:xfrm>
            <a:off x="4572914" y="2752344"/>
            <a:ext cx="3045866" cy="338328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A chatbot ‘agreed’ to sell a vehicle for $1; documented in transcripts and company response. Not adjudicated — illustrative of exposure.</a:t>
            </a:r>
            <a:endParaRPr lang="en-US" sz="1100" dirty="0"/>
          </a:p>
        </p:txBody>
      </p:sp>
      <p:sp>
        <p:nvSpPr>
          <p:cNvPr id="14" name="Shape 12"/>
          <p:cNvSpPr/>
          <p:nvPr/>
        </p:nvSpPr>
        <p:spPr>
          <a:xfrm>
            <a:off x="8121701" y="1691640"/>
            <a:ext cx="3503066" cy="4572000"/>
          </a:xfrm>
          <a:prstGeom prst="roundRect">
            <a:avLst>
              <a:gd name="adj" fmla="val 2088"/>
            </a:avLst>
          </a:prstGeom>
          <a:solidFill>
            <a:srgbClr val="F4F2EE"/>
          </a:solidFill>
          <a:ln w="12700">
            <a:solidFill>
              <a:srgbClr val="EBE7DF"/>
            </a:solidFill>
            <a:prstDash val="solid"/>
          </a:ln>
        </p:spPr>
      </p:sp>
      <p:sp>
        <p:nvSpPr>
          <p:cNvPr id="15" name="Shape 13"/>
          <p:cNvSpPr/>
          <p:nvPr/>
        </p:nvSpPr>
        <p:spPr>
          <a:xfrm>
            <a:off x="8350301" y="1892808"/>
            <a:ext cx="1642262" cy="310896"/>
          </a:xfrm>
          <a:prstGeom prst="roundRect">
            <a:avLst>
              <a:gd name="adj" fmla="val 50000"/>
            </a:avLst>
          </a:prstGeom>
          <a:solidFill>
            <a:srgbClr val="1B1A18"/>
          </a:solidFill>
          <a:ln/>
        </p:spPr>
      </p:sp>
      <p:sp>
        <p:nvSpPr>
          <p:cNvPr id="16" name="Text 14"/>
          <p:cNvSpPr/>
          <p:nvPr/>
        </p:nvSpPr>
        <p:spPr>
          <a:xfrm>
            <a:off x="8350301" y="1892808"/>
            <a:ext cx="1642262"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Acknowledged</a:t>
            </a:r>
            <a:endParaRPr lang="en-US" sz="900" dirty="0"/>
          </a:p>
        </p:txBody>
      </p:sp>
      <p:sp>
        <p:nvSpPr>
          <p:cNvPr id="17" name="Text 15"/>
          <p:cNvSpPr/>
          <p:nvPr/>
        </p:nvSpPr>
        <p:spPr>
          <a:xfrm>
            <a:off x="8350301" y="229514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Deleted production database (2025)</a:t>
            </a:r>
            <a:endParaRPr lang="en-US" sz="1400" dirty="0"/>
          </a:p>
        </p:txBody>
      </p:sp>
      <p:sp>
        <p:nvSpPr>
          <p:cNvPr id="18" name="Text 16"/>
          <p:cNvSpPr/>
          <p:nvPr/>
        </p:nvSpPr>
        <p:spPr>
          <a:xfrm>
            <a:off x="8350301" y="2752344"/>
            <a:ext cx="3045866" cy="338328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An AI coding agent deleted a live database; company-acknowledged within days. Shows authority/authorisation risk, not a holding.</a:t>
            </a:r>
            <a:endParaRPr lang="en-US" sz="1100" dirty="0"/>
          </a:p>
        </p:txBody>
      </p:sp>
      <p:sp>
        <p:nvSpPr>
          <p:cNvPr id="19" name="Text 17"/>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20" name="Text 18"/>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33302B"/>
        </a:solidFill>
      </p:bgPr>
    </p:bg>
    <p:spTree>
      <p:nvGrpSpPr>
        <p:cNvPr id="1" name=""/>
        <p:cNvGrpSpPr/>
        <p:nvPr/>
      </p:nvGrpSpPr>
      <p:grpSpPr>
        <a:xfrm>
          <a:off x="0" y="0"/>
          <a:ext cx="0" cy="0"/>
          <a:chOff x="0" y="0"/>
          <a:chExt cx="0" cy="0"/>
        </a:xfrm>
      </p:grpSpPr>
      <p:sp>
        <p:nvSpPr>
          <p:cNvPr id="2" name="Shape 0"/>
          <p:cNvSpPr/>
          <p:nvPr/>
        </p:nvSpPr>
        <p:spPr>
          <a:xfrm>
            <a:off x="566928" y="502920"/>
            <a:ext cx="2011680" cy="310896"/>
          </a:xfrm>
          <a:prstGeom prst="roundRect">
            <a:avLst>
              <a:gd name="adj" fmla="val 50000"/>
            </a:avLst>
          </a:prstGeom>
          <a:solidFill>
            <a:srgbClr val="8A8378"/>
          </a:solidFill>
          <a:ln/>
        </p:spPr>
      </p:sp>
      <p:sp>
        <p:nvSpPr>
          <p:cNvPr id="3" name="Text 1"/>
          <p:cNvSpPr/>
          <p:nvPr/>
        </p:nvSpPr>
        <p:spPr>
          <a:xfrm>
            <a:off x="566928" y="502920"/>
            <a:ext cx="201168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HYPOTHETICAL</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indent="0" marL="0">
              <a:buNone/>
            </a:pPr>
            <a:r>
              <a:rPr lang="en-US" sz="2150" b="1" dirty="0">
                <a:solidFill>
                  <a:srgbClr val="FFFFFF"/>
                </a:solidFill>
                <a:latin typeface="Georgia" pitchFamily="34" charset="0"/>
                <a:ea typeface="Georgia" pitchFamily="34" charset="-122"/>
                <a:cs typeface="Georgia" pitchFamily="34" charset="-120"/>
              </a:rPr>
              <a:t>Hypothetical — Week 4</a:t>
            </a:r>
            <a:endParaRPr lang="en-US" sz="2150" dirty="0"/>
          </a:p>
        </p:txBody>
      </p:sp>
      <p:sp>
        <p:nvSpPr>
          <p:cNvPr id="5" name="Shape 3"/>
          <p:cNvSpPr/>
          <p:nvPr/>
        </p:nvSpPr>
        <p:spPr>
          <a:xfrm>
            <a:off x="566928" y="1965960"/>
            <a:ext cx="420624" cy="420624"/>
          </a:xfrm>
          <a:prstGeom prst="ellipse">
            <a:avLst/>
          </a:prstGeom>
          <a:solidFill>
            <a:srgbClr val="8A8378"/>
          </a:solidFill>
          <a:ln/>
        </p:spPr>
      </p:sp>
      <p:sp>
        <p:nvSpPr>
          <p:cNvPr id="6" name="Text 4"/>
          <p:cNvSpPr/>
          <p:nvPr/>
        </p:nvSpPr>
        <p:spPr>
          <a:xfrm>
            <a:off x="566928" y="1965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Q1</a:t>
            </a:r>
            <a:endParaRPr lang="en-US" sz="950" dirty="0"/>
          </a:p>
        </p:txBody>
      </p:sp>
      <p:sp>
        <p:nvSpPr>
          <p:cNvPr id="7" name="Text 5"/>
          <p:cNvSpPr/>
          <p:nvPr/>
        </p:nvSpPr>
        <p:spPr>
          <a:xfrm>
            <a:off x="1143000" y="1920240"/>
            <a:ext cx="10372039" cy="2194560"/>
          </a:xfrm>
          <a:prstGeom prst="rect">
            <a:avLst/>
          </a:prstGeom>
          <a:noFill/>
          <a:ln/>
        </p:spPr>
        <p:txBody>
          <a:bodyPr wrap="square" rtlCol="0" anchor="t"/>
          <a:lstStyle/>
          <a:p>
            <a:pPr indent="0" marL="0">
              <a:lnSpc>
                <a:spcPct val="115000"/>
              </a:lnSpc>
              <a:buNone/>
            </a:pPr>
            <a:r>
              <a:rPr lang="en-US" sz="1350" dirty="0">
                <a:solidFill>
                  <a:srgbClr val="E4DFD5"/>
                </a:solidFill>
                <a:latin typeface="Georgia" pitchFamily="34" charset="0"/>
                <a:ea typeface="Georgia" pitchFamily="34" charset="-122"/>
                <a:cs typeface="Georgia" pitchFamily="34" charset="-120"/>
              </a:rPr>
              <a:t>A procurement agent commits the company to a contract beyond its intended limit. Actual authority? Apparent authority? Enforceable?</a:t>
            </a:r>
            <a:endParaRPr lang="en-US" sz="1350" dirty="0"/>
          </a:p>
        </p:txBody>
      </p:sp>
      <p:sp>
        <p:nvSpPr>
          <p:cNvPr id="8" name="Shape 6"/>
          <p:cNvSpPr/>
          <p:nvPr/>
        </p:nvSpPr>
        <p:spPr>
          <a:xfrm>
            <a:off x="566928" y="4251960"/>
            <a:ext cx="420624" cy="420624"/>
          </a:xfrm>
          <a:prstGeom prst="ellipse">
            <a:avLst/>
          </a:prstGeom>
          <a:solidFill>
            <a:srgbClr val="8A8378"/>
          </a:solidFill>
          <a:ln/>
        </p:spPr>
      </p:sp>
      <p:sp>
        <p:nvSpPr>
          <p:cNvPr id="9" name="Text 7"/>
          <p:cNvSpPr/>
          <p:nvPr/>
        </p:nvSpPr>
        <p:spPr>
          <a:xfrm>
            <a:off x="566928" y="4251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Q2</a:t>
            </a:r>
            <a:endParaRPr lang="en-US" sz="950" dirty="0"/>
          </a:p>
        </p:txBody>
      </p:sp>
      <p:sp>
        <p:nvSpPr>
          <p:cNvPr id="10" name="Text 8"/>
          <p:cNvSpPr/>
          <p:nvPr/>
        </p:nvSpPr>
        <p:spPr>
          <a:xfrm>
            <a:off x="1143000" y="4206240"/>
            <a:ext cx="10372039" cy="2194560"/>
          </a:xfrm>
          <a:prstGeom prst="rect">
            <a:avLst/>
          </a:prstGeom>
          <a:noFill/>
          <a:ln/>
        </p:spPr>
        <p:txBody>
          <a:bodyPr wrap="square" rtlCol="0" anchor="t"/>
          <a:lstStyle/>
          <a:p>
            <a:pPr indent="0" marL="0">
              <a:lnSpc>
                <a:spcPct val="115000"/>
              </a:lnSpc>
              <a:buNone/>
            </a:pPr>
            <a:r>
              <a:rPr lang="en-US" sz="1350" dirty="0">
                <a:solidFill>
                  <a:srgbClr val="E4DFD5"/>
                </a:solidFill>
                <a:latin typeface="Georgia" pitchFamily="34" charset="0"/>
                <a:ea typeface="Georgia" pitchFamily="34" charset="-122"/>
                <a:cs typeface="Georgia" pitchFamily="34" charset="-120"/>
              </a:rPr>
              <a:t>How would you plead, or defend, an act by an AI agent that no human approved?</a:t>
            </a:r>
            <a:endParaRPr lang="en-US" sz="13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5</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050" b="1" dirty="0">
                <a:solidFill>
                  <a:srgbClr val="FFFFFF"/>
                </a:solidFill>
                <a:latin typeface="Georgia" pitchFamily="34" charset="0"/>
                <a:ea typeface="Georgia" pitchFamily="34" charset="-122"/>
                <a:cs typeface="Georgia" pitchFamily="34" charset="-120"/>
              </a:rPr>
              <a:t>Accountability and evidence</a:t>
            </a:r>
            <a:endParaRPr lang="en-US" sz="20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350" dirty="0">
                <a:solidFill>
                  <a:srgbClr val="33302B"/>
                </a:solidFill>
                <a:latin typeface="Georgia" pitchFamily="34" charset="0"/>
                <a:ea typeface="Georgia" pitchFamily="34" charset="-122"/>
                <a:cs typeface="Georgia" pitchFamily="34" charset="-120"/>
              </a:rPr>
              <a:t>The law runs on proof. This week: record-keeping and auditability as legal duties, the evidential status of system output, and why evidence assembled after the fact is evidence that already failed. We study the gravest record in the course — an institution that treated its own system’s figures as unimpeachable truth.</a:t>
            </a:r>
            <a:endParaRPr lang="en-US" sz="135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Learning aims</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Treat record-keeping and auditability as duties</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Question the evidential status of system output</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Apply the ‘last-month’ evidential test</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AUDIT PRIMACY IN THE COURTROOM</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350" b="1" dirty="0">
                <a:solidFill>
                  <a:srgbClr val="1B1A18"/>
                </a:solidFill>
                <a:latin typeface="Georgia" pitchFamily="34" charset="0"/>
                <a:ea typeface="Georgia" pitchFamily="34" charset="-122"/>
                <a:cs typeface="Georgia" pitchFamily="34" charset="-120"/>
              </a:rPr>
              <a:t>Evidence as a legal duty</a:t>
            </a:r>
            <a:endParaRPr lang="en-US" sz="2350" dirty="0"/>
          </a:p>
        </p:txBody>
      </p:sp>
      <p:sp>
        <p:nvSpPr>
          <p:cNvPr id="4" name="Shape 2"/>
          <p:cNvSpPr/>
          <p:nvPr/>
        </p:nvSpPr>
        <p:spPr>
          <a:xfrm>
            <a:off x="566928" y="1691640"/>
            <a:ext cx="457200" cy="457200"/>
          </a:xfrm>
          <a:prstGeom prst="ellipse">
            <a:avLst/>
          </a:prstGeom>
          <a:solidFill>
            <a:srgbClr val="1B1A18"/>
          </a:solidFill>
          <a:ln/>
        </p:spPr>
      </p:sp>
      <p:sp>
        <p:nvSpPr>
          <p:cNvPr id="5" name="Text 3"/>
          <p:cNvSpPr/>
          <p:nvPr/>
        </p:nvSpPr>
        <p:spPr>
          <a:xfrm>
            <a:off x="566928" y="169164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Evidence is a product, not a report.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Attribution captured at the transaction; complete by construction; verifiable by someone who distrusts the keeper.</a:t>
            </a:r>
            <a:endParaRPr lang="en-US" sz="1450" dirty="0"/>
          </a:p>
        </p:txBody>
      </p:sp>
      <p:sp>
        <p:nvSpPr>
          <p:cNvPr id="7" name="Shape 5"/>
          <p:cNvSpPr/>
          <p:nvPr/>
        </p:nvSpPr>
        <p:spPr>
          <a:xfrm>
            <a:off x="566928" y="2857500"/>
            <a:ext cx="457200" cy="457200"/>
          </a:xfrm>
          <a:prstGeom prst="ellipse">
            <a:avLst/>
          </a:prstGeom>
          <a:solidFill>
            <a:srgbClr val="1B1A18"/>
          </a:solidFill>
          <a:ln/>
        </p:spPr>
      </p:sp>
      <p:sp>
        <p:nvSpPr>
          <p:cNvPr id="8" name="Text 6"/>
          <p:cNvSpPr/>
          <p:nvPr/>
        </p:nvSpPr>
        <p:spPr>
          <a:xfrm>
            <a:off x="566928" y="285750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System output is not automatically true.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A record whose integrity rests only on the party relying on it is testimony wearing evidence’s clothes.</a:t>
            </a:r>
            <a:endParaRPr lang="en-US" sz="1450" dirty="0"/>
          </a:p>
        </p:txBody>
      </p:sp>
      <p:sp>
        <p:nvSpPr>
          <p:cNvPr id="10" name="Shape 8"/>
          <p:cNvSpPr/>
          <p:nvPr/>
        </p:nvSpPr>
        <p:spPr>
          <a:xfrm>
            <a:off x="566928" y="4023360"/>
            <a:ext cx="457200" cy="457200"/>
          </a:xfrm>
          <a:prstGeom prst="ellipse">
            <a:avLst/>
          </a:prstGeom>
          <a:solidFill>
            <a:srgbClr val="1B1A18"/>
          </a:solidFill>
          <a:ln/>
        </p:spPr>
      </p:sp>
      <p:sp>
        <p:nvSpPr>
          <p:cNvPr id="11" name="Text 9"/>
          <p:cNvSpPr/>
          <p:nvPr/>
        </p:nvSpPr>
        <p:spPr>
          <a:xfrm>
            <a:off x="566928" y="402336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It cannot be retrofitted.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Attribution not captured at the moment of action is gone; reconstruction is a red flag, not a remedy.</a:t>
            </a:r>
            <a:endParaRPr lang="en-US" sz="1450" dirty="0"/>
          </a:p>
        </p:txBody>
      </p:sp>
      <p:sp>
        <p:nvSpPr>
          <p:cNvPr id="13" name="Shape 11"/>
          <p:cNvSpPr/>
          <p:nvPr/>
        </p:nvSpPr>
        <p:spPr>
          <a:xfrm>
            <a:off x="566928" y="5189220"/>
            <a:ext cx="457200" cy="457200"/>
          </a:xfrm>
          <a:prstGeom prst="ellipse">
            <a:avLst/>
          </a:prstGeom>
          <a:solidFill>
            <a:srgbClr val="1B1A18"/>
          </a:solidFill>
          <a:ln/>
        </p:spPr>
      </p:sp>
      <p:sp>
        <p:nvSpPr>
          <p:cNvPr id="14" name="Text 12"/>
          <p:cNvSpPr/>
          <p:nvPr/>
        </p:nvSpPr>
        <p:spPr>
          <a:xfrm>
            <a:off x="566928" y="51892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The last-month test.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Can the entity attribute one transaction fully — including the rule version in force — by query, on demand?</a:t>
            </a:r>
            <a:endParaRPr lang="en-US" sz="1450" dirty="0"/>
          </a:p>
        </p:txBody>
      </p:sp>
      <p:sp>
        <p:nvSpPr>
          <p:cNvPr id="16" name="Text 1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7" name="Text 1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566928" y="502920"/>
            <a:ext cx="1737360" cy="310896"/>
          </a:xfrm>
          <a:prstGeom prst="roundRect">
            <a:avLst>
              <a:gd name="adj" fmla="val 50000"/>
            </a:avLst>
          </a:prstGeom>
          <a:solidFill>
            <a:srgbClr val="8A8378"/>
          </a:solidFill>
          <a:ln/>
        </p:spPr>
      </p:sp>
      <p:sp>
        <p:nvSpPr>
          <p:cNvPr id="3" name="Text 1"/>
          <p:cNvSpPr/>
          <p:nvPr/>
        </p:nvSpPr>
        <p:spPr>
          <a:xfrm>
            <a:off x="566928" y="502920"/>
            <a:ext cx="173736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CASE RECORD</a:t>
            </a:r>
            <a:endParaRPr lang="en-US" sz="1050" dirty="0"/>
          </a:p>
        </p:txBody>
      </p:sp>
      <p:sp>
        <p:nvSpPr>
          <p:cNvPr id="4" name="Text 2"/>
          <p:cNvSpPr/>
          <p:nvPr/>
        </p:nvSpPr>
        <p:spPr>
          <a:xfrm>
            <a:off x="566928" y="914400"/>
            <a:ext cx="11057839" cy="731520"/>
          </a:xfrm>
          <a:prstGeom prst="rect">
            <a:avLst/>
          </a:prstGeom>
          <a:noFill/>
          <a:ln/>
        </p:spPr>
        <p:txBody>
          <a:bodyPr wrap="square" rtlCol="0" anchor="ctr"/>
          <a:lstStyle/>
          <a:p>
            <a:pPr indent="0" marL="0">
              <a:buNone/>
            </a:pPr>
            <a:r>
              <a:rPr lang="en-US" sz="2150" b="1" dirty="0">
                <a:solidFill>
                  <a:srgbClr val="FFFFFF"/>
                </a:solidFill>
                <a:latin typeface="Georgia" pitchFamily="34" charset="0"/>
                <a:ea typeface="Georgia" pitchFamily="34" charset="-122"/>
                <a:cs typeface="Georgia" pitchFamily="34" charset="-120"/>
              </a:rPr>
              <a:t>Post Office / Horizon</a:t>
            </a:r>
            <a:endParaRPr lang="en-US" sz="2150" dirty="0"/>
          </a:p>
        </p:txBody>
      </p:sp>
      <p:sp>
        <p:nvSpPr>
          <p:cNvPr id="5" name="Text 3"/>
          <p:cNvSpPr/>
          <p:nvPr/>
        </p:nvSpPr>
        <p:spPr>
          <a:xfrm>
            <a:off x="566928" y="1965960"/>
            <a:ext cx="5760720" cy="1463040"/>
          </a:xfrm>
          <a:prstGeom prst="rect">
            <a:avLst/>
          </a:prstGeom>
          <a:noFill/>
          <a:ln/>
        </p:spPr>
        <p:txBody>
          <a:bodyPr wrap="square" rtlCol="0" anchor="ctr"/>
          <a:lstStyle/>
          <a:p>
            <a:pPr indent="0" marL="0">
              <a:buNone/>
            </a:pPr>
            <a:r>
              <a:rPr lang="en-US" sz="4700" b="1" dirty="0">
                <a:solidFill>
                  <a:srgbClr val="8A8378"/>
                </a:solidFill>
                <a:latin typeface="Georgia" pitchFamily="34" charset="0"/>
                <a:ea typeface="Georgia" pitchFamily="34" charset="-122"/>
                <a:cs typeface="Georgia" pitchFamily="34" charset="-120"/>
              </a:rPr>
              <a:t>900+ / 236</a:t>
            </a:r>
            <a:endParaRPr lang="en-US" sz="4700" dirty="0"/>
          </a:p>
        </p:txBody>
      </p:sp>
      <p:sp>
        <p:nvSpPr>
          <p:cNvPr id="6" name="Text 4"/>
          <p:cNvSpPr/>
          <p:nvPr/>
        </p:nvSpPr>
        <p:spPr>
          <a:xfrm>
            <a:off x="566928" y="3383280"/>
            <a:ext cx="5760720" cy="1371600"/>
          </a:xfrm>
          <a:prstGeom prst="rect">
            <a:avLst/>
          </a:prstGeom>
          <a:noFill/>
          <a:ln/>
        </p:spPr>
        <p:txBody>
          <a:bodyPr wrap="square" rtlCol="0" anchor="t"/>
          <a:lstStyle/>
          <a:p>
            <a:pPr indent="0" marL="0">
              <a:lnSpc>
                <a:spcPct val="120000"/>
              </a:lnSpc>
              <a:buNone/>
            </a:pPr>
            <a:r>
              <a:rPr lang="en-US" sz="1400" dirty="0">
                <a:solidFill>
                  <a:srgbClr val="E4DFD5"/>
                </a:solidFill>
                <a:latin typeface="Georgia" pitchFamily="34" charset="0"/>
                <a:ea typeface="Georgia" pitchFamily="34" charset="-122"/>
                <a:cs typeface="Georgia" pitchFamily="34" charset="-120"/>
              </a:rPr>
              <a:t>prosecuted and 236 imprisoned on unaccountable system evidence; ~£1,628M redress to 12,900+ claimants</a:t>
            </a:r>
            <a:endParaRPr lang="en-US" sz="1400" dirty="0"/>
          </a:p>
        </p:txBody>
      </p:sp>
      <p:sp>
        <p:nvSpPr>
          <p:cNvPr id="7" name="Text 5"/>
          <p:cNvSpPr/>
          <p:nvPr/>
        </p:nvSpPr>
        <p:spPr>
          <a:xfrm>
            <a:off x="566928" y="5303520"/>
            <a:ext cx="5852160" cy="777240"/>
          </a:xfrm>
          <a:prstGeom prst="rect">
            <a:avLst/>
          </a:prstGeom>
          <a:noFill/>
          <a:ln/>
        </p:spPr>
        <p:txBody>
          <a:bodyPr wrap="square" rtlCol="0" anchor="t"/>
          <a:lstStyle/>
          <a:p>
            <a:pPr indent="0" marL="0">
              <a:lnSpc>
                <a:spcPct val="110000"/>
              </a:lnSpc>
              <a:buNone/>
            </a:pPr>
            <a:r>
              <a:rPr lang="en-US" sz="900" b="1" dirty="0">
                <a:solidFill>
                  <a:srgbClr val="8A8378"/>
                </a:solidFill>
                <a:latin typeface="Georgia" pitchFamily="34" charset="0"/>
                <a:ea typeface="Georgia" pitchFamily="34" charset="-122"/>
                <a:cs typeface="Georgia" pitchFamily="34" charset="-120"/>
              </a:rPr>
              <a:t>CITATION  </a:t>
            </a:r>
            <a:pPr indent="0" marL="0">
              <a:lnSpc>
                <a:spcPct val="110000"/>
              </a:lnSpc>
              <a:buNone/>
            </a:pPr>
            <a:r>
              <a:rPr lang="en-US" sz="950" i="1" dirty="0">
                <a:solidFill>
                  <a:srgbClr val="C4BDB0"/>
                </a:solidFill>
                <a:latin typeface="Georgia" pitchFamily="34" charset="0"/>
                <a:ea typeface="Georgia" pitchFamily="34" charset="-122"/>
                <a:cs typeface="Georgia" pitchFamily="34" charset="-120"/>
              </a:rPr>
              <a:t>Hamilton v Post Office Ltd [2021] EWCA Crim 577; Post Office (Horizon System) Offences Act 2024; Williams Inquiry (2025).</a:t>
            </a:r>
            <a:endParaRPr lang="en-US" sz="900" dirty="0"/>
          </a:p>
        </p:txBody>
      </p:sp>
      <p:sp>
        <p:nvSpPr>
          <p:cNvPr id="8" name="Shape 6"/>
          <p:cNvSpPr/>
          <p:nvPr/>
        </p:nvSpPr>
        <p:spPr>
          <a:xfrm>
            <a:off x="6766560" y="1965960"/>
            <a:ext cx="4858207" cy="3794760"/>
          </a:xfrm>
          <a:prstGeom prst="roundRect">
            <a:avLst>
              <a:gd name="adj" fmla="val 2410"/>
            </a:avLst>
          </a:prstGeom>
          <a:solidFill>
            <a:srgbClr val="33302B"/>
          </a:solidFill>
          <a:ln/>
        </p:spPr>
      </p:sp>
      <p:sp>
        <p:nvSpPr>
          <p:cNvPr id="9" name="Text 7"/>
          <p:cNvSpPr/>
          <p:nvPr/>
        </p:nvSpPr>
        <p:spPr>
          <a:xfrm>
            <a:off x="6995160" y="2167128"/>
            <a:ext cx="4401007" cy="3429000"/>
          </a:xfrm>
          <a:prstGeom prst="rect">
            <a:avLst/>
          </a:prstGeom>
          <a:noFill/>
          <a:ln/>
        </p:spPr>
        <p:txBody>
          <a:bodyPr wrap="square" rtlCol="0" anchor="t"/>
          <a:lstStyle/>
          <a:p>
            <a:pPr indent="0" marL="0">
              <a:lnSpc>
                <a:spcPct val="118000"/>
              </a:lnSpc>
              <a:spcAft>
                <a:spcPts val="900"/>
              </a:spcAft>
              <a:buNone/>
            </a:pPr>
            <a:r>
              <a:rPr lang="en-US" sz="1200" b="1" dirty="0">
                <a:solidFill>
                  <a:srgbClr val="FFFFFF"/>
                </a:solidFill>
                <a:latin typeface="Georgia" pitchFamily="34" charset="0"/>
                <a:ea typeface="Georgia" pitchFamily="34" charset="-122"/>
                <a:cs typeface="Georgia" pitchFamily="34" charset="-120"/>
              </a:rPr>
              <a:t>Facts:</a:t>
            </a:r>
            <a:endParaRPr lang="en-US" sz="1200" dirty="0"/>
          </a:p>
          <a:p>
            <a:pPr indent="0" marL="0">
              <a:lnSpc>
                <a:spcPct val="118000"/>
              </a:lnSpc>
              <a:spcAft>
                <a:spcPts val="900"/>
              </a:spcAft>
              <a:buNone/>
            </a:pPr>
            <a:r>
              <a:rPr lang="en-US" sz="1200" dirty="0">
                <a:solidFill>
                  <a:srgbClr val="E4DFD5"/>
                </a:solidFill>
                <a:latin typeface="Georgia" pitchFamily="34" charset="0"/>
                <a:ea typeface="Georgia" pitchFamily="34" charset="-122"/>
                <a:cs typeface="Georgia" pitchFamily="34" charset="-120"/>
              </a:rPr>
              <a:t>an institution treated its accounting system’s figures as ground truth and prosecuted its own people for shortfalls the system generated.</a:t>
            </a:r>
            <a:endParaRPr lang="en-US" sz="1200" dirty="0"/>
          </a:p>
          <a:p>
            <a:pPr indent="0" marL="0">
              <a:lnSpc>
                <a:spcPct val="118000"/>
              </a:lnSpc>
              <a:spcAft>
                <a:spcPts val="900"/>
              </a:spcAft>
              <a:buNone/>
            </a:pPr>
            <a:r>
              <a:rPr lang="en-US" sz="1200" b="1" dirty="0">
                <a:solidFill>
                  <a:srgbClr val="FFFFFF"/>
                </a:solidFill>
                <a:latin typeface="Georgia" pitchFamily="34" charset="0"/>
                <a:ea typeface="Georgia" pitchFamily="34" charset="-122"/>
                <a:cs typeface="Georgia" pitchFamily="34" charset="-120"/>
              </a:rPr>
              <a:t>Outcome:</a:t>
            </a:r>
            <a:endParaRPr lang="en-US" sz="1200" dirty="0"/>
          </a:p>
          <a:p>
            <a:pPr indent="0" marL="0">
              <a:lnSpc>
                <a:spcPct val="118000"/>
              </a:lnSpc>
              <a:spcAft>
                <a:spcPts val="900"/>
              </a:spcAft>
              <a:buNone/>
            </a:pPr>
            <a:r>
              <a:rPr lang="en-US" sz="1200" dirty="0">
                <a:solidFill>
                  <a:srgbClr val="E4DFD5"/>
                </a:solidFill>
                <a:latin typeface="Georgia" pitchFamily="34" charset="0"/>
                <a:ea typeface="Georgia" pitchFamily="34" charset="-122"/>
                <a:cs typeface="Georgia" pitchFamily="34" charset="-120"/>
              </a:rPr>
              <a:t>convictions quashed (39 in 2021; wholesale by statute in 2024); a public inquiry; ~£1.6B redress.</a:t>
            </a:r>
            <a:endParaRPr lang="en-US" sz="1200" dirty="0"/>
          </a:p>
          <a:p>
            <a:pPr indent="0" marL="0">
              <a:lnSpc>
                <a:spcPct val="118000"/>
              </a:lnSpc>
              <a:spcAft>
                <a:spcPts val="900"/>
              </a:spcAft>
              <a:buNone/>
            </a:pPr>
            <a:r>
              <a:rPr lang="en-US" sz="1200" b="1" dirty="0">
                <a:solidFill>
                  <a:srgbClr val="FFFFFF"/>
                </a:solidFill>
                <a:latin typeface="Georgia" pitchFamily="34" charset="0"/>
                <a:ea typeface="Georgia" pitchFamily="34" charset="-122"/>
                <a:cs typeface="Georgia" pitchFamily="34" charset="-120"/>
              </a:rPr>
              <a:t>Doctrine:</a:t>
            </a:r>
            <a:endParaRPr lang="en-US" sz="1200" dirty="0"/>
          </a:p>
          <a:p>
            <a:pPr indent="0" marL="0">
              <a:lnSpc>
                <a:spcPct val="118000"/>
              </a:lnSpc>
              <a:spcAft>
                <a:spcPts val="900"/>
              </a:spcAft>
              <a:buNone/>
            </a:pPr>
            <a:r>
              <a:rPr lang="en-US" sz="1200" dirty="0">
                <a:solidFill>
                  <a:srgbClr val="E4DFD5"/>
                </a:solidFill>
                <a:latin typeface="Georgia" pitchFamily="34" charset="0"/>
                <a:ea typeface="Georgia" pitchFamily="34" charset="-122"/>
                <a:cs typeface="Georgia" pitchFamily="34" charset="-120"/>
              </a:rPr>
              <a:t>the danger of a legal presumption that computer output is reliable — the gravest custody failure of the era, and it required no AI.</a:t>
            </a:r>
            <a:endParaRPr lang="en-US" sz="1200" dirty="0"/>
          </a:p>
        </p:txBody>
      </p:sp>
      <p:sp>
        <p:nvSpPr>
          <p:cNvPr id="10" name="Text 8"/>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1" name="Text 9"/>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33302B"/>
        </a:solidFill>
      </p:bgPr>
    </p:bg>
    <p:spTree>
      <p:nvGrpSpPr>
        <p:cNvPr id="1" name=""/>
        <p:cNvGrpSpPr/>
        <p:nvPr/>
      </p:nvGrpSpPr>
      <p:grpSpPr>
        <a:xfrm>
          <a:off x="0" y="0"/>
          <a:ext cx="0" cy="0"/>
          <a:chOff x="0" y="0"/>
          <a:chExt cx="0" cy="0"/>
        </a:xfrm>
      </p:grpSpPr>
      <p:sp>
        <p:nvSpPr>
          <p:cNvPr id="2" name="Shape 0"/>
          <p:cNvSpPr/>
          <p:nvPr/>
        </p:nvSpPr>
        <p:spPr>
          <a:xfrm>
            <a:off x="566928" y="502920"/>
            <a:ext cx="1920240" cy="310896"/>
          </a:xfrm>
          <a:prstGeom prst="roundRect">
            <a:avLst>
              <a:gd name="adj" fmla="val 50000"/>
            </a:avLst>
          </a:prstGeom>
          <a:solidFill>
            <a:srgbClr val="8A8378"/>
          </a:solidFill>
          <a:ln/>
        </p:spPr>
      </p:sp>
      <p:sp>
        <p:nvSpPr>
          <p:cNvPr id="3" name="Text 1"/>
          <p:cNvSpPr/>
          <p:nvPr/>
        </p:nvSpPr>
        <p:spPr>
          <a:xfrm>
            <a:off x="566928" y="502920"/>
            <a:ext cx="192024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IN CLASS</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indent="0" marL="0">
              <a:buNone/>
            </a:pPr>
            <a:r>
              <a:rPr lang="en-US" sz="2150" b="1" dirty="0">
                <a:solidFill>
                  <a:srgbClr val="FFFFFF"/>
                </a:solidFill>
                <a:latin typeface="Georgia" pitchFamily="34" charset="0"/>
                <a:ea typeface="Georgia" pitchFamily="34" charset="-122"/>
                <a:cs typeface="Georgia" pitchFamily="34" charset="-120"/>
              </a:rPr>
              <a:t>Discussion — Week 5</a:t>
            </a:r>
            <a:endParaRPr lang="en-US" sz="2150" dirty="0"/>
          </a:p>
        </p:txBody>
      </p:sp>
      <p:sp>
        <p:nvSpPr>
          <p:cNvPr id="5" name="Shape 3"/>
          <p:cNvSpPr/>
          <p:nvPr/>
        </p:nvSpPr>
        <p:spPr>
          <a:xfrm>
            <a:off x="566928" y="1965960"/>
            <a:ext cx="420624" cy="420624"/>
          </a:xfrm>
          <a:prstGeom prst="ellipse">
            <a:avLst/>
          </a:prstGeom>
          <a:solidFill>
            <a:srgbClr val="8A8378"/>
          </a:solidFill>
          <a:ln/>
        </p:spPr>
      </p:sp>
      <p:sp>
        <p:nvSpPr>
          <p:cNvPr id="6" name="Text 4"/>
          <p:cNvSpPr/>
          <p:nvPr/>
        </p:nvSpPr>
        <p:spPr>
          <a:xfrm>
            <a:off x="566928" y="1965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Q1</a:t>
            </a:r>
            <a:endParaRPr lang="en-US" sz="950" dirty="0"/>
          </a:p>
        </p:txBody>
      </p:sp>
      <p:sp>
        <p:nvSpPr>
          <p:cNvPr id="7" name="Text 5"/>
          <p:cNvSpPr/>
          <p:nvPr/>
        </p:nvSpPr>
        <p:spPr>
          <a:xfrm>
            <a:off x="1143000" y="1920240"/>
            <a:ext cx="10372039" cy="2194560"/>
          </a:xfrm>
          <a:prstGeom prst="rect">
            <a:avLst/>
          </a:prstGeom>
          <a:noFill/>
          <a:ln/>
        </p:spPr>
        <p:txBody>
          <a:bodyPr wrap="square" rtlCol="0" anchor="t"/>
          <a:lstStyle/>
          <a:p>
            <a:pPr indent="0" marL="0">
              <a:lnSpc>
                <a:spcPct val="115000"/>
              </a:lnSpc>
              <a:buNone/>
            </a:pPr>
            <a:r>
              <a:rPr lang="en-US" sz="1350" dirty="0">
                <a:solidFill>
                  <a:srgbClr val="E4DFD5"/>
                </a:solidFill>
                <a:latin typeface="Georgia" pitchFamily="34" charset="0"/>
                <a:ea typeface="Georgia" pitchFamily="34" charset="-122"/>
                <a:cs typeface="Georgia" pitchFamily="34" charset="-120"/>
              </a:rPr>
              <a:t>Should a legal presumption that ‘computer evidence is reliable’ survive machine-scale, probabilistic systems? What would you replace it with?</a:t>
            </a:r>
            <a:endParaRPr lang="en-US" sz="1350" dirty="0"/>
          </a:p>
        </p:txBody>
      </p:sp>
      <p:sp>
        <p:nvSpPr>
          <p:cNvPr id="8" name="Shape 6"/>
          <p:cNvSpPr/>
          <p:nvPr/>
        </p:nvSpPr>
        <p:spPr>
          <a:xfrm>
            <a:off x="566928" y="4251960"/>
            <a:ext cx="420624" cy="420624"/>
          </a:xfrm>
          <a:prstGeom prst="ellipse">
            <a:avLst/>
          </a:prstGeom>
          <a:solidFill>
            <a:srgbClr val="8A8378"/>
          </a:solidFill>
          <a:ln/>
        </p:spPr>
      </p:sp>
      <p:sp>
        <p:nvSpPr>
          <p:cNvPr id="9" name="Text 7"/>
          <p:cNvSpPr/>
          <p:nvPr/>
        </p:nvSpPr>
        <p:spPr>
          <a:xfrm>
            <a:off x="566928" y="4251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Q2</a:t>
            </a:r>
            <a:endParaRPr lang="en-US" sz="950" dirty="0"/>
          </a:p>
        </p:txBody>
      </p:sp>
      <p:sp>
        <p:nvSpPr>
          <p:cNvPr id="10" name="Text 8"/>
          <p:cNvSpPr/>
          <p:nvPr/>
        </p:nvSpPr>
        <p:spPr>
          <a:xfrm>
            <a:off x="1143000" y="4206240"/>
            <a:ext cx="10372039" cy="2194560"/>
          </a:xfrm>
          <a:prstGeom prst="rect">
            <a:avLst/>
          </a:prstGeom>
          <a:noFill/>
          <a:ln/>
        </p:spPr>
        <p:txBody>
          <a:bodyPr wrap="square" rtlCol="0" anchor="t"/>
          <a:lstStyle/>
          <a:p>
            <a:pPr indent="0" marL="0">
              <a:lnSpc>
                <a:spcPct val="115000"/>
              </a:lnSpc>
              <a:buNone/>
            </a:pPr>
            <a:r>
              <a:rPr lang="en-US" sz="1350" dirty="0">
                <a:solidFill>
                  <a:srgbClr val="E4DFD5"/>
                </a:solidFill>
                <a:latin typeface="Georgia" pitchFamily="34" charset="0"/>
                <a:ea typeface="Georgia" pitchFamily="34" charset="-122"/>
                <a:cs typeface="Georgia" pitchFamily="34" charset="-120"/>
              </a:rPr>
              <a:t>You are examining an entity. Draft three questions that would test whether its records are independently trustworthy.</a:t>
            </a:r>
            <a:endParaRPr lang="en-US" sz="13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6</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050" b="1" dirty="0">
                <a:solidFill>
                  <a:srgbClr val="FFFFFF"/>
                </a:solidFill>
                <a:latin typeface="Georgia" pitchFamily="34" charset="0"/>
                <a:ea typeface="Georgia" pitchFamily="34" charset="-122"/>
                <a:cs typeface="Georgia" pitchFamily="34" charset="-120"/>
              </a:rPr>
              <a:t>Contract, procurement, and risk allocation</a:t>
            </a:r>
            <a:endParaRPr lang="en-US" sz="20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350" dirty="0">
                <a:solidFill>
                  <a:srgbClr val="33302B"/>
                </a:solidFill>
                <a:latin typeface="Georgia" pitchFamily="34" charset="0"/>
                <a:ea typeface="Georgia" pitchFamily="34" charset="-122"/>
                <a:cs typeface="Georgia" pitchFamily="34" charset="-120"/>
              </a:rPr>
              <a:t>Much agentic-AI risk is allocated — or mis-allocated — by contract. This week turns the framework into deal terms: warranties and representations about custody, audit and evidence rights, sovereignty and exit, indemnities for agent acts, and the nine-test protocol as contractual due diligence.</a:t>
            </a:r>
            <a:endParaRPr lang="en-US" sz="135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Learning aims</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Translate custody into contract terms</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Draft audit, evidence, and exit rights</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Use the nine tests as procurement due diligence</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FROM PRINCIPLE TO DEAL TERM</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350" b="1" dirty="0">
                <a:solidFill>
                  <a:srgbClr val="1B1A18"/>
                </a:solidFill>
                <a:latin typeface="Georgia" pitchFamily="34" charset="0"/>
                <a:ea typeface="Georgia" pitchFamily="34" charset="-122"/>
                <a:cs typeface="Georgia" pitchFamily="34" charset="-120"/>
              </a:rPr>
              <a:t>Allocating agentic-AI risk by contract</a:t>
            </a:r>
            <a:endParaRPr lang="en-US" sz="2350" dirty="0"/>
          </a:p>
        </p:txBody>
      </p:sp>
      <p:sp>
        <p:nvSpPr>
          <p:cNvPr id="4" name="Shape 2"/>
          <p:cNvSpPr/>
          <p:nvPr/>
        </p:nvSpPr>
        <p:spPr>
          <a:xfrm>
            <a:off x="566928" y="1691640"/>
            <a:ext cx="457200" cy="457200"/>
          </a:xfrm>
          <a:prstGeom prst="ellipse">
            <a:avLst/>
          </a:prstGeom>
          <a:solidFill>
            <a:srgbClr val="1B1A18"/>
          </a:solidFill>
          <a:ln/>
        </p:spPr>
      </p:sp>
      <p:sp>
        <p:nvSpPr>
          <p:cNvPr id="5" name="Text 3"/>
          <p:cNvSpPr/>
          <p:nvPr/>
        </p:nvSpPr>
        <p:spPr>
          <a:xfrm>
            <a:off x="566928" y="169164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Warranties &amp; representations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That mandatory rules are enforced structurally; that evidence is produced by construction — not that the model ‘is instructed to’.</a:t>
            </a:r>
            <a:endParaRPr lang="en-US" sz="1450" dirty="0"/>
          </a:p>
        </p:txBody>
      </p:sp>
      <p:sp>
        <p:nvSpPr>
          <p:cNvPr id="7" name="Shape 5"/>
          <p:cNvSpPr/>
          <p:nvPr/>
        </p:nvSpPr>
        <p:spPr>
          <a:xfrm>
            <a:off x="566928" y="2857500"/>
            <a:ext cx="457200" cy="457200"/>
          </a:xfrm>
          <a:prstGeom prst="ellipse">
            <a:avLst/>
          </a:prstGeom>
          <a:solidFill>
            <a:srgbClr val="1B1A18"/>
          </a:solidFill>
          <a:ln/>
        </p:spPr>
      </p:sp>
      <p:sp>
        <p:nvSpPr>
          <p:cNvPr id="8" name="Text 6"/>
          <p:cNvSpPr/>
          <p:nvPr/>
        </p:nvSpPr>
        <p:spPr>
          <a:xfrm>
            <a:off x="566928" y="285750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Audit &amp; evidence rights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A contractual right to run the last-month test and to independently verify records.</a:t>
            </a:r>
            <a:endParaRPr lang="en-US" sz="1450" dirty="0"/>
          </a:p>
        </p:txBody>
      </p:sp>
      <p:sp>
        <p:nvSpPr>
          <p:cNvPr id="10" name="Shape 8"/>
          <p:cNvSpPr/>
          <p:nvPr/>
        </p:nvSpPr>
        <p:spPr>
          <a:xfrm>
            <a:off x="566928" y="4023360"/>
            <a:ext cx="457200" cy="457200"/>
          </a:xfrm>
          <a:prstGeom prst="ellipse">
            <a:avLst/>
          </a:prstGeom>
          <a:solidFill>
            <a:srgbClr val="1B1A18"/>
          </a:solidFill>
          <a:ln/>
        </p:spPr>
      </p:sp>
      <p:sp>
        <p:nvSpPr>
          <p:cNvPr id="11" name="Text 9"/>
          <p:cNvSpPr/>
          <p:nvPr/>
        </p:nvSpPr>
        <p:spPr>
          <a:xfrm>
            <a:off x="566928" y="402336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Sovereignty &amp; exit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Data-location commitments, substitution rights, and exit assistance — the ability to say no to a single provider.</a:t>
            </a:r>
            <a:endParaRPr lang="en-US" sz="1450" dirty="0"/>
          </a:p>
        </p:txBody>
      </p:sp>
      <p:sp>
        <p:nvSpPr>
          <p:cNvPr id="13" name="Shape 11"/>
          <p:cNvSpPr/>
          <p:nvPr/>
        </p:nvSpPr>
        <p:spPr>
          <a:xfrm>
            <a:off x="566928" y="5189220"/>
            <a:ext cx="457200" cy="457200"/>
          </a:xfrm>
          <a:prstGeom prst="ellipse">
            <a:avLst/>
          </a:prstGeom>
          <a:solidFill>
            <a:srgbClr val="1B1A18"/>
          </a:solidFill>
          <a:ln/>
        </p:spPr>
      </p:sp>
      <p:sp>
        <p:nvSpPr>
          <p:cNvPr id="14" name="Text 12"/>
          <p:cNvSpPr/>
          <p:nvPr/>
        </p:nvSpPr>
        <p:spPr>
          <a:xfrm>
            <a:off x="566928" y="51892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Indemnities &amp; liability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Who bears loss for an agent’s unauthorised act, a meaning error, or a memory-poisoning event.</a:t>
            </a:r>
            <a:endParaRPr lang="en-US" sz="1450" dirty="0"/>
          </a:p>
        </p:txBody>
      </p:sp>
      <p:sp>
        <p:nvSpPr>
          <p:cNvPr id="16" name="Text 1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7" name="Text 1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DEMAND DEMONSTRATIONS, NOT WARRANTIES</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350" b="1" dirty="0">
                <a:solidFill>
                  <a:srgbClr val="1B1A18"/>
                </a:solidFill>
                <a:latin typeface="Georgia" pitchFamily="34" charset="0"/>
                <a:ea typeface="Georgia" pitchFamily="34" charset="-122"/>
                <a:cs typeface="Georgia" pitchFamily="34" charset="-120"/>
              </a:rPr>
              <a:t>The nine tests as procurement due diligence</a:t>
            </a:r>
            <a:endParaRPr lang="en-US" sz="2350" dirty="0"/>
          </a:p>
        </p:txBody>
      </p:sp>
      <p:sp>
        <p:nvSpPr>
          <p:cNvPr id="4" name="Shape 2"/>
          <p:cNvSpPr/>
          <p:nvPr/>
        </p:nvSpPr>
        <p:spPr>
          <a:xfrm>
            <a:off x="566928" y="1691640"/>
            <a:ext cx="5391760" cy="2148840"/>
          </a:xfrm>
          <a:prstGeom prst="roundRect">
            <a:avLst>
              <a:gd name="adj" fmla="val 3404"/>
            </a:avLst>
          </a:prstGeom>
          <a:solidFill>
            <a:srgbClr val="F4F2EE"/>
          </a:solidFill>
          <a:ln w="12700">
            <a:solidFill>
              <a:srgbClr val="EBE7DF"/>
            </a:solidFill>
            <a:prstDash val="solid"/>
          </a:ln>
        </p:spPr>
      </p:sp>
      <p:sp>
        <p:nvSpPr>
          <p:cNvPr id="5" name="Shape 3"/>
          <p:cNvSpPr/>
          <p:nvPr/>
        </p:nvSpPr>
        <p:spPr>
          <a:xfrm>
            <a:off x="795528" y="1892808"/>
            <a:ext cx="1839773" cy="310896"/>
          </a:xfrm>
          <a:prstGeom prst="roundRect">
            <a:avLst>
              <a:gd name="adj" fmla="val 50000"/>
            </a:avLst>
          </a:prstGeom>
          <a:solidFill>
            <a:srgbClr val="1B1A18"/>
          </a:solidFill>
          <a:ln/>
        </p:spPr>
      </p:sp>
      <p:sp>
        <p:nvSpPr>
          <p:cNvPr id="6" name="Text 4"/>
          <p:cNvSpPr/>
          <p:nvPr/>
        </p:nvSpPr>
        <p:spPr>
          <a:xfrm>
            <a:off x="795528" y="1892808"/>
            <a:ext cx="1839773"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Before signing</a:t>
            </a:r>
            <a:endParaRPr lang="en-US" sz="900" dirty="0"/>
          </a:p>
        </p:txBody>
      </p:sp>
      <p:sp>
        <p:nvSpPr>
          <p:cNvPr id="7" name="Text 5"/>
          <p:cNvSpPr/>
          <p:nvPr/>
        </p:nvSpPr>
        <p:spPr>
          <a:xfrm>
            <a:off x="795528" y="2295144"/>
            <a:ext cx="4934560"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Show the crossing</a:t>
            </a:r>
            <a:endParaRPr lang="en-US" sz="1400" dirty="0"/>
          </a:p>
        </p:txBody>
      </p:sp>
      <p:sp>
        <p:nvSpPr>
          <p:cNvPr id="8" name="Text 6"/>
          <p:cNvSpPr/>
          <p:nvPr/>
        </p:nvSpPr>
        <p:spPr>
          <a:xfrm>
            <a:off x="795528" y="2752344"/>
            <a:ext cx="4934560"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Require a live demonstration that work crosses a boundary carrying its meaning, rights, record, and relationships.</a:t>
            </a:r>
            <a:endParaRPr lang="en-US" sz="1100" dirty="0"/>
          </a:p>
        </p:txBody>
      </p:sp>
      <p:sp>
        <p:nvSpPr>
          <p:cNvPr id="9" name="Shape 7"/>
          <p:cNvSpPr/>
          <p:nvPr/>
        </p:nvSpPr>
        <p:spPr>
          <a:xfrm>
            <a:off x="6233008" y="1691640"/>
            <a:ext cx="5391760" cy="2148840"/>
          </a:xfrm>
          <a:prstGeom prst="roundRect">
            <a:avLst>
              <a:gd name="adj" fmla="val 3404"/>
            </a:avLst>
          </a:prstGeom>
          <a:solidFill>
            <a:srgbClr val="F4F2EE"/>
          </a:solidFill>
          <a:ln w="12700">
            <a:solidFill>
              <a:srgbClr val="EBE7DF"/>
            </a:solidFill>
            <a:prstDash val="solid"/>
          </a:ln>
        </p:spPr>
      </p:sp>
      <p:sp>
        <p:nvSpPr>
          <p:cNvPr id="10" name="Shape 8"/>
          <p:cNvSpPr/>
          <p:nvPr/>
        </p:nvSpPr>
        <p:spPr>
          <a:xfrm>
            <a:off x="6461608" y="1892808"/>
            <a:ext cx="2136038" cy="310896"/>
          </a:xfrm>
          <a:prstGeom prst="roundRect">
            <a:avLst>
              <a:gd name="adj" fmla="val 50000"/>
            </a:avLst>
          </a:prstGeom>
          <a:solidFill>
            <a:srgbClr val="1B1A18"/>
          </a:solidFill>
          <a:ln/>
        </p:spPr>
      </p:sp>
      <p:sp>
        <p:nvSpPr>
          <p:cNvPr id="11" name="Text 9"/>
          <p:cNvSpPr/>
          <p:nvPr/>
        </p:nvSpPr>
        <p:spPr>
          <a:xfrm>
            <a:off x="6461608" y="1892808"/>
            <a:ext cx="2136038"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Into the contract</a:t>
            </a:r>
            <a:endParaRPr lang="en-US" sz="900" dirty="0"/>
          </a:p>
        </p:txBody>
      </p:sp>
      <p:sp>
        <p:nvSpPr>
          <p:cNvPr id="12" name="Text 10"/>
          <p:cNvSpPr/>
          <p:nvPr/>
        </p:nvSpPr>
        <p:spPr>
          <a:xfrm>
            <a:off x="6461608" y="2295144"/>
            <a:ext cx="4934560"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Address &amp; last-month</a:t>
            </a:r>
            <a:endParaRPr lang="en-US" sz="1400" dirty="0"/>
          </a:p>
        </p:txBody>
      </p:sp>
      <p:sp>
        <p:nvSpPr>
          <p:cNvPr id="13" name="Text 11"/>
          <p:cNvSpPr/>
          <p:nvPr/>
        </p:nvSpPr>
        <p:spPr>
          <a:xfrm>
            <a:off x="6461608" y="2752344"/>
            <a:ext cx="4934560"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Bind the vendor to structural enforcement of each ‘never’ and to attribution-by-query for any transaction.</a:t>
            </a:r>
            <a:endParaRPr lang="en-US" sz="1100" dirty="0"/>
          </a:p>
        </p:txBody>
      </p:sp>
      <p:sp>
        <p:nvSpPr>
          <p:cNvPr id="14" name="Shape 12"/>
          <p:cNvSpPr/>
          <p:nvPr/>
        </p:nvSpPr>
        <p:spPr>
          <a:xfrm>
            <a:off x="566928" y="4114800"/>
            <a:ext cx="5391760" cy="2148840"/>
          </a:xfrm>
          <a:prstGeom prst="roundRect">
            <a:avLst>
              <a:gd name="adj" fmla="val 3404"/>
            </a:avLst>
          </a:prstGeom>
          <a:solidFill>
            <a:srgbClr val="F4F2EE"/>
          </a:solidFill>
          <a:ln w="12700">
            <a:solidFill>
              <a:srgbClr val="EBE7DF"/>
            </a:solidFill>
            <a:prstDash val="solid"/>
          </a:ln>
        </p:spPr>
      </p:sp>
      <p:sp>
        <p:nvSpPr>
          <p:cNvPr id="15" name="Shape 13"/>
          <p:cNvSpPr/>
          <p:nvPr/>
        </p:nvSpPr>
        <p:spPr>
          <a:xfrm>
            <a:off x="795528" y="4315968"/>
            <a:ext cx="1839773" cy="310896"/>
          </a:xfrm>
          <a:prstGeom prst="roundRect">
            <a:avLst>
              <a:gd name="adj" fmla="val 50000"/>
            </a:avLst>
          </a:prstGeom>
          <a:solidFill>
            <a:srgbClr val="1B1A18"/>
          </a:solidFill>
          <a:ln/>
        </p:spPr>
      </p:sp>
      <p:sp>
        <p:nvSpPr>
          <p:cNvPr id="16" name="Text 14"/>
          <p:cNvSpPr/>
          <p:nvPr/>
        </p:nvSpPr>
        <p:spPr>
          <a:xfrm>
            <a:off x="795528" y="4315968"/>
            <a:ext cx="1839773"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For resilience</a:t>
            </a:r>
            <a:endParaRPr lang="en-US" sz="900" dirty="0"/>
          </a:p>
        </p:txBody>
      </p:sp>
      <p:sp>
        <p:nvSpPr>
          <p:cNvPr id="17" name="Text 15"/>
          <p:cNvSpPr/>
          <p:nvPr/>
        </p:nvSpPr>
        <p:spPr>
          <a:xfrm>
            <a:off x="795528" y="4718304"/>
            <a:ext cx="4934560"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Dependency &amp; substitution</a:t>
            </a:r>
            <a:endParaRPr lang="en-US" sz="1400" dirty="0"/>
          </a:p>
        </p:txBody>
      </p:sp>
      <p:sp>
        <p:nvSpPr>
          <p:cNvPr id="18" name="Text 16"/>
          <p:cNvSpPr/>
          <p:nvPr/>
        </p:nvSpPr>
        <p:spPr>
          <a:xfrm>
            <a:off x="795528" y="5175504"/>
            <a:ext cx="4934560"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Require the dependency census and a costed exit — concentration risk you can name is concentration risk you can price.</a:t>
            </a:r>
            <a:endParaRPr lang="en-US" sz="1100" dirty="0"/>
          </a:p>
        </p:txBody>
      </p:sp>
      <p:sp>
        <p:nvSpPr>
          <p:cNvPr id="19" name="Text 17"/>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20" name="Text 18"/>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33302B"/>
        </a:solidFill>
      </p:bgPr>
    </p:bg>
    <p:spTree>
      <p:nvGrpSpPr>
        <p:cNvPr id="1" name=""/>
        <p:cNvGrpSpPr/>
        <p:nvPr/>
      </p:nvGrpSpPr>
      <p:grpSpPr>
        <a:xfrm>
          <a:off x="0" y="0"/>
          <a:ext cx="0" cy="0"/>
          <a:chOff x="0" y="0"/>
          <a:chExt cx="0" cy="0"/>
        </a:xfrm>
      </p:grpSpPr>
      <p:sp>
        <p:nvSpPr>
          <p:cNvPr id="2" name="Shape 0"/>
          <p:cNvSpPr/>
          <p:nvPr/>
        </p:nvSpPr>
        <p:spPr>
          <a:xfrm>
            <a:off x="566928" y="502920"/>
            <a:ext cx="1828800" cy="310896"/>
          </a:xfrm>
          <a:prstGeom prst="roundRect">
            <a:avLst>
              <a:gd name="adj" fmla="val 50000"/>
            </a:avLst>
          </a:prstGeom>
          <a:solidFill>
            <a:srgbClr val="8A8378"/>
          </a:solidFill>
          <a:ln/>
        </p:spPr>
      </p:sp>
      <p:sp>
        <p:nvSpPr>
          <p:cNvPr id="3" name="Text 1"/>
          <p:cNvSpPr/>
          <p:nvPr/>
        </p:nvSpPr>
        <p:spPr>
          <a:xfrm>
            <a:off x="566928" y="502920"/>
            <a:ext cx="182880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DRAFTING</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indent="0" marL="0">
              <a:buNone/>
            </a:pPr>
            <a:r>
              <a:rPr lang="en-US" sz="2150" b="1" dirty="0">
                <a:solidFill>
                  <a:srgbClr val="FFFFFF"/>
                </a:solidFill>
                <a:latin typeface="Georgia" pitchFamily="34" charset="0"/>
                <a:ea typeface="Georgia" pitchFamily="34" charset="-122"/>
                <a:cs typeface="Georgia" pitchFamily="34" charset="-120"/>
              </a:rPr>
              <a:t>Drafting — Week 6</a:t>
            </a:r>
            <a:endParaRPr lang="en-US" sz="2150" dirty="0"/>
          </a:p>
        </p:txBody>
      </p:sp>
      <p:sp>
        <p:nvSpPr>
          <p:cNvPr id="5" name="Shape 3"/>
          <p:cNvSpPr/>
          <p:nvPr/>
        </p:nvSpPr>
        <p:spPr>
          <a:xfrm>
            <a:off x="566928" y="1965960"/>
            <a:ext cx="420624" cy="420624"/>
          </a:xfrm>
          <a:prstGeom prst="ellipse">
            <a:avLst/>
          </a:prstGeom>
          <a:solidFill>
            <a:srgbClr val="8A8378"/>
          </a:solidFill>
          <a:ln/>
        </p:spPr>
      </p:sp>
      <p:sp>
        <p:nvSpPr>
          <p:cNvPr id="6" name="Text 4"/>
          <p:cNvSpPr/>
          <p:nvPr/>
        </p:nvSpPr>
        <p:spPr>
          <a:xfrm>
            <a:off x="566928" y="1965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Q1</a:t>
            </a:r>
            <a:endParaRPr lang="en-US" sz="950" dirty="0"/>
          </a:p>
        </p:txBody>
      </p:sp>
      <p:sp>
        <p:nvSpPr>
          <p:cNvPr id="7" name="Text 5"/>
          <p:cNvSpPr/>
          <p:nvPr/>
        </p:nvSpPr>
        <p:spPr>
          <a:xfrm>
            <a:off x="1143000" y="1920240"/>
            <a:ext cx="10372039" cy="2194560"/>
          </a:xfrm>
          <a:prstGeom prst="rect">
            <a:avLst/>
          </a:prstGeom>
          <a:noFill/>
          <a:ln/>
        </p:spPr>
        <p:txBody>
          <a:bodyPr wrap="square" rtlCol="0" anchor="t"/>
          <a:lstStyle/>
          <a:p>
            <a:pPr indent="0" marL="0">
              <a:lnSpc>
                <a:spcPct val="115000"/>
              </a:lnSpc>
              <a:buNone/>
            </a:pPr>
            <a:r>
              <a:rPr lang="en-US" sz="1350" dirty="0">
                <a:solidFill>
                  <a:srgbClr val="E4DFD5"/>
                </a:solidFill>
                <a:latin typeface="Georgia" pitchFamily="34" charset="0"/>
                <a:ea typeface="Georgia" pitchFamily="34" charset="-122"/>
                <a:cs typeface="Georgia" pitchFamily="34" charset="-120"/>
              </a:rPr>
              <a:t>Draft a warranty that would fail if the vendor’s only enforcement of a ‘never’ is a system prompt.</a:t>
            </a:r>
            <a:endParaRPr lang="en-US" sz="1350" dirty="0"/>
          </a:p>
        </p:txBody>
      </p:sp>
      <p:sp>
        <p:nvSpPr>
          <p:cNvPr id="8" name="Shape 6"/>
          <p:cNvSpPr/>
          <p:nvPr/>
        </p:nvSpPr>
        <p:spPr>
          <a:xfrm>
            <a:off x="566928" y="4251960"/>
            <a:ext cx="420624" cy="420624"/>
          </a:xfrm>
          <a:prstGeom prst="ellipse">
            <a:avLst/>
          </a:prstGeom>
          <a:solidFill>
            <a:srgbClr val="8A8378"/>
          </a:solidFill>
          <a:ln/>
        </p:spPr>
      </p:sp>
      <p:sp>
        <p:nvSpPr>
          <p:cNvPr id="9" name="Text 7"/>
          <p:cNvSpPr/>
          <p:nvPr/>
        </p:nvSpPr>
        <p:spPr>
          <a:xfrm>
            <a:off x="566928" y="4251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Q2</a:t>
            </a:r>
            <a:endParaRPr lang="en-US" sz="950" dirty="0"/>
          </a:p>
        </p:txBody>
      </p:sp>
      <p:sp>
        <p:nvSpPr>
          <p:cNvPr id="10" name="Text 8"/>
          <p:cNvSpPr/>
          <p:nvPr/>
        </p:nvSpPr>
        <p:spPr>
          <a:xfrm>
            <a:off x="1143000" y="4206240"/>
            <a:ext cx="10372039" cy="2194560"/>
          </a:xfrm>
          <a:prstGeom prst="rect">
            <a:avLst/>
          </a:prstGeom>
          <a:noFill/>
          <a:ln/>
        </p:spPr>
        <p:txBody>
          <a:bodyPr wrap="square" rtlCol="0" anchor="t"/>
          <a:lstStyle/>
          <a:p>
            <a:pPr indent="0" marL="0">
              <a:lnSpc>
                <a:spcPct val="115000"/>
              </a:lnSpc>
              <a:buNone/>
            </a:pPr>
            <a:r>
              <a:rPr lang="en-US" sz="1350" dirty="0">
                <a:solidFill>
                  <a:srgbClr val="E4DFD5"/>
                </a:solidFill>
                <a:latin typeface="Georgia" pitchFamily="34" charset="0"/>
                <a:ea typeface="Georgia" pitchFamily="34" charset="-122"/>
                <a:cs typeface="Georgia" pitchFamily="34" charset="-120"/>
              </a:rPr>
              <a:t>What audit right gives counsel a real remedy rather than a paper assurance?</a:t>
            </a:r>
            <a:endParaRPr lang="en-US" sz="13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7</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050" b="1" dirty="0">
                <a:solidFill>
                  <a:srgbClr val="FFFFFF"/>
                </a:solidFill>
                <a:latin typeface="Georgia" pitchFamily="34" charset="0"/>
                <a:ea typeface="Georgia" pitchFamily="34" charset="-122"/>
                <a:cs typeface="Georgia" pitchFamily="34" charset="-120"/>
              </a:rPr>
              <a:t>Data protection and privacy</a:t>
            </a:r>
            <a:endParaRPr lang="en-US" sz="20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350" dirty="0">
                <a:solidFill>
                  <a:srgbClr val="33302B"/>
                </a:solidFill>
                <a:latin typeface="Georgia" pitchFamily="34" charset="0"/>
                <a:ea typeface="Georgia" pitchFamily="34" charset="-122"/>
                <a:cs typeface="Georgia" pitchFamily="34" charset="-120"/>
              </a:rPr>
              <a:t>Institutional memory is, legally, data governance: retention, integrity, breach, and cross-border transfer. This week: memory as a regulated asset, the fragility of cross-border arrangements, and the emerging attack surface of AI memory — where a poisoned record is inherited by every future reader.</a:t>
            </a:r>
            <a:endParaRPr lang="en-US" sz="135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Learning aims</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Treat AI memory as regulated data</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Analyse cross-border transfer fragility</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Assess breach and memory-integrity risk</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RETENTION · INTEGRITY · TRANSFER · BREACH</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350" b="1" dirty="0">
                <a:solidFill>
                  <a:srgbClr val="1B1A18"/>
                </a:solidFill>
                <a:latin typeface="Georgia" pitchFamily="34" charset="0"/>
                <a:ea typeface="Georgia" pitchFamily="34" charset="-122"/>
                <a:cs typeface="Georgia" pitchFamily="34" charset="-120"/>
              </a:rPr>
              <a:t>Memory as data governance</a:t>
            </a:r>
            <a:endParaRPr lang="en-US" sz="2350" dirty="0"/>
          </a:p>
        </p:txBody>
      </p:sp>
      <p:sp>
        <p:nvSpPr>
          <p:cNvPr id="4" name="Shape 2"/>
          <p:cNvSpPr/>
          <p:nvPr/>
        </p:nvSpPr>
        <p:spPr>
          <a:xfrm>
            <a:off x="566928" y="1691640"/>
            <a:ext cx="457200" cy="457200"/>
          </a:xfrm>
          <a:prstGeom prst="ellipse">
            <a:avLst/>
          </a:prstGeom>
          <a:solidFill>
            <a:srgbClr val="1B1A18"/>
          </a:solidFill>
          <a:ln/>
        </p:spPr>
      </p:sp>
      <p:sp>
        <p:nvSpPr>
          <p:cNvPr id="5" name="Text 3"/>
          <p:cNvSpPr/>
          <p:nvPr/>
        </p:nvSpPr>
        <p:spPr>
          <a:xfrm>
            <a:off x="566928" y="169164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Durability requires ceremony.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Gated writes, attribution, provenance — the controls that make a record trustworthy and lawful to rely on.</a:t>
            </a:r>
            <a:endParaRPr lang="en-US" sz="1450" dirty="0"/>
          </a:p>
        </p:txBody>
      </p:sp>
      <p:sp>
        <p:nvSpPr>
          <p:cNvPr id="7" name="Shape 5"/>
          <p:cNvSpPr/>
          <p:nvPr/>
        </p:nvSpPr>
        <p:spPr>
          <a:xfrm>
            <a:off x="566928" y="2857500"/>
            <a:ext cx="457200" cy="457200"/>
          </a:xfrm>
          <a:prstGeom prst="ellipse">
            <a:avLst/>
          </a:prstGeom>
          <a:solidFill>
            <a:srgbClr val="1B1A18"/>
          </a:solidFill>
          <a:ln/>
        </p:spPr>
      </p:sp>
      <p:sp>
        <p:nvSpPr>
          <p:cNvPr id="8" name="Text 6"/>
          <p:cNvSpPr/>
          <p:nvPr/>
        </p:nvSpPr>
        <p:spPr>
          <a:xfrm>
            <a:off x="566928" y="285750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Cross-border transfer is fragile.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A single legal arrangement can be invalidated overnight, stranding a routine data flow.</a:t>
            </a:r>
            <a:endParaRPr lang="en-US" sz="1450" dirty="0"/>
          </a:p>
        </p:txBody>
      </p:sp>
      <p:sp>
        <p:nvSpPr>
          <p:cNvPr id="10" name="Shape 8"/>
          <p:cNvSpPr/>
          <p:nvPr/>
        </p:nvSpPr>
        <p:spPr>
          <a:xfrm>
            <a:off x="566928" y="4023360"/>
            <a:ext cx="457200" cy="457200"/>
          </a:xfrm>
          <a:prstGeom prst="ellipse">
            <a:avLst/>
          </a:prstGeom>
          <a:solidFill>
            <a:srgbClr val="1B1A18"/>
          </a:solidFill>
          <a:ln/>
        </p:spPr>
      </p:sp>
      <p:sp>
        <p:nvSpPr>
          <p:cNvPr id="11" name="Text 9"/>
          <p:cNvSpPr/>
          <p:nvPr/>
        </p:nvSpPr>
        <p:spPr>
          <a:xfrm>
            <a:off x="566928" y="402336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Memory is an attack surface.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A poisoned entry is inherited by every future reader — a time-shifted integrity and breach risk.</a:t>
            </a:r>
            <a:endParaRPr lang="en-US" sz="1450" dirty="0"/>
          </a:p>
        </p:txBody>
      </p:sp>
      <p:sp>
        <p:nvSpPr>
          <p:cNvPr id="13" name="Shape 11"/>
          <p:cNvSpPr/>
          <p:nvPr/>
        </p:nvSpPr>
        <p:spPr>
          <a:xfrm>
            <a:off x="566928" y="5189220"/>
            <a:ext cx="457200" cy="457200"/>
          </a:xfrm>
          <a:prstGeom prst="ellipse">
            <a:avLst/>
          </a:prstGeom>
          <a:solidFill>
            <a:srgbClr val="1B1A18"/>
          </a:solidFill>
          <a:ln/>
        </p:spPr>
      </p:sp>
      <p:sp>
        <p:nvSpPr>
          <p:cNvPr id="14" name="Text 12"/>
          <p:cNvSpPr/>
          <p:nvPr/>
        </p:nvSpPr>
        <p:spPr>
          <a:xfrm>
            <a:off x="566928" y="51892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Breach is conduct, not just misfortune.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Exposure of personal data engages notification, supervisory, and liability regimes.</a:t>
            </a:r>
            <a:endParaRPr lang="en-US" sz="1450" dirty="0"/>
          </a:p>
        </p:txBody>
      </p:sp>
      <p:sp>
        <p:nvSpPr>
          <p:cNvPr id="16" name="Text 1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7" name="Text 1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566928" y="502920"/>
            <a:ext cx="1737360" cy="310896"/>
          </a:xfrm>
          <a:prstGeom prst="roundRect">
            <a:avLst>
              <a:gd name="adj" fmla="val 50000"/>
            </a:avLst>
          </a:prstGeom>
          <a:solidFill>
            <a:srgbClr val="8A8378"/>
          </a:solidFill>
          <a:ln/>
        </p:spPr>
      </p:sp>
      <p:sp>
        <p:nvSpPr>
          <p:cNvPr id="3" name="Text 1"/>
          <p:cNvSpPr/>
          <p:nvPr/>
        </p:nvSpPr>
        <p:spPr>
          <a:xfrm>
            <a:off x="566928" y="502920"/>
            <a:ext cx="173736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CASE RECORD</a:t>
            </a:r>
            <a:endParaRPr lang="en-US" sz="1050" dirty="0"/>
          </a:p>
        </p:txBody>
      </p:sp>
      <p:sp>
        <p:nvSpPr>
          <p:cNvPr id="4" name="Text 2"/>
          <p:cNvSpPr/>
          <p:nvPr/>
        </p:nvSpPr>
        <p:spPr>
          <a:xfrm>
            <a:off x="566928" y="914400"/>
            <a:ext cx="11057839" cy="731520"/>
          </a:xfrm>
          <a:prstGeom prst="rect">
            <a:avLst/>
          </a:prstGeom>
          <a:noFill/>
          <a:ln/>
        </p:spPr>
        <p:txBody>
          <a:bodyPr wrap="square" rtlCol="0" anchor="ctr"/>
          <a:lstStyle/>
          <a:p>
            <a:pPr indent="0" marL="0">
              <a:buNone/>
            </a:pPr>
            <a:r>
              <a:rPr lang="en-US" sz="2150" b="1" dirty="0">
                <a:solidFill>
                  <a:srgbClr val="FFFFFF"/>
                </a:solidFill>
                <a:latin typeface="Georgia" pitchFamily="34" charset="0"/>
                <a:ea typeface="Georgia" pitchFamily="34" charset="-122"/>
                <a:cs typeface="Georgia" pitchFamily="34" charset="-120"/>
              </a:rPr>
              <a:t>Schrems II</a:t>
            </a:r>
            <a:endParaRPr lang="en-US" sz="2150" dirty="0"/>
          </a:p>
        </p:txBody>
      </p:sp>
      <p:sp>
        <p:nvSpPr>
          <p:cNvPr id="5" name="Text 3"/>
          <p:cNvSpPr/>
          <p:nvPr/>
        </p:nvSpPr>
        <p:spPr>
          <a:xfrm>
            <a:off x="566928" y="1965960"/>
            <a:ext cx="5760720" cy="1463040"/>
          </a:xfrm>
          <a:prstGeom prst="rect">
            <a:avLst/>
          </a:prstGeom>
          <a:noFill/>
          <a:ln/>
        </p:spPr>
        <p:txBody>
          <a:bodyPr wrap="square" rtlCol="0" anchor="ctr"/>
          <a:lstStyle/>
          <a:p>
            <a:pPr indent="0" marL="0">
              <a:buNone/>
            </a:pPr>
            <a:r>
              <a:rPr lang="en-US" sz="4700" b="1" dirty="0">
                <a:solidFill>
                  <a:srgbClr val="8A8378"/>
                </a:solidFill>
                <a:latin typeface="Georgia" pitchFamily="34" charset="0"/>
                <a:ea typeface="Georgia" pitchFamily="34" charset="-122"/>
                <a:cs typeface="Georgia" pitchFamily="34" charset="-120"/>
              </a:rPr>
              <a:t>~5,300 orgs</a:t>
            </a:r>
            <a:endParaRPr lang="en-US" sz="4700" dirty="0"/>
          </a:p>
        </p:txBody>
      </p:sp>
      <p:sp>
        <p:nvSpPr>
          <p:cNvPr id="6" name="Text 4"/>
          <p:cNvSpPr/>
          <p:nvPr/>
        </p:nvSpPr>
        <p:spPr>
          <a:xfrm>
            <a:off x="566928" y="3383280"/>
            <a:ext cx="5760720" cy="1371600"/>
          </a:xfrm>
          <a:prstGeom prst="rect">
            <a:avLst/>
          </a:prstGeom>
          <a:noFill/>
          <a:ln/>
        </p:spPr>
        <p:txBody>
          <a:bodyPr wrap="square" rtlCol="0" anchor="t"/>
          <a:lstStyle/>
          <a:p>
            <a:pPr indent="0" marL="0">
              <a:lnSpc>
                <a:spcPct val="120000"/>
              </a:lnSpc>
              <a:buNone/>
            </a:pPr>
            <a:r>
              <a:rPr lang="en-US" sz="1400" dirty="0">
                <a:solidFill>
                  <a:srgbClr val="E4DFD5"/>
                </a:solidFill>
                <a:latin typeface="Georgia" pitchFamily="34" charset="0"/>
                <a:ea typeface="Georgia" pitchFamily="34" charset="-122"/>
                <a:cs typeface="Georgia" pitchFamily="34" charset="-120"/>
              </a:rPr>
              <a:t>left without a legal basis when the EU–US transfer framework was struck down overnight</a:t>
            </a:r>
            <a:endParaRPr lang="en-US" sz="1400" dirty="0"/>
          </a:p>
        </p:txBody>
      </p:sp>
      <p:sp>
        <p:nvSpPr>
          <p:cNvPr id="7" name="Text 5"/>
          <p:cNvSpPr/>
          <p:nvPr/>
        </p:nvSpPr>
        <p:spPr>
          <a:xfrm>
            <a:off x="566928" y="5303520"/>
            <a:ext cx="5852160" cy="777240"/>
          </a:xfrm>
          <a:prstGeom prst="rect">
            <a:avLst/>
          </a:prstGeom>
          <a:noFill/>
          <a:ln/>
        </p:spPr>
        <p:txBody>
          <a:bodyPr wrap="square" rtlCol="0" anchor="t"/>
          <a:lstStyle/>
          <a:p>
            <a:pPr indent="0" marL="0">
              <a:lnSpc>
                <a:spcPct val="110000"/>
              </a:lnSpc>
              <a:buNone/>
            </a:pPr>
            <a:r>
              <a:rPr lang="en-US" sz="900" b="1" dirty="0">
                <a:solidFill>
                  <a:srgbClr val="8A8378"/>
                </a:solidFill>
                <a:latin typeface="Georgia" pitchFamily="34" charset="0"/>
                <a:ea typeface="Georgia" pitchFamily="34" charset="-122"/>
                <a:cs typeface="Georgia" pitchFamily="34" charset="-120"/>
              </a:rPr>
              <a:t>CITATION  </a:t>
            </a:r>
            <a:pPr indent="0" marL="0">
              <a:lnSpc>
                <a:spcPct val="110000"/>
              </a:lnSpc>
              <a:buNone/>
            </a:pPr>
            <a:r>
              <a:rPr lang="en-US" sz="950" i="1" dirty="0">
                <a:solidFill>
                  <a:srgbClr val="C4BDB0"/>
                </a:solidFill>
                <a:latin typeface="Georgia" pitchFamily="34" charset="0"/>
                <a:ea typeface="Georgia" pitchFamily="34" charset="-122"/>
                <a:cs typeface="Georgia" pitchFamily="34" charset="-120"/>
              </a:rPr>
              <a:t>CJEU Case C-311/18, Data Protection Commissioner v Facebook Ireland and Schrems (16 Jul 2020).</a:t>
            </a:r>
            <a:endParaRPr lang="en-US" sz="900" dirty="0"/>
          </a:p>
        </p:txBody>
      </p:sp>
      <p:sp>
        <p:nvSpPr>
          <p:cNvPr id="8" name="Shape 6"/>
          <p:cNvSpPr/>
          <p:nvPr/>
        </p:nvSpPr>
        <p:spPr>
          <a:xfrm>
            <a:off x="6766560" y="1965960"/>
            <a:ext cx="4858207" cy="3794760"/>
          </a:xfrm>
          <a:prstGeom prst="roundRect">
            <a:avLst>
              <a:gd name="adj" fmla="val 2410"/>
            </a:avLst>
          </a:prstGeom>
          <a:solidFill>
            <a:srgbClr val="33302B"/>
          </a:solidFill>
          <a:ln/>
        </p:spPr>
      </p:sp>
      <p:sp>
        <p:nvSpPr>
          <p:cNvPr id="9" name="Text 7"/>
          <p:cNvSpPr/>
          <p:nvPr/>
        </p:nvSpPr>
        <p:spPr>
          <a:xfrm>
            <a:off x="6995160" y="2167128"/>
            <a:ext cx="4401007" cy="3429000"/>
          </a:xfrm>
          <a:prstGeom prst="rect">
            <a:avLst/>
          </a:prstGeom>
          <a:noFill/>
          <a:ln/>
        </p:spPr>
        <p:txBody>
          <a:bodyPr wrap="square" rtlCol="0" anchor="t"/>
          <a:lstStyle/>
          <a:p>
            <a:pPr indent="0" marL="0">
              <a:lnSpc>
                <a:spcPct val="118000"/>
              </a:lnSpc>
              <a:spcAft>
                <a:spcPts val="900"/>
              </a:spcAft>
              <a:buNone/>
            </a:pPr>
            <a:r>
              <a:rPr lang="en-US" sz="1200" b="1" dirty="0">
                <a:solidFill>
                  <a:srgbClr val="FFFFFF"/>
                </a:solidFill>
                <a:latin typeface="Georgia" pitchFamily="34" charset="0"/>
                <a:ea typeface="Georgia" pitchFamily="34" charset="-122"/>
                <a:cs typeface="Georgia" pitchFamily="34" charset="-120"/>
              </a:rPr>
              <a:t>Facts:</a:t>
            </a:r>
            <a:endParaRPr lang="en-US" sz="1200" dirty="0"/>
          </a:p>
          <a:p>
            <a:pPr indent="0" marL="0">
              <a:lnSpc>
                <a:spcPct val="118000"/>
              </a:lnSpc>
              <a:spcAft>
                <a:spcPts val="900"/>
              </a:spcAft>
              <a:buNone/>
            </a:pPr>
            <a:r>
              <a:rPr lang="en-US" sz="1200" dirty="0">
                <a:solidFill>
                  <a:srgbClr val="E4DFD5"/>
                </a:solidFill>
                <a:latin typeface="Georgia" pitchFamily="34" charset="0"/>
                <a:ea typeface="Georgia" pitchFamily="34" charset="-122"/>
                <a:cs typeface="Georgia" pitchFamily="34" charset="-120"/>
              </a:rPr>
              <a:t>the CJEU invalidated the principal EU–US data-transfer framework; thousands lost their legal basis for a transfer at a stroke.</a:t>
            </a:r>
            <a:endParaRPr lang="en-US" sz="1200" dirty="0"/>
          </a:p>
          <a:p>
            <a:pPr indent="0" marL="0">
              <a:lnSpc>
                <a:spcPct val="118000"/>
              </a:lnSpc>
              <a:spcAft>
                <a:spcPts val="900"/>
              </a:spcAft>
              <a:buNone/>
            </a:pPr>
            <a:r>
              <a:rPr lang="en-US" sz="1200" b="1" dirty="0">
                <a:solidFill>
                  <a:srgbClr val="FFFFFF"/>
                </a:solidFill>
                <a:latin typeface="Georgia" pitchFamily="34" charset="0"/>
                <a:ea typeface="Georgia" pitchFamily="34" charset="-122"/>
                <a:cs typeface="Georgia" pitchFamily="34" charset="-120"/>
              </a:rPr>
              <a:t>Outcome:</a:t>
            </a:r>
            <a:endParaRPr lang="en-US" sz="1200" dirty="0"/>
          </a:p>
          <a:p>
            <a:pPr indent="0" marL="0">
              <a:lnSpc>
                <a:spcPct val="118000"/>
              </a:lnSpc>
              <a:spcAft>
                <a:spcPts val="900"/>
              </a:spcAft>
              <a:buNone/>
            </a:pPr>
            <a:r>
              <a:rPr lang="en-US" sz="1200" dirty="0">
                <a:solidFill>
                  <a:srgbClr val="E4DFD5"/>
                </a:solidFill>
                <a:latin typeface="Georgia" pitchFamily="34" charset="0"/>
                <a:ea typeface="Georgia" pitchFamily="34" charset="-122"/>
                <a:cs typeface="Georgia" pitchFamily="34" charset="-120"/>
              </a:rPr>
              <a:t>transfers had to rest on other mechanisms with additional safeguards, assessed case by case; a successor framework was promptly challenged.</a:t>
            </a:r>
            <a:endParaRPr lang="en-US" sz="1200" dirty="0"/>
          </a:p>
          <a:p>
            <a:pPr indent="0" marL="0">
              <a:lnSpc>
                <a:spcPct val="118000"/>
              </a:lnSpc>
              <a:spcAft>
                <a:spcPts val="900"/>
              </a:spcAft>
              <a:buNone/>
            </a:pPr>
            <a:r>
              <a:rPr lang="en-US" sz="1200" b="1" dirty="0">
                <a:solidFill>
                  <a:srgbClr val="FFFFFF"/>
                </a:solidFill>
                <a:latin typeface="Georgia" pitchFamily="34" charset="0"/>
                <a:ea typeface="Georgia" pitchFamily="34" charset="-122"/>
                <a:cs typeface="Georgia" pitchFamily="34" charset="-120"/>
              </a:rPr>
              <a:t>Doctrine:</a:t>
            </a:r>
            <a:endParaRPr lang="en-US" sz="1200" dirty="0"/>
          </a:p>
          <a:p>
            <a:pPr indent="0" marL="0">
              <a:lnSpc>
                <a:spcPct val="118000"/>
              </a:lnSpc>
              <a:spcAft>
                <a:spcPts val="900"/>
              </a:spcAft>
              <a:buNone/>
            </a:pPr>
            <a:r>
              <a:rPr lang="en-US" sz="1200" dirty="0">
                <a:solidFill>
                  <a:srgbClr val="E4DFD5"/>
                </a:solidFill>
                <a:latin typeface="Georgia" pitchFamily="34" charset="0"/>
                <a:ea typeface="Georgia" pitchFamily="34" charset="-122"/>
                <a:cs typeface="Georgia" pitchFamily="34" charset="-120"/>
              </a:rPr>
              <a:t>cross-border dependency is a legal-continuity risk; assume the arrangement can fail and test the fallback.</a:t>
            </a:r>
            <a:endParaRPr lang="en-US" sz="1200" dirty="0"/>
          </a:p>
        </p:txBody>
      </p:sp>
      <p:sp>
        <p:nvSpPr>
          <p:cNvPr id="10" name="Text 8"/>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1" name="Text 9"/>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DEMONSTRATED &amp; ENFORCED — REGISTER NOTED</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350" b="1" dirty="0">
                <a:solidFill>
                  <a:srgbClr val="1B1A18"/>
                </a:solidFill>
                <a:latin typeface="Georgia" pitchFamily="34" charset="0"/>
                <a:ea typeface="Georgia" pitchFamily="34" charset="-122"/>
                <a:cs typeface="Georgia" pitchFamily="34" charset="-120"/>
              </a:rPr>
              <a:t>The AI-memory attack surface</a:t>
            </a:r>
            <a:endParaRPr lang="en-US" sz="2350" dirty="0"/>
          </a:p>
        </p:txBody>
      </p:sp>
      <p:sp>
        <p:nvSpPr>
          <p:cNvPr id="4" name="Shape 2"/>
          <p:cNvSpPr/>
          <p:nvPr/>
        </p:nvSpPr>
        <p:spPr>
          <a:xfrm>
            <a:off x="566928" y="1691640"/>
            <a:ext cx="5391760" cy="4572000"/>
          </a:xfrm>
          <a:prstGeom prst="roundRect">
            <a:avLst>
              <a:gd name="adj" fmla="val 1600"/>
            </a:avLst>
          </a:prstGeom>
          <a:solidFill>
            <a:srgbClr val="F4F2EE"/>
          </a:solidFill>
          <a:ln w="12700">
            <a:solidFill>
              <a:srgbClr val="EBE7DF"/>
            </a:solidFill>
            <a:prstDash val="solid"/>
          </a:ln>
        </p:spPr>
      </p:sp>
      <p:sp>
        <p:nvSpPr>
          <p:cNvPr id="5" name="Shape 3"/>
          <p:cNvSpPr/>
          <p:nvPr/>
        </p:nvSpPr>
        <p:spPr>
          <a:xfrm>
            <a:off x="795528" y="1892808"/>
            <a:ext cx="2037283" cy="310896"/>
          </a:xfrm>
          <a:prstGeom prst="roundRect">
            <a:avLst>
              <a:gd name="adj" fmla="val 50000"/>
            </a:avLst>
          </a:prstGeom>
          <a:solidFill>
            <a:srgbClr val="1B1A18"/>
          </a:solidFill>
          <a:ln/>
        </p:spPr>
      </p:sp>
      <p:sp>
        <p:nvSpPr>
          <p:cNvPr id="6" name="Text 4"/>
          <p:cNvSpPr/>
          <p:nvPr/>
        </p:nvSpPr>
        <p:spPr>
          <a:xfrm>
            <a:off x="795528" y="1892808"/>
            <a:ext cx="2037283"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Regulator action</a:t>
            </a:r>
            <a:endParaRPr lang="en-US" sz="900" dirty="0"/>
          </a:p>
        </p:txBody>
      </p:sp>
      <p:sp>
        <p:nvSpPr>
          <p:cNvPr id="7" name="Text 5"/>
          <p:cNvSpPr/>
          <p:nvPr/>
        </p:nvSpPr>
        <p:spPr>
          <a:xfrm>
            <a:off x="795528" y="2295144"/>
            <a:ext cx="4934560"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AI-service suspension (2023)</a:t>
            </a:r>
            <a:endParaRPr lang="en-US" sz="1400" dirty="0"/>
          </a:p>
        </p:txBody>
      </p:sp>
      <p:sp>
        <p:nvSpPr>
          <p:cNvPr id="8" name="Text 6"/>
          <p:cNvSpPr/>
          <p:nvPr/>
        </p:nvSpPr>
        <p:spPr>
          <a:xfrm>
            <a:off x="795528" y="2752344"/>
            <a:ext cx="4934560" cy="338328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A data authority suspended a major AI service after a bug exposed payment-related data of ~1.2% of users.</a:t>
            </a:r>
            <a:endParaRPr lang="en-US" sz="1100" dirty="0"/>
          </a:p>
        </p:txBody>
      </p:sp>
      <p:sp>
        <p:nvSpPr>
          <p:cNvPr id="9" name="Shape 7"/>
          <p:cNvSpPr/>
          <p:nvPr/>
        </p:nvSpPr>
        <p:spPr>
          <a:xfrm>
            <a:off x="6233008" y="1691640"/>
            <a:ext cx="5391760" cy="4572000"/>
          </a:xfrm>
          <a:prstGeom prst="roundRect">
            <a:avLst>
              <a:gd name="adj" fmla="val 1600"/>
            </a:avLst>
          </a:prstGeom>
          <a:solidFill>
            <a:srgbClr val="F4F2EE"/>
          </a:solidFill>
          <a:ln w="12700">
            <a:solidFill>
              <a:srgbClr val="EBE7DF"/>
            </a:solidFill>
            <a:prstDash val="solid"/>
          </a:ln>
        </p:spPr>
      </p:sp>
      <p:sp>
        <p:nvSpPr>
          <p:cNvPr id="10" name="Shape 8"/>
          <p:cNvSpPr/>
          <p:nvPr/>
        </p:nvSpPr>
        <p:spPr>
          <a:xfrm>
            <a:off x="6461608" y="1892808"/>
            <a:ext cx="2728570" cy="310896"/>
          </a:xfrm>
          <a:prstGeom prst="roundRect">
            <a:avLst>
              <a:gd name="adj" fmla="val 50000"/>
            </a:avLst>
          </a:prstGeom>
          <a:solidFill>
            <a:srgbClr val="1B1A18"/>
          </a:solidFill>
          <a:ln/>
        </p:spPr>
      </p:sp>
      <p:sp>
        <p:nvSpPr>
          <p:cNvPr id="11" name="Text 9"/>
          <p:cNvSpPr/>
          <p:nvPr/>
        </p:nvSpPr>
        <p:spPr>
          <a:xfrm>
            <a:off x="6461608" y="1892808"/>
            <a:ext cx="2728570"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Security demonstrations</a:t>
            </a:r>
            <a:endParaRPr lang="en-US" sz="900" dirty="0"/>
          </a:p>
        </p:txBody>
      </p:sp>
      <p:sp>
        <p:nvSpPr>
          <p:cNvPr id="12" name="Text 10"/>
          <p:cNvSpPr/>
          <p:nvPr/>
        </p:nvSpPr>
        <p:spPr>
          <a:xfrm>
            <a:off x="6461608" y="2295144"/>
            <a:ext cx="4934560"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Persistent-memory injection (2024–25)</a:t>
            </a:r>
            <a:endParaRPr lang="en-US" sz="1400" dirty="0"/>
          </a:p>
        </p:txBody>
      </p:sp>
      <p:sp>
        <p:nvSpPr>
          <p:cNvPr id="13" name="Text 11"/>
          <p:cNvSpPr/>
          <p:nvPr/>
        </p:nvSpPr>
        <p:spPr>
          <a:xfrm>
            <a:off x="6461608" y="2752344"/>
            <a:ext cx="4934560" cy="338328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Published disclosures showed AI assistants’ long-term memory poisoned via crafted input — integrity risk, disclosed and partly fixed.</a:t>
            </a:r>
            <a:endParaRPr lang="en-US" sz="1100" dirty="0"/>
          </a:p>
        </p:txBody>
      </p:sp>
      <p:sp>
        <p:nvSpPr>
          <p:cNvPr id="14" name="Text 12"/>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5" name="Text 13"/>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33302B"/>
        </a:solidFill>
      </p:bgPr>
    </p:bg>
    <p:spTree>
      <p:nvGrpSpPr>
        <p:cNvPr id="1" name=""/>
        <p:cNvGrpSpPr/>
        <p:nvPr/>
      </p:nvGrpSpPr>
      <p:grpSpPr>
        <a:xfrm>
          <a:off x="0" y="0"/>
          <a:ext cx="0" cy="0"/>
          <a:chOff x="0" y="0"/>
          <a:chExt cx="0" cy="0"/>
        </a:xfrm>
      </p:grpSpPr>
      <p:sp>
        <p:nvSpPr>
          <p:cNvPr id="2" name="Shape 0"/>
          <p:cNvSpPr/>
          <p:nvPr/>
        </p:nvSpPr>
        <p:spPr>
          <a:xfrm>
            <a:off x="566928" y="502920"/>
            <a:ext cx="1920240" cy="310896"/>
          </a:xfrm>
          <a:prstGeom prst="roundRect">
            <a:avLst>
              <a:gd name="adj" fmla="val 50000"/>
            </a:avLst>
          </a:prstGeom>
          <a:solidFill>
            <a:srgbClr val="8A8378"/>
          </a:solidFill>
          <a:ln/>
        </p:spPr>
      </p:sp>
      <p:sp>
        <p:nvSpPr>
          <p:cNvPr id="3" name="Text 1"/>
          <p:cNvSpPr/>
          <p:nvPr/>
        </p:nvSpPr>
        <p:spPr>
          <a:xfrm>
            <a:off x="566928" y="502920"/>
            <a:ext cx="192024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IN CLASS</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indent="0" marL="0">
              <a:buNone/>
            </a:pPr>
            <a:r>
              <a:rPr lang="en-US" sz="2150" b="1" dirty="0">
                <a:solidFill>
                  <a:srgbClr val="FFFFFF"/>
                </a:solidFill>
                <a:latin typeface="Georgia" pitchFamily="34" charset="0"/>
                <a:ea typeface="Georgia" pitchFamily="34" charset="-122"/>
                <a:cs typeface="Georgia" pitchFamily="34" charset="-120"/>
              </a:rPr>
              <a:t>Discussion — Week 7</a:t>
            </a:r>
            <a:endParaRPr lang="en-US" sz="2150" dirty="0"/>
          </a:p>
        </p:txBody>
      </p:sp>
      <p:sp>
        <p:nvSpPr>
          <p:cNvPr id="5" name="Shape 3"/>
          <p:cNvSpPr/>
          <p:nvPr/>
        </p:nvSpPr>
        <p:spPr>
          <a:xfrm>
            <a:off x="566928" y="1965960"/>
            <a:ext cx="420624" cy="420624"/>
          </a:xfrm>
          <a:prstGeom prst="ellipse">
            <a:avLst/>
          </a:prstGeom>
          <a:solidFill>
            <a:srgbClr val="8A8378"/>
          </a:solidFill>
          <a:ln/>
        </p:spPr>
      </p:sp>
      <p:sp>
        <p:nvSpPr>
          <p:cNvPr id="6" name="Text 4"/>
          <p:cNvSpPr/>
          <p:nvPr/>
        </p:nvSpPr>
        <p:spPr>
          <a:xfrm>
            <a:off x="566928" y="1965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Q1</a:t>
            </a:r>
            <a:endParaRPr lang="en-US" sz="950" dirty="0"/>
          </a:p>
        </p:txBody>
      </p:sp>
      <p:sp>
        <p:nvSpPr>
          <p:cNvPr id="7" name="Text 5"/>
          <p:cNvSpPr/>
          <p:nvPr/>
        </p:nvSpPr>
        <p:spPr>
          <a:xfrm>
            <a:off x="1143000" y="1920240"/>
            <a:ext cx="10372039" cy="2194560"/>
          </a:xfrm>
          <a:prstGeom prst="rect">
            <a:avLst/>
          </a:prstGeom>
          <a:noFill/>
          <a:ln/>
        </p:spPr>
        <p:txBody>
          <a:bodyPr wrap="square" rtlCol="0" anchor="t"/>
          <a:lstStyle/>
          <a:p>
            <a:pPr indent="0" marL="0">
              <a:lnSpc>
                <a:spcPct val="115000"/>
              </a:lnSpc>
              <a:buNone/>
            </a:pPr>
            <a:r>
              <a:rPr lang="en-US" sz="1350" dirty="0">
                <a:solidFill>
                  <a:srgbClr val="E4DFD5"/>
                </a:solidFill>
                <a:latin typeface="Georgia" pitchFamily="34" charset="0"/>
                <a:ea typeface="Georgia" pitchFamily="34" charset="-122"/>
                <a:cs typeface="Georgia" pitchFamily="34" charset="-120"/>
              </a:rPr>
              <a:t>If an entity cannot guarantee data will not leave a jurisdiction, what follows for its lawful basis and its contracts?</a:t>
            </a:r>
            <a:endParaRPr lang="en-US" sz="1350" dirty="0"/>
          </a:p>
        </p:txBody>
      </p:sp>
      <p:sp>
        <p:nvSpPr>
          <p:cNvPr id="8" name="Shape 6"/>
          <p:cNvSpPr/>
          <p:nvPr/>
        </p:nvSpPr>
        <p:spPr>
          <a:xfrm>
            <a:off x="566928" y="4251960"/>
            <a:ext cx="420624" cy="420624"/>
          </a:xfrm>
          <a:prstGeom prst="ellipse">
            <a:avLst/>
          </a:prstGeom>
          <a:solidFill>
            <a:srgbClr val="8A8378"/>
          </a:solidFill>
          <a:ln/>
        </p:spPr>
      </p:sp>
      <p:sp>
        <p:nvSpPr>
          <p:cNvPr id="9" name="Text 7"/>
          <p:cNvSpPr/>
          <p:nvPr/>
        </p:nvSpPr>
        <p:spPr>
          <a:xfrm>
            <a:off x="566928" y="4251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Q2</a:t>
            </a:r>
            <a:endParaRPr lang="en-US" sz="950" dirty="0"/>
          </a:p>
        </p:txBody>
      </p:sp>
      <p:sp>
        <p:nvSpPr>
          <p:cNvPr id="10" name="Text 8"/>
          <p:cNvSpPr/>
          <p:nvPr/>
        </p:nvSpPr>
        <p:spPr>
          <a:xfrm>
            <a:off x="1143000" y="4206240"/>
            <a:ext cx="10372039" cy="2194560"/>
          </a:xfrm>
          <a:prstGeom prst="rect">
            <a:avLst/>
          </a:prstGeom>
          <a:noFill/>
          <a:ln/>
        </p:spPr>
        <p:txBody>
          <a:bodyPr wrap="square" rtlCol="0" anchor="t"/>
          <a:lstStyle/>
          <a:p>
            <a:pPr indent="0" marL="0">
              <a:lnSpc>
                <a:spcPct val="115000"/>
              </a:lnSpc>
              <a:buNone/>
            </a:pPr>
            <a:r>
              <a:rPr lang="en-US" sz="1350" dirty="0">
                <a:solidFill>
                  <a:srgbClr val="E4DFD5"/>
                </a:solidFill>
                <a:latin typeface="Georgia" pitchFamily="34" charset="0"/>
                <a:ea typeface="Georgia" pitchFamily="34" charset="-122"/>
                <a:cs typeface="Georgia" pitchFamily="34" charset="-120"/>
              </a:rPr>
              <a:t>Who is liable when a poisoned AI memory causes a downstream harm months later?</a:t>
            </a:r>
            <a:endParaRPr lang="en-US" sz="13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8</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050" b="1" dirty="0">
                <a:solidFill>
                  <a:srgbClr val="FFFFFF"/>
                </a:solidFill>
                <a:latin typeface="Georgia" pitchFamily="34" charset="0"/>
                <a:ea typeface="Georgia" pitchFamily="34" charset="-122"/>
                <a:cs typeface="Georgia" pitchFamily="34" charset="-120"/>
              </a:rPr>
              <a:t>Financial crime, sanctions, and sectoral mandates</a:t>
            </a:r>
            <a:endParaRPr lang="en-US" sz="20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350" dirty="0">
                <a:solidFill>
                  <a:srgbClr val="33302B"/>
                </a:solidFill>
                <a:latin typeface="Georgia" pitchFamily="34" charset="0"/>
                <a:ea typeface="Georgia" pitchFamily="34" charset="-122"/>
                <a:cs typeface="Georgia" pitchFamily="34" charset="-120"/>
              </a:rPr>
              <a:t>Some duties are archetypally modal: report every threshold transaction; never deal with a sanctioned party. This week uses financial-crime and sanctions regimes to work through how mandatory rules must be enforced and evidenced, and what supervisors and courts do when they are not.</a:t>
            </a:r>
            <a:endParaRPr lang="en-US" sz="135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Learning aims</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Analyse modal financial-crime duties</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Locate structural enforcement of a sanctions ‘never’</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Connect systems-and-controls failures to liability</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THE ARCHETYPAL ‘NEVER’</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350" b="1" dirty="0">
                <a:solidFill>
                  <a:srgbClr val="1B1A18"/>
                </a:solidFill>
                <a:latin typeface="Georgia" pitchFamily="34" charset="0"/>
                <a:ea typeface="Georgia" pitchFamily="34" charset="-122"/>
                <a:cs typeface="Georgia" pitchFamily="34" charset="-120"/>
              </a:rPr>
              <a:t>Mandatory rules, enforced structurally</a:t>
            </a:r>
            <a:endParaRPr lang="en-US" sz="2350" dirty="0"/>
          </a:p>
        </p:txBody>
      </p:sp>
      <p:sp>
        <p:nvSpPr>
          <p:cNvPr id="4" name="Shape 2"/>
          <p:cNvSpPr/>
          <p:nvPr/>
        </p:nvSpPr>
        <p:spPr>
          <a:xfrm>
            <a:off x="566928" y="1691640"/>
            <a:ext cx="457200" cy="457200"/>
          </a:xfrm>
          <a:prstGeom prst="ellipse">
            <a:avLst/>
          </a:prstGeom>
          <a:solidFill>
            <a:srgbClr val="8A8378"/>
          </a:solidFill>
          <a:ln/>
        </p:spPr>
      </p:sp>
      <p:sp>
        <p:nvSpPr>
          <p:cNvPr id="5" name="Text 3"/>
          <p:cNvSpPr/>
          <p:nvPr/>
        </p:nvSpPr>
        <p:spPr>
          <a:xfrm>
            <a:off x="566928" y="169164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Report every threshold transaction.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A modal reporting duty; a process that can silently fail is inadequate systems and controls.</a:t>
            </a:r>
            <a:endParaRPr lang="en-US" sz="1450" dirty="0"/>
          </a:p>
        </p:txBody>
      </p:sp>
      <p:sp>
        <p:nvSpPr>
          <p:cNvPr id="7" name="Shape 5"/>
          <p:cNvSpPr/>
          <p:nvPr/>
        </p:nvSpPr>
        <p:spPr>
          <a:xfrm>
            <a:off x="566928" y="2857500"/>
            <a:ext cx="457200" cy="457200"/>
          </a:xfrm>
          <a:prstGeom prst="ellipse">
            <a:avLst/>
          </a:prstGeom>
          <a:solidFill>
            <a:srgbClr val="8A8378"/>
          </a:solidFill>
          <a:ln/>
        </p:spPr>
      </p:sp>
      <p:sp>
        <p:nvSpPr>
          <p:cNvPr id="8" name="Text 6"/>
          <p:cNvSpPr/>
          <p:nvPr/>
        </p:nvSpPr>
        <p:spPr>
          <a:xfrm>
            <a:off x="566928" y="285750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Never deal with a designated party.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Sanctions screening is a categorical prohibition — its enforcement point must be structural, not advisory.</a:t>
            </a:r>
            <a:endParaRPr lang="en-US" sz="1450" dirty="0"/>
          </a:p>
        </p:txBody>
      </p:sp>
      <p:sp>
        <p:nvSpPr>
          <p:cNvPr id="10" name="Shape 8"/>
          <p:cNvSpPr/>
          <p:nvPr/>
        </p:nvSpPr>
        <p:spPr>
          <a:xfrm>
            <a:off x="566928" y="4023360"/>
            <a:ext cx="457200" cy="457200"/>
          </a:xfrm>
          <a:prstGeom prst="ellipse">
            <a:avLst/>
          </a:prstGeom>
          <a:solidFill>
            <a:srgbClr val="8A8378"/>
          </a:solidFill>
          <a:ln/>
        </p:spPr>
      </p:sp>
      <p:sp>
        <p:nvSpPr>
          <p:cNvPr id="11" name="Text 9"/>
          <p:cNvSpPr/>
          <p:nvPr/>
        </p:nvSpPr>
        <p:spPr>
          <a:xfrm>
            <a:off x="566928" y="402336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Evidence at volume.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When decisions are machine-numerous, supervision by sampling fails; the record must be complete by construction.</a:t>
            </a:r>
            <a:endParaRPr lang="en-US" sz="1450" dirty="0"/>
          </a:p>
        </p:txBody>
      </p:sp>
      <p:sp>
        <p:nvSpPr>
          <p:cNvPr id="13" name="Shape 11"/>
          <p:cNvSpPr/>
          <p:nvPr/>
        </p:nvSpPr>
        <p:spPr>
          <a:xfrm>
            <a:off x="566928" y="5189220"/>
            <a:ext cx="457200" cy="457200"/>
          </a:xfrm>
          <a:prstGeom prst="ellipse">
            <a:avLst/>
          </a:prstGeom>
          <a:solidFill>
            <a:srgbClr val="8A8378"/>
          </a:solidFill>
          <a:ln/>
        </p:spPr>
      </p:sp>
      <p:sp>
        <p:nvSpPr>
          <p:cNvPr id="14" name="Text 12"/>
          <p:cNvSpPr/>
          <p:nvPr/>
        </p:nvSpPr>
        <p:spPr>
          <a:xfrm>
            <a:off x="566928" y="51892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Liability is categorical.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As AUSTRAC showed, a single systems error can produce tens of thousands of breaches and a nine-figure penalty.</a:t>
            </a:r>
            <a:endParaRPr lang="en-US" sz="1450" dirty="0"/>
          </a:p>
        </p:txBody>
      </p:sp>
      <p:sp>
        <p:nvSpPr>
          <p:cNvPr id="16" name="Text 1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7" name="Text 1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33302B"/>
        </a:solidFill>
      </p:bgPr>
    </p:bg>
    <p:spTree>
      <p:nvGrpSpPr>
        <p:cNvPr id="1" name=""/>
        <p:cNvGrpSpPr/>
        <p:nvPr/>
      </p:nvGrpSpPr>
      <p:grpSpPr>
        <a:xfrm>
          <a:off x="0" y="0"/>
          <a:ext cx="0" cy="0"/>
          <a:chOff x="0" y="0"/>
          <a:chExt cx="0" cy="0"/>
        </a:xfrm>
      </p:grpSpPr>
      <p:sp>
        <p:nvSpPr>
          <p:cNvPr id="2" name="Shape 0"/>
          <p:cNvSpPr/>
          <p:nvPr/>
        </p:nvSpPr>
        <p:spPr>
          <a:xfrm>
            <a:off x="566928" y="502920"/>
            <a:ext cx="2011680" cy="310896"/>
          </a:xfrm>
          <a:prstGeom prst="roundRect">
            <a:avLst>
              <a:gd name="adj" fmla="val 50000"/>
            </a:avLst>
          </a:prstGeom>
          <a:solidFill>
            <a:srgbClr val="8A8378"/>
          </a:solidFill>
          <a:ln/>
        </p:spPr>
      </p:sp>
      <p:sp>
        <p:nvSpPr>
          <p:cNvPr id="3" name="Text 1"/>
          <p:cNvSpPr/>
          <p:nvPr/>
        </p:nvSpPr>
        <p:spPr>
          <a:xfrm>
            <a:off x="566928" y="502920"/>
            <a:ext cx="201168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HYPOTHETICAL</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indent="0" marL="0">
              <a:buNone/>
            </a:pPr>
            <a:r>
              <a:rPr lang="en-US" sz="2150" b="1" dirty="0">
                <a:solidFill>
                  <a:srgbClr val="FFFFFF"/>
                </a:solidFill>
                <a:latin typeface="Georgia" pitchFamily="34" charset="0"/>
                <a:ea typeface="Georgia" pitchFamily="34" charset="-122"/>
                <a:cs typeface="Georgia" pitchFamily="34" charset="-120"/>
              </a:rPr>
              <a:t>Hypothetical — Week 8</a:t>
            </a:r>
            <a:endParaRPr lang="en-US" sz="2150" dirty="0"/>
          </a:p>
        </p:txBody>
      </p:sp>
      <p:sp>
        <p:nvSpPr>
          <p:cNvPr id="5" name="Shape 3"/>
          <p:cNvSpPr/>
          <p:nvPr/>
        </p:nvSpPr>
        <p:spPr>
          <a:xfrm>
            <a:off x="566928" y="1965960"/>
            <a:ext cx="420624" cy="420624"/>
          </a:xfrm>
          <a:prstGeom prst="ellipse">
            <a:avLst/>
          </a:prstGeom>
          <a:solidFill>
            <a:srgbClr val="8A8378"/>
          </a:solidFill>
          <a:ln/>
        </p:spPr>
      </p:sp>
      <p:sp>
        <p:nvSpPr>
          <p:cNvPr id="6" name="Text 4"/>
          <p:cNvSpPr/>
          <p:nvPr/>
        </p:nvSpPr>
        <p:spPr>
          <a:xfrm>
            <a:off x="566928" y="1965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Q1</a:t>
            </a:r>
            <a:endParaRPr lang="en-US" sz="950" dirty="0"/>
          </a:p>
        </p:txBody>
      </p:sp>
      <p:sp>
        <p:nvSpPr>
          <p:cNvPr id="7" name="Text 5"/>
          <p:cNvSpPr/>
          <p:nvPr/>
        </p:nvSpPr>
        <p:spPr>
          <a:xfrm>
            <a:off x="1143000" y="1920240"/>
            <a:ext cx="10372039" cy="2194560"/>
          </a:xfrm>
          <a:prstGeom prst="rect">
            <a:avLst/>
          </a:prstGeom>
          <a:noFill/>
          <a:ln/>
        </p:spPr>
        <p:txBody>
          <a:bodyPr wrap="square" rtlCol="0" anchor="t"/>
          <a:lstStyle/>
          <a:p>
            <a:pPr indent="0" marL="0">
              <a:lnSpc>
                <a:spcPct val="115000"/>
              </a:lnSpc>
              <a:buNone/>
            </a:pPr>
            <a:r>
              <a:rPr lang="en-US" sz="1350" dirty="0">
                <a:solidFill>
                  <a:srgbClr val="E4DFD5"/>
                </a:solidFill>
                <a:latin typeface="Georgia" pitchFamily="34" charset="0"/>
                <a:ea typeface="Georgia" pitchFamily="34" charset="-122"/>
                <a:cs typeface="Georgia" pitchFamily="34" charset="-120"/>
              </a:rPr>
              <a:t>An AI agent routes a payment that breaches sanctions because a screening step ‘usually’ runs. Advise the board on exposure and remediation.</a:t>
            </a:r>
            <a:endParaRPr lang="en-US" sz="1350" dirty="0"/>
          </a:p>
        </p:txBody>
      </p:sp>
      <p:sp>
        <p:nvSpPr>
          <p:cNvPr id="8" name="Shape 6"/>
          <p:cNvSpPr/>
          <p:nvPr/>
        </p:nvSpPr>
        <p:spPr>
          <a:xfrm>
            <a:off x="566928" y="4251960"/>
            <a:ext cx="420624" cy="420624"/>
          </a:xfrm>
          <a:prstGeom prst="ellipse">
            <a:avLst/>
          </a:prstGeom>
          <a:solidFill>
            <a:srgbClr val="8A8378"/>
          </a:solidFill>
          <a:ln/>
        </p:spPr>
      </p:sp>
      <p:sp>
        <p:nvSpPr>
          <p:cNvPr id="9" name="Text 7"/>
          <p:cNvSpPr/>
          <p:nvPr/>
        </p:nvSpPr>
        <p:spPr>
          <a:xfrm>
            <a:off x="566928" y="4251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Q2</a:t>
            </a:r>
            <a:endParaRPr lang="en-US" sz="950" dirty="0"/>
          </a:p>
        </p:txBody>
      </p:sp>
      <p:sp>
        <p:nvSpPr>
          <p:cNvPr id="10" name="Text 8"/>
          <p:cNvSpPr/>
          <p:nvPr/>
        </p:nvSpPr>
        <p:spPr>
          <a:xfrm>
            <a:off x="1143000" y="4206240"/>
            <a:ext cx="10372039" cy="2194560"/>
          </a:xfrm>
          <a:prstGeom prst="rect">
            <a:avLst/>
          </a:prstGeom>
          <a:noFill/>
          <a:ln/>
        </p:spPr>
        <p:txBody>
          <a:bodyPr wrap="square" rtlCol="0" anchor="t"/>
          <a:lstStyle/>
          <a:p>
            <a:pPr indent="0" marL="0">
              <a:lnSpc>
                <a:spcPct val="115000"/>
              </a:lnSpc>
              <a:buNone/>
            </a:pPr>
            <a:r>
              <a:rPr lang="en-US" sz="1350" dirty="0">
                <a:solidFill>
                  <a:srgbClr val="E4DFD5"/>
                </a:solidFill>
                <a:latin typeface="Georgia" pitchFamily="34" charset="0"/>
                <a:ea typeface="Georgia" pitchFamily="34" charset="-122"/>
                <a:cs typeface="Georgia" pitchFamily="34" charset="-120"/>
              </a:rPr>
              <a:t>Where must the sanctions ‘never’ be enforced so that the prohibited payment cannot occur, whatever the agent does?</a:t>
            </a:r>
            <a:endParaRPr lang="en-US" sz="13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9</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050" b="1" dirty="0">
                <a:solidFill>
                  <a:srgbClr val="FFFFFF"/>
                </a:solidFill>
                <a:latin typeface="Georgia" pitchFamily="34" charset="0"/>
                <a:ea typeface="Georgia" pitchFamily="34" charset="-122"/>
                <a:cs typeface="Georgia" pitchFamily="34" charset="-120"/>
              </a:rPr>
              <a:t>Consumer protection and fairness</a:t>
            </a:r>
            <a:endParaRPr lang="en-US" sz="20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350" dirty="0">
                <a:solidFill>
                  <a:srgbClr val="33302B"/>
                </a:solidFill>
                <a:latin typeface="Georgia" pitchFamily="34" charset="0"/>
                <a:ea typeface="Georgia" pitchFamily="34" charset="-122"/>
                <a:cs typeface="Georgia" pitchFamily="34" charset="-120"/>
              </a:rPr>
              <a:t>Consumer-facing agents raise duties of accuracy, disclosure, and non-discrimination. This week: the meaning error as a consumer-protection harm, the accountability of automated representations, and the fairness questions when agents mediate access to goods, credit, or services.</a:t>
            </a:r>
            <a:endParaRPr lang="en-US" sz="135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Learning aims</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Frame the meaning error as consumer harm</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Attribute automated representations to the firm</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Spot fairness and non-discrimination exposure</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ACCURACY · DISCLOSURE · FAIRNESS</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350" b="1" dirty="0">
                <a:solidFill>
                  <a:srgbClr val="1B1A18"/>
                </a:solidFill>
                <a:latin typeface="Georgia" pitchFamily="34" charset="0"/>
                <a:ea typeface="Georgia" pitchFamily="34" charset="-122"/>
                <a:cs typeface="Georgia" pitchFamily="34" charset="-120"/>
              </a:rPr>
              <a:t>When the agent faces the consumer</a:t>
            </a:r>
            <a:endParaRPr lang="en-US" sz="2350" dirty="0"/>
          </a:p>
        </p:txBody>
      </p:sp>
      <p:sp>
        <p:nvSpPr>
          <p:cNvPr id="4" name="Shape 2"/>
          <p:cNvSpPr/>
          <p:nvPr/>
        </p:nvSpPr>
        <p:spPr>
          <a:xfrm>
            <a:off x="566928" y="1691640"/>
            <a:ext cx="457200" cy="457200"/>
          </a:xfrm>
          <a:prstGeom prst="ellipse">
            <a:avLst/>
          </a:prstGeom>
          <a:solidFill>
            <a:srgbClr val="1B1A18"/>
          </a:solidFill>
          <a:ln/>
        </p:spPr>
      </p:sp>
      <p:sp>
        <p:nvSpPr>
          <p:cNvPr id="5" name="Text 3"/>
          <p:cNvSpPr/>
          <p:nvPr/>
        </p:nvSpPr>
        <p:spPr>
          <a:xfrm>
            <a:off x="566928" y="169164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Automated statements bind the firm.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A chatbot’s representation is the firm’s representation — Moffatt again, in consumer-protection dress.</a:t>
            </a:r>
            <a:endParaRPr lang="en-US" sz="1450" dirty="0"/>
          </a:p>
        </p:txBody>
      </p:sp>
      <p:sp>
        <p:nvSpPr>
          <p:cNvPr id="7" name="Shape 5"/>
          <p:cNvSpPr/>
          <p:nvPr/>
        </p:nvSpPr>
        <p:spPr>
          <a:xfrm>
            <a:off x="566928" y="2857500"/>
            <a:ext cx="457200" cy="457200"/>
          </a:xfrm>
          <a:prstGeom prst="ellipse">
            <a:avLst/>
          </a:prstGeom>
          <a:solidFill>
            <a:srgbClr val="1B1A18"/>
          </a:solidFill>
          <a:ln/>
        </p:spPr>
      </p:sp>
      <p:sp>
        <p:nvSpPr>
          <p:cNvPr id="8" name="Text 6"/>
          <p:cNvSpPr/>
          <p:nvPr/>
        </p:nvSpPr>
        <p:spPr>
          <a:xfrm>
            <a:off x="566928" y="285750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The meaning error harms consumers.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Data that arrives signifying the wrong thing produces mis-selling, wrong entitlements, and detriment.</a:t>
            </a:r>
            <a:endParaRPr lang="en-US" sz="1450" dirty="0"/>
          </a:p>
        </p:txBody>
      </p:sp>
      <p:sp>
        <p:nvSpPr>
          <p:cNvPr id="10" name="Shape 8"/>
          <p:cNvSpPr/>
          <p:nvPr/>
        </p:nvSpPr>
        <p:spPr>
          <a:xfrm>
            <a:off x="566928" y="4023360"/>
            <a:ext cx="457200" cy="457200"/>
          </a:xfrm>
          <a:prstGeom prst="ellipse">
            <a:avLst/>
          </a:prstGeom>
          <a:solidFill>
            <a:srgbClr val="1B1A18"/>
          </a:solidFill>
          <a:ln/>
        </p:spPr>
      </p:sp>
      <p:sp>
        <p:nvSpPr>
          <p:cNvPr id="11" name="Text 9"/>
          <p:cNvSpPr/>
          <p:nvPr/>
        </p:nvSpPr>
        <p:spPr>
          <a:xfrm>
            <a:off x="566928" y="402336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Fairness and non-discrimination.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Where agents mediate credit or access, coherence (the same rule at every door) becomes an equality question.</a:t>
            </a:r>
            <a:endParaRPr lang="en-US" sz="1450" dirty="0"/>
          </a:p>
        </p:txBody>
      </p:sp>
      <p:sp>
        <p:nvSpPr>
          <p:cNvPr id="13" name="Shape 11"/>
          <p:cNvSpPr/>
          <p:nvPr/>
        </p:nvSpPr>
        <p:spPr>
          <a:xfrm>
            <a:off x="566928" y="5189220"/>
            <a:ext cx="457200" cy="457200"/>
          </a:xfrm>
          <a:prstGeom prst="ellipse">
            <a:avLst/>
          </a:prstGeom>
          <a:solidFill>
            <a:srgbClr val="1B1A18"/>
          </a:solidFill>
          <a:ln/>
        </p:spPr>
      </p:sp>
      <p:sp>
        <p:nvSpPr>
          <p:cNvPr id="14" name="Text 12"/>
          <p:cNvSpPr/>
          <p:nvPr/>
        </p:nvSpPr>
        <p:spPr>
          <a:xfrm>
            <a:off x="566928" y="51892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Disclosure of the agent.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Emerging expectations that consumers know when they are dealing with a machine, and on what terms.</a:t>
            </a:r>
            <a:endParaRPr lang="en-US" sz="1450" dirty="0"/>
          </a:p>
        </p:txBody>
      </p:sp>
      <p:sp>
        <p:nvSpPr>
          <p:cNvPr id="16" name="Text 1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7" name="Text 1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33302B"/>
        </a:solidFill>
      </p:bgPr>
    </p:bg>
    <p:spTree>
      <p:nvGrpSpPr>
        <p:cNvPr id="1" name=""/>
        <p:cNvGrpSpPr/>
        <p:nvPr/>
      </p:nvGrpSpPr>
      <p:grpSpPr>
        <a:xfrm>
          <a:off x="0" y="0"/>
          <a:ext cx="0" cy="0"/>
          <a:chOff x="0" y="0"/>
          <a:chExt cx="0" cy="0"/>
        </a:xfrm>
      </p:grpSpPr>
      <p:sp>
        <p:nvSpPr>
          <p:cNvPr id="2" name="Shape 0"/>
          <p:cNvSpPr/>
          <p:nvPr/>
        </p:nvSpPr>
        <p:spPr>
          <a:xfrm>
            <a:off x="566928" y="502920"/>
            <a:ext cx="1920240" cy="310896"/>
          </a:xfrm>
          <a:prstGeom prst="roundRect">
            <a:avLst>
              <a:gd name="adj" fmla="val 50000"/>
            </a:avLst>
          </a:prstGeom>
          <a:solidFill>
            <a:srgbClr val="8A8378"/>
          </a:solidFill>
          <a:ln/>
        </p:spPr>
      </p:sp>
      <p:sp>
        <p:nvSpPr>
          <p:cNvPr id="3" name="Text 1"/>
          <p:cNvSpPr/>
          <p:nvPr/>
        </p:nvSpPr>
        <p:spPr>
          <a:xfrm>
            <a:off x="566928" y="502920"/>
            <a:ext cx="192024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IN CLASS</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indent="0" marL="0">
              <a:buNone/>
            </a:pPr>
            <a:r>
              <a:rPr lang="en-US" sz="2150" b="1" dirty="0">
                <a:solidFill>
                  <a:srgbClr val="FFFFFF"/>
                </a:solidFill>
                <a:latin typeface="Georgia" pitchFamily="34" charset="0"/>
                <a:ea typeface="Georgia" pitchFamily="34" charset="-122"/>
                <a:cs typeface="Georgia" pitchFamily="34" charset="-120"/>
              </a:rPr>
              <a:t>Discussion — Week 9</a:t>
            </a:r>
            <a:endParaRPr lang="en-US" sz="2150" dirty="0"/>
          </a:p>
        </p:txBody>
      </p:sp>
      <p:sp>
        <p:nvSpPr>
          <p:cNvPr id="5" name="Shape 3"/>
          <p:cNvSpPr/>
          <p:nvPr/>
        </p:nvSpPr>
        <p:spPr>
          <a:xfrm>
            <a:off x="566928" y="1965960"/>
            <a:ext cx="420624" cy="420624"/>
          </a:xfrm>
          <a:prstGeom prst="ellipse">
            <a:avLst/>
          </a:prstGeom>
          <a:solidFill>
            <a:srgbClr val="8A8378"/>
          </a:solidFill>
          <a:ln/>
        </p:spPr>
      </p:sp>
      <p:sp>
        <p:nvSpPr>
          <p:cNvPr id="6" name="Text 4"/>
          <p:cNvSpPr/>
          <p:nvPr/>
        </p:nvSpPr>
        <p:spPr>
          <a:xfrm>
            <a:off x="566928" y="1965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Q1</a:t>
            </a:r>
            <a:endParaRPr lang="en-US" sz="950" dirty="0"/>
          </a:p>
        </p:txBody>
      </p:sp>
      <p:sp>
        <p:nvSpPr>
          <p:cNvPr id="7" name="Text 5"/>
          <p:cNvSpPr/>
          <p:nvPr/>
        </p:nvSpPr>
        <p:spPr>
          <a:xfrm>
            <a:off x="1143000" y="1920240"/>
            <a:ext cx="10372039" cy="2194560"/>
          </a:xfrm>
          <a:prstGeom prst="rect">
            <a:avLst/>
          </a:prstGeom>
          <a:noFill/>
          <a:ln/>
        </p:spPr>
        <p:txBody>
          <a:bodyPr wrap="square" rtlCol="0" anchor="t"/>
          <a:lstStyle/>
          <a:p>
            <a:pPr indent="0" marL="0">
              <a:lnSpc>
                <a:spcPct val="115000"/>
              </a:lnSpc>
              <a:buNone/>
            </a:pPr>
            <a:r>
              <a:rPr lang="en-US" sz="1350" dirty="0">
                <a:solidFill>
                  <a:srgbClr val="E4DFD5"/>
                </a:solidFill>
                <a:latin typeface="Georgia" pitchFamily="34" charset="0"/>
                <a:ea typeface="Georgia" pitchFamily="34" charset="-122"/>
                <a:cs typeface="Georgia" pitchFamily="34" charset="-120"/>
              </a:rPr>
              <a:t>Should an institution be strictly liable for its consumer-facing agent’s misstatements, or should some safe harbour apply? Argue a position.</a:t>
            </a:r>
            <a:endParaRPr lang="en-US" sz="1350" dirty="0"/>
          </a:p>
        </p:txBody>
      </p:sp>
      <p:sp>
        <p:nvSpPr>
          <p:cNvPr id="8" name="Shape 6"/>
          <p:cNvSpPr/>
          <p:nvPr/>
        </p:nvSpPr>
        <p:spPr>
          <a:xfrm>
            <a:off x="566928" y="4251960"/>
            <a:ext cx="420624" cy="420624"/>
          </a:xfrm>
          <a:prstGeom prst="ellipse">
            <a:avLst/>
          </a:prstGeom>
          <a:solidFill>
            <a:srgbClr val="8A8378"/>
          </a:solidFill>
          <a:ln/>
        </p:spPr>
      </p:sp>
      <p:sp>
        <p:nvSpPr>
          <p:cNvPr id="9" name="Text 7"/>
          <p:cNvSpPr/>
          <p:nvPr/>
        </p:nvSpPr>
        <p:spPr>
          <a:xfrm>
            <a:off x="566928" y="4251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Q2</a:t>
            </a:r>
            <a:endParaRPr lang="en-US" sz="950" dirty="0"/>
          </a:p>
        </p:txBody>
      </p:sp>
      <p:sp>
        <p:nvSpPr>
          <p:cNvPr id="10" name="Text 8"/>
          <p:cNvSpPr/>
          <p:nvPr/>
        </p:nvSpPr>
        <p:spPr>
          <a:xfrm>
            <a:off x="1143000" y="4206240"/>
            <a:ext cx="10372039" cy="2194560"/>
          </a:xfrm>
          <a:prstGeom prst="rect">
            <a:avLst/>
          </a:prstGeom>
          <a:noFill/>
          <a:ln/>
        </p:spPr>
        <p:txBody>
          <a:bodyPr wrap="square" rtlCol="0" anchor="t"/>
          <a:lstStyle/>
          <a:p>
            <a:pPr indent="0" marL="0">
              <a:lnSpc>
                <a:spcPct val="115000"/>
              </a:lnSpc>
              <a:buNone/>
            </a:pPr>
            <a:r>
              <a:rPr lang="en-US" sz="1350" dirty="0">
                <a:solidFill>
                  <a:srgbClr val="E4DFD5"/>
                </a:solidFill>
                <a:latin typeface="Georgia" pitchFamily="34" charset="0"/>
                <a:ea typeface="Georgia" pitchFamily="34" charset="-122"/>
                <a:cs typeface="Georgia" pitchFamily="34" charset="-120"/>
              </a:rPr>
              <a:t>How would you evidence — or challenge — a claim that an agent applied a rule inconsistently across consumers?</a:t>
            </a:r>
            <a:endParaRPr lang="en-US" sz="13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566928" y="2148840"/>
            <a:ext cx="1463040" cy="310896"/>
          </a:xfrm>
          <a:prstGeom prst="roundRect">
            <a:avLst>
              <a:gd name="adj" fmla="val 50000"/>
            </a:avLst>
          </a:prstGeom>
          <a:solidFill>
            <a:srgbClr val="8A8378"/>
          </a:solidFill>
          <a:ln/>
        </p:spPr>
      </p:sp>
      <p:sp>
        <p:nvSpPr>
          <p:cNvPr id="3" name="Text 1"/>
          <p:cNvSpPr/>
          <p:nvPr/>
        </p:nvSpPr>
        <p:spPr>
          <a:xfrm>
            <a:off x="566928" y="2148840"/>
            <a:ext cx="1463040" cy="310896"/>
          </a:xfrm>
          <a:prstGeom prst="rect">
            <a:avLst/>
          </a:prstGeom>
          <a:noFill/>
          <a:ln/>
        </p:spPr>
        <p:txBody>
          <a:bodyPr wrap="square" rtlCol="0" anchor="ctr"/>
          <a:lstStyle/>
          <a:p>
            <a:pPr algn="ctr" indent="0" marL="0">
              <a:buNone/>
            </a:pPr>
            <a:r>
              <a:rPr lang="en-US" sz="1050" b="1" spc="50" kern="0" dirty="0">
                <a:solidFill>
                  <a:srgbClr val="1B1A18"/>
                </a:solidFill>
                <a:latin typeface="Georgia" pitchFamily="34" charset="0"/>
                <a:ea typeface="Georgia" pitchFamily="34" charset="-122"/>
                <a:cs typeface="Georgia" pitchFamily="34" charset="-120"/>
              </a:rPr>
              <a:t>PART III</a:t>
            </a:r>
            <a:endParaRPr lang="en-US" sz="1150" dirty="0"/>
          </a:p>
        </p:txBody>
      </p:sp>
      <p:sp>
        <p:nvSpPr>
          <p:cNvPr id="4" name="Text 2"/>
          <p:cNvSpPr/>
          <p:nvPr/>
        </p:nvSpPr>
        <p:spPr>
          <a:xfrm>
            <a:off x="566928" y="2606040"/>
            <a:ext cx="10515600" cy="100584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Governance, Standards &amp; Practice</a:t>
            </a:r>
            <a:endParaRPr lang="en-US" sz="3200" dirty="0"/>
          </a:p>
        </p:txBody>
      </p:sp>
      <p:sp>
        <p:nvSpPr>
          <p:cNvPr id="5" name="Text 3"/>
          <p:cNvSpPr/>
          <p:nvPr/>
        </p:nvSpPr>
        <p:spPr>
          <a:xfrm>
            <a:off x="566928" y="3657600"/>
            <a:ext cx="10058400" cy="1188720"/>
          </a:xfrm>
          <a:prstGeom prst="rect">
            <a:avLst/>
          </a:prstGeom>
          <a:noFill/>
          <a:ln/>
        </p:spPr>
        <p:txBody>
          <a:bodyPr wrap="square" rtlCol="0" anchor="ctr"/>
          <a:lstStyle/>
          <a:p>
            <a:pPr indent="0" marL="0">
              <a:lnSpc>
                <a:spcPct val="125000"/>
              </a:lnSpc>
              <a:buNone/>
            </a:pPr>
            <a:r>
              <a:rPr lang="en-US" sz="1400" dirty="0">
                <a:solidFill>
                  <a:srgbClr val="E4DFD5"/>
                </a:solidFill>
                <a:latin typeface="Georgia" pitchFamily="34" charset="0"/>
                <a:ea typeface="Georgia" pitchFamily="34" charset="-122"/>
                <a:cs typeface="Georgia" pitchFamily="34" charset="-120"/>
              </a:rPr>
              <a:t>From doctrine to design: writing standards that bind, cross-border and systemic risk, the lawyer’s own professional duties, and the evaluation instrument.</a:t>
            </a:r>
            <a:endParaRPr lang="en-US" sz="1400" dirty="0"/>
          </a:p>
        </p:txBody>
      </p:sp>
      <p:sp>
        <p:nvSpPr>
          <p:cNvPr id="6" name="Text 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10</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050" b="1" dirty="0">
                <a:solidFill>
                  <a:srgbClr val="FFFFFF"/>
                </a:solidFill>
                <a:latin typeface="Georgia" pitchFamily="34" charset="0"/>
                <a:ea typeface="Georgia" pitchFamily="34" charset="-122"/>
                <a:cs typeface="Georgia" pitchFamily="34" charset="-120"/>
              </a:rPr>
              <a:t>Administrative law and rule-writing</a:t>
            </a:r>
            <a:endParaRPr lang="en-US" sz="20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350" dirty="0">
                <a:solidFill>
                  <a:srgbClr val="33302B"/>
                </a:solidFill>
                <a:latin typeface="Georgia" pitchFamily="34" charset="0"/>
                <a:ea typeface="Georgia" pitchFamily="34" charset="-122"/>
                <a:cs typeface="Georgia" pitchFamily="34" charset="-120"/>
              </a:rPr>
              <a:t>For those who make or advise on rules: how to draft standards that bind a probabilistic system, why audit primacy must be built into supervision, and how governance survives machine volume. The drafting patterns here turn the whole course into enforceable text.</a:t>
            </a:r>
            <a:endParaRPr lang="en-US" sz="135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Learning aims</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Draft standards with structural enforcement</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Build audit primacy into supervision</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Design governance that survives volume</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TURNING PRINCIPLE INTO TEXT</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350" b="1" dirty="0">
                <a:solidFill>
                  <a:srgbClr val="1B1A18"/>
                </a:solidFill>
                <a:latin typeface="Georgia" pitchFamily="34" charset="0"/>
                <a:ea typeface="Georgia" pitchFamily="34" charset="-122"/>
                <a:cs typeface="Georgia" pitchFamily="34" charset="-120"/>
              </a:rPr>
              <a:t>Drafting patterns for binding standards</a:t>
            </a:r>
            <a:endParaRPr lang="en-US" sz="2350" dirty="0"/>
          </a:p>
        </p:txBody>
      </p:sp>
      <p:sp>
        <p:nvSpPr>
          <p:cNvPr id="4" name="Shape 2"/>
          <p:cNvSpPr/>
          <p:nvPr/>
        </p:nvSpPr>
        <p:spPr>
          <a:xfrm>
            <a:off x="566928" y="1691640"/>
            <a:ext cx="5391760" cy="2148840"/>
          </a:xfrm>
          <a:prstGeom prst="roundRect">
            <a:avLst>
              <a:gd name="adj" fmla="val 3404"/>
            </a:avLst>
          </a:prstGeom>
          <a:solidFill>
            <a:srgbClr val="F4F2EE"/>
          </a:solidFill>
          <a:ln w="12700">
            <a:solidFill>
              <a:srgbClr val="EBE7DF"/>
            </a:solidFill>
            <a:prstDash val="solid"/>
          </a:ln>
        </p:spPr>
      </p:sp>
      <p:sp>
        <p:nvSpPr>
          <p:cNvPr id="5" name="Shape 3"/>
          <p:cNvSpPr/>
          <p:nvPr/>
        </p:nvSpPr>
        <p:spPr>
          <a:xfrm>
            <a:off x="795528" y="1892808"/>
            <a:ext cx="1345997" cy="310896"/>
          </a:xfrm>
          <a:prstGeom prst="roundRect">
            <a:avLst>
              <a:gd name="adj" fmla="val 50000"/>
            </a:avLst>
          </a:prstGeom>
          <a:solidFill>
            <a:srgbClr val="1B1A18"/>
          </a:solidFill>
          <a:ln/>
        </p:spPr>
      </p:sp>
      <p:sp>
        <p:nvSpPr>
          <p:cNvPr id="6" name="Text 4"/>
          <p:cNvSpPr/>
          <p:nvPr/>
        </p:nvSpPr>
        <p:spPr>
          <a:xfrm>
            <a:off x="795528" y="1892808"/>
            <a:ext cx="1345997"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Pattern 1</a:t>
            </a:r>
            <a:endParaRPr lang="en-US" sz="900" dirty="0"/>
          </a:p>
        </p:txBody>
      </p:sp>
      <p:sp>
        <p:nvSpPr>
          <p:cNvPr id="7" name="Text 5"/>
          <p:cNvSpPr/>
          <p:nvPr/>
        </p:nvSpPr>
        <p:spPr>
          <a:xfrm>
            <a:off x="795528" y="2295144"/>
            <a:ext cx="4934560"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Require structural enforcement</a:t>
            </a:r>
            <a:endParaRPr lang="en-US" sz="1400" dirty="0"/>
          </a:p>
        </p:txBody>
      </p:sp>
      <p:sp>
        <p:nvSpPr>
          <p:cNvPr id="8" name="Text 6"/>
          <p:cNvSpPr/>
          <p:nvPr/>
        </p:nvSpPr>
        <p:spPr>
          <a:xfrm>
            <a:off x="795528" y="2752344"/>
            <a:ext cx="4934560"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A no-exception rule must be enforced at a control point the transaction passes through; an instruction to a model does not satisfy it.</a:t>
            </a:r>
            <a:endParaRPr lang="en-US" sz="1100" dirty="0"/>
          </a:p>
        </p:txBody>
      </p:sp>
      <p:sp>
        <p:nvSpPr>
          <p:cNvPr id="9" name="Shape 7"/>
          <p:cNvSpPr/>
          <p:nvPr/>
        </p:nvSpPr>
        <p:spPr>
          <a:xfrm>
            <a:off x="6233008" y="1691640"/>
            <a:ext cx="5391760" cy="2148840"/>
          </a:xfrm>
          <a:prstGeom prst="roundRect">
            <a:avLst>
              <a:gd name="adj" fmla="val 3404"/>
            </a:avLst>
          </a:prstGeom>
          <a:solidFill>
            <a:srgbClr val="F4F2EE"/>
          </a:solidFill>
          <a:ln w="12700">
            <a:solidFill>
              <a:srgbClr val="EBE7DF"/>
            </a:solidFill>
            <a:prstDash val="solid"/>
          </a:ln>
        </p:spPr>
      </p:sp>
      <p:sp>
        <p:nvSpPr>
          <p:cNvPr id="10" name="Shape 8"/>
          <p:cNvSpPr/>
          <p:nvPr/>
        </p:nvSpPr>
        <p:spPr>
          <a:xfrm>
            <a:off x="6461608" y="1892808"/>
            <a:ext cx="1345997" cy="310896"/>
          </a:xfrm>
          <a:prstGeom prst="roundRect">
            <a:avLst>
              <a:gd name="adj" fmla="val 50000"/>
            </a:avLst>
          </a:prstGeom>
          <a:solidFill>
            <a:srgbClr val="1B1A18"/>
          </a:solidFill>
          <a:ln/>
        </p:spPr>
      </p:sp>
      <p:sp>
        <p:nvSpPr>
          <p:cNvPr id="11" name="Text 9"/>
          <p:cNvSpPr/>
          <p:nvPr/>
        </p:nvSpPr>
        <p:spPr>
          <a:xfrm>
            <a:off x="6461608" y="1892808"/>
            <a:ext cx="1345997"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Pattern 2</a:t>
            </a:r>
            <a:endParaRPr lang="en-US" sz="900" dirty="0"/>
          </a:p>
        </p:txBody>
      </p:sp>
      <p:sp>
        <p:nvSpPr>
          <p:cNvPr id="12" name="Text 10"/>
          <p:cNvSpPr/>
          <p:nvPr/>
        </p:nvSpPr>
        <p:spPr>
          <a:xfrm>
            <a:off x="6461608" y="2295144"/>
            <a:ext cx="4934560"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Require evidence by construction</a:t>
            </a:r>
            <a:endParaRPr lang="en-US" sz="1400" dirty="0"/>
          </a:p>
        </p:txBody>
      </p:sp>
      <p:sp>
        <p:nvSpPr>
          <p:cNvPr id="13" name="Text 11"/>
          <p:cNvSpPr/>
          <p:nvPr/>
        </p:nvSpPr>
        <p:spPr>
          <a:xfrm>
            <a:off x="6461608" y="2752344"/>
            <a:ext cx="4934560"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Full attribution — incl. the rule version in force — producible on demand and by query, without reconstruction.</a:t>
            </a:r>
            <a:endParaRPr lang="en-US" sz="1100" dirty="0"/>
          </a:p>
        </p:txBody>
      </p:sp>
      <p:sp>
        <p:nvSpPr>
          <p:cNvPr id="14" name="Shape 12"/>
          <p:cNvSpPr/>
          <p:nvPr/>
        </p:nvSpPr>
        <p:spPr>
          <a:xfrm>
            <a:off x="566928" y="4114800"/>
            <a:ext cx="5391760" cy="2148840"/>
          </a:xfrm>
          <a:prstGeom prst="roundRect">
            <a:avLst>
              <a:gd name="adj" fmla="val 3404"/>
            </a:avLst>
          </a:prstGeom>
          <a:solidFill>
            <a:srgbClr val="F4F2EE"/>
          </a:solidFill>
          <a:ln w="12700">
            <a:solidFill>
              <a:srgbClr val="EBE7DF"/>
            </a:solidFill>
            <a:prstDash val="solid"/>
          </a:ln>
        </p:spPr>
      </p:sp>
      <p:sp>
        <p:nvSpPr>
          <p:cNvPr id="15" name="Shape 13"/>
          <p:cNvSpPr/>
          <p:nvPr/>
        </p:nvSpPr>
        <p:spPr>
          <a:xfrm>
            <a:off x="795528" y="4315968"/>
            <a:ext cx="1345997" cy="310896"/>
          </a:xfrm>
          <a:prstGeom prst="roundRect">
            <a:avLst>
              <a:gd name="adj" fmla="val 50000"/>
            </a:avLst>
          </a:prstGeom>
          <a:solidFill>
            <a:srgbClr val="1B1A18"/>
          </a:solidFill>
          <a:ln/>
        </p:spPr>
      </p:sp>
      <p:sp>
        <p:nvSpPr>
          <p:cNvPr id="16" name="Text 14"/>
          <p:cNvSpPr/>
          <p:nvPr/>
        </p:nvSpPr>
        <p:spPr>
          <a:xfrm>
            <a:off x="795528" y="4315968"/>
            <a:ext cx="1345997"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Pattern 3</a:t>
            </a:r>
            <a:endParaRPr lang="en-US" sz="900" dirty="0"/>
          </a:p>
        </p:txBody>
      </p:sp>
      <p:sp>
        <p:nvSpPr>
          <p:cNvPr id="17" name="Text 15"/>
          <p:cNvSpPr/>
          <p:nvPr/>
        </p:nvSpPr>
        <p:spPr>
          <a:xfrm>
            <a:off x="795528" y="4718304"/>
            <a:ext cx="4934560"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Require a dependency census</a:t>
            </a:r>
            <a:endParaRPr lang="en-US" sz="1400" dirty="0"/>
          </a:p>
        </p:txBody>
      </p:sp>
      <p:sp>
        <p:nvSpPr>
          <p:cNvPr id="18" name="Text 16"/>
          <p:cNvSpPr/>
          <p:nvPr/>
        </p:nvSpPr>
        <p:spPr>
          <a:xfrm>
            <a:off x="795528" y="5175504"/>
            <a:ext cx="4934560"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A current census of providers, models, and jurisdictions compliance depends on, with a substitution plan for each material one.</a:t>
            </a:r>
            <a:endParaRPr lang="en-US" sz="1100" dirty="0"/>
          </a:p>
        </p:txBody>
      </p:sp>
      <p:sp>
        <p:nvSpPr>
          <p:cNvPr id="19" name="Shape 17"/>
          <p:cNvSpPr/>
          <p:nvPr/>
        </p:nvSpPr>
        <p:spPr>
          <a:xfrm>
            <a:off x="6233008" y="4114800"/>
            <a:ext cx="5391760" cy="2148840"/>
          </a:xfrm>
          <a:prstGeom prst="roundRect">
            <a:avLst>
              <a:gd name="adj" fmla="val 3404"/>
            </a:avLst>
          </a:prstGeom>
          <a:solidFill>
            <a:srgbClr val="F4F2EE"/>
          </a:solidFill>
          <a:ln w="12700">
            <a:solidFill>
              <a:srgbClr val="EBE7DF"/>
            </a:solidFill>
            <a:prstDash val="solid"/>
          </a:ln>
        </p:spPr>
      </p:sp>
      <p:sp>
        <p:nvSpPr>
          <p:cNvPr id="20" name="Shape 18"/>
          <p:cNvSpPr/>
          <p:nvPr/>
        </p:nvSpPr>
        <p:spPr>
          <a:xfrm>
            <a:off x="6461608" y="4315968"/>
            <a:ext cx="1345997" cy="310896"/>
          </a:xfrm>
          <a:prstGeom prst="roundRect">
            <a:avLst>
              <a:gd name="adj" fmla="val 50000"/>
            </a:avLst>
          </a:prstGeom>
          <a:solidFill>
            <a:srgbClr val="1B1A18"/>
          </a:solidFill>
          <a:ln/>
        </p:spPr>
      </p:sp>
      <p:sp>
        <p:nvSpPr>
          <p:cNvPr id="21" name="Text 19"/>
          <p:cNvSpPr/>
          <p:nvPr/>
        </p:nvSpPr>
        <p:spPr>
          <a:xfrm>
            <a:off x="6461608" y="4315968"/>
            <a:ext cx="1345997"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Pattern 4</a:t>
            </a:r>
            <a:endParaRPr lang="en-US" sz="900" dirty="0"/>
          </a:p>
        </p:txBody>
      </p:sp>
      <p:sp>
        <p:nvSpPr>
          <p:cNvPr id="22" name="Text 20"/>
          <p:cNvSpPr/>
          <p:nvPr/>
        </p:nvSpPr>
        <p:spPr>
          <a:xfrm>
            <a:off x="6461608" y="4718304"/>
            <a:ext cx="4934560"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Require independent trustworthiness</a:t>
            </a:r>
            <a:endParaRPr lang="en-US" sz="1400" dirty="0"/>
          </a:p>
        </p:txBody>
      </p:sp>
      <p:sp>
        <p:nvSpPr>
          <p:cNvPr id="23" name="Text 21"/>
          <p:cNvSpPr/>
          <p:nvPr/>
        </p:nvSpPr>
        <p:spPr>
          <a:xfrm>
            <a:off x="6461608" y="5175504"/>
            <a:ext cx="4934560"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A record relied on as evidence must be independently verifiable, not vouched for by the relying party alone.</a:t>
            </a:r>
            <a:endParaRPr lang="en-US" sz="1100" dirty="0"/>
          </a:p>
        </p:txBody>
      </p:sp>
      <p:sp>
        <p:nvSpPr>
          <p:cNvPr id="24" name="Text 22"/>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25" name="Text 23"/>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33302B"/>
        </a:solidFill>
      </p:bgPr>
    </p:bg>
    <p:spTree>
      <p:nvGrpSpPr>
        <p:cNvPr id="1" name=""/>
        <p:cNvGrpSpPr/>
        <p:nvPr/>
      </p:nvGrpSpPr>
      <p:grpSpPr>
        <a:xfrm>
          <a:off x="0" y="0"/>
          <a:ext cx="0" cy="0"/>
          <a:chOff x="0" y="0"/>
          <a:chExt cx="0" cy="0"/>
        </a:xfrm>
      </p:grpSpPr>
      <p:sp>
        <p:nvSpPr>
          <p:cNvPr id="2" name="Shape 0"/>
          <p:cNvSpPr/>
          <p:nvPr/>
        </p:nvSpPr>
        <p:spPr>
          <a:xfrm>
            <a:off x="566928" y="502920"/>
            <a:ext cx="2103120" cy="310896"/>
          </a:xfrm>
          <a:prstGeom prst="roundRect">
            <a:avLst>
              <a:gd name="adj" fmla="val 50000"/>
            </a:avLst>
          </a:prstGeom>
          <a:solidFill>
            <a:srgbClr val="8A8378"/>
          </a:solidFill>
          <a:ln/>
        </p:spPr>
      </p:sp>
      <p:sp>
        <p:nvSpPr>
          <p:cNvPr id="3" name="Text 1"/>
          <p:cNvSpPr/>
          <p:nvPr/>
        </p:nvSpPr>
        <p:spPr>
          <a:xfrm>
            <a:off x="566928" y="502920"/>
            <a:ext cx="210312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RULE-WRITING</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indent="0" marL="0">
              <a:buNone/>
            </a:pPr>
            <a:r>
              <a:rPr lang="en-US" sz="2150" b="1" dirty="0">
                <a:solidFill>
                  <a:srgbClr val="FFFFFF"/>
                </a:solidFill>
                <a:latin typeface="Georgia" pitchFamily="34" charset="0"/>
                <a:ea typeface="Georgia" pitchFamily="34" charset="-122"/>
                <a:cs typeface="Georgia" pitchFamily="34" charset="-120"/>
              </a:rPr>
              <a:t>Rule-writing — Week 10</a:t>
            </a:r>
            <a:endParaRPr lang="en-US" sz="2150" dirty="0"/>
          </a:p>
        </p:txBody>
      </p:sp>
      <p:sp>
        <p:nvSpPr>
          <p:cNvPr id="5" name="Shape 3"/>
          <p:cNvSpPr/>
          <p:nvPr/>
        </p:nvSpPr>
        <p:spPr>
          <a:xfrm>
            <a:off x="566928" y="1965960"/>
            <a:ext cx="420624" cy="420624"/>
          </a:xfrm>
          <a:prstGeom prst="ellipse">
            <a:avLst/>
          </a:prstGeom>
          <a:solidFill>
            <a:srgbClr val="8A8378"/>
          </a:solidFill>
          <a:ln/>
        </p:spPr>
      </p:sp>
      <p:sp>
        <p:nvSpPr>
          <p:cNvPr id="6" name="Text 4"/>
          <p:cNvSpPr/>
          <p:nvPr/>
        </p:nvSpPr>
        <p:spPr>
          <a:xfrm>
            <a:off x="566928" y="1965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Q1</a:t>
            </a:r>
            <a:endParaRPr lang="en-US" sz="950" dirty="0"/>
          </a:p>
        </p:txBody>
      </p:sp>
      <p:sp>
        <p:nvSpPr>
          <p:cNvPr id="7" name="Text 5"/>
          <p:cNvSpPr/>
          <p:nvPr/>
        </p:nvSpPr>
        <p:spPr>
          <a:xfrm>
            <a:off x="1143000" y="1920240"/>
            <a:ext cx="10372039" cy="2194560"/>
          </a:xfrm>
          <a:prstGeom prst="rect">
            <a:avLst/>
          </a:prstGeom>
          <a:noFill/>
          <a:ln/>
        </p:spPr>
        <p:txBody>
          <a:bodyPr wrap="square" rtlCol="0" anchor="t"/>
          <a:lstStyle/>
          <a:p>
            <a:pPr indent="0" marL="0">
              <a:lnSpc>
                <a:spcPct val="115000"/>
              </a:lnSpc>
              <a:buNone/>
            </a:pPr>
            <a:r>
              <a:rPr lang="en-US" sz="1350" dirty="0">
                <a:solidFill>
                  <a:srgbClr val="E4DFD5"/>
                </a:solidFill>
                <a:latin typeface="Georgia" pitchFamily="34" charset="0"/>
                <a:ea typeface="Georgia" pitchFamily="34" charset="-122"/>
                <a:cs typeface="Georgia" pitchFamily="34" charset="-120"/>
              </a:rPr>
              <a:t>Draft one operative clause of a standard that would require an entity to pass the ‘address test’.</a:t>
            </a:r>
            <a:endParaRPr lang="en-US" sz="1350" dirty="0"/>
          </a:p>
        </p:txBody>
      </p:sp>
      <p:sp>
        <p:nvSpPr>
          <p:cNvPr id="8" name="Shape 6"/>
          <p:cNvSpPr/>
          <p:nvPr/>
        </p:nvSpPr>
        <p:spPr>
          <a:xfrm>
            <a:off x="566928" y="4251960"/>
            <a:ext cx="420624" cy="420624"/>
          </a:xfrm>
          <a:prstGeom prst="ellipse">
            <a:avLst/>
          </a:prstGeom>
          <a:solidFill>
            <a:srgbClr val="8A8378"/>
          </a:solidFill>
          <a:ln/>
        </p:spPr>
      </p:sp>
      <p:sp>
        <p:nvSpPr>
          <p:cNvPr id="9" name="Text 7"/>
          <p:cNvSpPr/>
          <p:nvPr/>
        </p:nvSpPr>
        <p:spPr>
          <a:xfrm>
            <a:off x="566928" y="4251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Q2</a:t>
            </a:r>
            <a:endParaRPr lang="en-US" sz="950" dirty="0"/>
          </a:p>
        </p:txBody>
      </p:sp>
      <p:sp>
        <p:nvSpPr>
          <p:cNvPr id="10" name="Text 8"/>
          <p:cNvSpPr/>
          <p:nvPr/>
        </p:nvSpPr>
        <p:spPr>
          <a:xfrm>
            <a:off x="1143000" y="4206240"/>
            <a:ext cx="10372039" cy="2194560"/>
          </a:xfrm>
          <a:prstGeom prst="rect">
            <a:avLst/>
          </a:prstGeom>
          <a:noFill/>
          <a:ln/>
        </p:spPr>
        <p:txBody>
          <a:bodyPr wrap="square" rtlCol="0" anchor="t"/>
          <a:lstStyle/>
          <a:p>
            <a:pPr indent="0" marL="0">
              <a:lnSpc>
                <a:spcPct val="115000"/>
              </a:lnSpc>
              <a:buNone/>
            </a:pPr>
            <a:r>
              <a:rPr lang="en-US" sz="1350" dirty="0">
                <a:solidFill>
                  <a:srgbClr val="E4DFD5"/>
                </a:solidFill>
                <a:latin typeface="Georgia" pitchFamily="34" charset="0"/>
                <a:ea typeface="Georgia" pitchFamily="34" charset="-122"/>
                <a:cs typeface="Georgia" pitchFamily="34" charset="-120"/>
              </a:rPr>
              <a:t>How should a supervisor examine an entity whose decisions are machine-numerous? Design the examination.</a:t>
            </a:r>
            <a:endParaRPr lang="en-US" sz="13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11</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050" b="1" dirty="0">
                <a:solidFill>
                  <a:srgbClr val="FFFFFF"/>
                </a:solidFill>
                <a:latin typeface="Georgia" pitchFamily="34" charset="0"/>
                <a:ea typeface="Georgia" pitchFamily="34" charset="-122"/>
                <a:cs typeface="Georgia" pitchFamily="34" charset="-120"/>
              </a:rPr>
              <a:t>Cross-border, sovereignty, and systemic risk</a:t>
            </a:r>
            <a:endParaRPr lang="en-US" sz="20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350" dirty="0">
                <a:solidFill>
                  <a:srgbClr val="33302B"/>
                </a:solidFill>
                <a:latin typeface="Georgia" pitchFamily="34" charset="0"/>
                <a:ea typeface="Georgia" pitchFamily="34" charset="-122"/>
                <a:cs typeface="Georgia" pitchFamily="34" charset="-120"/>
              </a:rPr>
              <a:t>Dependency on a single provider, model, or jurisdiction is a legal and systemic concern. This week: sovereignty as the ability to say no, concentration and operational-resilience law, and what a single point of failure in shared infrastructure means for liability and continuity.</a:t>
            </a:r>
            <a:endParaRPr lang="en-US" sz="135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Learning aims</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Assess concentration and cross-border dependency</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Apply the dependency-census / substitution lens</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Analyse systemic-risk and resilience exposure</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THE ABILITY TO SAY NO</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350" b="1" dirty="0">
                <a:solidFill>
                  <a:srgbClr val="1B1A18"/>
                </a:solidFill>
                <a:latin typeface="Georgia" pitchFamily="34" charset="0"/>
                <a:ea typeface="Georgia" pitchFamily="34" charset="-122"/>
                <a:cs typeface="Georgia" pitchFamily="34" charset="-120"/>
              </a:rPr>
              <a:t>A structural lens on systemic legal risk</a:t>
            </a:r>
            <a:endParaRPr lang="en-US" sz="2350" dirty="0"/>
          </a:p>
        </p:txBody>
      </p:sp>
      <p:sp>
        <p:nvSpPr>
          <p:cNvPr id="4" name="Shape 2"/>
          <p:cNvSpPr/>
          <p:nvPr/>
        </p:nvSpPr>
        <p:spPr>
          <a:xfrm>
            <a:off x="566928" y="1691640"/>
            <a:ext cx="457200" cy="457200"/>
          </a:xfrm>
          <a:prstGeom prst="ellipse">
            <a:avLst/>
          </a:prstGeom>
          <a:solidFill>
            <a:srgbClr val="8A8378"/>
          </a:solidFill>
          <a:ln/>
        </p:spPr>
      </p:sp>
      <p:sp>
        <p:nvSpPr>
          <p:cNvPr id="5" name="Text 3"/>
          <p:cNvSpPr/>
          <p:nvPr/>
        </p:nvSpPr>
        <p:spPr>
          <a:xfrm>
            <a:off x="566928" y="169164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Dependency census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The providers, models, and jurisdictions whose unilateral change forces the institution to change.</a:t>
            </a:r>
            <a:endParaRPr lang="en-US" sz="1450" dirty="0"/>
          </a:p>
        </p:txBody>
      </p:sp>
      <p:sp>
        <p:nvSpPr>
          <p:cNvPr id="7" name="Shape 5"/>
          <p:cNvSpPr/>
          <p:nvPr/>
        </p:nvSpPr>
        <p:spPr>
          <a:xfrm>
            <a:off x="566928" y="2857500"/>
            <a:ext cx="457200" cy="457200"/>
          </a:xfrm>
          <a:prstGeom prst="ellipse">
            <a:avLst/>
          </a:prstGeom>
          <a:solidFill>
            <a:srgbClr val="8A8378"/>
          </a:solidFill>
          <a:ln/>
        </p:spPr>
      </p:sp>
      <p:sp>
        <p:nvSpPr>
          <p:cNvPr id="8" name="Text 6"/>
          <p:cNvSpPr/>
          <p:nvPr/>
        </p:nvSpPr>
        <p:spPr>
          <a:xfrm>
            <a:off x="566928" y="285750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Substitution test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The cost of saying no to each; where the answer is ‘cannot’, that is a concentration risk you can name and price.</a:t>
            </a:r>
            <a:endParaRPr lang="en-US" sz="1450" dirty="0"/>
          </a:p>
        </p:txBody>
      </p:sp>
      <p:sp>
        <p:nvSpPr>
          <p:cNvPr id="10" name="Shape 8"/>
          <p:cNvSpPr/>
          <p:nvPr/>
        </p:nvSpPr>
        <p:spPr>
          <a:xfrm>
            <a:off x="566928" y="4023360"/>
            <a:ext cx="457200" cy="457200"/>
          </a:xfrm>
          <a:prstGeom prst="ellipse">
            <a:avLst/>
          </a:prstGeom>
          <a:solidFill>
            <a:srgbClr val="8A8378"/>
          </a:solidFill>
          <a:ln/>
        </p:spPr>
      </p:sp>
      <p:sp>
        <p:nvSpPr>
          <p:cNvPr id="11" name="Text 9"/>
          <p:cNvSpPr/>
          <p:nvPr/>
        </p:nvSpPr>
        <p:spPr>
          <a:xfrm>
            <a:off x="566928" y="402336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Operational resilience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Regulators increasingly require continuity through third-party failure — a legal duty, not just prudence.</a:t>
            </a:r>
            <a:endParaRPr lang="en-US" sz="1450" dirty="0"/>
          </a:p>
        </p:txBody>
      </p:sp>
      <p:sp>
        <p:nvSpPr>
          <p:cNvPr id="13" name="Shape 11"/>
          <p:cNvSpPr/>
          <p:nvPr/>
        </p:nvSpPr>
        <p:spPr>
          <a:xfrm>
            <a:off x="566928" y="5189220"/>
            <a:ext cx="457200" cy="457200"/>
          </a:xfrm>
          <a:prstGeom prst="ellipse">
            <a:avLst/>
          </a:prstGeom>
          <a:solidFill>
            <a:srgbClr val="8A8378"/>
          </a:solidFill>
          <a:ln/>
        </p:spPr>
      </p:sp>
      <p:sp>
        <p:nvSpPr>
          <p:cNvPr id="14" name="Text 12"/>
          <p:cNvSpPr/>
          <p:nvPr/>
        </p:nvSpPr>
        <p:spPr>
          <a:xfrm>
            <a:off x="566928" y="51892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Referee neutrality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Infrastructure that holds the invariants should not be a party with a stake in the outcomes it governs.</a:t>
            </a:r>
            <a:endParaRPr lang="en-US" sz="1450" dirty="0"/>
          </a:p>
        </p:txBody>
      </p:sp>
      <p:sp>
        <p:nvSpPr>
          <p:cNvPr id="16" name="Text 1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7" name="Text 1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566928" y="502920"/>
            <a:ext cx="1737360" cy="310896"/>
          </a:xfrm>
          <a:prstGeom prst="roundRect">
            <a:avLst>
              <a:gd name="adj" fmla="val 50000"/>
            </a:avLst>
          </a:prstGeom>
          <a:solidFill>
            <a:srgbClr val="8A8378"/>
          </a:solidFill>
          <a:ln/>
        </p:spPr>
      </p:sp>
      <p:sp>
        <p:nvSpPr>
          <p:cNvPr id="3" name="Text 1"/>
          <p:cNvSpPr/>
          <p:nvPr/>
        </p:nvSpPr>
        <p:spPr>
          <a:xfrm>
            <a:off x="566928" y="502920"/>
            <a:ext cx="173736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CASE RECORD</a:t>
            </a:r>
            <a:endParaRPr lang="en-US" sz="1050" dirty="0"/>
          </a:p>
        </p:txBody>
      </p:sp>
      <p:sp>
        <p:nvSpPr>
          <p:cNvPr id="4" name="Text 2"/>
          <p:cNvSpPr/>
          <p:nvPr/>
        </p:nvSpPr>
        <p:spPr>
          <a:xfrm>
            <a:off x="566928" y="914400"/>
            <a:ext cx="11057839" cy="731520"/>
          </a:xfrm>
          <a:prstGeom prst="rect">
            <a:avLst/>
          </a:prstGeom>
          <a:noFill/>
          <a:ln/>
        </p:spPr>
        <p:txBody>
          <a:bodyPr wrap="square" rtlCol="0" anchor="ctr"/>
          <a:lstStyle/>
          <a:p>
            <a:pPr indent="0" marL="0">
              <a:buNone/>
            </a:pPr>
            <a:r>
              <a:rPr lang="en-US" sz="2150" b="1" dirty="0">
                <a:solidFill>
                  <a:srgbClr val="FFFFFF"/>
                </a:solidFill>
                <a:latin typeface="Georgia" pitchFamily="34" charset="0"/>
                <a:ea typeface="Georgia" pitchFamily="34" charset="-122"/>
                <a:cs typeface="Georgia" pitchFamily="34" charset="-120"/>
              </a:rPr>
              <a:t>CrowdStrike outage</a:t>
            </a:r>
            <a:endParaRPr lang="en-US" sz="2150" dirty="0"/>
          </a:p>
        </p:txBody>
      </p:sp>
      <p:sp>
        <p:nvSpPr>
          <p:cNvPr id="5" name="Text 3"/>
          <p:cNvSpPr/>
          <p:nvPr/>
        </p:nvSpPr>
        <p:spPr>
          <a:xfrm>
            <a:off x="566928" y="1965960"/>
            <a:ext cx="5760720" cy="1463040"/>
          </a:xfrm>
          <a:prstGeom prst="rect">
            <a:avLst/>
          </a:prstGeom>
          <a:noFill/>
          <a:ln/>
        </p:spPr>
        <p:txBody>
          <a:bodyPr wrap="square" rtlCol="0" anchor="ctr"/>
          <a:lstStyle/>
          <a:p>
            <a:pPr indent="0" marL="0">
              <a:buNone/>
            </a:pPr>
            <a:r>
              <a:rPr lang="en-US" sz="4700" b="1" dirty="0">
                <a:solidFill>
                  <a:srgbClr val="8A8378"/>
                </a:solidFill>
                <a:latin typeface="Georgia" pitchFamily="34" charset="0"/>
                <a:ea typeface="Georgia" pitchFamily="34" charset="-122"/>
                <a:cs typeface="Georgia" pitchFamily="34" charset="-120"/>
              </a:rPr>
              <a:t>8.5M devices</a:t>
            </a:r>
            <a:endParaRPr lang="en-US" sz="4700" dirty="0"/>
          </a:p>
        </p:txBody>
      </p:sp>
      <p:sp>
        <p:nvSpPr>
          <p:cNvPr id="6" name="Text 4"/>
          <p:cNvSpPr/>
          <p:nvPr/>
        </p:nvSpPr>
        <p:spPr>
          <a:xfrm>
            <a:off x="566928" y="3383280"/>
            <a:ext cx="5760720" cy="1371600"/>
          </a:xfrm>
          <a:prstGeom prst="rect">
            <a:avLst/>
          </a:prstGeom>
          <a:noFill/>
          <a:ln/>
        </p:spPr>
        <p:txBody>
          <a:bodyPr wrap="square" rtlCol="0" anchor="t"/>
          <a:lstStyle/>
          <a:p>
            <a:pPr indent="0" marL="0">
              <a:lnSpc>
                <a:spcPct val="120000"/>
              </a:lnSpc>
              <a:buNone/>
            </a:pPr>
            <a:r>
              <a:rPr lang="en-US" sz="1400" dirty="0">
                <a:solidFill>
                  <a:srgbClr val="E4DFD5"/>
                </a:solidFill>
                <a:latin typeface="Georgia" pitchFamily="34" charset="0"/>
                <a:ea typeface="Georgia" pitchFamily="34" charset="-122"/>
                <a:cs typeface="Georgia" pitchFamily="34" charset="-120"/>
              </a:rPr>
              <a:t>down worldwide from one update; ~$5.4B Fortune-500 loss; a single airline cancelled ~7,000 flights</a:t>
            </a:r>
            <a:endParaRPr lang="en-US" sz="1400" dirty="0"/>
          </a:p>
        </p:txBody>
      </p:sp>
      <p:sp>
        <p:nvSpPr>
          <p:cNvPr id="7" name="Text 5"/>
          <p:cNvSpPr/>
          <p:nvPr/>
        </p:nvSpPr>
        <p:spPr>
          <a:xfrm>
            <a:off x="566928" y="5303520"/>
            <a:ext cx="5852160" cy="777240"/>
          </a:xfrm>
          <a:prstGeom prst="rect">
            <a:avLst/>
          </a:prstGeom>
          <a:noFill/>
          <a:ln/>
        </p:spPr>
        <p:txBody>
          <a:bodyPr wrap="square" rtlCol="0" anchor="t"/>
          <a:lstStyle/>
          <a:p>
            <a:pPr indent="0" marL="0">
              <a:lnSpc>
                <a:spcPct val="110000"/>
              </a:lnSpc>
              <a:buNone/>
            </a:pPr>
            <a:r>
              <a:rPr lang="en-US" sz="900" b="1" dirty="0">
                <a:solidFill>
                  <a:srgbClr val="8A8378"/>
                </a:solidFill>
                <a:latin typeface="Georgia" pitchFamily="34" charset="0"/>
                <a:ea typeface="Georgia" pitchFamily="34" charset="-122"/>
                <a:cs typeface="Georgia" pitchFamily="34" charset="-120"/>
              </a:rPr>
              <a:t>CITATION  </a:t>
            </a:r>
            <a:pPr indent="0" marL="0">
              <a:lnSpc>
                <a:spcPct val="110000"/>
              </a:lnSpc>
              <a:buNone/>
            </a:pPr>
            <a:r>
              <a:rPr lang="en-US" sz="950" i="1" dirty="0">
                <a:solidFill>
                  <a:srgbClr val="C4BDB0"/>
                </a:solidFill>
                <a:latin typeface="Georgia" pitchFamily="34" charset="0"/>
                <a:ea typeface="Georgia" pitchFamily="34" charset="-122"/>
                <a:cs typeface="Georgia" pitchFamily="34" charset="-120"/>
              </a:rPr>
              <a:t>CrowdStrike post-incident review (2024); Parametrix loss analysis (Jul 2024); Delta Air Lines SEC filing (Aug 2024).</a:t>
            </a:r>
            <a:endParaRPr lang="en-US" sz="900" dirty="0"/>
          </a:p>
        </p:txBody>
      </p:sp>
      <p:sp>
        <p:nvSpPr>
          <p:cNvPr id="8" name="Shape 6"/>
          <p:cNvSpPr/>
          <p:nvPr/>
        </p:nvSpPr>
        <p:spPr>
          <a:xfrm>
            <a:off x="6766560" y="1965960"/>
            <a:ext cx="4858207" cy="3794760"/>
          </a:xfrm>
          <a:prstGeom prst="roundRect">
            <a:avLst>
              <a:gd name="adj" fmla="val 2410"/>
            </a:avLst>
          </a:prstGeom>
          <a:solidFill>
            <a:srgbClr val="33302B"/>
          </a:solidFill>
          <a:ln/>
        </p:spPr>
      </p:sp>
      <p:sp>
        <p:nvSpPr>
          <p:cNvPr id="9" name="Text 7"/>
          <p:cNvSpPr/>
          <p:nvPr/>
        </p:nvSpPr>
        <p:spPr>
          <a:xfrm>
            <a:off x="6995160" y="2167128"/>
            <a:ext cx="4401007" cy="3429000"/>
          </a:xfrm>
          <a:prstGeom prst="rect">
            <a:avLst/>
          </a:prstGeom>
          <a:noFill/>
          <a:ln/>
        </p:spPr>
        <p:txBody>
          <a:bodyPr wrap="square" rtlCol="0" anchor="t"/>
          <a:lstStyle/>
          <a:p>
            <a:pPr indent="0" marL="0">
              <a:lnSpc>
                <a:spcPct val="118000"/>
              </a:lnSpc>
              <a:spcAft>
                <a:spcPts val="900"/>
              </a:spcAft>
              <a:buNone/>
            </a:pPr>
            <a:r>
              <a:rPr lang="en-US" sz="1200" b="1" dirty="0">
                <a:solidFill>
                  <a:srgbClr val="FFFFFF"/>
                </a:solidFill>
                <a:latin typeface="Georgia" pitchFamily="34" charset="0"/>
                <a:ea typeface="Georgia" pitchFamily="34" charset="-122"/>
                <a:cs typeface="Georgia" pitchFamily="34" charset="-120"/>
              </a:rPr>
              <a:t>Facts:</a:t>
            </a:r>
            <a:endParaRPr lang="en-US" sz="1200" dirty="0"/>
          </a:p>
          <a:p>
            <a:pPr indent="0" marL="0">
              <a:lnSpc>
                <a:spcPct val="118000"/>
              </a:lnSpc>
              <a:spcAft>
                <a:spcPts val="900"/>
              </a:spcAft>
              <a:buNone/>
            </a:pPr>
            <a:r>
              <a:rPr lang="en-US" sz="1200" dirty="0">
                <a:solidFill>
                  <a:srgbClr val="E4DFD5"/>
                </a:solidFill>
                <a:latin typeface="Georgia" pitchFamily="34" charset="0"/>
                <a:ea typeface="Georgia" pitchFamily="34" charset="-122"/>
                <a:cs typeface="Georgia" pitchFamily="34" charset="-120"/>
              </a:rPr>
              <a:t>a routine content update with one unexpected field crashed millions of machines globally; the fix came 79 minutes too late.</a:t>
            </a:r>
            <a:endParaRPr lang="en-US" sz="1200" dirty="0"/>
          </a:p>
          <a:p>
            <a:pPr indent="0" marL="0">
              <a:lnSpc>
                <a:spcPct val="118000"/>
              </a:lnSpc>
              <a:spcAft>
                <a:spcPts val="900"/>
              </a:spcAft>
              <a:buNone/>
            </a:pPr>
            <a:r>
              <a:rPr lang="en-US" sz="1200" b="1" dirty="0">
                <a:solidFill>
                  <a:srgbClr val="FFFFFF"/>
                </a:solidFill>
                <a:latin typeface="Georgia" pitchFamily="34" charset="0"/>
                <a:ea typeface="Georgia" pitchFamily="34" charset="-122"/>
                <a:cs typeface="Georgia" pitchFamily="34" charset="-120"/>
              </a:rPr>
              <a:t>Legal relevance:</a:t>
            </a:r>
            <a:endParaRPr lang="en-US" sz="1200" dirty="0"/>
          </a:p>
          <a:p>
            <a:pPr indent="0" marL="0">
              <a:lnSpc>
                <a:spcPct val="118000"/>
              </a:lnSpc>
              <a:spcAft>
                <a:spcPts val="900"/>
              </a:spcAft>
              <a:buNone/>
            </a:pPr>
            <a:r>
              <a:rPr lang="en-US" sz="1200" dirty="0">
                <a:solidFill>
                  <a:srgbClr val="E4DFD5"/>
                </a:solidFill>
                <a:latin typeface="Georgia" pitchFamily="34" charset="0"/>
                <a:ea typeface="Georgia" pitchFamily="34" charset="-122"/>
                <a:cs typeface="Georgia" pitchFamily="34" charset="-120"/>
              </a:rPr>
              <a:t>concentration in shared infrastructure is systemic risk; liability, force-majeure, and resilience questions cascade.</a:t>
            </a:r>
            <a:endParaRPr lang="en-US" sz="1200" dirty="0"/>
          </a:p>
          <a:p>
            <a:pPr indent="0" marL="0">
              <a:lnSpc>
                <a:spcPct val="118000"/>
              </a:lnSpc>
              <a:spcAft>
                <a:spcPts val="900"/>
              </a:spcAft>
              <a:buNone/>
            </a:pPr>
            <a:r>
              <a:rPr lang="en-US" sz="1200" b="1" dirty="0">
                <a:solidFill>
                  <a:srgbClr val="FFFFFF"/>
                </a:solidFill>
                <a:latin typeface="Georgia" pitchFamily="34" charset="0"/>
                <a:ea typeface="Georgia" pitchFamily="34" charset="-122"/>
                <a:cs typeface="Georgia" pitchFamily="34" charset="-120"/>
              </a:rPr>
              <a:t>Doctrine:</a:t>
            </a:r>
            <a:endParaRPr lang="en-US" sz="1200" dirty="0"/>
          </a:p>
          <a:p>
            <a:pPr indent="0" marL="0">
              <a:lnSpc>
                <a:spcPct val="118000"/>
              </a:lnSpc>
              <a:spcAft>
                <a:spcPts val="900"/>
              </a:spcAft>
              <a:buNone/>
            </a:pPr>
            <a:r>
              <a:rPr lang="en-US" sz="1200" dirty="0">
                <a:solidFill>
                  <a:srgbClr val="E4DFD5"/>
                </a:solidFill>
                <a:latin typeface="Georgia" pitchFamily="34" charset="0"/>
                <a:ea typeface="Georgia" pitchFamily="34" charset="-122"/>
                <a:cs typeface="Georgia" pitchFamily="34" charset="-120"/>
              </a:rPr>
              <a:t>a single update path, trusted everywhere, can fail everywhere — a supervisory and contractual concern, not just an IT one.</a:t>
            </a:r>
            <a:endParaRPr lang="en-US" sz="1200" dirty="0"/>
          </a:p>
        </p:txBody>
      </p:sp>
      <p:sp>
        <p:nvSpPr>
          <p:cNvPr id="10" name="Text 8"/>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1" name="Text 9"/>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33302B"/>
        </a:solidFill>
      </p:bgPr>
    </p:bg>
    <p:spTree>
      <p:nvGrpSpPr>
        <p:cNvPr id="1" name=""/>
        <p:cNvGrpSpPr/>
        <p:nvPr/>
      </p:nvGrpSpPr>
      <p:grpSpPr>
        <a:xfrm>
          <a:off x="0" y="0"/>
          <a:ext cx="0" cy="0"/>
          <a:chOff x="0" y="0"/>
          <a:chExt cx="0" cy="0"/>
        </a:xfrm>
      </p:grpSpPr>
      <p:sp>
        <p:nvSpPr>
          <p:cNvPr id="2" name="Shape 0"/>
          <p:cNvSpPr/>
          <p:nvPr/>
        </p:nvSpPr>
        <p:spPr>
          <a:xfrm>
            <a:off x="566928" y="502920"/>
            <a:ext cx="1920240" cy="310896"/>
          </a:xfrm>
          <a:prstGeom prst="roundRect">
            <a:avLst>
              <a:gd name="adj" fmla="val 50000"/>
            </a:avLst>
          </a:prstGeom>
          <a:solidFill>
            <a:srgbClr val="8A8378"/>
          </a:solidFill>
          <a:ln/>
        </p:spPr>
      </p:sp>
      <p:sp>
        <p:nvSpPr>
          <p:cNvPr id="3" name="Text 1"/>
          <p:cNvSpPr/>
          <p:nvPr/>
        </p:nvSpPr>
        <p:spPr>
          <a:xfrm>
            <a:off x="566928" y="502920"/>
            <a:ext cx="192024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IN CLASS</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indent="0" marL="0">
              <a:buNone/>
            </a:pPr>
            <a:r>
              <a:rPr lang="en-US" sz="2150" b="1" dirty="0">
                <a:solidFill>
                  <a:srgbClr val="FFFFFF"/>
                </a:solidFill>
                <a:latin typeface="Georgia" pitchFamily="34" charset="0"/>
                <a:ea typeface="Georgia" pitchFamily="34" charset="-122"/>
                <a:cs typeface="Georgia" pitchFamily="34" charset="-120"/>
              </a:rPr>
              <a:t>Discussion — Week 11</a:t>
            </a:r>
            <a:endParaRPr lang="en-US" sz="2150" dirty="0"/>
          </a:p>
        </p:txBody>
      </p:sp>
      <p:sp>
        <p:nvSpPr>
          <p:cNvPr id="5" name="Shape 3"/>
          <p:cNvSpPr/>
          <p:nvPr/>
        </p:nvSpPr>
        <p:spPr>
          <a:xfrm>
            <a:off x="566928" y="1965960"/>
            <a:ext cx="420624" cy="420624"/>
          </a:xfrm>
          <a:prstGeom prst="ellipse">
            <a:avLst/>
          </a:prstGeom>
          <a:solidFill>
            <a:srgbClr val="8A8378"/>
          </a:solidFill>
          <a:ln/>
        </p:spPr>
      </p:sp>
      <p:sp>
        <p:nvSpPr>
          <p:cNvPr id="6" name="Text 4"/>
          <p:cNvSpPr/>
          <p:nvPr/>
        </p:nvSpPr>
        <p:spPr>
          <a:xfrm>
            <a:off x="566928" y="1965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Q1</a:t>
            </a:r>
            <a:endParaRPr lang="en-US" sz="950" dirty="0"/>
          </a:p>
        </p:txBody>
      </p:sp>
      <p:sp>
        <p:nvSpPr>
          <p:cNvPr id="7" name="Text 5"/>
          <p:cNvSpPr/>
          <p:nvPr/>
        </p:nvSpPr>
        <p:spPr>
          <a:xfrm>
            <a:off x="1143000" y="1920240"/>
            <a:ext cx="10372039" cy="2194560"/>
          </a:xfrm>
          <a:prstGeom prst="rect">
            <a:avLst/>
          </a:prstGeom>
          <a:noFill/>
          <a:ln/>
        </p:spPr>
        <p:txBody>
          <a:bodyPr wrap="square" rtlCol="0" anchor="t"/>
          <a:lstStyle/>
          <a:p>
            <a:pPr indent="0" marL="0">
              <a:lnSpc>
                <a:spcPct val="115000"/>
              </a:lnSpc>
              <a:buNone/>
            </a:pPr>
            <a:r>
              <a:rPr lang="en-US" sz="1350" dirty="0">
                <a:solidFill>
                  <a:srgbClr val="E4DFD5"/>
                </a:solidFill>
                <a:latin typeface="Georgia" pitchFamily="34" charset="0"/>
                <a:ea typeface="Georgia" pitchFamily="34" charset="-122"/>
                <a:cs typeface="Georgia" pitchFamily="34" charset="-120"/>
              </a:rPr>
              <a:t>Where a whole sector depends on one provider, is that a competition problem, a resilience problem, or both? What legal tools apply?</a:t>
            </a:r>
            <a:endParaRPr lang="en-US" sz="1350" dirty="0"/>
          </a:p>
        </p:txBody>
      </p:sp>
      <p:sp>
        <p:nvSpPr>
          <p:cNvPr id="8" name="Shape 6"/>
          <p:cNvSpPr/>
          <p:nvPr/>
        </p:nvSpPr>
        <p:spPr>
          <a:xfrm>
            <a:off x="566928" y="4251960"/>
            <a:ext cx="420624" cy="420624"/>
          </a:xfrm>
          <a:prstGeom prst="ellipse">
            <a:avLst/>
          </a:prstGeom>
          <a:solidFill>
            <a:srgbClr val="8A8378"/>
          </a:solidFill>
          <a:ln/>
        </p:spPr>
      </p:sp>
      <p:sp>
        <p:nvSpPr>
          <p:cNvPr id="9" name="Text 7"/>
          <p:cNvSpPr/>
          <p:nvPr/>
        </p:nvSpPr>
        <p:spPr>
          <a:xfrm>
            <a:off x="566928" y="4251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Q2</a:t>
            </a:r>
            <a:endParaRPr lang="en-US" sz="950" dirty="0"/>
          </a:p>
        </p:txBody>
      </p:sp>
      <p:sp>
        <p:nvSpPr>
          <p:cNvPr id="10" name="Text 8"/>
          <p:cNvSpPr/>
          <p:nvPr/>
        </p:nvSpPr>
        <p:spPr>
          <a:xfrm>
            <a:off x="1143000" y="4206240"/>
            <a:ext cx="10372039" cy="2194560"/>
          </a:xfrm>
          <a:prstGeom prst="rect">
            <a:avLst/>
          </a:prstGeom>
          <a:noFill/>
          <a:ln/>
        </p:spPr>
        <p:txBody>
          <a:bodyPr wrap="square" rtlCol="0" anchor="t"/>
          <a:lstStyle/>
          <a:p>
            <a:pPr indent="0" marL="0">
              <a:lnSpc>
                <a:spcPct val="115000"/>
              </a:lnSpc>
              <a:buNone/>
            </a:pPr>
            <a:r>
              <a:rPr lang="en-US" sz="1350" dirty="0">
                <a:solidFill>
                  <a:srgbClr val="E4DFD5"/>
                </a:solidFill>
                <a:latin typeface="Georgia" pitchFamily="34" charset="0"/>
                <a:ea typeface="Georgia" pitchFamily="34" charset="-122"/>
                <a:cs typeface="Georgia" pitchFamily="34" charset="-120"/>
              </a:rPr>
              <a:t>Draft a board-level question that would surface your client’s single points of catastrophic dependency.</a:t>
            </a:r>
            <a:endParaRPr lang="en-US" sz="13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12</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050" b="1" dirty="0">
                <a:solidFill>
                  <a:srgbClr val="FFFFFF"/>
                </a:solidFill>
                <a:latin typeface="Georgia" pitchFamily="34" charset="0"/>
                <a:ea typeface="Georgia" pitchFamily="34" charset="-122"/>
                <a:cs typeface="Georgia" pitchFamily="34" charset="-120"/>
              </a:rPr>
              <a:t>Professional responsibility and the lawyer’s own AI</a:t>
            </a:r>
            <a:endParaRPr lang="en-US" sz="20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350" dirty="0">
                <a:solidFill>
                  <a:srgbClr val="33302B"/>
                </a:solidFill>
                <a:latin typeface="Georgia" pitchFamily="34" charset="0"/>
                <a:ea typeface="Georgia" pitchFamily="34" charset="-122"/>
                <a:cs typeface="Georgia" pitchFamily="34" charset="-120"/>
              </a:rPr>
              <a:t>Lawyers are not spectators: agentic AI enters legal practice itself. This week turns the lens inward — duties of competence, confidentiality, candour to the court, and supervision when AI drafts, researches, or acts. The same custody failures appear in the law office.</a:t>
            </a:r>
            <a:endParaRPr lang="en-US" sz="135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Learning aims</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Apply competence and supervision duties to AI use</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Protect confidentiality against agentic tools</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Preserve candour: verify what the machine produces</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COMPETENCE · CONFIDENTIALITY · CANDOUR · SUPERVISION</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350" b="1" dirty="0">
                <a:solidFill>
                  <a:srgbClr val="1B1A18"/>
                </a:solidFill>
                <a:latin typeface="Georgia" pitchFamily="34" charset="0"/>
                <a:ea typeface="Georgia" pitchFamily="34" charset="-122"/>
                <a:cs typeface="Georgia" pitchFamily="34" charset="-120"/>
              </a:rPr>
              <a:t>The lawyer’s own duties</a:t>
            </a:r>
            <a:endParaRPr lang="en-US" sz="2350" dirty="0"/>
          </a:p>
        </p:txBody>
      </p:sp>
      <p:sp>
        <p:nvSpPr>
          <p:cNvPr id="4" name="Shape 2"/>
          <p:cNvSpPr/>
          <p:nvPr/>
        </p:nvSpPr>
        <p:spPr>
          <a:xfrm>
            <a:off x="566928" y="1691640"/>
            <a:ext cx="457200" cy="457200"/>
          </a:xfrm>
          <a:prstGeom prst="ellipse">
            <a:avLst/>
          </a:prstGeom>
          <a:solidFill>
            <a:srgbClr val="1B1A18"/>
          </a:solidFill>
          <a:ln/>
        </p:spPr>
      </p:sp>
      <p:sp>
        <p:nvSpPr>
          <p:cNvPr id="5" name="Text 3"/>
          <p:cNvSpPr/>
          <p:nvPr/>
        </p:nvSpPr>
        <p:spPr>
          <a:xfrm>
            <a:off x="566928" y="169164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Competence includes technological competence.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Understanding an AI tool’s limits — that its output is probabilistic — is part of acting competently.</a:t>
            </a:r>
            <a:endParaRPr lang="en-US" sz="1450" dirty="0"/>
          </a:p>
        </p:txBody>
      </p:sp>
      <p:sp>
        <p:nvSpPr>
          <p:cNvPr id="7" name="Shape 5"/>
          <p:cNvSpPr/>
          <p:nvPr/>
        </p:nvSpPr>
        <p:spPr>
          <a:xfrm>
            <a:off x="566928" y="2857500"/>
            <a:ext cx="457200" cy="457200"/>
          </a:xfrm>
          <a:prstGeom prst="ellipse">
            <a:avLst/>
          </a:prstGeom>
          <a:solidFill>
            <a:srgbClr val="1B1A18"/>
          </a:solidFill>
          <a:ln/>
        </p:spPr>
      </p:sp>
      <p:sp>
        <p:nvSpPr>
          <p:cNvPr id="8" name="Text 6"/>
          <p:cNvSpPr/>
          <p:nvPr/>
        </p:nvSpPr>
        <p:spPr>
          <a:xfrm>
            <a:off x="566928" y="285750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Confidentiality at the seams.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Client data fed to an agentic tool crosses a boundary; origin and isolation questions become privilege questions.</a:t>
            </a:r>
            <a:endParaRPr lang="en-US" sz="1450" dirty="0"/>
          </a:p>
        </p:txBody>
      </p:sp>
      <p:sp>
        <p:nvSpPr>
          <p:cNvPr id="10" name="Shape 8"/>
          <p:cNvSpPr/>
          <p:nvPr/>
        </p:nvSpPr>
        <p:spPr>
          <a:xfrm>
            <a:off x="566928" y="4023360"/>
            <a:ext cx="457200" cy="457200"/>
          </a:xfrm>
          <a:prstGeom prst="ellipse">
            <a:avLst/>
          </a:prstGeom>
          <a:solidFill>
            <a:srgbClr val="1B1A18"/>
          </a:solidFill>
          <a:ln/>
        </p:spPr>
      </p:sp>
      <p:sp>
        <p:nvSpPr>
          <p:cNvPr id="11" name="Text 9"/>
          <p:cNvSpPr/>
          <p:nvPr/>
        </p:nvSpPr>
        <p:spPr>
          <a:xfrm>
            <a:off x="566928" y="402336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Candour to the court.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Fabricated citations are the meaning error in the courtroom; the duty to verify does not delegate to a model.</a:t>
            </a:r>
            <a:endParaRPr lang="en-US" sz="1450" dirty="0"/>
          </a:p>
        </p:txBody>
      </p:sp>
      <p:sp>
        <p:nvSpPr>
          <p:cNvPr id="13" name="Shape 11"/>
          <p:cNvSpPr/>
          <p:nvPr/>
        </p:nvSpPr>
        <p:spPr>
          <a:xfrm>
            <a:off x="566928" y="5189220"/>
            <a:ext cx="457200" cy="457200"/>
          </a:xfrm>
          <a:prstGeom prst="ellipse">
            <a:avLst/>
          </a:prstGeom>
          <a:solidFill>
            <a:srgbClr val="1B1A18"/>
          </a:solidFill>
          <a:ln/>
        </p:spPr>
      </p:sp>
      <p:sp>
        <p:nvSpPr>
          <p:cNvPr id="14" name="Text 12"/>
          <p:cNvSpPr/>
          <p:nvPr/>
        </p:nvSpPr>
        <p:spPr>
          <a:xfrm>
            <a:off x="566928" y="51892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Supervision.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Duties to supervise extend to non-human assistants; output must be checked as a junior’s would be.</a:t>
            </a:r>
            <a:endParaRPr lang="en-US" sz="1450" dirty="0"/>
          </a:p>
        </p:txBody>
      </p:sp>
      <p:sp>
        <p:nvSpPr>
          <p:cNvPr id="16" name="Text 1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7" name="Text 1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THE CUSTODY FAILURES, IN THE LAW OFFICE</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350" b="1" dirty="0">
                <a:solidFill>
                  <a:srgbClr val="1B1A18"/>
                </a:solidFill>
                <a:latin typeface="Georgia" pitchFamily="34" charset="0"/>
                <a:ea typeface="Georgia" pitchFamily="34" charset="-122"/>
                <a:cs typeface="Georgia" pitchFamily="34" charset="-120"/>
              </a:rPr>
              <a:t>Where lawyers get caught</a:t>
            </a:r>
            <a:endParaRPr lang="en-US" sz="2350" dirty="0"/>
          </a:p>
        </p:txBody>
      </p:sp>
      <p:sp>
        <p:nvSpPr>
          <p:cNvPr id="4" name="Shape 2"/>
          <p:cNvSpPr/>
          <p:nvPr/>
        </p:nvSpPr>
        <p:spPr>
          <a:xfrm>
            <a:off x="566928" y="1691640"/>
            <a:ext cx="5391760" cy="2148840"/>
          </a:xfrm>
          <a:prstGeom prst="roundRect">
            <a:avLst>
              <a:gd name="adj" fmla="val 3404"/>
            </a:avLst>
          </a:prstGeom>
          <a:solidFill>
            <a:srgbClr val="F4F2EE"/>
          </a:solidFill>
          <a:ln w="12700">
            <a:solidFill>
              <a:srgbClr val="EBE7DF"/>
            </a:solidFill>
            <a:prstDash val="solid"/>
          </a:ln>
        </p:spPr>
      </p:sp>
      <p:sp>
        <p:nvSpPr>
          <p:cNvPr id="5" name="Shape 3"/>
          <p:cNvSpPr/>
          <p:nvPr/>
        </p:nvSpPr>
        <p:spPr>
          <a:xfrm>
            <a:off x="795528" y="1892808"/>
            <a:ext cx="1148486" cy="310896"/>
          </a:xfrm>
          <a:prstGeom prst="roundRect">
            <a:avLst>
              <a:gd name="adj" fmla="val 50000"/>
            </a:avLst>
          </a:prstGeom>
          <a:solidFill>
            <a:srgbClr val="1B1A18"/>
          </a:solidFill>
          <a:ln/>
        </p:spPr>
      </p:sp>
      <p:sp>
        <p:nvSpPr>
          <p:cNvPr id="6" name="Text 4"/>
          <p:cNvSpPr/>
          <p:nvPr/>
        </p:nvSpPr>
        <p:spPr>
          <a:xfrm>
            <a:off x="795528" y="1892808"/>
            <a:ext cx="1148486"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Candour</a:t>
            </a:r>
            <a:endParaRPr lang="en-US" sz="900" dirty="0"/>
          </a:p>
        </p:txBody>
      </p:sp>
      <p:sp>
        <p:nvSpPr>
          <p:cNvPr id="7" name="Text 5"/>
          <p:cNvSpPr/>
          <p:nvPr/>
        </p:nvSpPr>
        <p:spPr>
          <a:xfrm>
            <a:off x="795528" y="2295144"/>
            <a:ext cx="4934560"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Fabricated authority</a:t>
            </a:r>
            <a:endParaRPr lang="en-US" sz="1400" dirty="0"/>
          </a:p>
        </p:txBody>
      </p:sp>
      <p:sp>
        <p:nvSpPr>
          <p:cNvPr id="8" name="Text 6"/>
          <p:cNvSpPr/>
          <p:nvPr/>
        </p:nvSpPr>
        <p:spPr>
          <a:xfrm>
            <a:off x="795528" y="2752344"/>
            <a:ext cx="4934560"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Submitting AI-invented citations breaches the duty of candour — verify every authority, always.</a:t>
            </a:r>
            <a:endParaRPr lang="en-US" sz="1100" dirty="0"/>
          </a:p>
        </p:txBody>
      </p:sp>
      <p:sp>
        <p:nvSpPr>
          <p:cNvPr id="9" name="Shape 7"/>
          <p:cNvSpPr/>
          <p:nvPr/>
        </p:nvSpPr>
        <p:spPr>
          <a:xfrm>
            <a:off x="6233008" y="1691640"/>
            <a:ext cx="5391760" cy="2148840"/>
          </a:xfrm>
          <a:prstGeom prst="roundRect">
            <a:avLst>
              <a:gd name="adj" fmla="val 3404"/>
            </a:avLst>
          </a:prstGeom>
          <a:solidFill>
            <a:srgbClr val="F4F2EE"/>
          </a:solidFill>
          <a:ln w="12700">
            <a:solidFill>
              <a:srgbClr val="EBE7DF"/>
            </a:solidFill>
            <a:prstDash val="solid"/>
          </a:ln>
        </p:spPr>
      </p:sp>
      <p:sp>
        <p:nvSpPr>
          <p:cNvPr id="10" name="Shape 8"/>
          <p:cNvSpPr/>
          <p:nvPr/>
        </p:nvSpPr>
        <p:spPr>
          <a:xfrm>
            <a:off x="6461608" y="1892808"/>
            <a:ext cx="1938528" cy="310896"/>
          </a:xfrm>
          <a:prstGeom prst="roundRect">
            <a:avLst>
              <a:gd name="adj" fmla="val 50000"/>
            </a:avLst>
          </a:prstGeom>
          <a:solidFill>
            <a:srgbClr val="1B1A18"/>
          </a:solidFill>
          <a:ln/>
        </p:spPr>
      </p:sp>
      <p:sp>
        <p:nvSpPr>
          <p:cNvPr id="11" name="Text 9"/>
          <p:cNvSpPr/>
          <p:nvPr/>
        </p:nvSpPr>
        <p:spPr>
          <a:xfrm>
            <a:off x="6461608" y="1892808"/>
            <a:ext cx="1938528"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Confidentiality</a:t>
            </a:r>
            <a:endParaRPr lang="en-US" sz="900" dirty="0"/>
          </a:p>
        </p:txBody>
      </p:sp>
      <p:sp>
        <p:nvSpPr>
          <p:cNvPr id="12" name="Text 10"/>
          <p:cNvSpPr/>
          <p:nvPr/>
        </p:nvSpPr>
        <p:spPr>
          <a:xfrm>
            <a:off x="6461608" y="2295144"/>
            <a:ext cx="4934560"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Leaked client data</a:t>
            </a:r>
            <a:endParaRPr lang="en-US" sz="1400" dirty="0"/>
          </a:p>
        </p:txBody>
      </p:sp>
      <p:sp>
        <p:nvSpPr>
          <p:cNvPr id="13" name="Text 11"/>
          <p:cNvSpPr/>
          <p:nvPr/>
        </p:nvSpPr>
        <p:spPr>
          <a:xfrm>
            <a:off x="6461608" y="2752344"/>
            <a:ext cx="4934560"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Untrusted tools and shared memory can exfiltrate privileged material — an origin/isolation failure with privilege stakes.</a:t>
            </a:r>
            <a:endParaRPr lang="en-US" sz="1100" dirty="0"/>
          </a:p>
        </p:txBody>
      </p:sp>
      <p:sp>
        <p:nvSpPr>
          <p:cNvPr id="14" name="Shape 12"/>
          <p:cNvSpPr/>
          <p:nvPr/>
        </p:nvSpPr>
        <p:spPr>
          <a:xfrm>
            <a:off x="566928" y="4114800"/>
            <a:ext cx="5391760" cy="2148840"/>
          </a:xfrm>
          <a:prstGeom prst="roundRect">
            <a:avLst>
              <a:gd name="adj" fmla="val 3404"/>
            </a:avLst>
          </a:prstGeom>
          <a:solidFill>
            <a:srgbClr val="F4F2EE"/>
          </a:solidFill>
          <a:ln w="12700">
            <a:solidFill>
              <a:srgbClr val="EBE7DF"/>
            </a:solidFill>
            <a:prstDash val="solid"/>
          </a:ln>
        </p:spPr>
      </p:sp>
      <p:sp>
        <p:nvSpPr>
          <p:cNvPr id="15" name="Shape 13"/>
          <p:cNvSpPr/>
          <p:nvPr/>
        </p:nvSpPr>
        <p:spPr>
          <a:xfrm>
            <a:off x="795528" y="4315968"/>
            <a:ext cx="1543507" cy="310896"/>
          </a:xfrm>
          <a:prstGeom prst="roundRect">
            <a:avLst>
              <a:gd name="adj" fmla="val 50000"/>
            </a:avLst>
          </a:prstGeom>
          <a:solidFill>
            <a:srgbClr val="1B1A18"/>
          </a:solidFill>
          <a:ln/>
        </p:spPr>
      </p:sp>
      <p:sp>
        <p:nvSpPr>
          <p:cNvPr id="16" name="Text 14"/>
          <p:cNvSpPr/>
          <p:nvPr/>
        </p:nvSpPr>
        <p:spPr>
          <a:xfrm>
            <a:off x="795528" y="4315968"/>
            <a:ext cx="1543507"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Supervision</a:t>
            </a:r>
            <a:endParaRPr lang="en-US" sz="900" dirty="0"/>
          </a:p>
        </p:txBody>
      </p:sp>
      <p:sp>
        <p:nvSpPr>
          <p:cNvPr id="17" name="Text 15"/>
          <p:cNvSpPr/>
          <p:nvPr/>
        </p:nvSpPr>
        <p:spPr>
          <a:xfrm>
            <a:off x="795528" y="4718304"/>
            <a:ext cx="4934560"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Unchecked agent acts</a:t>
            </a:r>
            <a:endParaRPr lang="en-US" sz="1400" dirty="0"/>
          </a:p>
        </p:txBody>
      </p:sp>
      <p:sp>
        <p:nvSpPr>
          <p:cNvPr id="18" name="Text 16"/>
          <p:cNvSpPr/>
          <p:nvPr/>
        </p:nvSpPr>
        <p:spPr>
          <a:xfrm>
            <a:off x="795528" y="5175504"/>
            <a:ext cx="4934560"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An agent that files, sends, or commits without review is an unsupervised assistant — the duty attaches to you.</a:t>
            </a:r>
            <a:endParaRPr lang="en-US" sz="1100" dirty="0"/>
          </a:p>
        </p:txBody>
      </p:sp>
      <p:sp>
        <p:nvSpPr>
          <p:cNvPr id="19" name="Text 17"/>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20" name="Text 18"/>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33302B"/>
        </a:solidFill>
      </p:bgPr>
    </p:bg>
    <p:spTree>
      <p:nvGrpSpPr>
        <p:cNvPr id="1" name=""/>
        <p:cNvGrpSpPr/>
        <p:nvPr/>
      </p:nvGrpSpPr>
      <p:grpSpPr>
        <a:xfrm>
          <a:off x="0" y="0"/>
          <a:ext cx="0" cy="0"/>
          <a:chOff x="0" y="0"/>
          <a:chExt cx="0" cy="0"/>
        </a:xfrm>
      </p:grpSpPr>
      <p:sp>
        <p:nvSpPr>
          <p:cNvPr id="2" name="Shape 0"/>
          <p:cNvSpPr/>
          <p:nvPr/>
        </p:nvSpPr>
        <p:spPr>
          <a:xfrm>
            <a:off x="566928" y="502920"/>
            <a:ext cx="1920240" cy="310896"/>
          </a:xfrm>
          <a:prstGeom prst="roundRect">
            <a:avLst>
              <a:gd name="adj" fmla="val 50000"/>
            </a:avLst>
          </a:prstGeom>
          <a:solidFill>
            <a:srgbClr val="8A8378"/>
          </a:solidFill>
          <a:ln/>
        </p:spPr>
      </p:sp>
      <p:sp>
        <p:nvSpPr>
          <p:cNvPr id="3" name="Text 1"/>
          <p:cNvSpPr/>
          <p:nvPr/>
        </p:nvSpPr>
        <p:spPr>
          <a:xfrm>
            <a:off x="566928" y="502920"/>
            <a:ext cx="192024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IN CLASS</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indent="0" marL="0">
              <a:buNone/>
            </a:pPr>
            <a:r>
              <a:rPr lang="en-US" sz="2150" b="1" dirty="0">
                <a:solidFill>
                  <a:srgbClr val="FFFFFF"/>
                </a:solidFill>
                <a:latin typeface="Georgia" pitchFamily="34" charset="0"/>
                <a:ea typeface="Georgia" pitchFamily="34" charset="-122"/>
                <a:cs typeface="Georgia" pitchFamily="34" charset="-120"/>
              </a:rPr>
              <a:t>Discussion — Week 12</a:t>
            </a:r>
            <a:endParaRPr lang="en-US" sz="2150" dirty="0"/>
          </a:p>
        </p:txBody>
      </p:sp>
      <p:sp>
        <p:nvSpPr>
          <p:cNvPr id="5" name="Shape 3"/>
          <p:cNvSpPr/>
          <p:nvPr/>
        </p:nvSpPr>
        <p:spPr>
          <a:xfrm>
            <a:off x="566928" y="1965960"/>
            <a:ext cx="420624" cy="420624"/>
          </a:xfrm>
          <a:prstGeom prst="ellipse">
            <a:avLst/>
          </a:prstGeom>
          <a:solidFill>
            <a:srgbClr val="8A8378"/>
          </a:solidFill>
          <a:ln/>
        </p:spPr>
      </p:sp>
      <p:sp>
        <p:nvSpPr>
          <p:cNvPr id="6" name="Text 4"/>
          <p:cNvSpPr/>
          <p:nvPr/>
        </p:nvSpPr>
        <p:spPr>
          <a:xfrm>
            <a:off x="566928" y="1965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Q1</a:t>
            </a:r>
            <a:endParaRPr lang="en-US" sz="950" dirty="0"/>
          </a:p>
        </p:txBody>
      </p:sp>
      <p:sp>
        <p:nvSpPr>
          <p:cNvPr id="7" name="Text 5"/>
          <p:cNvSpPr/>
          <p:nvPr/>
        </p:nvSpPr>
        <p:spPr>
          <a:xfrm>
            <a:off x="1143000" y="1920240"/>
            <a:ext cx="10372039" cy="2194560"/>
          </a:xfrm>
          <a:prstGeom prst="rect">
            <a:avLst/>
          </a:prstGeom>
          <a:noFill/>
          <a:ln/>
        </p:spPr>
        <p:txBody>
          <a:bodyPr wrap="square" rtlCol="0" anchor="t"/>
          <a:lstStyle/>
          <a:p>
            <a:pPr indent="0" marL="0">
              <a:lnSpc>
                <a:spcPct val="115000"/>
              </a:lnSpc>
              <a:buNone/>
            </a:pPr>
            <a:r>
              <a:rPr lang="en-US" sz="1350" dirty="0">
                <a:solidFill>
                  <a:srgbClr val="E4DFD5"/>
                </a:solidFill>
                <a:latin typeface="Georgia" pitchFamily="34" charset="0"/>
                <a:ea typeface="Georgia" pitchFamily="34" charset="-122"/>
                <a:cs typeface="Georgia" pitchFamily="34" charset="-120"/>
              </a:rPr>
              <a:t>What must a lawyer do before relying on an agentic tool’s output in a filing or an opinion?</a:t>
            </a:r>
            <a:endParaRPr lang="en-US" sz="1350" dirty="0"/>
          </a:p>
        </p:txBody>
      </p:sp>
      <p:sp>
        <p:nvSpPr>
          <p:cNvPr id="8" name="Shape 6"/>
          <p:cNvSpPr/>
          <p:nvPr/>
        </p:nvSpPr>
        <p:spPr>
          <a:xfrm>
            <a:off x="566928" y="4251960"/>
            <a:ext cx="420624" cy="420624"/>
          </a:xfrm>
          <a:prstGeom prst="ellipse">
            <a:avLst/>
          </a:prstGeom>
          <a:solidFill>
            <a:srgbClr val="8A8378"/>
          </a:solidFill>
          <a:ln/>
        </p:spPr>
      </p:sp>
      <p:sp>
        <p:nvSpPr>
          <p:cNvPr id="9" name="Text 7"/>
          <p:cNvSpPr/>
          <p:nvPr/>
        </p:nvSpPr>
        <p:spPr>
          <a:xfrm>
            <a:off x="566928" y="4251960"/>
            <a:ext cx="420624" cy="420624"/>
          </a:xfrm>
          <a:prstGeom prst="rect">
            <a:avLst/>
          </a:prstGeom>
          <a:noFill/>
          <a:ln/>
        </p:spPr>
        <p:txBody>
          <a:bodyPr wrap="square" rtlCol="0" anchor="ctr"/>
          <a:lstStyle/>
          <a:p>
            <a:pPr algn="ctr" indent="0" marL="0">
              <a:buNone/>
            </a:pPr>
            <a:r>
              <a:rPr lang="en-US" sz="950" b="1" dirty="0">
                <a:solidFill>
                  <a:srgbClr val="1B1A18"/>
                </a:solidFill>
                <a:latin typeface="Georgia" pitchFamily="34" charset="0"/>
                <a:ea typeface="Georgia" pitchFamily="34" charset="-122"/>
                <a:cs typeface="Georgia" pitchFamily="34" charset="-120"/>
              </a:rPr>
              <a:t>Q2</a:t>
            </a:r>
            <a:endParaRPr lang="en-US" sz="950" dirty="0"/>
          </a:p>
        </p:txBody>
      </p:sp>
      <p:sp>
        <p:nvSpPr>
          <p:cNvPr id="10" name="Text 8"/>
          <p:cNvSpPr/>
          <p:nvPr/>
        </p:nvSpPr>
        <p:spPr>
          <a:xfrm>
            <a:off x="1143000" y="4206240"/>
            <a:ext cx="10372039" cy="2194560"/>
          </a:xfrm>
          <a:prstGeom prst="rect">
            <a:avLst/>
          </a:prstGeom>
          <a:noFill/>
          <a:ln/>
        </p:spPr>
        <p:txBody>
          <a:bodyPr wrap="square" rtlCol="0" anchor="t"/>
          <a:lstStyle/>
          <a:p>
            <a:pPr indent="0" marL="0">
              <a:lnSpc>
                <a:spcPct val="115000"/>
              </a:lnSpc>
              <a:buNone/>
            </a:pPr>
            <a:r>
              <a:rPr lang="en-US" sz="1350" dirty="0">
                <a:solidFill>
                  <a:srgbClr val="E4DFD5"/>
                </a:solidFill>
                <a:latin typeface="Georgia" pitchFamily="34" charset="0"/>
                <a:ea typeface="Georgia" pitchFamily="34" charset="-122"/>
                <a:cs typeface="Georgia" pitchFamily="34" charset="-120"/>
              </a:rPr>
              <a:t>Does feeding client documents to a third-party AI risk waiver of privilege? How would you advise mitigating it?</a:t>
            </a:r>
            <a:endParaRPr lang="en-US" sz="13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13</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050" b="1" dirty="0">
                <a:solidFill>
                  <a:srgbClr val="FFFFFF"/>
                </a:solidFill>
                <a:latin typeface="Georgia" pitchFamily="34" charset="0"/>
                <a:ea typeface="Georgia" pitchFamily="34" charset="-122"/>
                <a:cs typeface="Georgia" pitchFamily="34" charset="-120"/>
              </a:rPr>
              <a:t>The evaluation toolkit and capstone</a:t>
            </a:r>
            <a:endParaRPr lang="en-US" sz="20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350" dirty="0">
                <a:solidFill>
                  <a:srgbClr val="33302B"/>
                </a:solidFill>
                <a:latin typeface="Georgia" pitchFamily="34" charset="0"/>
                <a:ea typeface="Georgia" pitchFamily="34" charset="-122"/>
                <a:cs typeface="Georgia" pitchFamily="34" charset="-120"/>
              </a:rPr>
              <a:t>We close with the instrument that ties advocacy, drafting, and supervision together: a technology-neutral protocol you can run against any agentic system — as due diligence, as examination, or as the backbone of a standard. Then capstone presentations.</a:t>
            </a:r>
            <a:endParaRPr lang="en-US" sz="135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Learning aims</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Run the nine-test protocol as legal due diligence</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Use the custody rules as a compliance checklist</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Present your capstone analysis</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DUE DILIGENCE · EXAMINATION · STANDARD-WRITING</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350" b="1" dirty="0">
                <a:solidFill>
                  <a:srgbClr val="1B1A18"/>
                </a:solidFill>
                <a:latin typeface="Georgia" pitchFamily="34" charset="0"/>
                <a:ea typeface="Georgia" pitchFamily="34" charset="-122"/>
                <a:cs typeface="Georgia" pitchFamily="34" charset="-120"/>
              </a:rPr>
              <a:t>The nine tests, for lawyers</a:t>
            </a:r>
            <a:endParaRPr lang="en-US" sz="2350" dirty="0"/>
          </a:p>
        </p:txBody>
      </p:sp>
      <p:sp>
        <p:nvSpPr>
          <p:cNvPr id="4" name="Shape 2"/>
          <p:cNvSpPr/>
          <p:nvPr/>
        </p:nvSpPr>
        <p:spPr>
          <a:xfrm>
            <a:off x="566928" y="1691640"/>
            <a:ext cx="3503066" cy="2148840"/>
          </a:xfrm>
          <a:prstGeom prst="roundRect">
            <a:avLst>
              <a:gd name="adj" fmla="val 3404"/>
            </a:avLst>
          </a:prstGeom>
          <a:solidFill>
            <a:srgbClr val="F4F2EE"/>
          </a:solidFill>
          <a:ln w="12700">
            <a:solidFill>
              <a:srgbClr val="EBE7DF"/>
            </a:solidFill>
            <a:prstDash val="solid"/>
          </a:ln>
        </p:spPr>
      </p:sp>
      <p:sp>
        <p:nvSpPr>
          <p:cNvPr id="5" name="Shape 3"/>
          <p:cNvSpPr/>
          <p:nvPr/>
        </p:nvSpPr>
        <p:spPr>
          <a:xfrm>
            <a:off x="795528" y="1892808"/>
            <a:ext cx="1741018" cy="310896"/>
          </a:xfrm>
          <a:prstGeom prst="roundRect">
            <a:avLst>
              <a:gd name="adj" fmla="val 50000"/>
            </a:avLst>
          </a:prstGeom>
          <a:solidFill>
            <a:srgbClr val="1B1A18"/>
          </a:solidFill>
          <a:ln/>
        </p:spPr>
      </p:sp>
      <p:sp>
        <p:nvSpPr>
          <p:cNvPr id="6" name="Text 4"/>
          <p:cNvSpPr/>
          <p:nvPr/>
        </p:nvSpPr>
        <p:spPr>
          <a:xfrm>
            <a:off x="795528" y="1892808"/>
            <a:ext cx="1741018"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Specification</a:t>
            </a:r>
            <a:endParaRPr lang="en-US" sz="900" dirty="0"/>
          </a:p>
        </p:txBody>
      </p:sp>
      <p:sp>
        <p:nvSpPr>
          <p:cNvPr id="7" name="Text 5"/>
          <p:cNvSpPr/>
          <p:nvPr/>
        </p:nvSpPr>
        <p:spPr>
          <a:xfrm>
            <a:off x="795528" y="229514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Show the crossing</a:t>
            </a:r>
            <a:endParaRPr lang="en-US" sz="1400" dirty="0"/>
          </a:p>
        </p:txBody>
      </p:sp>
      <p:sp>
        <p:nvSpPr>
          <p:cNvPr id="8" name="Text 6"/>
          <p:cNvSpPr/>
          <p:nvPr/>
        </p:nvSpPr>
        <p:spPr>
          <a:xfrm>
            <a:off x="795528" y="2752344"/>
            <a:ext cx="3045866"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Have the entity walk real work across a boundary, live; inspect what survives with it.</a:t>
            </a:r>
            <a:endParaRPr lang="en-US" sz="1100" dirty="0"/>
          </a:p>
        </p:txBody>
      </p:sp>
      <p:sp>
        <p:nvSpPr>
          <p:cNvPr id="9" name="Shape 7"/>
          <p:cNvSpPr/>
          <p:nvPr/>
        </p:nvSpPr>
        <p:spPr>
          <a:xfrm>
            <a:off x="4344314" y="1691640"/>
            <a:ext cx="3503066" cy="2148840"/>
          </a:xfrm>
          <a:prstGeom prst="roundRect">
            <a:avLst>
              <a:gd name="adj" fmla="val 3404"/>
            </a:avLst>
          </a:prstGeom>
          <a:solidFill>
            <a:srgbClr val="F4F2EE"/>
          </a:solidFill>
          <a:ln w="12700">
            <a:solidFill>
              <a:srgbClr val="EBE7DF"/>
            </a:solidFill>
            <a:prstDash val="solid"/>
          </a:ln>
        </p:spPr>
      </p:sp>
      <p:sp>
        <p:nvSpPr>
          <p:cNvPr id="10" name="Shape 8"/>
          <p:cNvSpPr/>
          <p:nvPr/>
        </p:nvSpPr>
        <p:spPr>
          <a:xfrm>
            <a:off x="4572914" y="1892808"/>
            <a:ext cx="1345997" cy="310896"/>
          </a:xfrm>
          <a:prstGeom prst="roundRect">
            <a:avLst>
              <a:gd name="adj" fmla="val 50000"/>
            </a:avLst>
          </a:prstGeom>
          <a:solidFill>
            <a:srgbClr val="1B1A18"/>
          </a:solidFill>
          <a:ln/>
        </p:spPr>
      </p:sp>
      <p:sp>
        <p:nvSpPr>
          <p:cNvPr id="11" name="Text 9"/>
          <p:cNvSpPr/>
          <p:nvPr/>
        </p:nvSpPr>
        <p:spPr>
          <a:xfrm>
            <a:off x="4572914" y="1892808"/>
            <a:ext cx="1345997"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Partition</a:t>
            </a:r>
            <a:endParaRPr lang="en-US" sz="900" dirty="0"/>
          </a:p>
        </p:txBody>
      </p:sp>
      <p:sp>
        <p:nvSpPr>
          <p:cNvPr id="12" name="Text 10"/>
          <p:cNvSpPr/>
          <p:nvPr/>
        </p:nvSpPr>
        <p:spPr>
          <a:xfrm>
            <a:off x="4572914" y="229514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Onboarding + where-proven</a:t>
            </a:r>
            <a:endParaRPr lang="en-US" sz="1400" dirty="0"/>
          </a:p>
        </p:txBody>
      </p:sp>
      <p:sp>
        <p:nvSpPr>
          <p:cNvPr id="13" name="Text 11"/>
          <p:cNvSpPr/>
          <p:nvPr/>
        </p:nvSpPr>
        <p:spPr>
          <a:xfrm>
            <a:off x="4572914" y="2752344"/>
            <a:ext cx="3045866"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A new rule → data or a release? Where is a new agent proven?</a:t>
            </a:r>
            <a:endParaRPr lang="en-US" sz="1100" dirty="0"/>
          </a:p>
        </p:txBody>
      </p:sp>
      <p:sp>
        <p:nvSpPr>
          <p:cNvPr id="14" name="Shape 12"/>
          <p:cNvSpPr/>
          <p:nvPr/>
        </p:nvSpPr>
        <p:spPr>
          <a:xfrm>
            <a:off x="8121701" y="1691640"/>
            <a:ext cx="3503066" cy="2148840"/>
          </a:xfrm>
          <a:prstGeom prst="roundRect">
            <a:avLst>
              <a:gd name="adj" fmla="val 3404"/>
            </a:avLst>
          </a:prstGeom>
          <a:solidFill>
            <a:srgbClr val="F4F2EE"/>
          </a:solidFill>
          <a:ln w="12700">
            <a:solidFill>
              <a:srgbClr val="EBE7DF"/>
            </a:solidFill>
            <a:prstDash val="solid"/>
          </a:ln>
        </p:spPr>
      </p:sp>
      <p:sp>
        <p:nvSpPr>
          <p:cNvPr id="15" name="Shape 13"/>
          <p:cNvSpPr/>
          <p:nvPr/>
        </p:nvSpPr>
        <p:spPr>
          <a:xfrm>
            <a:off x="8350301" y="1892808"/>
            <a:ext cx="950976" cy="310896"/>
          </a:xfrm>
          <a:prstGeom prst="roundRect">
            <a:avLst>
              <a:gd name="adj" fmla="val 50000"/>
            </a:avLst>
          </a:prstGeom>
          <a:solidFill>
            <a:srgbClr val="1B1A18"/>
          </a:solidFill>
          <a:ln/>
        </p:spPr>
      </p:sp>
      <p:sp>
        <p:nvSpPr>
          <p:cNvPr id="16" name="Text 14"/>
          <p:cNvSpPr/>
          <p:nvPr/>
        </p:nvSpPr>
        <p:spPr>
          <a:xfrm>
            <a:off x="8350301" y="1892808"/>
            <a:ext cx="950976"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Floor</a:t>
            </a:r>
            <a:endParaRPr lang="en-US" sz="900" dirty="0"/>
          </a:p>
        </p:txBody>
      </p:sp>
      <p:sp>
        <p:nvSpPr>
          <p:cNvPr id="17" name="Text 15"/>
          <p:cNvSpPr/>
          <p:nvPr/>
        </p:nvSpPr>
        <p:spPr>
          <a:xfrm>
            <a:off x="8350301" y="229514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Address test</a:t>
            </a:r>
            <a:endParaRPr lang="en-US" sz="1400" dirty="0"/>
          </a:p>
        </p:txBody>
      </p:sp>
      <p:sp>
        <p:nvSpPr>
          <p:cNvPr id="18" name="Text 16"/>
          <p:cNvSpPr/>
          <p:nvPr/>
        </p:nvSpPr>
        <p:spPr>
          <a:xfrm>
            <a:off x="8350301" y="2752344"/>
            <a:ext cx="3045866"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One ‘never’; its structural enforcement point; disqualify on ‘prompt’.</a:t>
            </a:r>
            <a:endParaRPr lang="en-US" sz="1100" dirty="0"/>
          </a:p>
        </p:txBody>
      </p:sp>
      <p:sp>
        <p:nvSpPr>
          <p:cNvPr id="19" name="Shape 17"/>
          <p:cNvSpPr/>
          <p:nvPr/>
        </p:nvSpPr>
        <p:spPr>
          <a:xfrm>
            <a:off x="566928" y="4114800"/>
            <a:ext cx="3503066" cy="2148840"/>
          </a:xfrm>
          <a:prstGeom prst="roundRect">
            <a:avLst>
              <a:gd name="adj" fmla="val 3404"/>
            </a:avLst>
          </a:prstGeom>
          <a:solidFill>
            <a:srgbClr val="F4F2EE"/>
          </a:solidFill>
          <a:ln w="12700">
            <a:solidFill>
              <a:srgbClr val="EBE7DF"/>
            </a:solidFill>
            <a:prstDash val="solid"/>
          </a:ln>
        </p:spPr>
      </p:sp>
      <p:sp>
        <p:nvSpPr>
          <p:cNvPr id="20" name="Shape 18"/>
          <p:cNvSpPr/>
          <p:nvPr/>
        </p:nvSpPr>
        <p:spPr>
          <a:xfrm>
            <a:off x="795528" y="4315968"/>
            <a:ext cx="950976" cy="310896"/>
          </a:xfrm>
          <a:prstGeom prst="roundRect">
            <a:avLst>
              <a:gd name="adj" fmla="val 50000"/>
            </a:avLst>
          </a:prstGeom>
          <a:solidFill>
            <a:srgbClr val="1B1A18"/>
          </a:solidFill>
          <a:ln/>
        </p:spPr>
      </p:sp>
      <p:sp>
        <p:nvSpPr>
          <p:cNvPr id="21" name="Text 19"/>
          <p:cNvSpPr/>
          <p:nvPr/>
        </p:nvSpPr>
        <p:spPr>
          <a:xfrm>
            <a:off x="795528" y="4315968"/>
            <a:ext cx="950976"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Trust</a:t>
            </a:r>
            <a:endParaRPr lang="en-US" sz="900" dirty="0"/>
          </a:p>
        </p:txBody>
      </p:sp>
      <p:sp>
        <p:nvSpPr>
          <p:cNvPr id="22" name="Text 20"/>
          <p:cNvSpPr/>
          <p:nvPr/>
        </p:nvSpPr>
        <p:spPr>
          <a:xfrm>
            <a:off x="795528" y="471830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Expressibility + origin</a:t>
            </a:r>
            <a:endParaRPr lang="en-US" sz="1400" dirty="0"/>
          </a:p>
        </p:txBody>
      </p:sp>
      <p:sp>
        <p:nvSpPr>
          <p:cNvPr id="23" name="Text 21"/>
          <p:cNvSpPr/>
          <p:nvPr/>
        </p:nvSpPr>
        <p:spPr>
          <a:xfrm>
            <a:off x="795528" y="5175504"/>
            <a:ext cx="3045866"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Can a cross-tenant statement be written? What is known about input origin?</a:t>
            </a:r>
            <a:endParaRPr lang="en-US" sz="1100" dirty="0"/>
          </a:p>
        </p:txBody>
      </p:sp>
      <p:sp>
        <p:nvSpPr>
          <p:cNvPr id="24" name="Shape 22"/>
          <p:cNvSpPr/>
          <p:nvPr/>
        </p:nvSpPr>
        <p:spPr>
          <a:xfrm>
            <a:off x="4344314" y="4114800"/>
            <a:ext cx="3503066" cy="2148840"/>
          </a:xfrm>
          <a:prstGeom prst="roundRect">
            <a:avLst>
              <a:gd name="adj" fmla="val 3404"/>
            </a:avLst>
          </a:prstGeom>
          <a:solidFill>
            <a:srgbClr val="F4F2EE"/>
          </a:solidFill>
          <a:ln w="12700">
            <a:solidFill>
              <a:srgbClr val="EBE7DF"/>
            </a:solidFill>
            <a:prstDash val="solid"/>
          </a:ln>
        </p:spPr>
      </p:sp>
      <p:sp>
        <p:nvSpPr>
          <p:cNvPr id="25" name="Shape 23"/>
          <p:cNvSpPr/>
          <p:nvPr/>
        </p:nvSpPr>
        <p:spPr>
          <a:xfrm>
            <a:off x="4572914" y="4315968"/>
            <a:ext cx="1247242" cy="310896"/>
          </a:xfrm>
          <a:prstGeom prst="roundRect">
            <a:avLst>
              <a:gd name="adj" fmla="val 50000"/>
            </a:avLst>
          </a:prstGeom>
          <a:solidFill>
            <a:srgbClr val="1B1A18"/>
          </a:solidFill>
          <a:ln/>
        </p:spPr>
      </p:sp>
      <p:sp>
        <p:nvSpPr>
          <p:cNvPr id="26" name="Text 24"/>
          <p:cNvSpPr/>
          <p:nvPr/>
        </p:nvSpPr>
        <p:spPr>
          <a:xfrm>
            <a:off x="4572914" y="4315968"/>
            <a:ext cx="1247242"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External</a:t>
            </a:r>
            <a:endParaRPr lang="en-US" sz="900" dirty="0"/>
          </a:p>
        </p:txBody>
      </p:sp>
      <p:sp>
        <p:nvSpPr>
          <p:cNvPr id="27" name="Text 25"/>
          <p:cNvSpPr/>
          <p:nvPr/>
        </p:nvSpPr>
        <p:spPr>
          <a:xfrm>
            <a:off x="4572914" y="471830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Dependency + substitution</a:t>
            </a:r>
            <a:endParaRPr lang="en-US" sz="1400" dirty="0"/>
          </a:p>
        </p:txBody>
      </p:sp>
      <p:sp>
        <p:nvSpPr>
          <p:cNvPr id="28" name="Text 26"/>
          <p:cNvSpPr/>
          <p:nvPr/>
        </p:nvSpPr>
        <p:spPr>
          <a:xfrm>
            <a:off x="4572914" y="5175504"/>
            <a:ext cx="3045866"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The reliance list; the cost of saying no to any party.</a:t>
            </a:r>
            <a:endParaRPr lang="en-US" sz="1100" dirty="0"/>
          </a:p>
        </p:txBody>
      </p:sp>
      <p:sp>
        <p:nvSpPr>
          <p:cNvPr id="29" name="Shape 27"/>
          <p:cNvSpPr/>
          <p:nvPr/>
        </p:nvSpPr>
        <p:spPr>
          <a:xfrm>
            <a:off x="8121701" y="4114800"/>
            <a:ext cx="3503066" cy="2148840"/>
          </a:xfrm>
          <a:prstGeom prst="roundRect">
            <a:avLst>
              <a:gd name="adj" fmla="val 3404"/>
            </a:avLst>
          </a:prstGeom>
          <a:solidFill>
            <a:srgbClr val="F4F2EE"/>
          </a:solidFill>
          <a:ln w="12700">
            <a:solidFill>
              <a:srgbClr val="EBE7DF"/>
            </a:solidFill>
            <a:prstDash val="solid"/>
          </a:ln>
        </p:spPr>
      </p:sp>
      <p:sp>
        <p:nvSpPr>
          <p:cNvPr id="30" name="Shape 28"/>
          <p:cNvSpPr/>
          <p:nvPr/>
        </p:nvSpPr>
        <p:spPr>
          <a:xfrm>
            <a:off x="8350301" y="4315968"/>
            <a:ext cx="2136038" cy="310896"/>
          </a:xfrm>
          <a:prstGeom prst="roundRect">
            <a:avLst>
              <a:gd name="adj" fmla="val 50000"/>
            </a:avLst>
          </a:prstGeom>
          <a:solidFill>
            <a:srgbClr val="1B1A18"/>
          </a:solidFill>
          <a:ln/>
        </p:spPr>
      </p:sp>
      <p:sp>
        <p:nvSpPr>
          <p:cNvPr id="31" name="Text 29"/>
          <p:cNvSpPr/>
          <p:nvPr/>
        </p:nvSpPr>
        <p:spPr>
          <a:xfrm>
            <a:off x="8350301" y="4315968"/>
            <a:ext cx="2136038"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Evidence &amp; nature</a:t>
            </a:r>
            <a:endParaRPr lang="en-US" sz="900" dirty="0"/>
          </a:p>
        </p:txBody>
      </p:sp>
      <p:sp>
        <p:nvSpPr>
          <p:cNvPr id="32" name="Text 30"/>
          <p:cNvSpPr/>
          <p:nvPr/>
        </p:nvSpPr>
        <p:spPr>
          <a:xfrm>
            <a:off x="8350301" y="471830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Last-month · two-invoices · outlive</a:t>
            </a:r>
            <a:endParaRPr lang="en-US" sz="1400" dirty="0"/>
          </a:p>
        </p:txBody>
      </p:sp>
      <p:sp>
        <p:nvSpPr>
          <p:cNvPr id="33" name="Text 31"/>
          <p:cNvSpPr/>
          <p:nvPr/>
        </p:nvSpPr>
        <p:spPr>
          <a:xfrm>
            <a:off x="8350301" y="5175504"/>
            <a:ext cx="3045866"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Attribution by query; per-action cost; the referee and turnover questions.</a:t>
            </a:r>
            <a:endParaRPr lang="en-US" sz="1100" dirty="0"/>
          </a:p>
        </p:txBody>
      </p:sp>
      <p:sp>
        <p:nvSpPr>
          <p:cNvPr id="34" name="Text 32"/>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35" name="Text 33"/>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SIX REQUIREMENTS + ONE ABOVE THEM</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350" b="1" dirty="0">
                <a:solidFill>
                  <a:srgbClr val="1B1A18"/>
                </a:solidFill>
                <a:latin typeface="Georgia" pitchFamily="34" charset="0"/>
                <a:ea typeface="Georgia" pitchFamily="34" charset="-122"/>
                <a:cs typeface="Georgia" pitchFamily="34" charset="-120"/>
              </a:rPr>
              <a:t>The custody rules, as a compliance checklist</a:t>
            </a:r>
            <a:endParaRPr lang="en-US" sz="2350" dirty="0"/>
          </a:p>
        </p:txBody>
      </p:sp>
      <p:sp>
        <p:nvSpPr>
          <p:cNvPr id="4" name="Shape 2"/>
          <p:cNvSpPr/>
          <p:nvPr/>
        </p:nvSpPr>
        <p:spPr>
          <a:xfrm>
            <a:off x="566928" y="1691640"/>
            <a:ext cx="3503066" cy="2148840"/>
          </a:xfrm>
          <a:prstGeom prst="roundRect">
            <a:avLst>
              <a:gd name="adj" fmla="val 3404"/>
            </a:avLst>
          </a:prstGeom>
          <a:solidFill>
            <a:srgbClr val="F4F2EE"/>
          </a:solidFill>
          <a:ln w="12700">
            <a:solidFill>
              <a:srgbClr val="EBE7DF"/>
            </a:solidFill>
            <a:prstDash val="solid"/>
          </a:ln>
        </p:spPr>
      </p:sp>
      <p:sp>
        <p:nvSpPr>
          <p:cNvPr id="5" name="Shape 3"/>
          <p:cNvSpPr/>
          <p:nvPr/>
        </p:nvSpPr>
        <p:spPr>
          <a:xfrm>
            <a:off x="795528" y="1892808"/>
            <a:ext cx="1148486" cy="310896"/>
          </a:xfrm>
          <a:prstGeom prst="roundRect">
            <a:avLst>
              <a:gd name="adj" fmla="val 50000"/>
            </a:avLst>
          </a:prstGeom>
          <a:solidFill>
            <a:srgbClr val="1B1A18"/>
          </a:solidFill>
          <a:ln/>
        </p:spPr>
      </p:sp>
      <p:sp>
        <p:nvSpPr>
          <p:cNvPr id="6" name="Text 4"/>
          <p:cNvSpPr/>
          <p:nvPr/>
        </p:nvSpPr>
        <p:spPr>
          <a:xfrm>
            <a:off x="795528" y="1892808"/>
            <a:ext cx="1148486"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Context</a:t>
            </a:r>
            <a:endParaRPr lang="en-US" sz="900" dirty="0"/>
          </a:p>
        </p:txBody>
      </p:sp>
      <p:sp>
        <p:nvSpPr>
          <p:cNvPr id="7" name="Text 5"/>
          <p:cNvSpPr/>
          <p:nvPr/>
        </p:nvSpPr>
        <p:spPr>
          <a:xfrm>
            <a:off x="795528" y="229514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Preserve more than you transport</a:t>
            </a:r>
            <a:endParaRPr lang="en-US" sz="1400" dirty="0"/>
          </a:p>
        </p:txBody>
      </p:sp>
      <p:sp>
        <p:nvSpPr>
          <p:cNvPr id="8" name="Text 6"/>
          <p:cNvSpPr/>
          <p:nvPr/>
        </p:nvSpPr>
        <p:spPr>
          <a:xfrm>
            <a:off x="795528" y="2752344"/>
            <a:ext cx="3045866"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Meaning travels with the work, or the receiver invents its own.</a:t>
            </a:r>
            <a:endParaRPr lang="en-US" sz="1100" dirty="0"/>
          </a:p>
        </p:txBody>
      </p:sp>
      <p:sp>
        <p:nvSpPr>
          <p:cNvPr id="9" name="Shape 7"/>
          <p:cNvSpPr/>
          <p:nvPr/>
        </p:nvSpPr>
        <p:spPr>
          <a:xfrm>
            <a:off x="4344314" y="1691640"/>
            <a:ext cx="3503066" cy="2148840"/>
          </a:xfrm>
          <a:prstGeom prst="roundRect">
            <a:avLst>
              <a:gd name="adj" fmla="val 3404"/>
            </a:avLst>
          </a:prstGeom>
          <a:solidFill>
            <a:srgbClr val="F4F2EE"/>
          </a:solidFill>
          <a:ln w="12700">
            <a:solidFill>
              <a:srgbClr val="EBE7DF"/>
            </a:solidFill>
            <a:prstDash val="solid"/>
          </a:ln>
        </p:spPr>
      </p:sp>
      <p:sp>
        <p:nvSpPr>
          <p:cNvPr id="10" name="Shape 8"/>
          <p:cNvSpPr/>
          <p:nvPr/>
        </p:nvSpPr>
        <p:spPr>
          <a:xfrm>
            <a:off x="4572914" y="1892808"/>
            <a:ext cx="1345997" cy="310896"/>
          </a:xfrm>
          <a:prstGeom prst="roundRect">
            <a:avLst>
              <a:gd name="adj" fmla="val 50000"/>
            </a:avLst>
          </a:prstGeom>
          <a:solidFill>
            <a:srgbClr val="1B1A18"/>
          </a:solidFill>
          <a:ln/>
        </p:spPr>
      </p:sp>
      <p:sp>
        <p:nvSpPr>
          <p:cNvPr id="11" name="Text 9"/>
          <p:cNvSpPr/>
          <p:nvPr/>
        </p:nvSpPr>
        <p:spPr>
          <a:xfrm>
            <a:off x="4572914" y="1892808"/>
            <a:ext cx="1345997"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Authority</a:t>
            </a:r>
            <a:endParaRPr lang="en-US" sz="900" dirty="0"/>
          </a:p>
        </p:txBody>
      </p:sp>
      <p:sp>
        <p:nvSpPr>
          <p:cNvPr id="12" name="Text 10"/>
          <p:cNvSpPr/>
          <p:nvPr/>
        </p:nvSpPr>
        <p:spPr>
          <a:xfrm>
            <a:off x="4572914" y="229514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Rights are data, enforced at the boundary</a:t>
            </a:r>
            <a:endParaRPr lang="en-US" sz="1400" dirty="0"/>
          </a:p>
        </p:txBody>
      </p:sp>
      <p:sp>
        <p:nvSpPr>
          <p:cNvPr id="13" name="Text 11"/>
          <p:cNvSpPr/>
          <p:nvPr/>
        </p:nvSpPr>
        <p:spPr>
          <a:xfrm>
            <a:off x="4572914" y="2752344"/>
            <a:ext cx="3045866"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Authority implied by app permissions is authority the institution no longer owns.</a:t>
            </a:r>
            <a:endParaRPr lang="en-US" sz="1100" dirty="0"/>
          </a:p>
        </p:txBody>
      </p:sp>
      <p:sp>
        <p:nvSpPr>
          <p:cNvPr id="14" name="Shape 12"/>
          <p:cNvSpPr/>
          <p:nvPr/>
        </p:nvSpPr>
        <p:spPr>
          <a:xfrm>
            <a:off x="8121701" y="1691640"/>
            <a:ext cx="3503066" cy="2148840"/>
          </a:xfrm>
          <a:prstGeom prst="roundRect">
            <a:avLst>
              <a:gd name="adj" fmla="val 3404"/>
            </a:avLst>
          </a:prstGeom>
          <a:solidFill>
            <a:srgbClr val="F4F2EE"/>
          </a:solidFill>
          <a:ln w="12700">
            <a:solidFill>
              <a:srgbClr val="EBE7DF"/>
            </a:solidFill>
            <a:prstDash val="solid"/>
          </a:ln>
        </p:spPr>
      </p:sp>
      <p:sp>
        <p:nvSpPr>
          <p:cNvPr id="15" name="Shape 13"/>
          <p:cNvSpPr/>
          <p:nvPr/>
        </p:nvSpPr>
        <p:spPr>
          <a:xfrm>
            <a:off x="8350301" y="1892808"/>
            <a:ext cx="1839773" cy="310896"/>
          </a:xfrm>
          <a:prstGeom prst="roundRect">
            <a:avLst>
              <a:gd name="adj" fmla="val 50000"/>
            </a:avLst>
          </a:prstGeom>
          <a:solidFill>
            <a:srgbClr val="1B1A18"/>
          </a:solidFill>
          <a:ln/>
        </p:spPr>
      </p:sp>
      <p:sp>
        <p:nvSpPr>
          <p:cNvPr id="16" name="Text 14"/>
          <p:cNvSpPr/>
          <p:nvPr/>
        </p:nvSpPr>
        <p:spPr>
          <a:xfrm>
            <a:off x="8350301" y="1892808"/>
            <a:ext cx="1839773"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Accountability</a:t>
            </a:r>
            <a:endParaRPr lang="en-US" sz="900" dirty="0"/>
          </a:p>
        </p:txBody>
      </p:sp>
      <p:sp>
        <p:nvSpPr>
          <p:cNvPr id="17" name="Text 15"/>
          <p:cNvSpPr/>
          <p:nvPr/>
        </p:nvSpPr>
        <p:spPr>
          <a:xfrm>
            <a:off x="8350301" y="229514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Provenance by construction</a:t>
            </a:r>
            <a:endParaRPr lang="en-US" sz="1400" dirty="0"/>
          </a:p>
        </p:txBody>
      </p:sp>
      <p:sp>
        <p:nvSpPr>
          <p:cNvPr id="18" name="Text 16"/>
          <p:cNvSpPr/>
          <p:nvPr/>
        </p:nvSpPr>
        <p:spPr>
          <a:xfrm>
            <a:off x="8350301" y="2752344"/>
            <a:ext cx="3045866"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If attribution needs investigation, custody has already failed.</a:t>
            </a:r>
            <a:endParaRPr lang="en-US" sz="1100" dirty="0"/>
          </a:p>
        </p:txBody>
      </p:sp>
      <p:sp>
        <p:nvSpPr>
          <p:cNvPr id="19" name="Shape 17"/>
          <p:cNvSpPr/>
          <p:nvPr/>
        </p:nvSpPr>
        <p:spPr>
          <a:xfrm>
            <a:off x="566928" y="4114800"/>
            <a:ext cx="3503066" cy="2148840"/>
          </a:xfrm>
          <a:prstGeom prst="roundRect">
            <a:avLst>
              <a:gd name="adj" fmla="val 3404"/>
            </a:avLst>
          </a:prstGeom>
          <a:solidFill>
            <a:srgbClr val="F4F2EE"/>
          </a:solidFill>
          <a:ln w="12700">
            <a:solidFill>
              <a:srgbClr val="EBE7DF"/>
            </a:solidFill>
            <a:prstDash val="solid"/>
          </a:ln>
        </p:spPr>
      </p:sp>
      <p:sp>
        <p:nvSpPr>
          <p:cNvPr id="20" name="Shape 18"/>
          <p:cNvSpPr/>
          <p:nvPr/>
        </p:nvSpPr>
        <p:spPr>
          <a:xfrm>
            <a:off x="795528" y="4315968"/>
            <a:ext cx="1642262" cy="310896"/>
          </a:xfrm>
          <a:prstGeom prst="roundRect">
            <a:avLst>
              <a:gd name="adj" fmla="val 50000"/>
            </a:avLst>
          </a:prstGeom>
          <a:solidFill>
            <a:srgbClr val="1B1A18"/>
          </a:solidFill>
          <a:ln/>
        </p:spPr>
      </p:sp>
      <p:sp>
        <p:nvSpPr>
          <p:cNvPr id="21" name="Text 19"/>
          <p:cNvSpPr/>
          <p:nvPr/>
        </p:nvSpPr>
        <p:spPr>
          <a:xfrm>
            <a:off x="795528" y="4315968"/>
            <a:ext cx="1642262"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Coordination</a:t>
            </a:r>
            <a:endParaRPr lang="en-US" sz="900" dirty="0"/>
          </a:p>
        </p:txBody>
      </p:sp>
      <p:sp>
        <p:nvSpPr>
          <p:cNvPr id="22" name="Text 20"/>
          <p:cNvSpPr/>
          <p:nvPr/>
        </p:nvSpPr>
        <p:spPr>
          <a:xfrm>
            <a:off x="795528" y="471830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Shared invariants at the seams</a:t>
            </a:r>
            <a:endParaRPr lang="en-US" sz="1400" dirty="0"/>
          </a:p>
        </p:txBody>
      </p:sp>
      <p:sp>
        <p:nvSpPr>
          <p:cNvPr id="23" name="Text 21"/>
          <p:cNvSpPr/>
          <p:nvPr/>
        </p:nvSpPr>
        <p:spPr>
          <a:xfrm>
            <a:off x="795528" y="5175504"/>
            <a:ext cx="3045866"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Whatever merely connects does not coordinate.</a:t>
            </a:r>
            <a:endParaRPr lang="en-US" sz="1100" dirty="0"/>
          </a:p>
        </p:txBody>
      </p:sp>
      <p:sp>
        <p:nvSpPr>
          <p:cNvPr id="24" name="Shape 22"/>
          <p:cNvSpPr/>
          <p:nvPr/>
        </p:nvSpPr>
        <p:spPr>
          <a:xfrm>
            <a:off x="4344314" y="4114800"/>
            <a:ext cx="3503066" cy="2148840"/>
          </a:xfrm>
          <a:prstGeom prst="roundRect">
            <a:avLst>
              <a:gd name="adj" fmla="val 3404"/>
            </a:avLst>
          </a:prstGeom>
          <a:solidFill>
            <a:srgbClr val="F4F2EE"/>
          </a:solidFill>
          <a:ln w="12700">
            <a:solidFill>
              <a:srgbClr val="EBE7DF"/>
            </a:solidFill>
            <a:prstDash val="solid"/>
          </a:ln>
        </p:spPr>
      </p:sp>
      <p:sp>
        <p:nvSpPr>
          <p:cNvPr id="25" name="Shape 23"/>
          <p:cNvSpPr/>
          <p:nvPr/>
        </p:nvSpPr>
        <p:spPr>
          <a:xfrm>
            <a:off x="4572914" y="4315968"/>
            <a:ext cx="1345997" cy="310896"/>
          </a:xfrm>
          <a:prstGeom prst="roundRect">
            <a:avLst>
              <a:gd name="adj" fmla="val 50000"/>
            </a:avLst>
          </a:prstGeom>
          <a:solidFill>
            <a:srgbClr val="1B1A18"/>
          </a:solidFill>
          <a:ln/>
        </p:spPr>
      </p:sp>
      <p:sp>
        <p:nvSpPr>
          <p:cNvPr id="26" name="Text 24"/>
          <p:cNvSpPr/>
          <p:nvPr/>
        </p:nvSpPr>
        <p:spPr>
          <a:xfrm>
            <a:off x="4572914" y="4315968"/>
            <a:ext cx="1345997"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Coherence</a:t>
            </a:r>
            <a:endParaRPr lang="en-US" sz="900" dirty="0"/>
          </a:p>
        </p:txBody>
      </p:sp>
      <p:sp>
        <p:nvSpPr>
          <p:cNvPr id="27" name="Text 25"/>
          <p:cNvSpPr/>
          <p:nvPr/>
        </p:nvSpPr>
        <p:spPr>
          <a:xfrm>
            <a:off x="4572914" y="471830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Non-negotiables above the systems</a:t>
            </a:r>
            <a:endParaRPr lang="en-US" sz="1400" dirty="0"/>
          </a:p>
        </p:txBody>
      </p:sp>
      <p:sp>
        <p:nvSpPr>
          <p:cNvPr id="28" name="Text 26"/>
          <p:cNvSpPr/>
          <p:nvPr/>
        </p:nvSpPr>
        <p:spPr>
          <a:xfrm>
            <a:off x="4572914" y="5175504"/>
            <a:ext cx="3045866"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Enforced at every crossing; no component may opt out.</a:t>
            </a:r>
            <a:endParaRPr lang="en-US" sz="1100" dirty="0"/>
          </a:p>
        </p:txBody>
      </p:sp>
      <p:sp>
        <p:nvSpPr>
          <p:cNvPr id="29" name="Shape 27"/>
          <p:cNvSpPr/>
          <p:nvPr/>
        </p:nvSpPr>
        <p:spPr>
          <a:xfrm>
            <a:off x="8121701" y="4114800"/>
            <a:ext cx="3503066" cy="2148840"/>
          </a:xfrm>
          <a:prstGeom prst="roundRect">
            <a:avLst>
              <a:gd name="adj" fmla="val 3404"/>
            </a:avLst>
          </a:prstGeom>
          <a:solidFill>
            <a:srgbClr val="F4F2EE"/>
          </a:solidFill>
          <a:ln w="12700">
            <a:solidFill>
              <a:srgbClr val="EBE7DF"/>
            </a:solidFill>
            <a:prstDash val="solid"/>
          </a:ln>
        </p:spPr>
      </p:sp>
      <p:sp>
        <p:nvSpPr>
          <p:cNvPr id="30" name="Shape 28"/>
          <p:cNvSpPr/>
          <p:nvPr/>
        </p:nvSpPr>
        <p:spPr>
          <a:xfrm>
            <a:off x="8350301" y="4315968"/>
            <a:ext cx="2234794" cy="310896"/>
          </a:xfrm>
          <a:prstGeom prst="roundRect">
            <a:avLst>
              <a:gd name="adj" fmla="val 50000"/>
            </a:avLst>
          </a:prstGeom>
          <a:solidFill>
            <a:srgbClr val="8A8378"/>
          </a:solidFill>
          <a:ln/>
        </p:spPr>
      </p:sp>
      <p:sp>
        <p:nvSpPr>
          <p:cNvPr id="31" name="Text 29"/>
          <p:cNvSpPr/>
          <p:nvPr/>
        </p:nvSpPr>
        <p:spPr>
          <a:xfrm>
            <a:off x="8350301" y="4315968"/>
            <a:ext cx="2234794" cy="310896"/>
          </a:xfrm>
          <a:prstGeom prst="rect">
            <a:avLst/>
          </a:prstGeom>
          <a:noFill/>
          <a:ln/>
        </p:spPr>
        <p:txBody>
          <a:bodyPr wrap="square" rtlCol="0" anchor="ctr"/>
          <a:lstStyle/>
          <a:p>
            <a:pPr algn="ctr" indent="0" marL="0">
              <a:buNone/>
            </a:pPr>
            <a:r>
              <a:rPr lang="en-US" sz="800" b="1" spc="50" kern="0" dirty="0">
                <a:solidFill>
                  <a:srgbClr val="FFFFFF"/>
                </a:solidFill>
                <a:latin typeface="Georgia" pitchFamily="34" charset="0"/>
                <a:ea typeface="Georgia" pitchFamily="34" charset="-122"/>
                <a:cs typeface="Georgia" pitchFamily="34" charset="-120"/>
              </a:rPr>
              <a:t>Memory + meta-rule</a:t>
            </a:r>
            <a:endParaRPr lang="en-US" sz="900" dirty="0"/>
          </a:p>
        </p:txBody>
      </p:sp>
      <p:sp>
        <p:nvSpPr>
          <p:cNvPr id="32" name="Text 30"/>
          <p:cNvSpPr/>
          <p:nvPr/>
        </p:nvSpPr>
        <p:spPr>
          <a:xfrm>
            <a:off x="8350301" y="4718304"/>
            <a:ext cx="3045866" cy="548640"/>
          </a:xfrm>
          <a:prstGeom prst="rect">
            <a:avLst/>
          </a:prstGeom>
          <a:noFill/>
          <a:ln/>
        </p:spPr>
        <p:txBody>
          <a:bodyPr wrap="square" rtlCol="0" anchor="ctr"/>
          <a:lstStyle/>
          <a:p>
            <a:pPr indent="0" marL="0">
              <a:buNone/>
            </a:pPr>
            <a:r>
              <a:rPr lang="en-US" sz="1400" b="1" dirty="0">
                <a:solidFill>
                  <a:srgbClr val="1B1A18"/>
                </a:solidFill>
                <a:latin typeface="Georgia" pitchFamily="34" charset="0"/>
                <a:ea typeface="Georgia" pitchFamily="34" charset="-122"/>
                <a:cs typeface="Georgia" pitchFamily="34" charset="-120"/>
              </a:rPr>
              <a:t>Ceremony &amp; provenance — and: every component replaceable, no property ever</a:t>
            </a:r>
            <a:endParaRPr lang="en-US" sz="1400" dirty="0"/>
          </a:p>
        </p:txBody>
      </p:sp>
      <p:sp>
        <p:nvSpPr>
          <p:cNvPr id="33" name="Text 31"/>
          <p:cNvSpPr/>
          <p:nvPr/>
        </p:nvSpPr>
        <p:spPr>
          <a:xfrm>
            <a:off x="8350301" y="5175504"/>
            <a:ext cx="3045866" cy="960120"/>
          </a:xfrm>
          <a:prstGeom prst="rect">
            <a:avLst/>
          </a:prstGeom>
          <a:noFill/>
          <a:ln/>
        </p:spPr>
        <p:txBody>
          <a:bodyPr wrap="square" rtlCol="0" anchor="t"/>
          <a:lstStyle/>
          <a:p>
            <a:pPr indent="0" marL="0">
              <a:lnSpc>
                <a:spcPct val="110000"/>
              </a:lnSpc>
              <a:buNone/>
            </a:pPr>
            <a:r>
              <a:rPr lang="en-US" sz="1100" dirty="0">
                <a:solidFill>
                  <a:srgbClr val="33302B"/>
                </a:solidFill>
                <a:latin typeface="Georgia" pitchFamily="34" charset="0"/>
                <a:ea typeface="Georgia" pitchFamily="34" charset="-122"/>
                <a:cs typeface="Georgia" pitchFamily="34" charset="-120"/>
              </a:rPr>
              <a:t>Durable, trustworthy records; and no duty may depend on a component that cannot be replaced.</a:t>
            </a:r>
            <a:endParaRPr lang="en-US" sz="1100" dirty="0"/>
          </a:p>
        </p:txBody>
      </p:sp>
      <p:sp>
        <p:nvSpPr>
          <p:cNvPr id="34" name="Text 32"/>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35" name="Text 33"/>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1371600" y="3657600"/>
            <a:ext cx="4572000" cy="4572000"/>
          </a:xfrm>
          <a:prstGeom prst="ellipse">
            <a:avLst/>
          </a:prstGeom>
          <a:solidFill>
            <a:srgbClr val="33302B"/>
          </a:solidFill>
          <a:ln/>
        </p:spPr>
      </p:sp>
      <p:sp>
        <p:nvSpPr>
          <p:cNvPr id="3" name="Shape 1"/>
          <p:cNvSpPr/>
          <p:nvPr/>
        </p:nvSpPr>
        <p:spPr>
          <a:xfrm>
            <a:off x="566928" y="1234440"/>
            <a:ext cx="2011680" cy="310896"/>
          </a:xfrm>
          <a:prstGeom prst="roundRect">
            <a:avLst>
              <a:gd name="adj" fmla="val 50000"/>
            </a:avLst>
          </a:prstGeom>
          <a:solidFill>
            <a:srgbClr val="8A8378"/>
          </a:solidFill>
          <a:ln/>
        </p:spPr>
      </p:sp>
      <p:sp>
        <p:nvSpPr>
          <p:cNvPr id="4" name="Text 2"/>
          <p:cNvSpPr/>
          <p:nvPr/>
        </p:nvSpPr>
        <p:spPr>
          <a:xfrm>
            <a:off x="566928" y="1234440"/>
            <a:ext cx="201168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THE LAWYER’S ONE DEMAND</a:t>
            </a:r>
            <a:endParaRPr lang="en-US" sz="1050" dirty="0"/>
          </a:p>
        </p:txBody>
      </p:sp>
      <p:sp>
        <p:nvSpPr>
          <p:cNvPr id="5" name="Text 3"/>
          <p:cNvSpPr/>
          <p:nvPr/>
        </p:nvSpPr>
        <p:spPr>
          <a:xfrm>
            <a:off x="566928" y="1783080"/>
            <a:ext cx="10789920" cy="1280160"/>
          </a:xfrm>
          <a:prstGeom prst="rect">
            <a:avLst/>
          </a:prstGeom>
          <a:noFill/>
          <a:ln/>
        </p:spPr>
        <p:txBody>
          <a:bodyPr wrap="square" rtlCol="0" anchor="ctr"/>
          <a:lstStyle/>
          <a:p>
            <a:pPr indent="0" marL="0">
              <a:lnSpc>
                <a:spcPct val="105000"/>
              </a:lnSpc>
              <a:buNone/>
            </a:pPr>
            <a:r>
              <a:rPr lang="en-US" sz="3100" b="1" i="1" dirty="0">
                <a:solidFill>
                  <a:srgbClr val="FFFFFF"/>
                </a:solidFill>
                <a:latin typeface="Georgia" pitchFamily="34" charset="0"/>
                <a:ea typeface="Georgia" pitchFamily="34" charset="-122"/>
                <a:cs typeface="Georgia" pitchFamily="34" charset="-120"/>
              </a:rPr>
              <a:t>“Show the crossing, and show what survives it.”</a:t>
            </a:r>
            <a:endParaRPr lang="en-US" sz="3100" dirty="0"/>
          </a:p>
        </p:txBody>
      </p:sp>
      <p:sp>
        <p:nvSpPr>
          <p:cNvPr id="6" name="Text 4"/>
          <p:cNvSpPr/>
          <p:nvPr/>
        </p:nvSpPr>
        <p:spPr>
          <a:xfrm>
            <a:off x="566928" y="3383280"/>
            <a:ext cx="10058400" cy="1005840"/>
          </a:xfrm>
          <a:prstGeom prst="rect">
            <a:avLst/>
          </a:prstGeom>
          <a:noFill/>
          <a:ln/>
        </p:spPr>
        <p:txBody>
          <a:bodyPr wrap="square" rtlCol="0" anchor="ctr"/>
          <a:lstStyle/>
          <a:p>
            <a:pPr indent="0" marL="0">
              <a:lnSpc>
                <a:spcPct val="125000"/>
              </a:lnSpc>
              <a:buNone/>
            </a:pPr>
            <a:r>
              <a:rPr lang="en-US" sz="1400" dirty="0">
                <a:solidFill>
                  <a:srgbClr val="E4DFD5"/>
                </a:solidFill>
                <a:latin typeface="Georgia" pitchFamily="34" charset="0"/>
                <a:ea typeface="Georgia" pitchFamily="34" charset="-122"/>
                <a:cs typeface="Georgia" pitchFamily="34" charset="-120"/>
              </a:rPr>
              <a:t>Whether you advise, litigate, draft, or supervise: attribution, evidence, and mandatory rules do not follow the vocabulary — they follow what the structure carries across the boundary.</a:t>
            </a:r>
            <a:endParaRPr lang="en-US" sz="1400" dirty="0"/>
          </a:p>
        </p:txBody>
      </p:sp>
      <p:sp>
        <p:nvSpPr>
          <p:cNvPr id="7" name="Text 5"/>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Law of the Agentic Enterprise — a graduate law seminar</a:t>
            </a:r>
            <a:endParaRPr lang="en-US" sz="900" dirty="0"/>
          </a:p>
        </p:txBody>
      </p:sp>
      <p:sp>
        <p:nvSpPr>
          <p:cNvPr id="8" name="Text 6"/>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54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2026-08-17T11:44:12Z</dcterms:created>
  <dcterms:modified xsi:type="dcterms:W3CDTF">2026-08-17T11:44:12Z</dcterms:modified>
</cp:coreProperties>
</file>