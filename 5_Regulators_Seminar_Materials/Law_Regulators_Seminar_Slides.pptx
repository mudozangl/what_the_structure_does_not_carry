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50"/>
    <p:restoredTop sz="8895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15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15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15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15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150" kern="1200">
        <a:solidFill>
          <a:schemeClr val="tx1"/>
        </a:solidFill>
        <a:latin typeface="+mn-lt"/>
        <a:ea typeface="+mn-ea"/>
        <a:cs typeface="+mn-cs"/>
      </a:defRPr>
    </a:lvl1pPr>
    <a:lvl2pPr marL="457200" algn="l" defTabSz="914400" rtl="0" eaLnBrk="1" latinLnBrk="0" hangingPunct="1">
      <a:defRPr sz="1150" kern="1200">
        <a:solidFill>
          <a:schemeClr val="tx1"/>
        </a:solidFill>
        <a:latin typeface="+mn-lt"/>
        <a:ea typeface="+mn-ea"/>
        <a:cs typeface="+mn-cs"/>
      </a:defRPr>
    </a:lvl2pPr>
    <a:lvl3pPr marL="914400" algn="l" defTabSz="914400" rtl="0" eaLnBrk="1" latinLnBrk="0" hangingPunct="1">
      <a:defRPr sz="1150" kern="1200">
        <a:solidFill>
          <a:schemeClr val="tx1"/>
        </a:solidFill>
        <a:latin typeface="+mn-lt"/>
        <a:ea typeface="+mn-ea"/>
        <a:cs typeface="+mn-cs"/>
      </a:defRPr>
    </a:lvl3pPr>
    <a:lvl4pPr marL="1371600" algn="l" defTabSz="914400" rtl="0" eaLnBrk="1" latinLnBrk="0" hangingPunct="1">
      <a:defRPr sz="1150" kern="1200">
        <a:solidFill>
          <a:schemeClr val="tx1"/>
        </a:solidFill>
        <a:latin typeface="+mn-lt"/>
        <a:ea typeface="+mn-ea"/>
        <a:cs typeface="+mn-cs"/>
      </a:defRPr>
    </a:lvl4pPr>
    <a:lvl5pPr marL="1828800" algn="l" defTabSz="914400" rtl="0" eaLnBrk="1" latinLnBrk="0" hangingPunct="1">
      <a:defRPr sz="1150" kern="1200">
        <a:solidFill>
          <a:schemeClr val="tx1"/>
        </a:solidFill>
        <a:latin typeface="+mn-lt"/>
        <a:ea typeface="+mn-ea"/>
        <a:cs typeface="+mn-cs"/>
      </a:defRPr>
    </a:lvl5pPr>
    <a:lvl6pPr marL="2286000" algn="l" defTabSz="914400" rtl="0" eaLnBrk="1" latinLnBrk="0" hangingPunct="1">
      <a:defRPr sz="1150" kern="1200">
        <a:solidFill>
          <a:schemeClr val="tx1"/>
        </a:solidFill>
        <a:latin typeface="+mn-lt"/>
        <a:ea typeface="+mn-ea"/>
        <a:cs typeface="+mn-cs"/>
      </a:defRPr>
    </a:lvl6pPr>
    <a:lvl7pPr marL="2743200" algn="l" defTabSz="914400" rtl="0" eaLnBrk="1" latinLnBrk="0" hangingPunct="1">
      <a:defRPr sz="1150" kern="1200">
        <a:solidFill>
          <a:schemeClr val="tx1"/>
        </a:solidFill>
        <a:latin typeface="+mn-lt"/>
        <a:ea typeface="+mn-ea"/>
        <a:cs typeface="+mn-cs"/>
      </a:defRPr>
    </a:lvl7pPr>
    <a:lvl8pPr marL="3200400" algn="l" defTabSz="914400" rtl="0" eaLnBrk="1" latinLnBrk="0" hangingPunct="1">
      <a:defRPr sz="1150" kern="1200">
        <a:solidFill>
          <a:schemeClr val="tx1"/>
        </a:solidFill>
        <a:latin typeface="+mn-lt"/>
        <a:ea typeface="+mn-ea"/>
        <a:cs typeface="+mn-cs"/>
      </a:defRPr>
    </a:lvl8pPr>
    <a:lvl9pPr marL="3657600" algn="l" defTabSz="914400" rtl="0" eaLnBrk="1" latinLnBrk="0" hangingPunct="1">
      <a:defRPr sz="115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Seminar for regulators and policy staff. The reframe: agentic-AI supervision is not a new discipline but the enforcement of properties regulation has always cared about — meaning, authority, accountability, evidence — under a participant that carries only what the structure hands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 The supervisor’s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Surveys are testimony, not adjudication. The supervisory point: high failure at scale is a systemic-risk and consumer-protection signal, not a maturity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 Six properties as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property is a supervisory requirement with a one-line test that needs no source code — only a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 Writing standards that bind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 Evidence and the examination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 Sovereignty, jurisdiction &amp; systemic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 The supervisory examination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protocol hardest against the entity whose vocabulary matches the standard best — words cannot tell the real thing from the sophisticated claimant; a demonstration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15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0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65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25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33302B"/>
          </a:solidFill>
          <a:ln/>
        </p:spPr>
      </p:sp>
      <p:sp>
        <p:nvSpPr>
          <p:cNvPr id="3" name="Shape 1"/>
          <p:cNvSpPr/>
          <p:nvPr/>
        </p:nvSpPr>
        <p:spPr>
          <a:xfrm>
            <a:off x="10241280" y="4023360"/>
            <a:ext cx="3108960" cy="3108960"/>
          </a:xfrm>
          <a:prstGeom prst="ellipse">
            <a:avLst/>
          </a:prstGeom>
          <a:solidFill>
            <a:srgbClr val="3A3630"/>
          </a:solidFill>
          <a:ln/>
        </p:spPr>
      </p:sp>
      <p:sp>
        <p:nvSpPr>
          <p:cNvPr id="4" name="Shape 2"/>
          <p:cNvSpPr/>
          <p:nvPr/>
        </p:nvSpPr>
        <p:spPr>
          <a:xfrm>
            <a:off x="566928" y="1005840"/>
            <a:ext cx="4206240" cy="310896"/>
          </a:xfrm>
          <a:prstGeom prst="roundRect">
            <a:avLst>
              <a:gd name="adj" fmla="val 50000"/>
            </a:avLst>
          </a:prstGeom>
          <a:solidFill>
            <a:srgbClr val="8A8378"/>
          </a:solidFill>
          <a:ln/>
        </p:spPr>
      </p:sp>
      <p:sp>
        <p:nvSpPr>
          <p:cNvPr id="5" name="Text 3"/>
          <p:cNvSpPr/>
          <p:nvPr/>
        </p:nvSpPr>
        <p:spPr>
          <a:xfrm>
            <a:off x="566928" y="1005840"/>
            <a:ext cx="420624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SEMINAR · REGULATORS &amp; POLICY STAFF</a:t>
            </a:r>
            <a:endParaRPr lang="en-US" sz="1050" dirty="0"/>
          </a:p>
        </p:txBody>
      </p:sp>
      <p:sp>
        <p:nvSpPr>
          <p:cNvPr id="6" name="Text 4"/>
          <p:cNvSpPr/>
          <p:nvPr/>
        </p:nvSpPr>
        <p:spPr>
          <a:xfrm>
            <a:off x="566928" y="1554480"/>
            <a:ext cx="9509760" cy="1920240"/>
          </a:xfrm>
          <a:prstGeom prst="rect">
            <a:avLst/>
          </a:prstGeom>
          <a:noFill/>
          <a:ln/>
        </p:spPr>
        <p:txBody>
          <a:bodyPr wrap="square" rtlCol="0" anchor="ctr"/>
          <a:lstStyle/>
          <a:p>
            <a:pPr indent="0" marL="0">
              <a:lnSpc>
                <a:spcPct val="100000"/>
              </a:lnSpc>
              <a:buNone/>
            </a:pPr>
            <a:r>
              <a:rPr lang="en-US" sz="4150" b="1" dirty="0">
                <a:solidFill>
                  <a:srgbClr val="FFFFFF"/>
                </a:solidFill>
                <a:latin typeface="Georgia" pitchFamily="34" charset="0"/>
                <a:ea typeface="Georgia" pitchFamily="34" charset="-122"/>
                <a:cs typeface="Georgia" pitchFamily="34" charset="-120"/>
              </a:rPr>
              <a:t>Regulating the</a:t>
            </a:r>
            <a:endParaRPr lang="en-US" sz="4150" dirty="0"/>
          </a:p>
          <a:p>
            <a:pPr indent="0" marL="0">
              <a:lnSpc>
                <a:spcPct val="100000"/>
              </a:lnSpc>
              <a:buNone/>
            </a:pPr>
            <a:r>
              <a:rPr lang="en-US" sz="4150" b="1" dirty="0">
                <a:solidFill>
                  <a:srgbClr val="FFFFFF"/>
                </a:solidFill>
                <a:latin typeface="Georgia" pitchFamily="34" charset="0"/>
                <a:ea typeface="Georgia" pitchFamily="34" charset="-122"/>
                <a:cs typeface="Georgia" pitchFamily="34" charset="-120"/>
              </a:rPr>
              <a:t>Agentic Enterprise</a:t>
            </a:r>
            <a:endParaRPr lang="en-US" sz="4150" dirty="0"/>
          </a:p>
        </p:txBody>
      </p:sp>
      <p:sp>
        <p:nvSpPr>
          <p:cNvPr id="7" name="Text 5"/>
          <p:cNvSpPr/>
          <p:nvPr/>
        </p:nvSpPr>
        <p:spPr>
          <a:xfrm>
            <a:off x="566928" y="3566160"/>
            <a:ext cx="10241280" cy="822960"/>
          </a:xfrm>
          <a:prstGeom prst="rect">
            <a:avLst/>
          </a:prstGeom>
          <a:noFill/>
          <a:ln/>
        </p:spPr>
        <p:txBody>
          <a:bodyPr wrap="square" rtlCol="0" anchor="ctr"/>
          <a:lstStyle/>
          <a:p>
            <a:pPr indent="0" marL="0">
              <a:buNone/>
            </a:pPr>
            <a:r>
              <a:rPr lang="en-US" sz="1800" i="1" dirty="0">
                <a:solidFill>
                  <a:srgbClr val="E4DFD5"/>
                </a:solidFill>
                <a:latin typeface="Georgia" pitchFamily="34" charset="0"/>
                <a:ea typeface="Georgia" pitchFamily="34" charset="-122"/>
                <a:cs typeface="Georgia" pitchFamily="34" charset="-120"/>
              </a:rPr>
              <a:t>Standards, Evidence, and Supervision When Machines Act for Institutions</a:t>
            </a:r>
            <a:endParaRPr lang="en-US" sz="1800" dirty="0"/>
          </a:p>
        </p:txBody>
      </p:sp>
      <p:sp>
        <p:nvSpPr>
          <p:cNvPr id="8" name="Text 6"/>
          <p:cNvSpPr/>
          <p:nvPr/>
        </p:nvSpPr>
        <p:spPr>
          <a:xfrm>
            <a:off x="566928" y="4892040"/>
            <a:ext cx="10515600" cy="822960"/>
          </a:xfrm>
          <a:prstGeom prst="rect">
            <a:avLst/>
          </a:prstGeom>
          <a:noFill/>
          <a:ln/>
        </p:spPr>
        <p:txBody>
          <a:bodyPr wrap="square" rtlCol="0" anchor="ctr"/>
          <a:lstStyle/>
          <a:p>
            <a:pPr indent="0" marL="0">
              <a:lnSpc>
                <a:spcPct val="120000"/>
              </a:lnSpc>
              <a:buNone/>
            </a:pPr>
            <a:r>
              <a:rPr lang="en-US" sz="1300" dirty="0">
                <a:solidFill>
                  <a:srgbClr val="D6D2C9"/>
                </a:solidFill>
                <a:latin typeface="Georgia" pitchFamily="34" charset="0"/>
                <a:ea typeface="Georgia" pitchFamily="34" charset="-122"/>
                <a:cs typeface="Georgia" pitchFamily="34" charset="-120"/>
              </a:rPr>
              <a:t>A compact seminar (six modules / one day), built on the book
</a:t>
            </a:r>
            <a:pPr indent="0" marL="0">
              <a:lnSpc>
                <a:spcPct val="120000"/>
              </a:lnSpc>
              <a:buNone/>
            </a:pPr>
            <a:r>
              <a:rPr lang="en-US" sz="1400" b="1" i="1" dirty="0">
                <a:solidFill>
                  <a:srgbClr val="FFFFFF"/>
                </a:solidFill>
                <a:latin typeface="Georgia" pitchFamily="34" charset="0"/>
                <a:ea typeface="Georgia" pitchFamily="34" charset="-122"/>
                <a:cs typeface="Georgia" pitchFamily="34" charset="-120"/>
              </a:rPr>
              <a:t>What the Structure Does Not Carry</a:t>
            </a:r>
            <a:pPr indent="0" marL="0">
              <a:lnSpc>
                <a:spcPct val="120000"/>
              </a:lnSpc>
              <a:buNone/>
            </a:pPr>
            <a:r>
              <a:rPr lang="en-US" sz="1200" dirty="0">
                <a:solidFill>
                  <a:srgbClr val="D6D2C9"/>
                </a:solidFill>
                <a:latin typeface="Georgia" pitchFamily="34" charset="0"/>
                <a:ea typeface="Georgia" pitchFamily="34" charset="-122"/>
                <a:cs typeface="Georgia" pitchFamily="34" charset="-120"/>
              </a:rPr>
              <a:t>  ·  Georg Zangl  ·  2026</a:t>
            </a:r>
            <a:endParaRPr lang="en-US" sz="1300" dirty="0"/>
          </a:p>
        </p:txBody>
      </p:sp>
      <p:sp>
        <p:nvSpPr>
          <p:cNvPr id="9" name="Text 7"/>
          <p:cNvSpPr/>
          <p:nvPr/>
        </p:nvSpPr>
        <p:spPr>
          <a:xfrm>
            <a:off x="566928" y="5806440"/>
            <a:ext cx="10241280" cy="457200"/>
          </a:xfrm>
          <a:prstGeom prst="rect">
            <a:avLst/>
          </a:prstGeom>
          <a:noFill/>
          <a:ln/>
        </p:spPr>
        <p:txBody>
          <a:bodyPr wrap="square" rtlCol="0" anchor="ctr"/>
          <a:lstStyle/>
          <a:p>
            <a:pPr indent="0" marL="0">
              <a:buNone/>
            </a:pPr>
            <a:r>
              <a:rPr lang="en-US" sz="1050" i="1" dirty="0">
                <a:solidFill>
                  <a:srgbClr val="8496B8"/>
                </a:solidFill>
                <a:latin typeface="Georgia" pitchFamily="34" charset="0"/>
                <a:ea typeface="Georgia" pitchFamily="34" charset="-122"/>
                <a:cs typeface="Georgia" pitchFamily="34" charset="-120"/>
              </a:rPr>
              <a:t>Educational material for supervisory practice — not legal advice. Verify all standards against current law in your jurisdiction.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737360" cy="310896"/>
          </a:xfrm>
          <a:prstGeom prst="roundRect">
            <a:avLst>
              <a:gd name="adj" fmla="val 50000"/>
            </a:avLst>
          </a:prstGeom>
          <a:solidFill>
            <a:srgbClr val="8A8378"/>
          </a:solidFill>
          <a:ln/>
        </p:spPr>
      </p:sp>
      <p:sp>
        <p:nvSpPr>
          <p:cNvPr id="3" name="Text 1"/>
          <p:cNvSpPr/>
          <p:nvPr/>
        </p:nvSpPr>
        <p:spPr>
          <a:xfrm>
            <a:off x="566928" y="2148840"/>
            <a:ext cx="173736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MODULE 1</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100" b="1" dirty="0">
                <a:solidFill>
                  <a:srgbClr val="FFFFFF"/>
                </a:solidFill>
                <a:latin typeface="Georgia" pitchFamily="34" charset="0"/>
                <a:ea typeface="Georgia" pitchFamily="34" charset="-122"/>
                <a:cs typeface="Georgia" pitchFamily="34" charset="-120"/>
              </a:rPr>
              <a:t>The Supervisor’s Problem</a:t>
            </a:r>
            <a:endParaRPr lang="en-US" sz="3100" dirty="0"/>
          </a:p>
        </p:txBody>
      </p:sp>
      <p:sp>
        <p:nvSpPr>
          <p:cNvPr id="5" name="Text 3"/>
          <p:cNvSpPr/>
          <p:nvPr/>
        </p:nvSpPr>
        <p:spPr>
          <a:xfrm>
            <a:off x="566928" y="370332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Why agentic AI strains conventional supervision — and why the failures are not novel AI failures but old failures of custody, now moving faster than any human layer can absorb.</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buNone/>
            </a:pPr>
            <a:r>
              <a:rPr lang="en-US" sz="1900" b="1" dirty="0">
                <a:solidFill>
                  <a:srgbClr val="1B1A18"/>
                </a:solidFill>
                <a:latin typeface="Georgia" pitchFamily="34" charset="0"/>
                <a:ea typeface="Georgia" pitchFamily="34" charset="-122"/>
                <a:cs typeface="Georgia" pitchFamily="34" charset="-120"/>
              </a:rPr>
              <a:t>M1</a:t>
            </a:r>
            <a:endParaRPr lang="en-US" sz="19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The supervisor’s problem</a:t>
            </a:r>
            <a:endParaRPr lang="en-US" sz="21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MODULE</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Institutions are deploying participants that act at machine speed while carrying only what their structure hands them. Deployments are failing at unprecedented rates — and the failures are not exotic. They are the accountability, evidence, and coherence problems supervision has always cared about, surfacing at once because the human layer that quietly compensated is being removed.</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Supervisory take-aways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Frame agentic-AI supervision as continuity, not novelty</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Recognise custody failure behind ‘AI failure’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Read the failure statistics with a supervisor’s eye</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CONTINUITY, NOT NOVELTY</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Why conventional supervision strains</a:t>
            </a:r>
            <a:endParaRPr lang="en-US" sz="24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actor changed; the obligations did not.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machine participant must still meet duties of accountability, evidence, and non-discrimination the law already imposes.</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compensating layer is leaving.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For decades, people carried meaning, authority, and provenance across the gaps. That subsidy is being withdrawn.</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Volume defeats after-the-fact review.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When decisions are machine-numerous, supervision by sampling and reconstruction cannot keep pace.</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supervisor’s task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is to require that what the structure does not carry is built to carry it — before the volume arrives.</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TECHNOLOGY WORKS — AND DEPLOYMENTS FAIL</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failure record, read for supervision</a:t>
            </a:r>
            <a:endParaRPr lang="en-US" sz="24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865376" cy="310896"/>
          </a:xfrm>
          <a:prstGeom prst="roundRect">
            <a:avLst>
              <a:gd name="adj" fmla="val 50000"/>
            </a:avLst>
          </a:prstGeom>
          <a:solidFill>
            <a:srgbClr val="1B1A18"/>
          </a:solidFill>
          <a:ln/>
        </p:spPr>
      </p:sp>
      <p:sp>
        <p:nvSpPr>
          <p:cNvPr id="6" name="Text 4"/>
          <p:cNvSpPr/>
          <p:nvPr/>
        </p:nvSpPr>
        <p:spPr>
          <a:xfrm>
            <a:off x="795528" y="1892808"/>
            <a:ext cx="1865376"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MIT NANDA 2025</a:t>
            </a:r>
            <a:endParaRPr lang="en-US" sz="950" dirty="0"/>
          </a:p>
        </p:txBody>
      </p:sp>
      <p:sp>
        <p:nvSpPr>
          <p:cNvPr id="7" name="Text 5"/>
          <p:cNvSpPr/>
          <p:nvPr/>
        </p:nvSpPr>
        <p:spPr>
          <a:xfrm>
            <a:off x="79552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95%</a:t>
            </a:r>
            <a:endParaRPr lang="en-US" sz="1400" dirty="0"/>
          </a:p>
        </p:txBody>
      </p:sp>
      <p:sp>
        <p:nvSpPr>
          <p:cNvPr id="8" name="Text 6"/>
          <p:cNvSpPr/>
          <p:nvPr/>
        </p:nvSpPr>
        <p:spPr>
          <a:xfrm>
            <a:off x="795528" y="275234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of GenAI pilots showed no measurable return, on $30–40B of spend.</a:t>
            </a:r>
            <a:endParaRPr lang="en-US" sz="115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6461608" y="1892808"/>
            <a:ext cx="1965960" cy="310896"/>
          </a:xfrm>
          <a:prstGeom prst="roundRect">
            <a:avLst>
              <a:gd name="adj" fmla="val 50000"/>
            </a:avLst>
          </a:prstGeom>
          <a:solidFill>
            <a:srgbClr val="1B1A18"/>
          </a:solidFill>
          <a:ln/>
        </p:spPr>
      </p:sp>
      <p:sp>
        <p:nvSpPr>
          <p:cNvPr id="11" name="Text 9"/>
          <p:cNvSpPr/>
          <p:nvPr/>
        </p:nvSpPr>
        <p:spPr>
          <a:xfrm>
            <a:off x="6461608" y="1892808"/>
            <a:ext cx="196596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S&amp;P Global 2025</a:t>
            </a:r>
            <a:endParaRPr lang="en-US" sz="950" dirty="0"/>
          </a:p>
        </p:txBody>
      </p:sp>
      <p:sp>
        <p:nvSpPr>
          <p:cNvPr id="12" name="Text 10"/>
          <p:cNvSpPr/>
          <p:nvPr/>
        </p:nvSpPr>
        <p:spPr>
          <a:xfrm>
            <a:off x="646160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42%</a:t>
            </a:r>
            <a:endParaRPr lang="en-US" sz="1400" dirty="0"/>
          </a:p>
        </p:txBody>
      </p:sp>
      <p:sp>
        <p:nvSpPr>
          <p:cNvPr id="13" name="Text 11"/>
          <p:cNvSpPr/>
          <p:nvPr/>
        </p:nvSpPr>
        <p:spPr>
          <a:xfrm>
            <a:off x="6461608" y="275234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of firms abandoning most AI initiatives — up from 17% a year earlier.</a:t>
            </a:r>
            <a:endParaRPr lang="en-US" sz="115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795528" y="4315968"/>
            <a:ext cx="2066544" cy="310896"/>
          </a:xfrm>
          <a:prstGeom prst="roundRect">
            <a:avLst>
              <a:gd name="adj" fmla="val 50000"/>
            </a:avLst>
          </a:prstGeom>
          <a:solidFill>
            <a:srgbClr val="1B1A18"/>
          </a:solidFill>
          <a:ln/>
        </p:spPr>
      </p:sp>
      <p:sp>
        <p:nvSpPr>
          <p:cNvPr id="16" name="Text 14"/>
          <p:cNvSpPr/>
          <p:nvPr/>
        </p:nvSpPr>
        <p:spPr>
          <a:xfrm>
            <a:off x="795528" y="4315968"/>
            <a:ext cx="2066544"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CrowdStrike 2026</a:t>
            </a:r>
            <a:endParaRPr lang="en-US" sz="950" dirty="0"/>
          </a:p>
        </p:txBody>
      </p:sp>
      <p:sp>
        <p:nvSpPr>
          <p:cNvPr id="17" name="Text 15"/>
          <p:cNvSpPr/>
          <p:nvPr/>
        </p:nvSpPr>
        <p:spPr>
          <a:xfrm>
            <a:off x="795528" y="471830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90+ orgs</a:t>
            </a:r>
            <a:endParaRPr lang="en-US" sz="1400" dirty="0"/>
          </a:p>
        </p:txBody>
      </p:sp>
      <p:sp>
        <p:nvSpPr>
          <p:cNvPr id="18" name="Text 16"/>
          <p:cNvSpPr/>
          <p:nvPr/>
        </p:nvSpPr>
        <p:spPr>
          <a:xfrm>
            <a:off x="795528" y="517550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hit by prompt-injection in 2025; AI-enabled adversary operations up 89% YoY.</a:t>
            </a:r>
            <a:endParaRPr lang="en-US" sz="1150" dirty="0"/>
          </a:p>
        </p:txBody>
      </p:sp>
      <p:sp>
        <p:nvSpPr>
          <p:cNvPr id="19" name="Shape 17"/>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6461608" y="4315968"/>
            <a:ext cx="1664208" cy="310896"/>
          </a:xfrm>
          <a:prstGeom prst="roundRect">
            <a:avLst>
              <a:gd name="adj" fmla="val 50000"/>
            </a:avLst>
          </a:prstGeom>
          <a:solidFill>
            <a:srgbClr val="1B1A18"/>
          </a:solidFill>
          <a:ln/>
        </p:spPr>
      </p:sp>
      <p:sp>
        <p:nvSpPr>
          <p:cNvPr id="21" name="Text 19"/>
          <p:cNvSpPr/>
          <p:nvPr/>
        </p:nvSpPr>
        <p:spPr>
          <a:xfrm>
            <a:off x="6461608" y="4315968"/>
            <a:ext cx="166420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Gartner 2025</a:t>
            </a:r>
            <a:endParaRPr lang="en-US" sz="950" dirty="0"/>
          </a:p>
        </p:txBody>
      </p:sp>
      <p:sp>
        <p:nvSpPr>
          <p:cNvPr id="22" name="Text 20"/>
          <p:cNvSpPr/>
          <p:nvPr/>
        </p:nvSpPr>
        <p:spPr>
          <a:xfrm>
            <a:off x="6461608" y="471830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40%+</a:t>
            </a:r>
            <a:endParaRPr lang="en-US" sz="1400" dirty="0"/>
          </a:p>
        </p:txBody>
      </p:sp>
      <p:sp>
        <p:nvSpPr>
          <p:cNvPr id="23" name="Text 21"/>
          <p:cNvSpPr/>
          <p:nvPr/>
        </p:nvSpPr>
        <p:spPr>
          <a:xfrm>
            <a:off x="6461608" y="517550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of agentic-AI projects expected to be cancelled by end-2027.</a:t>
            </a:r>
            <a:endParaRPr lang="en-US" sz="1150" dirty="0"/>
          </a:p>
        </p:txBody>
      </p:sp>
      <p:sp>
        <p:nvSpPr>
          <p:cNvPr id="24" name="Text 2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25" name="Text 2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194560" cy="310896"/>
          </a:xfrm>
          <a:prstGeom prst="roundRect">
            <a:avLst>
              <a:gd name="adj" fmla="val 50000"/>
            </a:avLst>
          </a:prstGeom>
          <a:solidFill>
            <a:srgbClr val="8A8378"/>
          </a:solidFill>
          <a:ln/>
        </p:spPr>
      </p:sp>
      <p:sp>
        <p:nvSpPr>
          <p:cNvPr id="3" name="Text 1"/>
          <p:cNvSpPr/>
          <p:nvPr/>
        </p:nvSpPr>
        <p:spPr>
          <a:xfrm>
            <a:off x="566928" y="502920"/>
            <a:ext cx="219456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FOR THE STANDARD</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For the standard — Module 1</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In your remit, which existing obligations already bind an agentic system’s conduct — and where do they go unenforced today?</a:t>
            </a:r>
            <a:endParaRPr lang="en-US" sz="140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Where does your current supervision rely on after-the-fact reconstruction that machine volume would defeat?</a:t>
            </a:r>
            <a:endParaRPr lang="en-US" sz="140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737360" cy="310896"/>
          </a:xfrm>
          <a:prstGeom prst="roundRect">
            <a:avLst>
              <a:gd name="adj" fmla="val 50000"/>
            </a:avLst>
          </a:prstGeom>
          <a:solidFill>
            <a:srgbClr val="8A8378"/>
          </a:solidFill>
          <a:ln/>
        </p:spPr>
      </p:sp>
      <p:sp>
        <p:nvSpPr>
          <p:cNvPr id="3" name="Text 1"/>
          <p:cNvSpPr/>
          <p:nvPr/>
        </p:nvSpPr>
        <p:spPr>
          <a:xfrm>
            <a:off x="566928" y="2148840"/>
            <a:ext cx="173736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MODULE 2</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100" b="1" dirty="0">
                <a:solidFill>
                  <a:srgbClr val="FFFFFF"/>
                </a:solidFill>
                <a:latin typeface="Georgia" pitchFamily="34" charset="0"/>
                <a:ea typeface="Georgia" pitchFamily="34" charset="-122"/>
                <a:cs typeface="Georgia" pitchFamily="34" charset="-120"/>
              </a:rPr>
              <a:t>Six Properties as Supervisory Requirements</a:t>
            </a:r>
            <a:endParaRPr lang="en-US" sz="3100" dirty="0"/>
          </a:p>
        </p:txBody>
      </p:sp>
      <p:sp>
        <p:nvSpPr>
          <p:cNvPr id="5" name="Text 3"/>
          <p:cNvSpPr/>
          <p:nvPr/>
        </p:nvSpPr>
        <p:spPr>
          <a:xfrm>
            <a:off x="566928" y="370332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The book’s six conserved properties translate directly into supervisory requirements — each with a plain-language test that demands a demonstration, not a document.</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buNone/>
            </a:pPr>
            <a:r>
              <a:rPr lang="en-US" sz="1900" b="1" dirty="0">
                <a:solidFill>
                  <a:srgbClr val="1B1A18"/>
                </a:solidFill>
                <a:latin typeface="Georgia" pitchFamily="34" charset="0"/>
                <a:ea typeface="Georgia" pitchFamily="34" charset="-122"/>
                <a:cs typeface="Georgia" pitchFamily="34" charset="-120"/>
              </a:rPr>
              <a:t>M2</a:t>
            </a:r>
            <a:endParaRPr lang="en-US" sz="19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Six properties as requirements</a:t>
            </a:r>
            <a:endParaRPr lang="en-US" sz="21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MODULE</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An institution is a set of properties that must survive as work moves: context, authority, accountability, coordination, execution coherence, and institutional memory. Read as supervision, each is a requirement you can write into a standard and test at examination — and each has a characteristic failure you can learn to recognise in the field.</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Supervisory take-aways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Name the six properties as requirements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State the one-line test for each</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Diagnose a breach from its characteristic failure</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WHAT TO REQUIRE, AND HOW TO TEST IT</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six properties, as supervisory requirements</a:t>
            </a:r>
            <a:endParaRPr lang="en-US" sz="2450" dirty="0"/>
          </a:p>
        </p:txBody>
      </p:sp>
      <p:sp>
        <p:nvSpPr>
          <p:cNvPr id="4" name="Shape 2"/>
          <p:cNvSpPr/>
          <p:nvPr/>
        </p:nvSpPr>
        <p:spPr>
          <a:xfrm>
            <a:off x="566928" y="1691640"/>
            <a:ext cx="3503066"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563624" cy="310896"/>
          </a:xfrm>
          <a:prstGeom prst="roundRect">
            <a:avLst>
              <a:gd name="adj" fmla="val 50000"/>
            </a:avLst>
          </a:prstGeom>
          <a:solidFill>
            <a:srgbClr val="8A8378"/>
          </a:solidFill>
          <a:ln/>
        </p:spPr>
      </p:sp>
      <p:sp>
        <p:nvSpPr>
          <p:cNvPr id="6" name="Text 4"/>
          <p:cNvSpPr/>
          <p:nvPr/>
        </p:nvSpPr>
        <p:spPr>
          <a:xfrm>
            <a:off x="795528" y="1892808"/>
            <a:ext cx="1563624"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1 · Context</a:t>
            </a:r>
            <a:endParaRPr lang="en-US" sz="950" dirty="0"/>
          </a:p>
        </p:txBody>
      </p:sp>
      <p:sp>
        <p:nvSpPr>
          <p:cNvPr id="7" name="Text 5"/>
          <p:cNvSpPr/>
          <p:nvPr/>
        </p:nvSpPr>
        <p:spPr>
          <a:xfrm>
            <a:off x="795528"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Require meaning to travel</a:t>
            </a:r>
            <a:endParaRPr lang="en-US" sz="1400" dirty="0"/>
          </a:p>
        </p:txBody>
      </p:sp>
      <p:sp>
        <p:nvSpPr>
          <p:cNvPr id="8" name="Text 6"/>
          <p:cNvSpPr/>
          <p:nvPr/>
        </p:nvSpPr>
        <p:spPr>
          <a:xfrm>
            <a:off x="795528"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Standard: significance and constraints must accompany the work. Test: ask the receiving side what it means, not what it says.</a:t>
            </a:r>
            <a:endParaRPr lang="en-US" sz="1150" dirty="0"/>
          </a:p>
        </p:txBody>
      </p:sp>
      <p:sp>
        <p:nvSpPr>
          <p:cNvPr id="9" name="Shape 7"/>
          <p:cNvSpPr/>
          <p:nvPr/>
        </p:nvSpPr>
        <p:spPr>
          <a:xfrm>
            <a:off x="4344314" y="1691640"/>
            <a:ext cx="3503066"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4572914" y="1892808"/>
            <a:ext cx="1764792" cy="310896"/>
          </a:xfrm>
          <a:prstGeom prst="roundRect">
            <a:avLst>
              <a:gd name="adj" fmla="val 50000"/>
            </a:avLst>
          </a:prstGeom>
          <a:solidFill>
            <a:srgbClr val="8A8378"/>
          </a:solidFill>
          <a:ln/>
        </p:spPr>
      </p:sp>
      <p:sp>
        <p:nvSpPr>
          <p:cNvPr id="11" name="Text 9"/>
          <p:cNvSpPr/>
          <p:nvPr/>
        </p:nvSpPr>
        <p:spPr>
          <a:xfrm>
            <a:off x="4572914" y="1892808"/>
            <a:ext cx="1764792"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2 · Authority</a:t>
            </a:r>
            <a:endParaRPr lang="en-US" sz="950" dirty="0"/>
          </a:p>
        </p:txBody>
      </p:sp>
      <p:sp>
        <p:nvSpPr>
          <p:cNvPr id="12" name="Text 10"/>
          <p:cNvSpPr/>
          <p:nvPr/>
        </p:nvSpPr>
        <p:spPr>
          <a:xfrm>
            <a:off x="4572914"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Require rights as data</a:t>
            </a:r>
            <a:endParaRPr lang="en-US" sz="1400" dirty="0"/>
          </a:p>
        </p:txBody>
      </p:sp>
      <p:sp>
        <p:nvSpPr>
          <p:cNvPr id="13" name="Text 11"/>
          <p:cNvSpPr/>
          <p:nvPr/>
        </p:nvSpPr>
        <p:spPr>
          <a:xfrm>
            <a:off x="4572914"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Standard: decision rights explicit and enforced at the boundary. Test: ‘who may decide this, under which delegation?’ answered by query.</a:t>
            </a:r>
            <a:endParaRPr lang="en-US" sz="1150" dirty="0"/>
          </a:p>
        </p:txBody>
      </p:sp>
      <p:sp>
        <p:nvSpPr>
          <p:cNvPr id="14" name="Shape 12"/>
          <p:cNvSpPr/>
          <p:nvPr/>
        </p:nvSpPr>
        <p:spPr>
          <a:xfrm>
            <a:off x="8121701" y="1691640"/>
            <a:ext cx="3503066"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8350301" y="1892808"/>
            <a:ext cx="2267712" cy="310896"/>
          </a:xfrm>
          <a:prstGeom prst="roundRect">
            <a:avLst>
              <a:gd name="adj" fmla="val 50000"/>
            </a:avLst>
          </a:prstGeom>
          <a:solidFill>
            <a:srgbClr val="8A8378"/>
          </a:solidFill>
          <a:ln/>
        </p:spPr>
      </p:sp>
      <p:sp>
        <p:nvSpPr>
          <p:cNvPr id="16" name="Text 14"/>
          <p:cNvSpPr/>
          <p:nvPr/>
        </p:nvSpPr>
        <p:spPr>
          <a:xfrm>
            <a:off x="8350301" y="1892808"/>
            <a:ext cx="2267712"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3 · Accountability</a:t>
            </a:r>
            <a:endParaRPr lang="en-US" sz="950" dirty="0"/>
          </a:p>
        </p:txBody>
      </p:sp>
      <p:sp>
        <p:nvSpPr>
          <p:cNvPr id="17" name="Text 15"/>
          <p:cNvSpPr/>
          <p:nvPr/>
        </p:nvSpPr>
        <p:spPr>
          <a:xfrm>
            <a:off x="8350301"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Require provenance by construction</a:t>
            </a:r>
            <a:endParaRPr lang="en-US" sz="1400" dirty="0"/>
          </a:p>
        </p:txBody>
      </p:sp>
      <p:sp>
        <p:nvSpPr>
          <p:cNvPr id="18" name="Text 16"/>
          <p:cNvSpPr/>
          <p:nvPr/>
        </p:nvSpPr>
        <p:spPr>
          <a:xfrm>
            <a:off x="8350301"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Standard: attribution captured at the transaction. Test: full attribution without an investigation.</a:t>
            </a:r>
            <a:endParaRPr lang="en-US" sz="1150" dirty="0"/>
          </a:p>
        </p:txBody>
      </p:sp>
      <p:sp>
        <p:nvSpPr>
          <p:cNvPr id="19" name="Shape 17"/>
          <p:cNvSpPr/>
          <p:nvPr/>
        </p:nvSpPr>
        <p:spPr>
          <a:xfrm>
            <a:off x="566928" y="4114800"/>
            <a:ext cx="3503066"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795528" y="4315968"/>
            <a:ext cx="2066544" cy="310896"/>
          </a:xfrm>
          <a:prstGeom prst="roundRect">
            <a:avLst>
              <a:gd name="adj" fmla="val 50000"/>
            </a:avLst>
          </a:prstGeom>
          <a:solidFill>
            <a:srgbClr val="8A8378"/>
          </a:solidFill>
          <a:ln/>
        </p:spPr>
      </p:sp>
      <p:sp>
        <p:nvSpPr>
          <p:cNvPr id="21" name="Text 19"/>
          <p:cNvSpPr/>
          <p:nvPr/>
        </p:nvSpPr>
        <p:spPr>
          <a:xfrm>
            <a:off x="795528" y="4315968"/>
            <a:ext cx="2066544"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4 · Coordination</a:t>
            </a:r>
            <a:endParaRPr lang="en-US" sz="950" dirty="0"/>
          </a:p>
        </p:txBody>
      </p:sp>
      <p:sp>
        <p:nvSpPr>
          <p:cNvPr id="22" name="Text 20"/>
          <p:cNvSpPr/>
          <p:nvPr/>
        </p:nvSpPr>
        <p:spPr>
          <a:xfrm>
            <a:off x="795528"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Require shared invariants</a:t>
            </a:r>
            <a:endParaRPr lang="en-US" sz="1400" dirty="0"/>
          </a:p>
        </p:txBody>
      </p:sp>
      <p:sp>
        <p:nvSpPr>
          <p:cNvPr id="23" name="Text 21"/>
          <p:cNvSpPr/>
          <p:nvPr/>
        </p:nvSpPr>
        <p:spPr>
          <a:xfrm>
            <a:off x="795528"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Standard: alignment at the seams, not by goodwill. Test: each unit correct yet the whole compliant.</a:t>
            </a:r>
            <a:endParaRPr lang="en-US" sz="1150" dirty="0"/>
          </a:p>
        </p:txBody>
      </p:sp>
      <p:sp>
        <p:nvSpPr>
          <p:cNvPr id="24" name="Shape 22"/>
          <p:cNvSpPr/>
          <p:nvPr/>
        </p:nvSpPr>
        <p:spPr>
          <a:xfrm>
            <a:off x="4344314" y="4114800"/>
            <a:ext cx="3503066" cy="2148840"/>
          </a:xfrm>
          <a:prstGeom prst="roundRect">
            <a:avLst>
              <a:gd name="adj" fmla="val 3404"/>
            </a:avLst>
          </a:prstGeom>
          <a:solidFill>
            <a:srgbClr val="F4F2EE"/>
          </a:solidFill>
          <a:ln w="12700">
            <a:solidFill>
              <a:srgbClr val="EBE7DF"/>
            </a:solidFill>
            <a:prstDash val="solid"/>
          </a:ln>
        </p:spPr>
      </p:sp>
      <p:sp>
        <p:nvSpPr>
          <p:cNvPr id="25" name="Shape 23"/>
          <p:cNvSpPr/>
          <p:nvPr/>
        </p:nvSpPr>
        <p:spPr>
          <a:xfrm>
            <a:off x="4572914" y="4315968"/>
            <a:ext cx="1764792" cy="310896"/>
          </a:xfrm>
          <a:prstGeom prst="roundRect">
            <a:avLst>
              <a:gd name="adj" fmla="val 50000"/>
            </a:avLst>
          </a:prstGeom>
          <a:solidFill>
            <a:srgbClr val="8A8378"/>
          </a:solidFill>
          <a:ln/>
        </p:spPr>
      </p:sp>
      <p:sp>
        <p:nvSpPr>
          <p:cNvPr id="26" name="Text 24"/>
          <p:cNvSpPr/>
          <p:nvPr/>
        </p:nvSpPr>
        <p:spPr>
          <a:xfrm>
            <a:off x="4572914" y="4315968"/>
            <a:ext cx="1764792"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5 · Coherence</a:t>
            </a:r>
            <a:endParaRPr lang="en-US" sz="950" dirty="0"/>
          </a:p>
        </p:txBody>
      </p:sp>
      <p:sp>
        <p:nvSpPr>
          <p:cNvPr id="27" name="Text 25"/>
          <p:cNvSpPr/>
          <p:nvPr/>
        </p:nvSpPr>
        <p:spPr>
          <a:xfrm>
            <a:off x="4572914"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Require one floor, every door</a:t>
            </a:r>
            <a:endParaRPr lang="en-US" sz="1400" dirty="0"/>
          </a:p>
        </p:txBody>
      </p:sp>
      <p:sp>
        <p:nvSpPr>
          <p:cNvPr id="28" name="Text 26"/>
          <p:cNvSpPr/>
          <p:nvPr/>
        </p:nvSpPr>
        <p:spPr>
          <a:xfrm>
            <a:off x="4572914"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Standard: non-negotiables enforced identically at every entrance. Test: ‘it depends which door’ is a failing answer.</a:t>
            </a:r>
            <a:endParaRPr lang="en-US" sz="1150" dirty="0"/>
          </a:p>
        </p:txBody>
      </p:sp>
      <p:sp>
        <p:nvSpPr>
          <p:cNvPr id="29" name="Shape 27"/>
          <p:cNvSpPr/>
          <p:nvPr/>
        </p:nvSpPr>
        <p:spPr>
          <a:xfrm>
            <a:off x="8121701" y="4114800"/>
            <a:ext cx="3503066" cy="2148840"/>
          </a:xfrm>
          <a:prstGeom prst="roundRect">
            <a:avLst>
              <a:gd name="adj" fmla="val 3404"/>
            </a:avLst>
          </a:prstGeom>
          <a:solidFill>
            <a:srgbClr val="F4F2EE"/>
          </a:solidFill>
          <a:ln w="12700">
            <a:solidFill>
              <a:srgbClr val="EBE7DF"/>
            </a:solidFill>
            <a:prstDash val="solid"/>
          </a:ln>
        </p:spPr>
      </p:sp>
      <p:sp>
        <p:nvSpPr>
          <p:cNvPr id="30" name="Shape 28"/>
          <p:cNvSpPr/>
          <p:nvPr/>
        </p:nvSpPr>
        <p:spPr>
          <a:xfrm>
            <a:off x="8350301" y="4315968"/>
            <a:ext cx="1463040" cy="310896"/>
          </a:xfrm>
          <a:prstGeom prst="roundRect">
            <a:avLst>
              <a:gd name="adj" fmla="val 50000"/>
            </a:avLst>
          </a:prstGeom>
          <a:solidFill>
            <a:srgbClr val="8A8378"/>
          </a:solidFill>
          <a:ln/>
        </p:spPr>
      </p:sp>
      <p:sp>
        <p:nvSpPr>
          <p:cNvPr id="31" name="Text 29"/>
          <p:cNvSpPr/>
          <p:nvPr/>
        </p:nvSpPr>
        <p:spPr>
          <a:xfrm>
            <a:off x="8350301" y="4315968"/>
            <a:ext cx="146304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6 · Memory</a:t>
            </a:r>
            <a:endParaRPr lang="en-US" sz="950" dirty="0"/>
          </a:p>
        </p:txBody>
      </p:sp>
      <p:sp>
        <p:nvSpPr>
          <p:cNvPr id="32" name="Text 30"/>
          <p:cNvSpPr/>
          <p:nvPr/>
        </p:nvSpPr>
        <p:spPr>
          <a:xfrm>
            <a:off x="8350301"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Require ceremony &amp; provenance</a:t>
            </a:r>
            <a:endParaRPr lang="en-US" sz="1400" dirty="0"/>
          </a:p>
        </p:txBody>
      </p:sp>
      <p:sp>
        <p:nvSpPr>
          <p:cNvPr id="33" name="Text 31"/>
          <p:cNvSpPr/>
          <p:nvPr/>
        </p:nvSpPr>
        <p:spPr>
          <a:xfrm>
            <a:off x="8350301"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Standard: durable records, gated writes, trustworthy origin. Test: can a record be independently trusted?</a:t>
            </a:r>
            <a:endParaRPr lang="en-US" sz="1150" dirty="0"/>
          </a:p>
        </p:txBody>
      </p:sp>
      <p:sp>
        <p:nvSpPr>
          <p:cNvPr id="34" name="Text 3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35" name="Text 3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502920"/>
            <a:ext cx="2468880" cy="310896"/>
          </a:xfrm>
          <a:prstGeom prst="roundRect">
            <a:avLst>
              <a:gd name="adj" fmla="val 50000"/>
            </a:avLst>
          </a:prstGeom>
          <a:solidFill>
            <a:srgbClr val="8A8378"/>
          </a:solidFill>
          <a:ln/>
        </p:spPr>
      </p:sp>
      <p:sp>
        <p:nvSpPr>
          <p:cNvPr id="3" name="Text 1"/>
          <p:cNvSpPr/>
          <p:nvPr/>
        </p:nvSpPr>
        <p:spPr>
          <a:xfrm>
            <a:off x="566928" y="502920"/>
            <a:ext cx="24688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ENFORCEMENT RECORD</a:t>
            </a:r>
            <a:endParaRPr lang="en-US" sz="1050" dirty="0"/>
          </a:p>
        </p:txBody>
      </p:sp>
      <p:sp>
        <p:nvSpPr>
          <p:cNvPr id="4" name="Text 2"/>
          <p:cNvSpPr/>
          <p:nvPr/>
        </p:nvSpPr>
        <p:spPr>
          <a:xfrm>
            <a:off x="566928" y="91440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Air Canada / Moffatt</a:t>
            </a:r>
            <a:endParaRPr lang="en-US" sz="2150" dirty="0"/>
          </a:p>
        </p:txBody>
      </p:sp>
      <p:sp>
        <p:nvSpPr>
          <p:cNvPr id="5" name="Text 3"/>
          <p:cNvSpPr/>
          <p:nvPr/>
        </p:nvSpPr>
        <p:spPr>
          <a:xfrm>
            <a:off x="566928" y="1965960"/>
            <a:ext cx="5760720" cy="1463040"/>
          </a:xfrm>
          <a:prstGeom prst="rect">
            <a:avLst/>
          </a:prstGeom>
          <a:noFill/>
          <a:ln/>
        </p:spPr>
        <p:txBody>
          <a:bodyPr wrap="square" rtlCol="0" anchor="ctr"/>
          <a:lstStyle/>
          <a:p>
            <a:pPr indent="0" marL="0">
              <a:buNone/>
            </a:pPr>
            <a:r>
              <a:rPr lang="en-US" sz="5100" b="1" dirty="0">
                <a:solidFill>
                  <a:srgbClr val="8A8378"/>
                </a:solidFill>
                <a:latin typeface="Georgia" pitchFamily="34" charset="0"/>
                <a:ea typeface="Georgia" pitchFamily="34" charset="-122"/>
                <a:cs typeface="Georgia" pitchFamily="34" charset="-120"/>
              </a:rPr>
              <a:t>Institution liable</a:t>
            </a:r>
            <a:endParaRPr lang="en-US" sz="5100" dirty="0"/>
          </a:p>
        </p:txBody>
      </p:sp>
      <p:sp>
        <p:nvSpPr>
          <p:cNvPr id="6" name="Text 4"/>
          <p:cNvSpPr/>
          <p:nvPr/>
        </p:nvSpPr>
        <p:spPr>
          <a:xfrm>
            <a:off x="566928" y="3383280"/>
            <a:ext cx="5760720" cy="1371600"/>
          </a:xfrm>
          <a:prstGeom prst="rect">
            <a:avLst/>
          </a:prstGeom>
          <a:noFill/>
          <a:ln/>
        </p:spPr>
        <p:txBody>
          <a:bodyPr wrap="square" rtlCol="0" anchor="t"/>
          <a:lstStyle/>
          <a:p>
            <a:pPr indent="0" marL="0">
              <a:lnSpc>
                <a:spcPct val="120000"/>
              </a:lnSpc>
              <a:buNone/>
            </a:pPr>
            <a:r>
              <a:rPr lang="en-US" sz="1400" dirty="0">
                <a:solidFill>
                  <a:srgbClr val="E4DFD5"/>
                </a:solidFill>
                <a:latin typeface="Georgia" pitchFamily="34" charset="0"/>
                <a:ea typeface="Georgia" pitchFamily="34" charset="-122"/>
                <a:cs typeface="Georgia" pitchFamily="34" charset="-120"/>
              </a:rPr>
              <a:t>for its chatbot’s misstatement; the ‘separate entity’ defence was called a remarkable submission</a:t>
            </a:r>
            <a:endParaRPr lang="en-US" sz="1400" dirty="0"/>
          </a:p>
        </p:txBody>
      </p:sp>
      <p:sp>
        <p:nvSpPr>
          <p:cNvPr id="7" name="Text 5"/>
          <p:cNvSpPr/>
          <p:nvPr/>
        </p:nvSpPr>
        <p:spPr>
          <a:xfrm>
            <a:off x="566928" y="5349240"/>
            <a:ext cx="5852160" cy="731520"/>
          </a:xfrm>
          <a:prstGeom prst="rect">
            <a:avLst/>
          </a:prstGeom>
          <a:noFill/>
          <a:ln/>
        </p:spPr>
        <p:txBody>
          <a:bodyPr wrap="square" rtlCol="0" anchor="t"/>
          <a:lstStyle/>
          <a:p>
            <a:pPr indent="0" marL="0">
              <a:lnSpc>
                <a:spcPct val="110000"/>
              </a:lnSpc>
              <a:buNone/>
            </a:pPr>
            <a:r>
              <a:rPr lang="en-US" sz="900" b="1" dirty="0">
                <a:solidFill>
                  <a:srgbClr val="8A8378"/>
                </a:solidFill>
                <a:latin typeface="Georgia" pitchFamily="34" charset="0"/>
                <a:ea typeface="Georgia" pitchFamily="34" charset="-122"/>
                <a:cs typeface="Georgia" pitchFamily="34" charset="-120"/>
              </a:rPr>
              <a:t>SOURCE  </a:t>
            </a:r>
            <a:pPr indent="0" marL="0">
              <a:lnSpc>
                <a:spcPct val="110000"/>
              </a:lnSpc>
              <a:buNone/>
            </a:pPr>
            <a:r>
              <a:rPr lang="en-US" sz="950" i="1" dirty="0">
                <a:solidFill>
                  <a:srgbClr val="C4BDB0"/>
                </a:solidFill>
                <a:latin typeface="Georgia" pitchFamily="34" charset="0"/>
                <a:ea typeface="Georgia" pitchFamily="34" charset="-122"/>
                <a:cs typeface="Georgia" pitchFamily="34" charset="-120"/>
              </a:rPr>
              <a:t>Moffatt v. Air Canada, 2024 BCCRT 149 (Civil Resolution Tribunal of British Columbia, 14 Feb 2024), para 27.</a:t>
            </a:r>
            <a:endParaRPr lang="en-US" sz="900" dirty="0"/>
          </a:p>
        </p:txBody>
      </p:sp>
      <p:sp>
        <p:nvSpPr>
          <p:cNvPr id="8" name="Shape 6"/>
          <p:cNvSpPr/>
          <p:nvPr/>
        </p:nvSpPr>
        <p:spPr>
          <a:xfrm>
            <a:off x="6766560" y="1965960"/>
            <a:ext cx="4858207" cy="3794760"/>
          </a:xfrm>
          <a:prstGeom prst="roundRect">
            <a:avLst>
              <a:gd name="adj" fmla="val 2410"/>
            </a:avLst>
          </a:prstGeom>
          <a:solidFill>
            <a:srgbClr val="33302B"/>
          </a:solidFill>
          <a:ln/>
        </p:spPr>
      </p:sp>
      <p:sp>
        <p:nvSpPr>
          <p:cNvPr id="9" name="Text 7"/>
          <p:cNvSpPr/>
          <p:nvPr/>
        </p:nvSpPr>
        <p:spPr>
          <a:xfrm>
            <a:off x="6995160" y="2167128"/>
            <a:ext cx="4401007" cy="3429000"/>
          </a:xfrm>
          <a:prstGeom prst="rect">
            <a:avLst/>
          </a:prstGeom>
          <a:noFill/>
          <a:ln/>
        </p:spPr>
        <p:txBody>
          <a:bodyPr wrap="square" rtlCol="0" anchor="t"/>
          <a:lstStyle/>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What happened:</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an airline’s chatbot invented a policy; a tribunal held the airline accountable for what its agent said.</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The requirement it proves:</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accountability — an institution answers for its agent; ‘the AI said it’ is not a defence.</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For the supervisor:</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conduct standards attach to the institution regardless of whether a human or a model performed the act.</a:t>
            </a:r>
            <a:endParaRPr lang="en-US" sz="1200" dirty="0"/>
          </a:p>
        </p:txBody>
      </p:sp>
      <p:sp>
        <p:nvSpPr>
          <p:cNvPr id="10" name="Text 8"/>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1" name="Text 9"/>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194560" cy="310896"/>
          </a:xfrm>
          <a:prstGeom prst="roundRect">
            <a:avLst>
              <a:gd name="adj" fmla="val 50000"/>
            </a:avLst>
          </a:prstGeom>
          <a:solidFill>
            <a:srgbClr val="8A8378"/>
          </a:solidFill>
          <a:ln/>
        </p:spPr>
      </p:sp>
      <p:sp>
        <p:nvSpPr>
          <p:cNvPr id="3" name="Text 1"/>
          <p:cNvSpPr/>
          <p:nvPr/>
        </p:nvSpPr>
        <p:spPr>
          <a:xfrm>
            <a:off x="566928" y="502920"/>
            <a:ext cx="219456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FOR THE STANDARD</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For the standard — Module 2</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Rewrite one existing rule in your remit as a requirement on one of the six properties, with a test that needs no source code.</a:t>
            </a:r>
            <a:endParaRPr lang="en-US" sz="140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Which of the six is hardest to evidence in the entities you supervise — and what demonstration would satisfy you?</a:t>
            </a:r>
            <a:endParaRPr lang="en-US" sz="140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737360" cy="310896"/>
          </a:xfrm>
          <a:prstGeom prst="roundRect">
            <a:avLst>
              <a:gd name="adj" fmla="val 50000"/>
            </a:avLst>
          </a:prstGeom>
          <a:solidFill>
            <a:srgbClr val="8A8378"/>
          </a:solidFill>
          <a:ln/>
        </p:spPr>
      </p:sp>
      <p:sp>
        <p:nvSpPr>
          <p:cNvPr id="3" name="Text 1"/>
          <p:cNvSpPr/>
          <p:nvPr/>
        </p:nvSpPr>
        <p:spPr>
          <a:xfrm>
            <a:off x="566928" y="2148840"/>
            <a:ext cx="173736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MODULE 3</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100" b="1" dirty="0">
                <a:solidFill>
                  <a:srgbClr val="FFFFFF"/>
                </a:solidFill>
                <a:latin typeface="Georgia" pitchFamily="34" charset="0"/>
                <a:ea typeface="Georgia" pitchFamily="34" charset="-122"/>
                <a:cs typeface="Georgia" pitchFamily="34" charset="-120"/>
              </a:rPr>
              <a:t>Writing Standards That Bind</a:t>
            </a:r>
            <a:endParaRPr lang="en-US" sz="3100" dirty="0"/>
          </a:p>
        </p:txBody>
      </p:sp>
      <p:sp>
        <p:nvSpPr>
          <p:cNvPr id="5" name="Text 3"/>
          <p:cNvSpPr/>
          <p:nvPr/>
        </p:nvSpPr>
        <p:spPr>
          <a:xfrm>
            <a:off x="566928" y="370332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Regulation is modal — must, never. This module shows why a modal rule cannot be satisfied by a probabilistic model, and how to phrase a standard so its enforcement is structural.</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buNone/>
            </a:pPr>
            <a:r>
              <a:rPr lang="en-US" sz="1900" b="1" dirty="0">
                <a:solidFill>
                  <a:srgbClr val="1B1A18"/>
                </a:solidFill>
                <a:latin typeface="Georgia" pitchFamily="34" charset="0"/>
                <a:ea typeface="Georgia" pitchFamily="34" charset="-122"/>
                <a:cs typeface="Georgia" pitchFamily="34" charset="-120"/>
              </a:rPr>
              <a:t>M3</a:t>
            </a:r>
            <a:endParaRPr lang="en-US" sz="19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Writing standards that bind</a:t>
            </a:r>
            <a:endParaRPr lang="en-US" sz="21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MODULE</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The grammar of regulation is modal: must, must not, never, under no circumstances. A modal claim cannot be met statistically — blocking a prohibited act 99.9% of the time is a measured violation, not 99.9% compliance. So a standard that binds must locate enforcement in structure the model’s output passes through, not in the model’s instructions.</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Supervisory take-aways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Explain why modal rules resist probabilistic control</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Locate governance outside the model</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Phrase a standard so enforcement is structural</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DETERMINISM MEETS PROBABILITY</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Two axioms that govern standard-writing</a:t>
            </a:r>
            <a:endParaRPr lang="en-US" sz="24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161288" cy="310896"/>
          </a:xfrm>
          <a:prstGeom prst="roundRect">
            <a:avLst>
              <a:gd name="adj" fmla="val 50000"/>
            </a:avLst>
          </a:prstGeom>
          <a:solidFill>
            <a:srgbClr val="1B1A18"/>
          </a:solidFill>
          <a:ln/>
        </p:spPr>
      </p:sp>
      <p:sp>
        <p:nvSpPr>
          <p:cNvPr id="6" name="Text 4"/>
          <p:cNvSpPr/>
          <p:nvPr/>
        </p:nvSpPr>
        <p:spPr>
          <a:xfrm>
            <a:off x="795528" y="1892808"/>
            <a:ext cx="116128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Axiom 1</a:t>
            </a:r>
            <a:endParaRPr lang="en-US" sz="950" dirty="0"/>
          </a:p>
        </p:txBody>
      </p:sp>
      <p:sp>
        <p:nvSpPr>
          <p:cNvPr id="7" name="Text 5"/>
          <p:cNvSpPr/>
          <p:nvPr/>
        </p:nvSpPr>
        <p:spPr>
          <a:xfrm>
            <a:off x="79552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Regulatory determinism</a:t>
            </a:r>
            <a:endParaRPr lang="en-US" sz="1400" dirty="0"/>
          </a:p>
        </p:txBody>
      </p:sp>
      <p:sp>
        <p:nvSpPr>
          <p:cNvPr id="8" name="Text 6"/>
          <p:cNvSpPr/>
          <p:nvPr/>
        </p:nvSpPr>
        <p:spPr>
          <a:xfrm>
            <a:off x="795528" y="275234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A ‘never’ must hold always, be inspectable, and be provable after the fact. Remove the modality and nothing of the rule remains.</a:t>
            </a:r>
            <a:endParaRPr lang="en-US" sz="115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6461608" y="1892808"/>
            <a:ext cx="1161288" cy="310896"/>
          </a:xfrm>
          <a:prstGeom prst="roundRect">
            <a:avLst>
              <a:gd name="adj" fmla="val 50000"/>
            </a:avLst>
          </a:prstGeom>
          <a:solidFill>
            <a:srgbClr val="1B1A18"/>
          </a:solidFill>
          <a:ln/>
        </p:spPr>
      </p:sp>
      <p:sp>
        <p:nvSpPr>
          <p:cNvPr id="11" name="Text 9"/>
          <p:cNvSpPr/>
          <p:nvPr/>
        </p:nvSpPr>
        <p:spPr>
          <a:xfrm>
            <a:off x="6461608" y="1892808"/>
            <a:ext cx="116128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Axiom 2</a:t>
            </a:r>
            <a:endParaRPr lang="en-US" sz="950" dirty="0"/>
          </a:p>
        </p:txBody>
      </p:sp>
      <p:sp>
        <p:nvSpPr>
          <p:cNvPr id="12" name="Text 10"/>
          <p:cNvSpPr/>
          <p:nvPr/>
        </p:nvSpPr>
        <p:spPr>
          <a:xfrm>
            <a:off x="646160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Probabilistic behaviour</a:t>
            </a:r>
            <a:endParaRPr lang="en-US" sz="1400" dirty="0"/>
          </a:p>
        </p:txBody>
      </p:sp>
      <p:sp>
        <p:nvSpPr>
          <p:cNvPr id="13" name="Text 11"/>
          <p:cNvSpPr/>
          <p:nvPr/>
        </p:nvSpPr>
        <p:spPr>
          <a:xfrm>
            <a:off x="6461608" y="275234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The same input can produce different output; adversarial input, arbitrary output. Instructed behaviour is not guaranteed behaviour.</a:t>
            </a:r>
            <a:endParaRPr lang="en-US" sz="115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795528" y="4315968"/>
            <a:ext cx="1965960" cy="310896"/>
          </a:xfrm>
          <a:prstGeom prst="roundRect">
            <a:avLst>
              <a:gd name="adj" fmla="val 50000"/>
            </a:avLst>
          </a:prstGeom>
          <a:solidFill>
            <a:srgbClr val="8A8378"/>
          </a:solidFill>
          <a:ln/>
        </p:spPr>
      </p:sp>
      <p:sp>
        <p:nvSpPr>
          <p:cNvPr id="16" name="Text 14"/>
          <p:cNvSpPr/>
          <p:nvPr/>
        </p:nvSpPr>
        <p:spPr>
          <a:xfrm>
            <a:off x="795528" y="4315968"/>
            <a:ext cx="196596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The composition</a:t>
            </a:r>
            <a:endParaRPr lang="en-US" sz="950" dirty="0"/>
          </a:p>
        </p:txBody>
      </p:sp>
      <p:sp>
        <p:nvSpPr>
          <p:cNvPr id="17" name="Text 15"/>
          <p:cNvSpPr/>
          <p:nvPr/>
        </p:nvSpPr>
        <p:spPr>
          <a:xfrm>
            <a:off x="795528" y="471830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The model can’t be the control point</a:t>
            </a:r>
            <a:endParaRPr lang="en-US" sz="1400" dirty="0"/>
          </a:p>
        </p:txBody>
      </p:sp>
      <p:sp>
        <p:nvSpPr>
          <p:cNvPr id="18" name="Text 16"/>
          <p:cNvSpPr/>
          <p:nvPr/>
        </p:nvSpPr>
        <p:spPr>
          <a:xfrm>
            <a:off x="795528" y="517550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If governance must hold always and the model holds usually, the ‘never’ cannot live in the model. It must live in structure.</a:t>
            </a:r>
            <a:endParaRPr lang="en-US" sz="1150" dirty="0"/>
          </a:p>
        </p:txBody>
      </p:sp>
      <p:sp>
        <p:nvSpPr>
          <p:cNvPr id="19" name="Shape 17"/>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6461608" y="4315968"/>
            <a:ext cx="1664208" cy="310896"/>
          </a:xfrm>
          <a:prstGeom prst="roundRect">
            <a:avLst>
              <a:gd name="adj" fmla="val 50000"/>
            </a:avLst>
          </a:prstGeom>
          <a:solidFill>
            <a:srgbClr val="8A8378"/>
          </a:solidFill>
          <a:ln/>
        </p:spPr>
      </p:sp>
      <p:sp>
        <p:nvSpPr>
          <p:cNvPr id="21" name="Text 19"/>
          <p:cNvSpPr/>
          <p:nvPr/>
        </p:nvSpPr>
        <p:spPr>
          <a:xfrm>
            <a:off x="6461608" y="4315968"/>
            <a:ext cx="166420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For drafting</a:t>
            </a:r>
            <a:endParaRPr lang="en-US" sz="950" dirty="0"/>
          </a:p>
        </p:txBody>
      </p:sp>
      <p:sp>
        <p:nvSpPr>
          <p:cNvPr id="22" name="Text 20"/>
          <p:cNvSpPr/>
          <p:nvPr/>
        </p:nvSpPr>
        <p:spPr>
          <a:xfrm>
            <a:off x="6461608" y="471830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Name the enforcement point</a:t>
            </a:r>
            <a:endParaRPr lang="en-US" sz="1400" dirty="0"/>
          </a:p>
        </p:txBody>
      </p:sp>
      <p:sp>
        <p:nvSpPr>
          <p:cNvPr id="23" name="Text 21"/>
          <p:cNvSpPr/>
          <p:nvPr/>
        </p:nvSpPr>
        <p:spPr>
          <a:xfrm>
            <a:off x="6461608" y="517550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A binding standard specifies not just the rule but where, structurally, it is enforced — and forbids ‘we instruct the model’ as the answer.</a:t>
            </a:r>
            <a:endParaRPr lang="en-US" sz="1150" dirty="0"/>
          </a:p>
        </p:txBody>
      </p:sp>
      <p:sp>
        <p:nvSpPr>
          <p:cNvPr id="24" name="Text 2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25" name="Text 2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502920"/>
            <a:ext cx="2468880" cy="310896"/>
          </a:xfrm>
          <a:prstGeom prst="roundRect">
            <a:avLst>
              <a:gd name="adj" fmla="val 50000"/>
            </a:avLst>
          </a:prstGeom>
          <a:solidFill>
            <a:srgbClr val="8A8378"/>
          </a:solidFill>
          <a:ln/>
        </p:spPr>
      </p:sp>
      <p:sp>
        <p:nvSpPr>
          <p:cNvPr id="3" name="Text 1"/>
          <p:cNvSpPr/>
          <p:nvPr/>
        </p:nvSpPr>
        <p:spPr>
          <a:xfrm>
            <a:off x="566928" y="502920"/>
            <a:ext cx="24688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ENFORCEMENT RECORD</a:t>
            </a:r>
            <a:endParaRPr lang="en-US" sz="1050" dirty="0"/>
          </a:p>
        </p:txBody>
      </p:sp>
      <p:sp>
        <p:nvSpPr>
          <p:cNvPr id="4" name="Text 2"/>
          <p:cNvSpPr/>
          <p:nvPr/>
        </p:nvSpPr>
        <p:spPr>
          <a:xfrm>
            <a:off x="566928" y="91440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AUSTRAC v Commonwealth Bank</a:t>
            </a:r>
            <a:endParaRPr lang="en-US" sz="2150" dirty="0"/>
          </a:p>
        </p:txBody>
      </p:sp>
      <p:sp>
        <p:nvSpPr>
          <p:cNvPr id="5" name="Text 3"/>
          <p:cNvSpPr/>
          <p:nvPr/>
        </p:nvSpPr>
        <p:spPr>
          <a:xfrm>
            <a:off x="566928" y="1965960"/>
            <a:ext cx="5760720" cy="1463040"/>
          </a:xfrm>
          <a:prstGeom prst="rect">
            <a:avLst/>
          </a:prstGeom>
          <a:noFill/>
          <a:ln/>
        </p:spPr>
        <p:txBody>
          <a:bodyPr wrap="square" rtlCol="0" anchor="ctr"/>
          <a:lstStyle/>
          <a:p>
            <a:pPr indent="0" marL="0">
              <a:buNone/>
            </a:pPr>
            <a:r>
              <a:rPr lang="en-US" sz="5100" b="1" dirty="0">
                <a:solidFill>
                  <a:srgbClr val="8A8378"/>
                </a:solidFill>
                <a:latin typeface="Georgia" pitchFamily="34" charset="0"/>
                <a:ea typeface="Georgia" pitchFamily="34" charset="-122"/>
                <a:cs typeface="Georgia" pitchFamily="34" charset="-120"/>
              </a:rPr>
              <a:t>A$700M</a:t>
            </a:r>
            <a:endParaRPr lang="en-US" sz="5100" dirty="0"/>
          </a:p>
        </p:txBody>
      </p:sp>
      <p:sp>
        <p:nvSpPr>
          <p:cNvPr id="6" name="Text 4"/>
          <p:cNvSpPr/>
          <p:nvPr/>
        </p:nvSpPr>
        <p:spPr>
          <a:xfrm>
            <a:off x="566928" y="3383280"/>
            <a:ext cx="5760720" cy="1371600"/>
          </a:xfrm>
          <a:prstGeom prst="rect">
            <a:avLst/>
          </a:prstGeom>
          <a:noFill/>
          <a:ln/>
        </p:spPr>
        <p:txBody>
          <a:bodyPr wrap="square" rtlCol="0" anchor="t"/>
          <a:lstStyle/>
          <a:p>
            <a:pPr indent="0" marL="0">
              <a:lnSpc>
                <a:spcPct val="120000"/>
              </a:lnSpc>
              <a:buNone/>
            </a:pPr>
            <a:r>
              <a:rPr lang="en-US" sz="1400" dirty="0">
                <a:solidFill>
                  <a:srgbClr val="E4DFD5"/>
                </a:solidFill>
                <a:latin typeface="Georgia" pitchFamily="34" charset="0"/>
                <a:ea typeface="Georgia" pitchFamily="34" charset="-122"/>
                <a:cs typeface="Georgia" pitchFamily="34" charset="-120"/>
              </a:rPr>
              <a:t>penalty; 53,506 late reports (~A$625M in value) from a single systems error — a modal obligation, categorically breached</a:t>
            </a:r>
            <a:endParaRPr lang="en-US" sz="1400" dirty="0"/>
          </a:p>
        </p:txBody>
      </p:sp>
      <p:sp>
        <p:nvSpPr>
          <p:cNvPr id="7" name="Text 5"/>
          <p:cNvSpPr/>
          <p:nvPr/>
        </p:nvSpPr>
        <p:spPr>
          <a:xfrm>
            <a:off x="566928" y="5349240"/>
            <a:ext cx="5852160" cy="731520"/>
          </a:xfrm>
          <a:prstGeom prst="rect">
            <a:avLst/>
          </a:prstGeom>
          <a:noFill/>
          <a:ln/>
        </p:spPr>
        <p:txBody>
          <a:bodyPr wrap="square" rtlCol="0" anchor="t"/>
          <a:lstStyle/>
          <a:p>
            <a:pPr indent="0" marL="0">
              <a:lnSpc>
                <a:spcPct val="110000"/>
              </a:lnSpc>
              <a:buNone/>
            </a:pPr>
            <a:r>
              <a:rPr lang="en-US" sz="900" b="1" dirty="0">
                <a:solidFill>
                  <a:srgbClr val="8A8378"/>
                </a:solidFill>
                <a:latin typeface="Georgia" pitchFamily="34" charset="0"/>
                <a:ea typeface="Georgia" pitchFamily="34" charset="-122"/>
                <a:cs typeface="Georgia" pitchFamily="34" charset="-120"/>
              </a:rPr>
              <a:t>SOURCE  </a:t>
            </a:r>
            <a:pPr indent="0" marL="0">
              <a:lnSpc>
                <a:spcPct val="110000"/>
              </a:lnSpc>
              <a:buNone/>
            </a:pPr>
            <a:r>
              <a:rPr lang="en-US" sz="950" i="1" dirty="0">
                <a:solidFill>
                  <a:srgbClr val="C4BDB0"/>
                </a:solidFill>
                <a:latin typeface="Georgia" pitchFamily="34" charset="0"/>
                <a:ea typeface="Georgia" pitchFamily="34" charset="-122"/>
                <a:cs typeface="Georgia" pitchFamily="34" charset="-120"/>
              </a:rPr>
              <a:t>AUSTRAC civil proceedings (filed 3 Aug 2017); A$700M penalty approved 4 Jun 2018; APRA Prudential Inquiry (2018).</a:t>
            </a:r>
            <a:endParaRPr lang="en-US" sz="900" dirty="0"/>
          </a:p>
        </p:txBody>
      </p:sp>
      <p:sp>
        <p:nvSpPr>
          <p:cNvPr id="8" name="Shape 6"/>
          <p:cNvSpPr/>
          <p:nvPr/>
        </p:nvSpPr>
        <p:spPr>
          <a:xfrm>
            <a:off x="6766560" y="1965960"/>
            <a:ext cx="4858207" cy="3794760"/>
          </a:xfrm>
          <a:prstGeom prst="roundRect">
            <a:avLst>
              <a:gd name="adj" fmla="val 2410"/>
            </a:avLst>
          </a:prstGeom>
          <a:solidFill>
            <a:srgbClr val="33302B"/>
          </a:solidFill>
          <a:ln/>
        </p:spPr>
      </p:sp>
      <p:sp>
        <p:nvSpPr>
          <p:cNvPr id="9" name="Text 7"/>
          <p:cNvSpPr/>
          <p:nvPr/>
        </p:nvSpPr>
        <p:spPr>
          <a:xfrm>
            <a:off x="6995160" y="2167128"/>
            <a:ext cx="4401007" cy="3429000"/>
          </a:xfrm>
          <a:prstGeom prst="rect">
            <a:avLst/>
          </a:prstGeom>
          <a:noFill/>
          <a:ln/>
        </p:spPr>
        <p:txBody>
          <a:bodyPr wrap="square" rtlCol="0" anchor="t"/>
          <a:lstStyle/>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What happened:</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a coding error meant tens of thousands of mandatory reports were filed late; liability was categorical.</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The lesson it proves:</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a modal ‘must report’ is not satisfied 99.9% of the time — one systems error is a violation with a measured frequency.</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For the supervisor:</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write the reporting standard so the obligation is enforced structurally and evidenced by construction — not left to a process that can silently fail.</a:t>
            </a:r>
            <a:endParaRPr lang="en-US" sz="1200" dirty="0"/>
          </a:p>
        </p:txBody>
      </p:sp>
      <p:sp>
        <p:nvSpPr>
          <p:cNvPr id="10" name="Text 8"/>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1" name="Text 9"/>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521208" y="548640"/>
            <a:ext cx="1828800" cy="1463040"/>
          </a:xfrm>
          <a:prstGeom prst="rect">
            <a:avLst/>
          </a:prstGeom>
          <a:noFill/>
          <a:ln/>
        </p:spPr>
        <p:txBody>
          <a:bodyPr wrap="square" rtlCol="0" anchor="ctr"/>
          <a:lstStyle/>
          <a:p>
            <a:pPr indent="0" marL="0">
              <a:buNone/>
            </a:pPr>
            <a:r>
              <a:rPr lang="en-US" sz="12200" b="1" dirty="0">
                <a:solidFill>
                  <a:srgbClr val="E4DFD5"/>
                </a:solidFill>
                <a:latin typeface="Georgia" pitchFamily="34" charset="0"/>
                <a:ea typeface="Georgia" pitchFamily="34" charset="-122"/>
                <a:cs typeface="Georgia" pitchFamily="34" charset="-120"/>
              </a:rPr>
              <a:t>“</a:t>
            </a:r>
            <a:endParaRPr lang="en-US" sz="12200" dirty="0"/>
          </a:p>
        </p:txBody>
      </p:sp>
      <p:sp>
        <p:nvSpPr>
          <p:cNvPr id="3" name="Text 1"/>
          <p:cNvSpPr/>
          <p:nvPr/>
        </p:nvSpPr>
        <p:spPr>
          <a:xfrm>
            <a:off x="1554480" y="1371600"/>
            <a:ext cx="9960559"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SUPERVISORY STANCE</a:t>
            </a:r>
            <a:endParaRPr lang="en-US" sz="1150" dirty="0"/>
          </a:p>
        </p:txBody>
      </p:sp>
      <p:sp>
        <p:nvSpPr>
          <p:cNvPr id="4" name="Text 2"/>
          <p:cNvSpPr/>
          <p:nvPr/>
        </p:nvSpPr>
        <p:spPr>
          <a:xfrm>
            <a:off x="1554480" y="1783080"/>
            <a:ext cx="9594799" cy="2743200"/>
          </a:xfrm>
          <a:prstGeom prst="rect">
            <a:avLst/>
          </a:prstGeom>
          <a:noFill/>
          <a:ln/>
        </p:spPr>
        <p:txBody>
          <a:bodyPr wrap="square" rtlCol="0" anchor="t"/>
          <a:lstStyle/>
          <a:p>
            <a:pPr indent="0" marL="0">
              <a:lnSpc>
                <a:spcPct val="115000"/>
              </a:lnSpc>
              <a:buNone/>
            </a:pPr>
            <a:r>
              <a:rPr lang="en-US" sz="2350" b="1" i="1" dirty="0">
                <a:solidFill>
                  <a:srgbClr val="1B1A18"/>
                </a:solidFill>
                <a:latin typeface="Georgia" pitchFamily="34" charset="0"/>
                <a:ea typeface="Georgia" pitchFamily="34" charset="-122"/>
                <a:cs typeface="Georgia" pitchFamily="34" charset="-120"/>
              </a:rPr>
              <a:t>A regulator does not ask what a system usually does; a regulator asks what the system structurally cannot do, and then demands evidence, transaction by transaction, that it did not.</a:t>
            </a:r>
            <a:endParaRPr lang="en-US" sz="2350" dirty="0"/>
          </a:p>
        </p:txBody>
      </p:sp>
      <p:sp>
        <p:nvSpPr>
          <p:cNvPr id="5" name="Text 3"/>
          <p:cNvSpPr/>
          <p:nvPr/>
        </p:nvSpPr>
        <p:spPr>
          <a:xfrm>
            <a:off x="1572768" y="4937760"/>
            <a:ext cx="9594799" cy="457200"/>
          </a:xfrm>
          <a:prstGeom prst="rect">
            <a:avLst/>
          </a:prstGeom>
          <a:noFill/>
          <a:ln/>
        </p:spPr>
        <p:txBody>
          <a:bodyPr wrap="square" rtlCol="0" anchor="ctr"/>
          <a:lstStyle/>
          <a:p>
            <a:pPr indent="0" marL="0">
              <a:buNone/>
            </a:pPr>
            <a:r>
              <a:rPr lang="en-US" sz="1300" dirty="0">
                <a:solidFill>
                  <a:srgbClr val="6E6A62"/>
                </a:solidFill>
                <a:latin typeface="Georgia" pitchFamily="34" charset="0"/>
                <a:ea typeface="Georgia" pitchFamily="34" charset="-122"/>
                <a:cs typeface="Georgia" pitchFamily="34" charset="-120"/>
              </a:rPr>
              <a:t>— Axiom 1, Regulatory determinism (Chapter 5)</a:t>
            </a:r>
            <a:endParaRPr lang="en-US" sz="13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194560" cy="310896"/>
          </a:xfrm>
          <a:prstGeom prst="roundRect">
            <a:avLst>
              <a:gd name="adj" fmla="val 50000"/>
            </a:avLst>
          </a:prstGeom>
          <a:solidFill>
            <a:srgbClr val="8A8378"/>
          </a:solidFill>
          <a:ln/>
        </p:spPr>
      </p:sp>
      <p:sp>
        <p:nvSpPr>
          <p:cNvPr id="3" name="Text 1"/>
          <p:cNvSpPr/>
          <p:nvPr/>
        </p:nvSpPr>
        <p:spPr>
          <a:xfrm>
            <a:off x="566928" y="502920"/>
            <a:ext cx="219456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FOR THE STANDARD</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For the standard — Module 3</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Take a modal rule you enforce. Where, structurally, could an entity make its violation impossible rather than merely unlikely?</a:t>
            </a:r>
            <a:endParaRPr lang="en-US" sz="140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How would you draft the rule so a ‘we instruct the model not to’ answer fails the standard on its face?</a:t>
            </a:r>
            <a:endParaRPr lang="en-US" sz="140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737360" cy="310896"/>
          </a:xfrm>
          <a:prstGeom prst="roundRect">
            <a:avLst>
              <a:gd name="adj" fmla="val 50000"/>
            </a:avLst>
          </a:prstGeom>
          <a:solidFill>
            <a:srgbClr val="8A8378"/>
          </a:solidFill>
          <a:ln/>
        </p:spPr>
      </p:sp>
      <p:sp>
        <p:nvSpPr>
          <p:cNvPr id="3" name="Text 1"/>
          <p:cNvSpPr/>
          <p:nvPr/>
        </p:nvSpPr>
        <p:spPr>
          <a:xfrm>
            <a:off x="566928" y="2148840"/>
            <a:ext cx="173736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MODULE 4</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100" b="1" dirty="0">
                <a:solidFill>
                  <a:srgbClr val="FFFFFF"/>
                </a:solidFill>
                <a:latin typeface="Georgia" pitchFamily="34" charset="0"/>
                <a:ea typeface="Georgia" pitchFamily="34" charset="-122"/>
                <a:cs typeface="Georgia" pitchFamily="34" charset="-120"/>
              </a:rPr>
              <a:t>Evidence and the Examination</a:t>
            </a:r>
            <a:endParaRPr lang="en-US" sz="3100" dirty="0"/>
          </a:p>
        </p:txBody>
      </p:sp>
      <p:sp>
        <p:nvSpPr>
          <p:cNvPr id="5" name="Text 3"/>
          <p:cNvSpPr/>
          <p:nvPr/>
        </p:nvSpPr>
        <p:spPr>
          <a:xfrm>
            <a:off x="566928" y="370332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What to demand at examination: evidence that is a by-product of the transaction, complete by construction, and trustworthy independently of the party being examined.</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buNone/>
            </a:pPr>
            <a:r>
              <a:rPr lang="en-US" sz="1900" b="1" dirty="0">
                <a:solidFill>
                  <a:srgbClr val="1B1A18"/>
                </a:solidFill>
                <a:latin typeface="Georgia" pitchFamily="34" charset="0"/>
                <a:ea typeface="Georgia" pitchFamily="34" charset="-122"/>
                <a:cs typeface="Georgia" pitchFamily="34" charset="-120"/>
              </a:rPr>
              <a:t>M4</a:t>
            </a:r>
            <a:endParaRPr lang="en-US" sz="19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Evidence and the examination</a:t>
            </a:r>
            <a:endParaRPr lang="en-US" sz="21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MODULE</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In a regulated setting the artefact of proof — who set the rule, which boundary enforced it, what happened at each transaction — is a product of the system, not documentation about it. Evidence assembled after the fact is custody that has already failed. This module gives you the tests to demand it, and a cautionary record of what happens when unaccountable system evidence is trusted at scale.</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Supervisory take-aways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Require evidence by construction</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Apply the last-month test at examination</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See the danger of trusting system evidence at volume</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AUDIT PRIMACY IN PRACTICE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What to demand at examination</a:t>
            </a:r>
            <a:endParaRPr lang="en-US" sz="24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Evidence is a product, not a report.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Complete by construction, verifiable by someone who distrusts the keeper — including you.</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It exists at the transaction or not at all.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Attribution not captured at the moment of action cannot be retrofitted.</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last-month test.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Demand full attribution of one transaction — including the rule version in force — by query, on the spot.</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Independence of trust.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record the examined party alone can vouch for is testimony wearing evidence’s clothes.</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502920"/>
            <a:ext cx="2468880" cy="310896"/>
          </a:xfrm>
          <a:prstGeom prst="roundRect">
            <a:avLst>
              <a:gd name="adj" fmla="val 50000"/>
            </a:avLst>
          </a:prstGeom>
          <a:solidFill>
            <a:srgbClr val="8A8378"/>
          </a:solidFill>
          <a:ln/>
        </p:spPr>
      </p:sp>
      <p:sp>
        <p:nvSpPr>
          <p:cNvPr id="3" name="Text 1"/>
          <p:cNvSpPr/>
          <p:nvPr/>
        </p:nvSpPr>
        <p:spPr>
          <a:xfrm>
            <a:off x="566928" y="502920"/>
            <a:ext cx="24688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ENFORCEMENT RECORD</a:t>
            </a:r>
            <a:endParaRPr lang="en-US" sz="1050" dirty="0"/>
          </a:p>
        </p:txBody>
      </p:sp>
      <p:sp>
        <p:nvSpPr>
          <p:cNvPr id="4" name="Text 2"/>
          <p:cNvSpPr/>
          <p:nvPr/>
        </p:nvSpPr>
        <p:spPr>
          <a:xfrm>
            <a:off x="566928" y="91440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Post Office / Horizon</a:t>
            </a:r>
            <a:endParaRPr lang="en-US" sz="2150" dirty="0"/>
          </a:p>
        </p:txBody>
      </p:sp>
      <p:sp>
        <p:nvSpPr>
          <p:cNvPr id="5" name="Text 3"/>
          <p:cNvSpPr/>
          <p:nvPr/>
        </p:nvSpPr>
        <p:spPr>
          <a:xfrm>
            <a:off x="566928" y="1965960"/>
            <a:ext cx="5760720" cy="1463040"/>
          </a:xfrm>
          <a:prstGeom prst="rect">
            <a:avLst/>
          </a:prstGeom>
          <a:noFill/>
          <a:ln/>
        </p:spPr>
        <p:txBody>
          <a:bodyPr wrap="square" rtlCol="0" anchor="ctr"/>
          <a:lstStyle/>
          <a:p>
            <a:pPr indent="0" marL="0">
              <a:buNone/>
            </a:pPr>
            <a:r>
              <a:rPr lang="en-US" sz="5100" b="1" dirty="0">
                <a:solidFill>
                  <a:srgbClr val="8A8378"/>
                </a:solidFill>
                <a:latin typeface="Georgia" pitchFamily="34" charset="0"/>
                <a:ea typeface="Georgia" pitchFamily="34" charset="-122"/>
                <a:cs typeface="Georgia" pitchFamily="34" charset="-120"/>
              </a:rPr>
              <a:t>900+ / 236</a:t>
            </a:r>
            <a:endParaRPr lang="en-US" sz="5100" dirty="0"/>
          </a:p>
        </p:txBody>
      </p:sp>
      <p:sp>
        <p:nvSpPr>
          <p:cNvPr id="6" name="Text 4"/>
          <p:cNvSpPr/>
          <p:nvPr/>
        </p:nvSpPr>
        <p:spPr>
          <a:xfrm>
            <a:off x="566928" y="3383280"/>
            <a:ext cx="5760720" cy="1371600"/>
          </a:xfrm>
          <a:prstGeom prst="rect">
            <a:avLst/>
          </a:prstGeom>
          <a:noFill/>
          <a:ln/>
        </p:spPr>
        <p:txBody>
          <a:bodyPr wrap="square" rtlCol="0" anchor="t"/>
          <a:lstStyle/>
          <a:p>
            <a:pPr indent="0" marL="0">
              <a:lnSpc>
                <a:spcPct val="120000"/>
              </a:lnSpc>
              <a:buNone/>
            </a:pPr>
            <a:r>
              <a:rPr lang="en-US" sz="1400" dirty="0">
                <a:solidFill>
                  <a:srgbClr val="E4DFD5"/>
                </a:solidFill>
                <a:latin typeface="Georgia" pitchFamily="34" charset="0"/>
                <a:ea typeface="Georgia" pitchFamily="34" charset="-122"/>
                <a:cs typeface="Georgia" pitchFamily="34" charset="-120"/>
              </a:rPr>
              <a:t>people prosecuted and 236 imprisoned on unaccountable system evidence; ~£1,628M redress to 12,900+ claimants</a:t>
            </a:r>
            <a:endParaRPr lang="en-US" sz="1400" dirty="0"/>
          </a:p>
        </p:txBody>
      </p:sp>
      <p:sp>
        <p:nvSpPr>
          <p:cNvPr id="7" name="Text 5"/>
          <p:cNvSpPr/>
          <p:nvPr/>
        </p:nvSpPr>
        <p:spPr>
          <a:xfrm>
            <a:off x="566928" y="5349240"/>
            <a:ext cx="5852160" cy="731520"/>
          </a:xfrm>
          <a:prstGeom prst="rect">
            <a:avLst/>
          </a:prstGeom>
          <a:noFill/>
          <a:ln/>
        </p:spPr>
        <p:txBody>
          <a:bodyPr wrap="square" rtlCol="0" anchor="t"/>
          <a:lstStyle/>
          <a:p>
            <a:pPr indent="0" marL="0">
              <a:lnSpc>
                <a:spcPct val="110000"/>
              </a:lnSpc>
              <a:buNone/>
            </a:pPr>
            <a:r>
              <a:rPr lang="en-US" sz="900" b="1" dirty="0">
                <a:solidFill>
                  <a:srgbClr val="8A8378"/>
                </a:solidFill>
                <a:latin typeface="Georgia" pitchFamily="34" charset="0"/>
                <a:ea typeface="Georgia" pitchFamily="34" charset="-122"/>
                <a:cs typeface="Georgia" pitchFamily="34" charset="-120"/>
              </a:rPr>
              <a:t>SOURCE  </a:t>
            </a:r>
            <a:pPr indent="0" marL="0">
              <a:lnSpc>
                <a:spcPct val="110000"/>
              </a:lnSpc>
              <a:buNone/>
            </a:pPr>
            <a:r>
              <a:rPr lang="en-US" sz="950" i="1" dirty="0">
                <a:solidFill>
                  <a:srgbClr val="C4BDB0"/>
                </a:solidFill>
                <a:latin typeface="Georgia" pitchFamily="34" charset="0"/>
                <a:ea typeface="Georgia" pitchFamily="34" charset="-122"/>
                <a:cs typeface="Georgia" pitchFamily="34" charset="-120"/>
              </a:rPr>
              <a:t>Hamilton &amp; Others v Post Office Ltd [2021] EWCA Crim 577; Post Office (Horizon System) Offences Act 2024; Horizon Inquiry (2025); DBT redress data (2026).</a:t>
            </a:r>
            <a:endParaRPr lang="en-US" sz="900" dirty="0"/>
          </a:p>
        </p:txBody>
      </p:sp>
      <p:sp>
        <p:nvSpPr>
          <p:cNvPr id="8" name="Shape 6"/>
          <p:cNvSpPr/>
          <p:nvPr/>
        </p:nvSpPr>
        <p:spPr>
          <a:xfrm>
            <a:off x="6766560" y="1965960"/>
            <a:ext cx="4858207" cy="3794760"/>
          </a:xfrm>
          <a:prstGeom prst="roundRect">
            <a:avLst>
              <a:gd name="adj" fmla="val 2410"/>
            </a:avLst>
          </a:prstGeom>
          <a:solidFill>
            <a:srgbClr val="33302B"/>
          </a:solidFill>
          <a:ln/>
        </p:spPr>
      </p:sp>
      <p:sp>
        <p:nvSpPr>
          <p:cNvPr id="9" name="Text 7"/>
          <p:cNvSpPr/>
          <p:nvPr/>
        </p:nvSpPr>
        <p:spPr>
          <a:xfrm>
            <a:off x="6995160" y="2167128"/>
            <a:ext cx="4401007" cy="3429000"/>
          </a:xfrm>
          <a:prstGeom prst="rect">
            <a:avLst/>
          </a:prstGeom>
          <a:noFill/>
          <a:ln/>
        </p:spPr>
        <p:txBody>
          <a:bodyPr wrap="square" rtlCol="0" anchor="t"/>
          <a:lstStyle/>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What happened:</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an institution treated its system’s figures as ground truth and prosecuted its own people for shortfalls the system generated.</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The lesson it proves:</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system output is not automatically evidence; a record that cannot be independently trusted must not carry legal weight.</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For the supervisor:</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the gravest custody failure of the era required no AI — only unaccountable evidence, believed at volume. Demand construction and independence.</a:t>
            </a:r>
            <a:endParaRPr lang="en-US" sz="1200" dirty="0"/>
          </a:p>
        </p:txBody>
      </p:sp>
      <p:sp>
        <p:nvSpPr>
          <p:cNvPr id="10" name="Text 8"/>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1" name="Text 9"/>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194560" cy="310896"/>
          </a:xfrm>
          <a:prstGeom prst="roundRect">
            <a:avLst>
              <a:gd name="adj" fmla="val 50000"/>
            </a:avLst>
          </a:prstGeom>
          <a:solidFill>
            <a:srgbClr val="8A8378"/>
          </a:solidFill>
          <a:ln/>
        </p:spPr>
      </p:sp>
      <p:sp>
        <p:nvSpPr>
          <p:cNvPr id="3" name="Text 1"/>
          <p:cNvSpPr/>
          <p:nvPr/>
        </p:nvSpPr>
        <p:spPr>
          <a:xfrm>
            <a:off x="566928" y="502920"/>
            <a:ext cx="219456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FOR THE STANDARD</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For the standard — Module 4</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At your next examination, could the entity answer the last-month test by query — with the rule version in force — while you watch?</a:t>
            </a:r>
            <a:endParaRPr lang="en-US" sz="140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Where in your regime does system output currently carry evidential weight without a test of independent trustworthiness?</a:t>
            </a:r>
            <a:endParaRPr lang="en-US" sz="140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737360" cy="310896"/>
          </a:xfrm>
          <a:prstGeom prst="roundRect">
            <a:avLst>
              <a:gd name="adj" fmla="val 50000"/>
            </a:avLst>
          </a:prstGeom>
          <a:solidFill>
            <a:srgbClr val="8A8378"/>
          </a:solidFill>
          <a:ln/>
        </p:spPr>
      </p:sp>
      <p:sp>
        <p:nvSpPr>
          <p:cNvPr id="3" name="Text 1"/>
          <p:cNvSpPr/>
          <p:nvPr/>
        </p:nvSpPr>
        <p:spPr>
          <a:xfrm>
            <a:off x="566928" y="2148840"/>
            <a:ext cx="173736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MODULE 5</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100" b="1" dirty="0">
                <a:solidFill>
                  <a:srgbClr val="FFFFFF"/>
                </a:solidFill>
                <a:latin typeface="Georgia" pitchFamily="34" charset="0"/>
                <a:ea typeface="Georgia" pitchFamily="34" charset="-122"/>
                <a:cs typeface="Georgia" pitchFamily="34" charset="-120"/>
              </a:rPr>
              <a:t>Sovereignty, Jurisdiction &amp; Systemic Risk</a:t>
            </a:r>
            <a:endParaRPr lang="en-US" sz="3100" dirty="0"/>
          </a:p>
        </p:txBody>
      </p:sp>
      <p:sp>
        <p:nvSpPr>
          <p:cNvPr id="5" name="Text 3"/>
          <p:cNvSpPr/>
          <p:nvPr/>
        </p:nvSpPr>
        <p:spPr>
          <a:xfrm>
            <a:off x="566928" y="370332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Cross-border dependency, concentration, and the ability to say no: how a structural lens exposes jurisdictional and systemic exposure a conduct review alone would miss.</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buNone/>
            </a:pPr>
            <a:r>
              <a:rPr lang="en-US" sz="1900" b="1" dirty="0">
                <a:solidFill>
                  <a:srgbClr val="1B1A18"/>
                </a:solidFill>
                <a:latin typeface="Georgia" pitchFamily="34" charset="0"/>
                <a:ea typeface="Georgia" pitchFamily="34" charset="-122"/>
                <a:cs typeface="Georgia" pitchFamily="34" charset="-120"/>
              </a:rPr>
              <a:t>M5</a:t>
            </a:r>
            <a:endParaRPr lang="en-US" sz="19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Sovereignty, jurisdiction &amp; systemic risk</a:t>
            </a:r>
            <a:endParaRPr lang="en-US" sz="21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MODULE</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Dependence on a single provider, model, or jurisdiction is a supervisory concern in its own right. Sovereignty, read structurally, is the ability to say ‘no’ to any single party. A dependency census and a substitution test surface concentration and cross-border exposure — and recent records show both a court invalidating a transfer regime overnight and a regulator suspending a service.</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Supervisory take-aways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Assess concentration and cross-border dependency</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Apply the dependency census and substitution test</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See regulators acting on sovereignty and isolation</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ABILITY TO SAY NO</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A structural lens on systemic exposure</a:t>
            </a:r>
            <a:endParaRPr lang="en-US" sz="2450" dirty="0"/>
          </a:p>
        </p:txBody>
      </p:sp>
      <p:sp>
        <p:nvSpPr>
          <p:cNvPr id="4" name="Shape 2"/>
          <p:cNvSpPr/>
          <p:nvPr/>
        </p:nvSpPr>
        <p:spPr>
          <a:xfrm>
            <a:off x="566928" y="1691640"/>
            <a:ext cx="457200" cy="457200"/>
          </a:xfrm>
          <a:prstGeom prst="ellipse">
            <a:avLst/>
          </a:prstGeom>
          <a:solidFill>
            <a:srgbClr val="8A837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Dependency census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List the parties — providers, models, jurisdictions — whose unilateral change forces the entity to change.</a:t>
            </a:r>
            <a:endParaRPr lang="en-US" sz="1450" dirty="0"/>
          </a:p>
        </p:txBody>
      </p:sp>
      <p:sp>
        <p:nvSpPr>
          <p:cNvPr id="7" name="Shape 5"/>
          <p:cNvSpPr/>
          <p:nvPr/>
        </p:nvSpPr>
        <p:spPr>
          <a:xfrm>
            <a:off x="566928" y="2857500"/>
            <a:ext cx="457200" cy="457200"/>
          </a:xfrm>
          <a:prstGeom prst="ellipse">
            <a:avLst/>
          </a:prstGeom>
          <a:solidFill>
            <a:srgbClr val="8A837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Substitution test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For each, the cost of saying no. Where the answer is ‘cannot’, that is concentration risk you can name.</a:t>
            </a:r>
            <a:endParaRPr lang="en-US" sz="1450" dirty="0"/>
          </a:p>
        </p:txBody>
      </p:sp>
      <p:sp>
        <p:nvSpPr>
          <p:cNvPr id="10" name="Shape 8"/>
          <p:cNvSpPr/>
          <p:nvPr/>
        </p:nvSpPr>
        <p:spPr>
          <a:xfrm>
            <a:off x="566928" y="4023360"/>
            <a:ext cx="457200" cy="457200"/>
          </a:xfrm>
          <a:prstGeom prst="ellipse">
            <a:avLst/>
          </a:prstGeom>
          <a:solidFill>
            <a:srgbClr val="8A837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Isolation as construction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For multi-tenant platforms, ask whether a cross-tenant action is impossible — or merely against policy.</a:t>
            </a:r>
            <a:endParaRPr lang="en-US" sz="1450" dirty="0"/>
          </a:p>
        </p:txBody>
      </p:sp>
      <p:sp>
        <p:nvSpPr>
          <p:cNvPr id="13" name="Shape 11"/>
          <p:cNvSpPr/>
          <p:nvPr/>
        </p:nvSpPr>
        <p:spPr>
          <a:xfrm>
            <a:off x="566928" y="5189220"/>
            <a:ext cx="457200" cy="457200"/>
          </a:xfrm>
          <a:prstGeom prst="ellipse">
            <a:avLst/>
          </a:prstGeom>
          <a:solidFill>
            <a:srgbClr val="8A837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Cross-border reality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single legal arrangement can be invalidated overnight; supervision should assume it and test the fallback.</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502920"/>
            <a:ext cx="2468880" cy="310896"/>
          </a:xfrm>
          <a:prstGeom prst="roundRect">
            <a:avLst>
              <a:gd name="adj" fmla="val 50000"/>
            </a:avLst>
          </a:prstGeom>
          <a:solidFill>
            <a:srgbClr val="8A8378"/>
          </a:solidFill>
          <a:ln/>
        </p:spPr>
      </p:sp>
      <p:sp>
        <p:nvSpPr>
          <p:cNvPr id="3" name="Text 1"/>
          <p:cNvSpPr/>
          <p:nvPr/>
        </p:nvSpPr>
        <p:spPr>
          <a:xfrm>
            <a:off x="566928" y="502920"/>
            <a:ext cx="24688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ENFORCEMENT RECORD</a:t>
            </a:r>
            <a:endParaRPr lang="en-US" sz="1050" dirty="0"/>
          </a:p>
        </p:txBody>
      </p:sp>
      <p:sp>
        <p:nvSpPr>
          <p:cNvPr id="4" name="Text 2"/>
          <p:cNvSpPr/>
          <p:nvPr/>
        </p:nvSpPr>
        <p:spPr>
          <a:xfrm>
            <a:off x="566928" y="91440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Schrems II &amp; a regulator’s suspension</a:t>
            </a:r>
            <a:endParaRPr lang="en-US" sz="2150" dirty="0"/>
          </a:p>
        </p:txBody>
      </p:sp>
      <p:sp>
        <p:nvSpPr>
          <p:cNvPr id="5" name="Text 3"/>
          <p:cNvSpPr/>
          <p:nvPr/>
        </p:nvSpPr>
        <p:spPr>
          <a:xfrm>
            <a:off x="566928" y="1965960"/>
            <a:ext cx="5760720" cy="1463040"/>
          </a:xfrm>
          <a:prstGeom prst="rect">
            <a:avLst/>
          </a:prstGeom>
          <a:noFill/>
          <a:ln/>
        </p:spPr>
        <p:txBody>
          <a:bodyPr wrap="square" rtlCol="0" anchor="ctr"/>
          <a:lstStyle/>
          <a:p>
            <a:pPr indent="0" marL="0">
              <a:buNone/>
            </a:pPr>
            <a:r>
              <a:rPr lang="en-US" sz="5100" b="1" dirty="0">
                <a:solidFill>
                  <a:srgbClr val="8A8378"/>
                </a:solidFill>
                <a:latin typeface="Georgia" pitchFamily="34" charset="0"/>
                <a:ea typeface="Georgia" pitchFamily="34" charset="-122"/>
                <a:cs typeface="Georgia" pitchFamily="34" charset="-120"/>
              </a:rPr>
              <a:t>~5,300 orgs</a:t>
            </a:r>
            <a:endParaRPr lang="en-US" sz="5100" dirty="0"/>
          </a:p>
        </p:txBody>
      </p:sp>
      <p:sp>
        <p:nvSpPr>
          <p:cNvPr id="6" name="Text 4"/>
          <p:cNvSpPr/>
          <p:nvPr/>
        </p:nvSpPr>
        <p:spPr>
          <a:xfrm>
            <a:off x="566928" y="3383280"/>
            <a:ext cx="5760720" cy="1371600"/>
          </a:xfrm>
          <a:prstGeom prst="rect">
            <a:avLst/>
          </a:prstGeom>
          <a:noFill/>
          <a:ln/>
        </p:spPr>
        <p:txBody>
          <a:bodyPr wrap="square" rtlCol="0" anchor="t"/>
          <a:lstStyle/>
          <a:p>
            <a:pPr indent="0" marL="0">
              <a:lnSpc>
                <a:spcPct val="120000"/>
              </a:lnSpc>
              <a:buNone/>
            </a:pPr>
            <a:r>
              <a:rPr lang="en-US" sz="1400" dirty="0">
                <a:solidFill>
                  <a:srgbClr val="E4DFD5"/>
                </a:solidFill>
                <a:latin typeface="Georgia" pitchFamily="34" charset="0"/>
                <a:ea typeface="Georgia" pitchFamily="34" charset="-122"/>
                <a:cs typeface="Georgia" pitchFamily="34" charset="-120"/>
              </a:rPr>
              <a:t>left without a legal basis when a transfer framework was struck down; a data authority separately suspended an AI service</a:t>
            </a:r>
            <a:endParaRPr lang="en-US" sz="1400" dirty="0"/>
          </a:p>
        </p:txBody>
      </p:sp>
      <p:sp>
        <p:nvSpPr>
          <p:cNvPr id="7" name="Text 5"/>
          <p:cNvSpPr/>
          <p:nvPr/>
        </p:nvSpPr>
        <p:spPr>
          <a:xfrm>
            <a:off x="566928" y="5349240"/>
            <a:ext cx="5852160" cy="731520"/>
          </a:xfrm>
          <a:prstGeom prst="rect">
            <a:avLst/>
          </a:prstGeom>
          <a:noFill/>
          <a:ln/>
        </p:spPr>
        <p:txBody>
          <a:bodyPr wrap="square" rtlCol="0" anchor="t"/>
          <a:lstStyle/>
          <a:p>
            <a:pPr indent="0" marL="0">
              <a:lnSpc>
                <a:spcPct val="110000"/>
              </a:lnSpc>
              <a:buNone/>
            </a:pPr>
            <a:r>
              <a:rPr lang="en-US" sz="900" b="1" dirty="0">
                <a:solidFill>
                  <a:srgbClr val="8A8378"/>
                </a:solidFill>
                <a:latin typeface="Georgia" pitchFamily="34" charset="0"/>
                <a:ea typeface="Georgia" pitchFamily="34" charset="-122"/>
                <a:cs typeface="Georgia" pitchFamily="34" charset="-120"/>
              </a:rPr>
              <a:t>SOURCE  </a:t>
            </a:r>
            <a:pPr indent="0" marL="0">
              <a:lnSpc>
                <a:spcPct val="110000"/>
              </a:lnSpc>
              <a:buNone/>
            </a:pPr>
            <a:r>
              <a:rPr lang="en-US" sz="950" i="1" dirty="0">
                <a:solidFill>
                  <a:srgbClr val="C4BDB0"/>
                </a:solidFill>
                <a:latin typeface="Georgia" pitchFamily="34" charset="0"/>
                <a:ea typeface="Georgia" pitchFamily="34" charset="-122"/>
                <a:cs typeface="Georgia" pitchFamily="34" charset="-120"/>
              </a:rPr>
              <a:t>CJEU Case C-311/18, Schrems (16 Jul 2020); national data-protection authority suspension order (Mar 2023).</a:t>
            </a:r>
            <a:endParaRPr lang="en-US" sz="900" dirty="0"/>
          </a:p>
        </p:txBody>
      </p:sp>
      <p:sp>
        <p:nvSpPr>
          <p:cNvPr id="8" name="Shape 6"/>
          <p:cNvSpPr/>
          <p:nvPr/>
        </p:nvSpPr>
        <p:spPr>
          <a:xfrm>
            <a:off x="6766560" y="1965960"/>
            <a:ext cx="4858207" cy="3794760"/>
          </a:xfrm>
          <a:prstGeom prst="roundRect">
            <a:avLst>
              <a:gd name="adj" fmla="val 2410"/>
            </a:avLst>
          </a:prstGeom>
          <a:solidFill>
            <a:srgbClr val="33302B"/>
          </a:solidFill>
          <a:ln/>
        </p:spPr>
      </p:sp>
      <p:sp>
        <p:nvSpPr>
          <p:cNvPr id="9" name="Text 7"/>
          <p:cNvSpPr/>
          <p:nvPr/>
        </p:nvSpPr>
        <p:spPr>
          <a:xfrm>
            <a:off x="6995160" y="2167128"/>
            <a:ext cx="4401007" cy="3429000"/>
          </a:xfrm>
          <a:prstGeom prst="rect">
            <a:avLst/>
          </a:prstGeom>
          <a:noFill/>
          <a:ln/>
        </p:spPr>
        <p:txBody>
          <a:bodyPr wrap="square" rtlCol="0" anchor="t"/>
          <a:lstStyle/>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What happened:</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the EU’s top court invalidated a cross-border transfer framework overnight; a national authority separately ordered an AI service suspended over a data breach.</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The lesson it proves:</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jurisdictional and isolation failures are live supervisory triggers, not hypotheticals.</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For the supervisor:</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require entities to evidence their dependency census and the fallback for each load-bearing party and jurisdiction.</a:t>
            </a:r>
            <a:endParaRPr lang="en-US" sz="1200" dirty="0"/>
          </a:p>
        </p:txBody>
      </p:sp>
      <p:sp>
        <p:nvSpPr>
          <p:cNvPr id="10" name="Text 8"/>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1" name="Text 9"/>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194560" cy="310896"/>
          </a:xfrm>
          <a:prstGeom prst="roundRect">
            <a:avLst>
              <a:gd name="adj" fmla="val 50000"/>
            </a:avLst>
          </a:prstGeom>
          <a:solidFill>
            <a:srgbClr val="8A8378"/>
          </a:solidFill>
          <a:ln/>
        </p:spPr>
      </p:sp>
      <p:sp>
        <p:nvSpPr>
          <p:cNvPr id="3" name="Text 1"/>
          <p:cNvSpPr/>
          <p:nvPr/>
        </p:nvSpPr>
        <p:spPr>
          <a:xfrm>
            <a:off x="566928" y="502920"/>
            <a:ext cx="219456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FOR THE STANDARD</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For the standard — Module 5</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For a significant entity you supervise, which single provider or jurisdiction, if it changed the rules tomorrow, would disrupt a core function?</a:t>
            </a:r>
            <a:endParaRPr lang="en-US" sz="140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Should your regime require a documented dependency census and substitution plan? What would ‘adequate’ look like?</a:t>
            </a:r>
            <a:endParaRPr lang="en-US" sz="140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737360" cy="310896"/>
          </a:xfrm>
          <a:prstGeom prst="roundRect">
            <a:avLst>
              <a:gd name="adj" fmla="val 50000"/>
            </a:avLst>
          </a:prstGeom>
          <a:solidFill>
            <a:srgbClr val="8A8378"/>
          </a:solidFill>
          <a:ln/>
        </p:spPr>
      </p:sp>
      <p:sp>
        <p:nvSpPr>
          <p:cNvPr id="3" name="Text 1"/>
          <p:cNvSpPr/>
          <p:nvPr/>
        </p:nvSpPr>
        <p:spPr>
          <a:xfrm>
            <a:off x="566928" y="2148840"/>
            <a:ext cx="173736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MODULE 6</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100" b="1" dirty="0">
                <a:solidFill>
                  <a:srgbClr val="FFFFFF"/>
                </a:solidFill>
                <a:latin typeface="Georgia" pitchFamily="34" charset="0"/>
                <a:ea typeface="Georgia" pitchFamily="34" charset="-122"/>
                <a:cs typeface="Georgia" pitchFamily="34" charset="-120"/>
              </a:rPr>
              <a:t>The Supervisory Examination Protocol</a:t>
            </a:r>
            <a:endParaRPr lang="en-US" sz="3100" dirty="0"/>
          </a:p>
        </p:txBody>
      </p:sp>
      <p:sp>
        <p:nvSpPr>
          <p:cNvPr id="5" name="Text 3"/>
          <p:cNvSpPr/>
          <p:nvPr/>
        </p:nvSpPr>
        <p:spPr>
          <a:xfrm>
            <a:off x="566928" y="370332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The book’s nine-test protocol, reframed as an on-site examination an authority can run in a working day — plus the six custody rules as a standards checklist.</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buNone/>
            </a:pPr>
            <a:r>
              <a:rPr lang="en-US" sz="1900" b="1" dirty="0">
                <a:solidFill>
                  <a:srgbClr val="1B1A18"/>
                </a:solidFill>
                <a:latin typeface="Georgia" pitchFamily="34" charset="0"/>
                <a:ea typeface="Georgia" pitchFamily="34" charset="-122"/>
                <a:cs typeface="Georgia" pitchFamily="34" charset="-120"/>
              </a:rPr>
              <a:t>M6</a:t>
            </a:r>
            <a:endParaRPr lang="en-US" sz="19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The supervisory examination protocol</a:t>
            </a:r>
            <a:endParaRPr lang="en-US" sz="21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MODULE</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The seminar closes with an instrument: a vendor- and technology-neutral protocol you can run against any agentic system, requiring no source code and no goodwill — only a demonstration against structure. Each test is a question a slide cannot answer, and together they become the backbone of an examination manual or a standards checklist.</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Supervisory take-aways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Run the nine-test examination protocol</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Demand demonstrations, not attestations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Turn the protocol into a standards checklist</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NO SOURCE CODE · NO GOODWILL · A DEMONSTRATION</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nine tests, as a supervisory examination</a:t>
            </a:r>
            <a:endParaRPr lang="en-US" sz="2450" dirty="0"/>
          </a:p>
        </p:txBody>
      </p:sp>
      <p:sp>
        <p:nvSpPr>
          <p:cNvPr id="4" name="Shape 2"/>
          <p:cNvSpPr/>
          <p:nvPr/>
        </p:nvSpPr>
        <p:spPr>
          <a:xfrm>
            <a:off x="566928" y="1691640"/>
            <a:ext cx="3503066"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764792" cy="310896"/>
          </a:xfrm>
          <a:prstGeom prst="roundRect">
            <a:avLst>
              <a:gd name="adj" fmla="val 50000"/>
            </a:avLst>
          </a:prstGeom>
          <a:solidFill>
            <a:srgbClr val="1B1A18"/>
          </a:solidFill>
          <a:ln/>
        </p:spPr>
      </p:sp>
      <p:sp>
        <p:nvSpPr>
          <p:cNvPr id="6" name="Text 4"/>
          <p:cNvSpPr/>
          <p:nvPr/>
        </p:nvSpPr>
        <p:spPr>
          <a:xfrm>
            <a:off x="795528" y="1892808"/>
            <a:ext cx="1764792"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Specification</a:t>
            </a:r>
            <a:endParaRPr lang="en-US" sz="950" dirty="0"/>
          </a:p>
        </p:txBody>
      </p:sp>
      <p:sp>
        <p:nvSpPr>
          <p:cNvPr id="7" name="Text 5"/>
          <p:cNvSpPr/>
          <p:nvPr/>
        </p:nvSpPr>
        <p:spPr>
          <a:xfrm>
            <a:off x="795528"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Show the crossing</a:t>
            </a:r>
            <a:endParaRPr lang="en-US" sz="1400" dirty="0"/>
          </a:p>
        </p:txBody>
      </p:sp>
      <p:sp>
        <p:nvSpPr>
          <p:cNvPr id="8" name="Text 6"/>
          <p:cNvSpPr/>
          <p:nvPr/>
        </p:nvSpPr>
        <p:spPr>
          <a:xfrm>
            <a:off x="795528"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Have the entity walk real work across a real boundary, live; inspect what survives.</a:t>
            </a:r>
            <a:endParaRPr lang="en-US" sz="1150" dirty="0"/>
          </a:p>
        </p:txBody>
      </p:sp>
      <p:sp>
        <p:nvSpPr>
          <p:cNvPr id="9" name="Shape 7"/>
          <p:cNvSpPr/>
          <p:nvPr/>
        </p:nvSpPr>
        <p:spPr>
          <a:xfrm>
            <a:off x="4344314" y="1691640"/>
            <a:ext cx="3503066"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4572914" y="1892808"/>
            <a:ext cx="1362456" cy="310896"/>
          </a:xfrm>
          <a:prstGeom prst="roundRect">
            <a:avLst>
              <a:gd name="adj" fmla="val 50000"/>
            </a:avLst>
          </a:prstGeom>
          <a:solidFill>
            <a:srgbClr val="1B1A18"/>
          </a:solidFill>
          <a:ln/>
        </p:spPr>
      </p:sp>
      <p:sp>
        <p:nvSpPr>
          <p:cNvPr id="11" name="Text 9"/>
          <p:cNvSpPr/>
          <p:nvPr/>
        </p:nvSpPr>
        <p:spPr>
          <a:xfrm>
            <a:off x="4572914" y="1892808"/>
            <a:ext cx="1362456"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Partition</a:t>
            </a:r>
            <a:endParaRPr lang="en-US" sz="950" dirty="0"/>
          </a:p>
        </p:txBody>
      </p:sp>
      <p:sp>
        <p:nvSpPr>
          <p:cNvPr id="12" name="Text 10"/>
          <p:cNvSpPr/>
          <p:nvPr/>
        </p:nvSpPr>
        <p:spPr>
          <a:xfrm>
            <a:off x="4572914"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Onboarding + where-proven</a:t>
            </a:r>
            <a:endParaRPr lang="en-US" sz="1400" dirty="0"/>
          </a:p>
        </p:txBody>
      </p:sp>
      <p:sp>
        <p:nvSpPr>
          <p:cNvPr id="13" name="Text 11"/>
          <p:cNvSpPr/>
          <p:nvPr/>
        </p:nvSpPr>
        <p:spPr>
          <a:xfrm>
            <a:off x="4572914"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New rule/tenant → data or a release? Where is a new agent proven?</a:t>
            </a:r>
            <a:endParaRPr lang="en-US" sz="1150" dirty="0"/>
          </a:p>
        </p:txBody>
      </p:sp>
      <p:sp>
        <p:nvSpPr>
          <p:cNvPr id="14" name="Shape 12"/>
          <p:cNvSpPr/>
          <p:nvPr/>
        </p:nvSpPr>
        <p:spPr>
          <a:xfrm>
            <a:off x="8121701" y="1691640"/>
            <a:ext cx="3503066"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8350301" y="1892808"/>
            <a:ext cx="960120" cy="310896"/>
          </a:xfrm>
          <a:prstGeom prst="roundRect">
            <a:avLst>
              <a:gd name="adj" fmla="val 50000"/>
            </a:avLst>
          </a:prstGeom>
          <a:solidFill>
            <a:srgbClr val="1B1A18"/>
          </a:solidFill>
          <a:ln/>
        </p:spPr>
      </p:sp>
      <p:sp>
        <p:nvSpPr>
          <p:cNvPr id="16" name="Text 14"/>
          <p:cNvSpPr/>
          <p:nvPr/>
        </p:nvSpPr>
        <p:spPr>
          <a:xfrm>
            <a:off x="8350301" y="1892808"/>
            <a:ext cx="96012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Floor</a:t>
            </a:r>
            <a:endParaRPr lang="en-US" sz="950" dirty="0"/>
          </a:p>
        </p:txBody>
      </p:sp>
      <p:sp>
        <p:nvSpPr>
          <p:cNvPr id="17" name="Text 15"/>
          <p:cNvSpPr/>
          <p:nvPr/>
        </p:nvSpPr>
        <p:spPr>
          <a:xfrm>
            <a:off x="8350301"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Address test</a:t>
            </a:r>
            <a:endParaRPr lang="en-US" sz="1400" dirty="0"/>
          </a:p>
        </p:txBody>
      </p:sp>
      <p:sp>
        <p:nvSpPr>
          <p:cNvPr id="18" name="Text 16"/>
          <p:cNvSpPr/>
          <p:nvPr/>
        </p:nvSpPr>
        <p:spPr>
          <a:xfrm>
            <a:off x="8350301"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One non-negotiable; its physical enforcement point; disqualify on ‘prompt’.</a:t>
            </a:r>
            <a:endParaRPr lang="en-US" sz="1150" dirty="0"/>
          </a:p>
        </p:txBody>
      </p:sp>
      <p:sp>
        <p:nvSpPr>
          <p:cNvPr id="19" name="Shape 17"/>
          <p:cNvSpPr/>
          <p:nvPr/>
        </p:nvSpPr>
        <p:spPr>
          <a:xfrm>
            <a:off x="566928" y="4114800"/>
            <a:ext cx="3503066"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795528" y="4315968"/>
            <a:ext cx="960120" cy="310896"/>
          </a:xfrm>
          <a:prstGeom prst="roundRect">
            <a:avLst>
              <a:gd name="adj" fmla="val 50000"/>
            </a:avLst>
          </a:prstGeom>
          <a:solidFill>
            <a:srgbClr val="1B1A18"/>
          </a:solidFill>
          <a:ln/>
        </p:spPr>
      </p:sp>
      <p:sp>
        <p:nvSpPr>
          <p:cNvPr id="21" name="Text 19"/>
          <p:cNvSpPr/>
          <p:nvPr/>
        </p:nvSpPr>
        <p:spPr>
          <a:xfrm>
            <a:off x="795528" y="4315968"/>
            <a:ext cx="96012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Trust</a:t>
            </a:r>
            <a:endParaRPr lang="en-US" sz="950" dirty="0"/>
          </a:p>
        </p:txBody>
      </p:sp>
      <p:sp>
        <p:nvSpPr>
          <p:cNvPr id="22" name="Text 20"/>
          <p:cNvSpPr/>
          <p:nvPr/>
        </p:nvSpPr>
        <p:spPr>
          <a:xfrm>
            <a:off x="795528"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Expressibility + origin</a:t>
            </a:r>
            <a:endParaRPr lang="en-US" sz="1400" dirty="0"/>
          </a:p>
        </p:txBody>
      </p:sp>
      <p:sp>
        <p:nvSpPr>
          <p:cNvPr id="23" name="Text 21"/>
          <p:cNvSpPr/>
          <p:nvPr/>
        </p:nvSpPr>
        <p:spPr>
          <a:xfrm>
            <a:off x="795528"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Can a cross-tenant statement be written? What is known about input origin?</a:t>
            </a:r>
            <a:endParaRPr lang="en-US" sz="1150" dirty="0"/>
          </a:p>
        </p:txBody>
      </p:sp>
      <p:sp>
        <p:nvSpPr>
          <p:cNvPr id="24" name="Shape 22"/>
          <p:cNvSpPr/>
          <p:nvPr/>
        </p:nvSpPr>
        <p:spPr>
          <a:xfrm>
            <a:off x="4344314" y="4114800"/>
            <a:ext cx="3503066" cy="2148840"/>
          </a:xfrm>
          <a:prstGeom prst="roundRect">
            <a:avLst>
              <a:gd name="adj" fmla="val 3404"/>
            </a:avLst>
          </a:prstGeom>
          <a:solidFill>
            <a:srgbClr val="F4F2EE"/>
          </a:solidFill>
          <a:ln w="12700">
            <a:solidFill>
              <a:srgbClr val="EBE7DF"/>
            </a:solidFill>
            <a:prstDash val="solid"/>
          </a:ln>
        </p:spPr>
      </p:sp>
      <p:sp>
        <p:nvSpPr>
          <p:cNvPr id="25" name="Shape 23"/>
          <p:cNvSpPr/>
          <p:nvPr/>
        </p:nvSpPr>
        <p:spPr>
          <a:xfrm>
            <a:off x="4572914" y="4315968"/>
            <a:ext cx="1261872" cy="310896"/>
          </a:xfrm>
          <a:prstGeom prst="roundRect">
            <a:avLst>
              <a:gd name="adj" fmla="val 50000"/>
            </a:avLst>
          </a:prstGeom>
          <a:solidFill>
            <a:srgbClr val="1B1A18"/>
          </a:solidFill>
          <a:ln/>
        </p:spPr>
      </p:sp>
      <p:sp>
        <p:nvSpPr>
          <p:cNvPr id="26" name="Text 24"/>
          <p:cNvSpPr/>
          <p:nvPr/>
        </p:nvSpPr>
        <p:spPr>
          <a:xfrm>
            <a:off x="4572914" y="4315968"/>
            <a:ext cx="1261872"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External</a:t>
            </a:r>
            <a:endParaRPr lang="en-US" sz="950" dirty="0"/>
          </a:p>
        </p:txBody>
      </p:sp>
      <p:sp>
        <p:nvSpPr>
          <p:cNvPr id="27" name="Text 25"/>
          <p:cNvSpPr/>
          <p:nvPr/>
        </p:nvSpPr>
        <p:spPr>
          <a:xfrm>
            <a:off x="4572914"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Dependency + substitution</a:t>
            </a:r>
            <a:endParaRPr lang="en-US" sz="1400" dirty="0"/>
          </a:p>
        </p:txBody>
      </p:sp>
      <p:sp>
        <p:nvSpPr>
          <p:cNvPr id="28" name="Text 26"/>
          <p:cNvSpPr/>
          <p:nvPr/>
        </p:nvSpPr>
        <p:spPr>
          <a:xfrm>
            <a:off x="4572914"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The runtime leash list; the cost of saying no to any party.</a:t>
            </a:r>
            <a:endParaRPr lang="en-US" sz="1150" dirty="0"/>
          </a:p>
        </p:txBody>
      </p:sp>
      <p:sp>
        <p:nvSpPr>
          <p:cNvPr id="29" name="Shape 27"/>
          <p:cNvSpPr/>
          <p:nvPr/>
        </p:nvSpPr>
        <p:spPr>
          <a:xfrm>
            <a:off x="8121701" y="4114800"/>
            <a:ext cx="3503066" cy="2148840"/>
          </a:xfrm>
          <a:prstGeom prst="roundRect">
            <a:avLst>
              <a:gd name="adj" fmla="val 3404"/>
            </a:avLst>
          </a:prstGeom>
          <a:solidFill>
            <a:srgbClr val="F4F2EE"/>
          </a:solidFill>
          <a:ln w="12700">
            <a:solidFill>
              <a:srgbClr val="EBE7DF"/>
            </a:solidFill>
            <a:prstDash val="solid"/>
          </a:ln>
        </p:spPr>
      </p:sp>
      <p:sp>
        <p:nvSpPr>
          <p:cNvPr id="30" name="Shape 28"/>
          <p:cNvSpPr/>
          <p:nvPr/>
        </p:nvSpPr>
        <p:spPr>
          <a:xfrm>
            <a:off x="8350301" y="4315968"/>
            <a:ext cx="2167128" cy="310896"/>
          </a:xfrm>
          <a:prstGeom prst="roundRect">
            <a:avLst>
              <a:gd name="adj" fmla="val 50000"/>
            </a:avLst>
          </a:prstGeom>
          <a:solidFill>
            <a:srgbClr val="1B1A18"/>
          </a:solidFill>
          <a:ln/>
        </p:spPr>
      </p:sp>
      <p:sp>
        <p:nvSpPr>
          <p:cNvPr id="31" name="Text 29"/>
          <p:cNvSpPr/>
          <p:nvPr/>
        </p:nvSpPr>
        <p:spPr>
          <a:xfrm>
            <a:off x="8350301" y="4315968"/>
            <a:ext cx="216712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Evidence &amp; nature</a:t>
            </a:r>
            <a:endParaRPr lang="en-US" sz="950" dirty="0"/>
          </a:p>
        </p:txBody>
      </p:sp>
      <p:sp>
        <p:nvSpPr>
          <p:cNvPr id="32" name="Text 30"/>
          <p:cNvSpPr/>
          <p:nvPr/>
        </p:nvSpPr>
        <p:spPr>
          <a:xfrm>
            <a:off x="8350301"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Last-month · two-invoices · outlive</a:t>
            </a:r>
            <a:endParaRPr lang="en-US" sz="1400" dirty="0"/>
          </a:p>
        </p:txBody>
      </p:sp>
      <p:sp>
        <p:nvSpPr>
          <p:cNvPr id="33" name="Text 31"/>
          <p:cNvSpPr/>
          <p:nvPr/>
        </p:nvSpPr>
        <p:spPr>
          <a:xfrm>
            <a:off x="8350301"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Attribution by query; per-action cost; the referee and turnover questions.</a:t>
            </a:r>
            <a:endParaRPr lang="en-US" sz="1150" dirty="0"/>
          </a:p>
        </p:txBody>
      </p:sp>
      <p:sp>
        <p:nvSpPr>
          <p:cNvPr id="34" name="Text 3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35" name="Text 3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SIX REQUIREMENTS + ONE ABOVE THEM</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custody rules, as a standards checklist</a:t>
            </a:r>
            <a:endParaRPr lang="en-US" sz="2450" dirty="0"/>
          </a:p>
        </p:txBody>
      </p:sp>
      <p:sp>
        <p:nvSpPr>
          <p:cNvPr id="4" name="Shape 2"/>
          <p:cNvSpPr/>
          <p:nvPr/>
        </p:nvSpPr>
        <p:spPr>
          <a:xfrm>
            <a:off x="566928" y="1691640"/>
            <a:ext cx="3503066"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161288" cy="310896"/>
          </a:xfrm>
          <a:prstGeom prst="roundRect">
            <a:avLst>
              <a:gd name="adj" fmla="val 50000"/>
            </a:avLst>
          </a:prstGeom>
          <a:solidFill>
            <a:srgbClr val="1B1A18"/>
          </a:solidFill>
          <a:ln/>
        </p:spPr>
      </p:sp>
      <p:sp>
        <p:nvSpPr>
          <p:cNvPr id="6" name="Text 4"/>
          <p:cNvSpPr/>
          <p:nvPr/>
        </p:nvSpPr>
        <p:spPr>
          <a:xfrm>
            <a:off x="795528" y="1892808"/>
            <a:ext cx="116128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Context</a:t>
            </a:r>
            <a:endParaRPr lang="en-US" sz="950" dirty="0"/>
          </a:p>
        </p:txBody>
      </p:sp>
      <p:sp>
        <p:nvSpPr>
          <p:cNvPr id="7" name="Text 5"/>
          <p:cNvSpPr/>
          <p:nvPr/>
        </p:nvSpPr>
        <p:spPr>
          <a:xfrm>
            <a:off x="795528"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Preserve more than you transport</a:t>
            </a:r>
            <a:endParaRPr lang="en-US" sz="1400" dirty="0"/>
          </a:p>
        </p:txBody>
      </p:sp>
      <p:sp>
        <p:nvSpPr>
          <p:cNvPr id="8" name="Text 6"/>
          <p:cNvSpPr/>
          <p:nvPr/>
        </p:nvSpPr>
        <p:spPr>
          <a:xfrm>
            <a:off x="795528"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Meaning travels with the work, or the destination invents its own.</a:t>
            </a:r>
            <a:endParaRPr lang="en-US" sz="1150" dirty="0"/>
          </a:p>
        </p:txBody>
      </p:sp>
      <p:sp>
        <p:nvSpPr>
          <p:cNvPr id="9" name="Shape 7"/>
          <p:cNvSpPr/>
          <p:nvPr/>
        </p:nvSpPr>
        <p:spPr>
          <a:xfrm>
            <a:off x="4344314" y="1691640"/>
            <a:ext cx="3503066"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4572914" y="1892808"/>
            <a:ext cx="1362456" cy="310896"/>
          </a:xfrm>
          <a:prstGeom prst="roundRect">
            <a:avLst>
              <a:gd name="adj" fmla="val 50000"/>
            </a:avLst>
          </a:prstGeom>
          <a:solidFill>
            <a:srgbClr val="1B1A18"/>
          </a:solidFill>
          <a:ln/>
        </p:spPr>
      </p:sp>
      <p:sp>
        <p:nvSpPr>
          <p:cNvPr id="11" name="Text 9"/>
          <p:cNvSpPr/>
          <p:nvPr/>
        </p:nvSpPr>
        <p:spPr>
          <a:xfrm>
            <a:off x="4572914" y="1892808"/>
            <a:ext cx="1362456"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Authority</a:t>
            </a:r>
            <a:endParaRPr lang="en-US" sz="950" dirty="0"/>
          </a:p>
        </p:txBody>
      </p:sp>
      <p:sp>
        <p:nvSpPr>
          <p:cNvPr id="12" name="Text 10"/>
          <p:cNvSpPr/>
          <p:nvPr/>
        </p:nvSpPr>
        <p:spPr>
          <a:xfrm>
            <a:off x="4572914"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Rights are data, enforced at the boundary</a:t>
            </a:r>
            <a:endParaRPr lang="en-US" sz="1400" dirty="0"/>
          </a:p>
        </p:txBody>
      </p:sp>
      <p:sp>
        <p:nvSpPr>
          <p:cNvPr id="13" name="Text 11"/>
          <p:cNvSpPr/>
          <p:nvPr/>
        </p:nvSpPr>
        <p:spPr>
          <a:xfrm>
            <a:off x="4572914"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Authority implied by app permissions is authority the institution no longer owns.</a:t>
            </a:r>
            <a:endParaRPr lang="en-US" sz="1150" dirty="0"/>
          </a:p>
        </p:txBody>
      </p:sp>
      <p:sp>
        <p:nvSpPr>
          <p:cNvPr id="14" name="Shape 12"/>
          <p:cNvSpPr/>
          <p:nvPr/>
        </p:nvSpPr>
        <p:spPr>
          <a:xfrm>
            <a:off x="8121701" y="1691640"/>
            <a:ext cx="3503066"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8350301" y="1892808"/>
            <a:ext cx="1865376" cy="310896"/>
          </a:xfrm>
          <a:prstGeom prst="roundRect">
            <a:avLst>
              <a:gd name="adj" fmla="val 50000"/>
            </a:avLst>
          </a:prstGeom>
          <a:solidFill>
            <a:srgbClr val="1B1A18"/>
          </a:solidFill>
          <a:ln/>
        </p:spPr>
      </p:sp>
      <p:sp>
        <p:nvSpPr>
          <p:cNvPr id="16" name="Text 14"/>
          <p:cNvSpPr/>
          <p:nvPr/>
        </p:nvSpPr>
        <p:spPr>
          <a:xfrm>
            <a:off x="8350301" y="1892808"/>
            <a:ext cx="1865376"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Accountability</a:t>
            </a:r>
            <a:endParaRPr lang="en-US" sz="950" dirty="0"/>
          </a:p>
        </p:txBody>
      </p:sp>
      <p:sp>
        <p:nvSpPr>
          <p:cNvPr id="17" name="Text 15"/>
          <p:cNvSpPr/>
          <p:nvPr/>
        </p:nvSpPr>
        <p:spPr>
          <a:xfrm>
            <a:off x="8350301"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Provenance by construction</a:t>
            </a:r>
            <a:endParaRPr lang="en-US" sz="1400" dirty="0"/>
          </a:p>
        </p:txBody>
      </p:sp>
      <p:sp>
        <p:nvSpPr>
          <p:cNvPr id="18" name="Text 16"/>
          <p:cNvSpPr/>
          <p:nvPr/>
        </p:nvSpPr>
        <p:spPr>
          <a:xfrm>
            <a:off x="8350301"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If attribution needs investigation, custody has already failed.</a:t>
            </a:r>
            <a:endParaRPr lang="en-US" sz="1150" dirty="0"/>
          </a:p>
        </p:txBody>
      </p:sp>
      <p:sp>
        <p:nvSpPr>
          <p:cNvPr id="19" name="Shape 17"/>
          <p:cNvSpPr/>
          <p:nvPr/>
        </p:nvSpPr>
        <p:spPr>
          <a:xfrm>
            <a:off x="566928" y="4114800"/>
            <a:ext cx="3503066"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795528" y="4315968"/>
            <a:ext cx="1664208" cy="310896"/>
          </a:xfrm>
          <a:prstGeom prst="roundRect">
            <a:avLst>
              <a:gd name="adj" fmla="val 50000"/>
            </a:avLst>
          </a:prstGeom>
          <a:solidFill>
            <a:srgbClr val="1B1A18"/>
          </a:solidFill>
          <a:ln/>
        </p:spPr>
      </p:sp>
      <p:sp>
        <p:nvSpPr>
          <p:cNvPr id="21" name="Text 19"/>
          <p:cNvSpPr/>
          <p:nvPr/>
        </p:nvSpPr>
        <p:spPr>
          <a:xfrm>
            <a:off x="795528" y="4315968"/>
            <a:ext cx="166420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Coordination</a:t>
            </a:r>
            <a:endParaRPr lang="en-US" sz="950" dirty="0"/>
          </a:p>
        </p:txBody>
      </p:sp>
      <p:sp>
        <p:nvSpPr>
          <p:cNvPr id="22" name="Text 20"/>
          <p:cNvSpPr/>
          <p:nvPr/>
        </p:nvSpPr>
        <p:spPr>
          <a:xfrm>
            <a:off x="795528"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Shared invariants at the seams</a:t>
            </a:r>
            <a:endParaRPr lang="en-US" sz="1400" dirty="0"/>
          </a:p>
        </p:txBody>
      </p:sp>
      <p:sp>
        <p:nvSpPr>
          <p:cNvPr id="23" name="Text 21"/>
          <p:cNvSpPr/>
          <p:nvPr/>
        </p:nvSpPr>
        <p:spPr>
          <a:xfrm>
            <a:off x="795528"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Whatever merely connects does not coordinate.</a:t>
            </a:r>
            <a:endParaRPr lang="en-US" sz="1150" dirty="0"/>
          </a:p>
        </p:txBody>
      </p:sp>
      <p:sp>
        <p:nvSpPr>
          <p:cNvPr id="24" name="Shape 22"/>
          <p:cNvSpPr/>
          <p:nvPr/>
        </p:nvSpPr>
        <p:spPr>
          <a:xfrm>
            <a:off x="4344314" y="4114800"/>
            <a:ext cx="3503066" cy="2148840"/>
          </a:xfrm>
          <a:prstGeom prst="roundRect">
            <a:avLst>
              <a:gd name="adj" fmla="val 3404"/>
            </a:avLst>
          </a:prstGeom>
          <a:solidFill>
            <a:srgbClr val="F4F2EE"/>
          </a:solidFill>
          <a:ln w="12700">
            <a:solidFill>
              <a:srgbClr val="EBE7DF"/>
            </a:solidFill>
            <a:prstDash val="solid"/>
          </a:ln>
        </p:spPr>
      </p:sp>
      <p:sp>
        <p:nvSpPr>
          <p:cNvPr id="25" name="Shape 23"/>
          <p:cNvSpPr/>
          <p:nvPr/>
        </p:nvSpPr>
        <p:spPr>
          <a:xfrm>
            <a:off x="4572914" y="4315968"/>
            <a:ext cx="1362456" cy="310896"/>
          </a:xfrm>
          <a:prstGeom prst="roundRect">
            <a:avLst>
              <a:gd name="adj" fmla="val 50000"/>
            </a:avLst>
          </a:prstGeom>
          <a:solidFill>
            <a:srgbClr val="1B1A18"/>
          </a:solidFill>
          <a:ln/>
        </p:spPr>
      </p:sp>
      <p:sp>
        <p:nvSpPr>
          <p:cNvPr id="26" name="Text 24"/>
          <p:cNvSpPr/>
          <p:nvPr/>
        </p:nvSpPr>
        <p:spPr>
          <a:xfrm>
            <a:off x="4572914" y="4315968"/>
            <a:ext cx="1362456"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Coherence</a:t>
            </a:r>
            <a:endParaRPr lang="en-US" sz="950" dirty="0"/>
          </a:p>
        </p:txBody>
      </p:sp>
      <p:sp>
        <p:nvSpPr>
          <p:cNvPr id="27" name="Text 25"/>
          <p:cNvSpPr/>
          <p:nvPr/>
        </p:nvSpPr>
        <p:spPr>
          <a:xfrm>
            <a:off x="4572914"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Non-negotiables above the systems</a:t>
            </a:r>
            <a:endParaRPr lang="en-US" sz="1400" dirty="0"/>
          </a:p>
        </p:txBody>
      </p:sp>
      <p:sp>
        <p:nvSpPr>
          <p:cNvPr id="28" name="Text 26"/>
          <p:cNvSpPr/>
          <p:nvPr/>
        </p:nvSpPr>
        <p:spPr>
          <a:xfrm>
            <a:off x="4572914"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Enforced at every crossing; no component may opt out.</a:t>
            </a:r>
            <a:endParaRPr lang="en-US" sz="1150" dirty="0"/>
          </a:p>
        </p:txBody>
      </p:sp>
      <p:sp>
        <p:nvSpPr>
          <p:cNvPr id="29" name="Shape 27"/>
          <p:cNvSpPr/>
          <p:nvPr/>
        </p:nvSpPr>
        <p:spPr>
          <a:xfrm>
            <a:off x="8121701" y="4114800"/>
            <a:ext cx="3503066" cy="2148840"/>
          </a:xfrm>
          <a:prstGeom prst="roundRect">
            <a:avLst>
              <a:gd name="adj" fmla="val 3404"/>
            </a:avLst>
          </a:prstGeom>
          <a:solidFill>
            <a:srgbClr val="F4F2EE"/>
          </a:solidFill>
          <a:ln w="12700">
            <a:solidFill>
              <a:srgbClr val="EBE7DF"/>
            </a:solidFill>
            <a:prstDash val="solid"/>
          </a:ln>
        </p:spPr>
      </p:sp>
      <p:sp>
        <p:nvSpPr>
          <p:cNvPr id="30" name="Shape 28"/>
          <p:cNvSpPr/>
          <p:nvPr/>
        </p:nvSpPr>
        <p:spPr>
          <a:xfrm>
            <a:off x="8350301" y="4315968"/>
            <a:ext cx="2670048" cy="310896"/>
          </a:xfrm>
          <a:prstGeom prst="roundRect">
            <a:avLst>
              <a:gd name="adj" fmla="val 50000"/>
            </a:avLst>
          </a:prstGeom>
          <a:solidFill>
            <a:srgbClr val="8A8378"/>
          </a:solidFill>
          <a:ln/>
        </p:spPr>
      </p:sp>
      <p:sp>
        <p:nvSpPr>
          <p:cNvPr id="31" name="Text 29"/>
          <p:cNvSpPr/>
          <p:nvPr/>
        </p:nvSpPr>
        <p:spPr>
          <a:xfrm>
            <a:off x="8350301" y="4315968"/>
            <a:ext cx="267004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Memory + the meta-rule</a:t>
            </a:r>
            <a:endParaRPr lang="en-US" sz="950" dirty="0"/>
          </a:p>
        </p:txBody>
      </p:sp>
      <p:sp>
        <p:nvSpPr>
          <p:cNvPr id="32" name="Text 30"/>
          <p:cNvSpPr/>
          <p:nvPr/>
        </p:nvSpPr>
        <p:spPr>
          <a:xfrm>
            <a:off x="8350301"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Ceremony to write; and: every component replaceable, no property ever</a:t>
            </a:r>
            <a:endParaRPr lang="en-US" sz="1400" dirty="0"/>
          </a:p>
        </p:txBody>
      </p:sp>
      <p:sp>
        <p:nvSpPr>
          <p:cNvPr id="33" name="Text 31"/>
          <p:cNvSpPr/>
          <p:nvPr/>
        </p:nvSpPr>
        <p:spPr>
          <a:xfrm>
            <a:off x="8350301"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Durable, trustworthy records — and no property may depend on a component that cannot be replaced.</a:t>
            </a:r>
            <a:endParaRPr lang="en-US" sz="1150" dirty="0"/>
          </a:p>
        </p:txBody>
      </p:sp>
      <p:sp>
        <p:nvSpPr>
          <p:cNvPr id="34" name="Text 3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35" name="Text 3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286000" cy="310896"/>
          </a:xfrm>
          <a:prstGeom prst="roundRect">
            <a:avLst>
              <a:gd name="adj" fmla="val 50000"/>
            </a:avLst>
          </a:prstGeom>
          <a:solidFill>
            <a:srgbClr val="8A8378"/>
          </a:solidFill>
          <a:ln/>
        </p:spPr>
      </p:sp>
      <p:sp>
        <p:nvSpPr>
          <p:cNvPr id="3" name="Text 1"/>
          <p:cNvSpPr/>
          <p:nvPr/>
        </p:nvSpPr>
        <p:spPr>
          <a:xfrm>
            <a:off x="566928" y="502920"/>
            <a:ext cx="228600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CLOSING EXERCISE</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For the standard — Module 6</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Which three of the nine tests would you put first in an examination manual for your sector, and why?</a:t>
            </a:r>
            <a:endParaRPr lang="en-US" sz="140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Draft one sentence of standard-text that would require an entity to pass the address test.</a:t>
            </a:r>
            <a:endParaRPr lang="en-US" sz="140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1371600" y="3657600"/>
            <a:ext cx="4572000" cy="4572000"/>
          </a:xfrm>
          <a:prstGeom prst="ellipse">
            <a:avLst/>
          </a:prstGeom>
          <a:solidFill>
            <a:srgbClr val="33302B"/>
          </a:solidFill>
          <a:ln/>
        </p:spPr>
      </p:sp>
      <p:sp>
        <p:nvSpPr>
          <p:cNvPr id="3" name="Shape 1"/>
          <p:cNvSpPr/>
          <p:nvPr/>
        </p:nvSpPr>
        <p:spPr>
          <a:xfrm>
            <a:off x="566928" y="1234440"/>
            <a:ext cx="2377440" cy="310896"/>
          </a:xfrm>
          <a:prstGeom prst="roundRect">
            <a:avLst>
              <a:gd name="adj" fmla="val 50000"/>
            </a:avLst>
          </a:prstGeom>
          <a:solidFill>
            <a:srgbClr val="8A8378"/>
          </a:solidFill>
          <a:ln/>
        </p:spPr>
      </p:sp>
      <p:sp>
        <p:nvSpPr>
          <p:cNvPr id="4" name="Text 2"/>
          <p:cNvSpPr/>
          <p:nvPr/>
        </p:nvSpPr>
        <p:spPr>
          <a:xfrm>
            <a:off x="566928" y="1234440"/>
            <a:ext cx="237744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THE SUPERVISOR’S ONE DEMAND</a:t>
            </a:r>
            <a:endParaRPr lang="en-US" sz="1050" dirty="0"/>
          </a:p>
        </p:txBody>
      </p:sp>
      <p:sp>
        <p:nvSpPr>
          <p:cNvPr id="5" name="Text 3"/>
          <p:cNvSpPr/>
          <p:nvPr/>
        </p:nvSpPr>
        <p:spPr>
          <a:xfrm>
            <a:off x="566928" y="1783080"/>
            <a:ext cx="10789920" cy="1280160"/>
          </a:xfrm>
          <a:prstGeom prst="rect">
            <a:avLst/>
          </a:prstGeom>
          <a:noFill/>
          <a:ln/>
        </p:spPr>
        <p:txBody>
          <a:bodyPr wrap="square" rtlCol="0" anchor="ctr"/>
          <a:lstStyle/>
          <a:p>
            <a:pPr indent="0" marL="0">
              <a:lnSpc>
                <a:spcPct val="105000"/>
              </a:lnSpc>
              <a:buNone/>
            </a:pPr>
            <a:r>
              <a:rPr lang="en-US" sz="3100" b="1" i="1" dirty="0">
                <a:solidFill>
                  <a:srgbClr val="FFFFFF"/>
                </a:solidFill>
                <a:latin typeface="Georgia" pitchFamily="34" charset="0"/>
                <a:ea typeface="Georgia" pitchFamily="34" charset="-122"/>
                <a:cs typeface="Georgia" pitchFamily="34" charset="-120"/>
              </a:rPr>
              <a:t>“Show the crossing, and show what survives it.”</a:t>
            </a:r>
            <a:endParaRPr lang="en-US" sz="3100" dirty="0"/>
          </a:p>
        </p:txBody>
      </p:sp>
      <p:sp>
        <p:nvSpPr>
          <p:cNvPr id="6" name="Text 4"/>
          <p:cNvSpPr/>
          <p:nvPr/>
        </p:nvSpPr>
        <p:spPr>
          <a:xfrm>
            <a:off x="566928" y="3383280"/>
            <a:ext cx="10058400" cy="100584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A standard you can enforce needs no source code and no goodwill — only a demonstration against structure. Everything in this seminar is that demand, factored.</a:t>
            </a:r>
            <a:endParaRPr lang="en-US" sz="1400" dirty="0"/>
          </a:p>
        </p:txBody>
      </p:sp>
      <p:sp>
        <p:nvSpPr>
          <p:cNvPr id="7" name="Text 5"/>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Regulating the Agentic Enterprise — a seminar for regulators &amp; policy staff</a:t>
            </a:r>
            <a:endParaRPr lang="en-US" sz="900" dirty="0"/>
          </a:p>
        </p:txBody>
      </p:sp>
      <p:sp>
        <p:nvSpPr>
          <p:cNvPr id="8" name="Text 6"/>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2026-08-17T06:53:07Z</dcterms:created>
  <dcterms:modified xsi:type="dcterms:W3CDTF">2026-08-17T06:53:07Z</dcterms:modified>
</cp:coreProperties>
</file>